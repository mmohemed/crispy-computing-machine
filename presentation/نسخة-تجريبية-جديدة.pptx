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نسخة تجريبية" id="{64ab47d4-6dc4-507c-ea1c-f7d9616d0e0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سيارة تعبر الشاشة عند بداية العرض، ثم يظهر العنوان بالتتابع.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فكرة الفريق: غرفة مراقبة — كل عضو يظهر في كاميرا، والذكاء الاصطناعي يتعرف عليه (مربع أخضر). المشرف بالذهبي.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عيسى إبراهيم شايع: التعريف بنفسه ودوره في جملة واحدة. (الشريحة تُكرر لكل عضو في النسخة النهائية)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محمد عبدالإله قريع: التعريف بنفسه ودوره في جملة واحدة. (الشريحة تُكرر لكل عضو في النسخة النهائية)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 المكعب ثلاثي الأبعاد، والبطاقات تظهر بالتتابع.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مربعات الاكتشاف تظهر واحداً تلو الآخر، ثم تظهر السرعات، ثم علامة المخالفة على السيارة الحمراء.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المؤشر يتحرك من 0 حتى 92 كم/س، ثم تظهر القراءة والمقارنة مع الحد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سلسلة الخوارزميات تظهر خطوة بخطوة.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 الستارة، ثم سيارة تعبر الشاشة.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M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ROAD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NEURAL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GOLD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M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A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URA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L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6.jp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x1@zoom|logo" descr="شعار الجامع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365760"/>
            <a:ext cx="1051560" cy="1051560"/>
          </a:xfrm>
          <a:prstGeom prst="rect">
            <a:avLst/>
          </a:prstGeom>
        </p:spPr>
      </p:pic>
      <p:sp>
        <p:nvSpPr>
          <p:cNvPr id="3" name="fx1|uni"/>
          <p:cNvSpPr txBox="1"/>
          <p:nvPr/>
        </p:nvSpPr>
        <p:spPr>
          <a:xfrm>
            <a:off x="5120640" y="36576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الجمهورية اليمنية</a:t>
            </a:r>
            <a:endParaRPr lang="ar-SA" sz="1200" dirty="0"/>
          </a:p>
          <a:p>
            <a:pPr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جامعة العلوم والتكنولوجيا — فرع إب</a:t>
            </a:r>
            <a:endParaRPr lang="ar-SA" sz="12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كلية الحاسبات وتكنولوجيا المعلومات  •  قسم تقنية المعلومات</a:t>
            </a:r>
            <a:endParaRPr lang="ar-SA" sz="1200" dirty="0"/>
          </a:p>
        </p:txBody>
      </p:sp>
      <p:sp>
        <p:nvSpPr>
          <p:cNvPr id="4" name="fx2|kicker"/>
          <p:cNvSpPr txBox="1"/>
          <p:nvPr/>
        </p:nvSpPr>
        <p:spPr>
          <a:xfrm>
            <a:off x="6035040" y="178308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مشروع تخرج 2026  •  Graduation Project</a:t>
            </a:r>
            <a:endParaRPr lang="ar-SA" sz="1500" dirty="0"/>
          </a:p>
        </p:txBody>
      </p:sp>
      <p:sp>
        <p:nvSpPr>
          <p:cNvPr id="5" name="fx3|title"/>
          <p:cNvSpPr txBox="1"/>
          <p:nvPr/>
        </p:nvSpPr>
        <p:spPr>
          <a:xfrm>
            <a:off x="5760720" y="2148840"/>
            <a:ext cx="5897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bg1"/>
                </a:solidFill>
              </a:rPr>
              <a:t>نظام ذكي لرصد وحساب سرعة المركبات وتسجيل المخالفات المرورية</a:t>
            </a:r>
            <a:endParaRPr lang="ar-SA" sz="3200" dirty="0"/>
          </a:p>
        </p:txBody>
      </p:sp>
      <p:sp>
        <p:nvSpPr>
          <p:cNvPr id="6" name="fx4|sub"/>
          <p:cNvSpPr txBox="1"/>
          <p:nvPr/>
        </p:nvSpPr>
        <p:spPr>
          <a:xfrm>
            <a:off x="5760720" y="3931920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accent2"/>
                </a:solidFill>
              </a:rPr>
              <a:t>باستخدام كاميرا الهاتف وتقنيات الذكاء الاصطناعي والرؤية الحاسوبية</a:t>
            </a:r>
            <a:endParaRPr lang="ar-SA" sz="1700" dirty="0"/>
          </a:p>
        </p:txBody>
      </p:sp>
      <p:sp>
        <p:nvSpPr>
          <p:cNvPr id="7" name="fx5|en"/>
          <p:cNvSpPr txBox="1"/>
          <p:nvPr/>
        </p:nvSpPr>
        <p:spPr>
          <a:xfrm>
            <a:off x="5760720" y="466344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i="1" dirty="0">
                <a:solidFill>
                  <a:schemeClr val="bg2"/>
                </a:solidFill>
              </a:rPr>
              <a:t>Smart Mobile-Based Vehicle Speed Estimation and Traffic Violation Detection System Using AI and Computer Vision</a:t>
            </a:r>
            <a:endParaRPr lang="en-US" sz="1200" dirty="0"/>
          </a:p>
        </p:txBody>
      </p:sp>
      <p:sp>
        <p:nvSpPr>
          <p:cNvPr id="8" name="fx6|sup"/>
          <p:cNvSpPr txBox="1"/>
          <p:nvPr/>
        </p:nvSpPr>
        <p:spPr>
          <a:xfrm>
            <a:off x="5760720" y="553212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إشراف: </a:t>
            </a:r>
            <a:pPr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د. مطيع الجعفري</a:t>
            </a:r>
            <a:endParaRPr lang="ar-SA" sz="1700" dirty="0"/>
          </a:p>
        </p:txBody>
      </p:sp>
      <p:pic>
        <p:nvPicPr>
          <p:cNvPr id="9" name="fx0@move(1.5,0,2400)|car" descr="img/car_s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0" y="5897880"/>
            <a:ext cx="3931920" cy="9144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1.5 0 E" pathEditMode="relative" ptsTypes="AA">
                                      <p:cBhvr>
                                        <p:cTn id="35" dur="2400" accel="20000" decel="3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غرفة المراقبة: فريق المشروع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Control Room — Team identified by AI</a:t>
            </a:r>
            <a:endParaRPr lang="en-US" sz="1500" dirty="0"/>
          </a:p>
        </p:txBody>
      </p:sp>
      <p:sp>
        <p:nvSpPr>
          <p:cNvPr id="4" name="fx0@zoom|tile"/>
          <p:cNvSpPr/>
          <p:nvPr/>
        </p:nvSpPr>
        <p:spPr>
          <a:xfrm>
            <a:off x="8002372" y="151790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5" name="!!photo_p1" descr="صورة عيسى شاي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38948" y="1554480"/>
            <a:ext cx="3429000" cy="2148840"/>
          </a:xfrm>
          <a:prstGeom prst="rect">
            <a:avLst/>
          </a:prstGeom>
        </p:spPr>
      </p:pic>
      <p:sp>
        <p:nvSpPr>
          <p:cNvPr id="6" name="fx0|cam"/>
          <p:cNvSpPr txBox="1"/>
          <p:nvPr/>
        </p:nvSpPr>
        <p:spPr>
          <a:xfrm>
            <a:off x="813038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01</a:t>
            </a:r>
            <a:endParaRPr lang="en-US" sz="1000" dirty="0"/>
          </a:p>
        </p:txBody>
      </p:sp>
      <p:sp>
        <p:nvSpPr>
          <p:cNvPr id="7" name="fx0|rec"/>
          <p:cNvSpPr txBox="1"/>
          <p:nvPr/>
        </p:nvSpPr>
        <p:spPr>
          <a:xfrm>
            <a:off x="1073642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8" name="fx6@zoom|box"/>
          <p:cNvSpPr/>
          <p:nvPr/>
        </p:nvSpPr>
        <p:spPr>
          <a:xfrm>
            <a:off x="9067648" y="1769364"/>
            <a:ext cx="1371600" cy="1332281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fx6@pop|tag"/>
          <p:cNvSpPr txBox="1"/>
          <p:nvPr/>
        </p:nvSpPr>
        <p:spPr>
          <a:xfrm>
            <a:off x="9067648" y="1568196"/>
            <a:ext cx="9893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01 0.99</a:t>
            </a:r>
            <a:endParaRPr lang="en-US" sz="900" dirty="0"/>
          </a:p>
        </p:txBody>
      </p:sp>
      <p:sp>
        <p:nvSpPr>
          <p:cNvPr id="10" name="fx0|bar"/>
          <p:cNvSpPr/>
          <p:nvPr/>
        </p:nvSpPr>
        <p:spPr>
          <a:xfrm>
            <a:off x="8038948" y="313639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x0|name"/>
          <p:cNvSpPr txBox="1"/>
          <p:nvPr/>
        </p:nvSpPr>
        <p:spPr>
          <a:xfrm>
            <a:off x="8148676" y="315468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عيسى شايع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قائد الفريق ومدير المشروع</a:t>
            </a:r>
            <a:endParaRPr lang="ar-SA" sz="1500" dirty="0"/>
          </a:p>
        </p:txBody>
      </p:sp>
      <p:sp>
        <p:nvSpPr>
          <p:cNvPr id="12" name="fx1@zoom|tile"/>
          <p:cNvSpPr/>
          <p:nvPr/>
        </p:nvSpPr>
        <p:spPr>
          <a:xfrm>
            <a:off x="4344772" y="151790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13" name="!!photo_p2" descr="صورة محمد قريع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348" y="1554480"/>
            <a:ext cx="3429000" cy="2148840"/>
          </a:xfrm>
          <a:prstGeom prst="rect">
            <a:avLst/>
          </a:prstGeom>
        </p:spPr>
      </p:pic>
      <p:sp>
        <p:nvSpPr>
          <p:cNvPr id="14" name="fx1|cam"/>
          <p:cNvSpPr txBox="1"/>
          <p:nvPr/>
        </p:nvSpPr>
        <p:spPr>
          <a:xfrm>
            <a:off x="447278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02</a:t>
            </a:r>
            <a:endParaRPr lang="en-US" sz="1000" dirty="0"/>
          </a:p>
        </p:txBody>
      </p:sp>
      <p:sp>
        <p:nvSpPr>
          <p:cNvPr id="15" name="fx1|rec"/>
          <p:cNvSpPr txBox="1"/>
          <p:nvPr/>
        </p:nvSpPr>
        <p:spPr>
          <a:xfrm>
            <a:off x="707882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16" name="fx7@zoom|box"/>
          <p:cNvSpPr/>
          <p:nvPr/>
        </p:nvSpPr>
        <p:spPr>
          <a:xfrm>
            <a:off x="5410048" y="1769364"/>
            <a:ext cx="1371600" cy="1332281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fx7@pop|tag"/>
          <p:cNvSpPr txBox="1"/>
          <p:nvPr/>
        </p:nvSpPr>
        <p:spPr>
          <a:xfrm>
            <a:off x="5410048" y="1568196"/>
            <a:ext cx="9893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02 0.98</a:t>
            </a:r>
            <a:endParaRPr lang="en-US" sz="900" dirty="0"/>
          </a:p>
        </p:txBody>
      </p:sp>
      <p:sp>
        <p:nvSpPr>
          <p:cNvPr id="18" name="fx1|bar"/>
          <p:cNvSpPr/>
          <p:nvPr/>
        </p:nvSpPr>
        <p:spPr>
          <a:xfrm>
            <a:off x="4381348" y="313639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fx1|name"/>
          <p:cNvSpPr txBox="1"/>
          <p:nvPr/>
        </p:nvSpPr>
        <p:spPr>
          <a:xfrm>
            <a:off x="4491076" y="315468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محمد قريع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مطوّر تطبيق الهاتف</a:t>
            </a:r>
            <a:endParaRPr lang="ar-SA" sz="1500" dirty="0"/>
          </a:p>
        </p:txBody>
      </p:sp>
      <p:sp>
        <p:nvSpPr>
          <p:cNvPr id="20" name="fx2@zoom|tile"/>
          <p:cNvSpPr/>
          <p:nvPr/>
        </p:nvSpPr>
        <p:spPr>
          <a:xfrm>
            <a:off x="687172" y="151790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21" name="!!photo_p3" descr="صورة مازن عبد المعز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3748" y="1554480"/>
            <a:ext cx="3429000" cy="2148840"/>
          </a:xfrm>
          <a:prstGeom prst="rect">
            <a:avLst/>
          </a:prstGeom>
        </p:spPr>
      </p:pic>
      <p:sp>
        <p:nvSpPr>
          <p:cNvPr id="22" name="fx2|cam"/>
          <p:cNvSpPr txBox="1"/>
          <p:nvPr/>
        </p:nvSpPr>
        <p:spPr>
          <a:xfrm>
            <a:off x="81518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03</a:t>
            </a:r>
            <a:endParaRPr lang="en-US" sz="1000" dirty="0"/>
          </a:p>
        </p:txBody>
      </p:sp>
      <p:sp>
        <p:nvSpPr>
          <p:cNvPr id="23" name="fx2|rec"/>
          <p:cNvSpPr txBox="1"/>
          <p:nvPr/>
        </p:nvSpPr>
        <p:spPr>
          <a:xfrm>
            <a:off x="342122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24" name="fx8@zoom|box"/>
          <p:cNvSpPr/>
          <p:nvPr/>
        </p:nvSpPr>
        <p:spPr>
          <a:xfrm>
            <a:off x="1752448" y="1769364"/>
            <a:ext cx="1371600" cy="1332281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fx8@pop|tag"/>
          <p:cNvSpPr txBox="1"/>
          <p:nvPr/>
        </p:nvSpPr>
        <p:spPr>
          <a:xfrm>
            <a:off x="1752448" y="1568196"/>
            <a:ext cx="9893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03 0.97</a:t>
            </a:r>
            <a:endParaRPr lang="en-US" sz="900" dirty="0"/>
          </a:p>
        </p:txBody>
      </p:sp>
      <p:sp>
        <p:nvSpPr>
          <p:cNvPr id="26" name="fx2|bar"/>
          <p:cNvSpPr/>
          <p:nvPr/>
        </p:nvSpPr>
        <p:spPr>
          <a:xfrm>
            <a:off x="723748" y="313639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x2|name"/>
          <p:cNvSpPr txBox="1"/>
          <p:nvPr/>
        </p:nvSpPr>
        <p:spPr>
          <a:xfrm>
            <a:off x="833476" y="315468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مازن عبد المعز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مهندس الذكاء الاصطناعي</a:t>
            </a:r>
            <a:endParaRPr lang="ar-SA" sz="1500" dirty="0"/>
          </a:p>
        </p:txBody>
      </p:sp>
      <p:sp>
        <p:nvSpPr>
          <p:cNvPr id="28" name="fx3@zoom|tile"/>
          <p:cNvSpPr/>
          <p:nvPr/>
        </p:nvSpPr>
        <p:spPr>
          <a:xfrm>
            <a:off x="8002372" y="389534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29" name="!!photo_p4" descr="صورة برهان الزمر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38948" y="3931920"/>
            <a:ext cx="3429000" cy="2148840"/>
          </a:xfrm>
          <a:prstGeom prst="rect">
            <a:avLst/>
          </a:prstGeom>
        </p:spPr>
      </p:pic>
      <p:sp>
        <p:nvSpPr>
          <p:cNvPr id="30" name="fx3|cam"/>
          <p:cNvSpPr txBox="1"/>
          <p:nvPr/>
        </p:nvSpPr>
        <p:spPr>
          <a:xfrm>
            <a:off x="8130388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04</a:t>
            </a:r>
            <a:endParaRPr lang="en-US" sz="1000" dirty="0"/>
          </a:p>
        </p:txBody>
      </p:sp>
      <p:sp>
        <p:nvSpPr>
          <p:cNvPr id="31" name="fx3|rec"/>
          <p:cNvSpPr txBox="1"/>
          <p:nvPr/>
        </p:nvSpPr>
        <p:spPr>
          <a:xfrm>
            <a:off x="10736428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32" name="fx9@zoom|box"/>
          <p:cNvSpPr/>
          <p:nvPr/>
        </p:nvSpPr>
        <p:spPr>
          <a:xfrm>
            <a:off x="9067648" y="4146804"/>
            <a:ext cx="1371600" cy="1332281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fx9@pop|tag"/>
          <p:cNvSpPr txBox="1"/>
          <p:nvPr/>
        </p:nvSpPr>
        <p:spPr>
          <a:xfrm>
            <a:off x="9067648" y="3945636"/>
            <a:ext cx="9893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04 0.98</a:t>
            </a:r>
            <a:endParaRPr lang="en-US" sz="900" dirty="0"/>
          </a:p>
        </p:txBody>
      </p:sp>
      <p:sp>
        <p:nvSpPr>
          <p:cNvPr id="34" name="fx3|bar"/>
          <p:cNvSpPr/>
          <p:nvPr/>
        </p:nvSpPr>
        <p:spPr>
          <a:xfrm>
            <a:off x="8038948" y="551383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x3|name"/>
          <p:cNvSpPr txBox="1"/>
          <p:nvPr/>
        </p:nvSpPr>
        <p:spPr>
          <a:xfrm>
            <a:off x="8148676" y="553212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برهان الزمر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مطوّر الخادم ولوحة التحكم</a:t>
            </a:r>
            <a:endParaRPr lang="ar-SA" sz="1500" dirty="0"/>
          </a:p>
        </p:txBody>
      </p:sp>
      <p:sp>
        <p:nvSpPr>
          <p:cNvPr id="36" name="fx4@zoom|tile"/>
          <p:cNvSpPr/>
          <p:nvPr/>
        </p:nvSpPr>
        <p:spPr>
          <a:xfrm>
            <a:off x="4344772" y="389534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37" name="!!photo_p5" descr="صورة محمد عادل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1348" y="3931920"/>
            <a:ext cx="3429000" cy="2148840"/>
          </a:xfrm>
          <a:prstGeom prst="rect">
            <a:avLst/>
          </a:prstGeom>
        </p:spPr>
      </p:pic>
      <p:sp>
        <p:nvSpPr>
          <p:cNvPr id="38" name="fx4|cam"/>
          <p:cNvSpPr txBox="1"/>
          <p:nvPr/>
        </p:nvSpPr>
        <p:spPr>
          <a:xfrm>
            <a:off x="4472788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05</a:t>
            </a:r>
            <a:endParaRPr lang="en-US" sz="1000" dirty="0"/>
          </a:p>
        </p:txBody>
      </p:sp>
      <p:sp>
        <p:nvSpPr>
          <p:cNvPr id="39" name="fx4|rec"/>
          <p:cNvSpPr txBox="1"/>
          <p:nvPr/>
        </p:nvSpPr>
        <p:spPr>
          <a:xfrm>
            <a:off x="7078828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40" name="fx10@zoom|box"/>
          <p:cNvSpPr/>
          <p:nvPr/>
        </p:nvSpPr>
        <p:spPr>
          <a:xfrm>
            <a:off x="5410048" y="4146804"/>
            <a:ext cx="1371600" cy="1332281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1" name="fx10@pop|tag"/>
          <p:cNvSpPr txBox="1"/>
          <p:nvPr/>
        </p:nvSpPr>
        <p:spPr>
          <a:xfrm>
            <a:off x="5410048" y="3945636"/>
            <a:ext cx="9893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05 0.99</a:t>
            </a:r>
            <a:endParaRPr lang="en-US" sz="900" dirty="0"/>
          </a:p>
        </p:txBody>
      </p:sp>
      <p:sp>
        <p:nvSpPr>
          <p:cNvPr id="42" name="fx4|bar"/>
          <p:cNvSpPr/>
          <p:nvPr/>
        </p:nvSpPr>
        <p:spPr>
          <a:xfrm>
            <a:off x="4381348" y="551383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x4|name"/>
          <p:cNvSpPr txBox="1"/>
          <p:nvPr/>
        </p:nvSpPr>
        <p:spPr>
          <a:xfrm>
            <a:off x="4491076" y="553212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محمد عادل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قواعد البيانات وقراءة اللوحات</a:t>
            </a:r>
            <a:endParaRPr lang="ar-SA" sz="1500" dirty="0"/>
          </a:p>
        </p:txBody>
      </p:sp>
      <p:sp>
        <p:nvSpPr>
          <p:cNvPr id="44" name="fx5@zoom|tile"/>
          <p:cNvSpPr/>
          <p:nvPr/>
        </p:nvSpPr>
        <p:spPr>
          <a:xfrm>
            <a:off x="687172" y="389534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45" name="!!photo_sv" descr="صورة د. مطيع الجعفري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3748" y="3931920"/>
            <a:ext cx="3429000" cy="2148840"/>
          </a:xfrm>
          <a:prstGeom prst="rect">
            <a:avLst/>
          </a:prstGeom>
        </p:spPr>
      </p:pic>
      <p:sp>
        <p:nvSpPr>
          <p:cNvPr id="46" name="fx5|cam"/>
          <p:cNvSpPr txBox="1"/>
          <p:nvPr/>
        </p:nvSpPr>
        <p:spPr>
          <a:xfrm>
            <a:off x="815188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06</a:t>
            </a:r>
            <a:endParaRPr lang="en-US" sz="1000" dirty="0"/>
          </a:p>
        </p:txBody>
      </p:sp>
      <p:sp>
        <p:nvSpPr>
          <p:cNvPr id="47" name="fx5|rec"/>
          <p:cNvSpPr txBox="1"/>
          <p:nvPr/>
        </p:nvSpPr>
        <p:spPr>
          <a:xfrm>
            <a:off x="3421228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48" name="fx11@zoom|box"/>
          <p:cNvSpPr/>
          <p:nvPr/>
        </p:nvSpPr>
        <p:spPr>
          <a:xfrm>
            <a:off x="1752448" y="4146804"/>
            <a:ext cx="1371600" cy="1332281"/>
          </a:xfrm>
          <a:prstGeom prst="rect">
            <a:avLst/>
          </a:prstGeom>
          <a:solidFill>
            <a:srgbClr val="E2BA52">
              <a:alpha val="0"/>
            </a:srgbClr>
          </a:solidFill>
          <a:ln w="25400">
            <a:solidFill>
              <a:srgbClr val="E2BA52"/>
            </a:solidFill>
            <a:prstDash val="solid"/>
          </a:ln>
        </p:spPr>
      </p:sp>
      <p:sp>
        <p:nvSpPr>
          <p:cNvPr id="49" name="fx11@pop|tag"/>
          <p:cNvSpPr txBox="1"/>
          <p:nvPr/>
        </p:nvSpPr>
        <p:spPr>
          <a:xfrm>
            <a:off x="1752448" y="3945636"/>
            <a:ext cx="1392631" cy="287122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 1.00</a:t>
            </a:r>
            <a:endParaRPr lang="en-US" sz="900" dirty="0"/>
          </a:p>
        </p:txBody>
      </p:sp>
      <p:sp>
        <p:nvSpPr>
          <p:cNvPr id="50" name="fx5|bar"/>
          <p:cNvSpPr/>
          <p:nvPr/>
        </p:nvSpPr>
        <p:spPr>
          <a:xfrm>
            <a:off x="723748" y="5513832"/>
            <a:ext cx="3429000" cy="566928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fx5|name"/>
          <p:cNvSpPr txBox="1"/>
          <p:nvPr/>
        </p:nvSpPr>
        <p:spPr>
          <a:xfrm>
            <a:off x="833476" y="553212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د. مطيع الجعفري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المشرف على المشروع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3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3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3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3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6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6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6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6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6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3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3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6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|kicker"/>
          <p:cNvSpPr txBox="1"/>
          <p:nvPr/>
        </p:nvSpPr>
        <p:spPr>
          <a:xfrm>
            <a:off x="5760720" y="411480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IDENTITY VERIFIED  •  تم التعرّف على العضو</a:t>
            </a:r>
            <a:endParaRPr lang="ar-SA" sz="1400" dirty="0"/>
          </a:p>
        </p:txBody>
      </p:sp>
      <p:sp>
        <p:nvSpPr>
          <p:cNvPr id="3" name="Photo frame"/>
          <p:cNvSpPr/>
          <p:nvPr/>
        </p:nvSpPr>
        <p:spPr>
          <a:xfrm>
            <a:off x="768096" y="1088136"/>
            <a:ext cx="4453128" cy="4453128"/>
          </a:xfrm>
          <a:prstGeom prst="rect">
            <a:avLst/>
          </a:prstGeom>
          <a:solidFill>
            <a:srgbClr val="05070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330200" dist="50800" dir="16200000">
              <a:srgbClr val="22D3EE">
                <a:alpha val="45000"/>
              </a:srgbClr>
            </a:outerShdw>
          </a:effectLst>
        </p:spPr>
      </p:sp>
      <p:pic>
        <p:nvPicPr>
          <p:cNvPr id="4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4343400" cy="4343400"/>
          </a:xfrm>
          <a:prstGeom prst="rect">
            <a:avLst/>
          </a:prstGeom>
        </p:spPr>
      </p:pic>
      <p:sp>
        <p:nvSpPr>
          <p:cNvPr id="5" name="fx1|brackets h0"/>
          <p:cNvSpPr/>
          <p:nvPr/>
        </p:nvSpPr>
        <p:spPr>
          <a:xfrm>
            <a:off x="594360" y="9144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6" name="fx1|brackets v0"/>
          <p:cNvSpPr/>
          <p:nvPr/>
        </p:nvSpPr>
        <p:spPr>
          <a:xfrm>
            <a:off x="594360" y="91440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7" name="fx1|brackets h1"/>
          <p:cNvSpPr/>
          <p:nvPr/>
        </p:nvSpPr>
        <p:spPr>
          <a:xfrm>
            <a:off x="5074920" y="9144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fx1|brackets v1"/>
          <p:cNvSpPr/>
          <p:nvPr/>
        </p:nvSpPr>
        <p:spPr>
          <a:xfrm>
            <a:off x="5394960" y="91440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9" name="fx1|brackets h2"/>
          <p:cNvSpPr/>
          <p:nvPr/>
        </p:nvSpPr>
        <p:spPr>
          <a:xfrm>
            <a:off x="594360" y="57150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0" name="fx1|brackets v2"/>
          <p:cNvSpPr/>
          <p:nvPr/>
        </p:nvSpPr>
        <p:spPr>
          <a:xfrm>
            <a:off x="594360" y="539496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1" name="fx1|brackets h3"/>
          <p:cNvSpPr/>
          <p:nvPr/>
        </p:nvSpPr>
        <p:spPr>
          <a:xfrm>
            <a:off x="5074920" y="57150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2" name="fx1|brackets v3"/>
          <p:cNvSpPr/>
          <p:nvPr/>
        </p:nvSpPr>
        <p:spPr>
          <a:xfrm>
            <a:off x="5394960" y="539496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pic>
        <p:nvPicPr>
          <p:cNvPr id="13" name="fx1@move(0,0.6,18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4343400" cy="457200"/>
          </a:xfrm>
          <a:prstGeom prst="rect">
            <a:avLst/>
          </a:prstGeom>
        </p:spPr>
      </p:pic>
      <p:sp>
        <p:nvSpPr>
          <p:cNvPr id="14" name="fx3@zoom|face box"/>
          <p:cNvSpPr/>
          <p:nvPr/>
        </p:nvSpPr>
        <p:spPr>
          <a:xfrm>
            <a:off x="1778508" y="1403604"/>
            <a:ext cx="2432304" cy="2866644"/>
          </a:xfrm>
          <a:prstGeom prst="rect">
            <a:avLst/>
          </a:prstGeom>
          <a:solidFill>
            <a:srgbClr val="10B981">
              <a:alpha val="0"/>
            </a:srgbClr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15" name="fx4@pop|face tag"/>
          <p:cNvSpPr txBox="1"/>
          <p:nvPr/>
        </p:nvSpPr>
        <p:spPr>
          <a:xfrm>
            <a:off x="1778508" y="1129284"/>
            <a:ext cx="2118482" cy="358445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01  PERSON 0.99</a:t>
            </a:r>
            <a:endParaRPr lang="en-US" sz="1200" dirty="0"/>
          </a:p>
        </p:txBody>
      </p:sp>
      <p:sp>
        <p:nvSpPr>
          <p:cNvPr id="16" name="fx5@pop|ok#3d"/>
          <p:cNvSpPr txBox="1"/>
          <p:nvPr/>
        </p:nvSpPr>
        <p:spPr>
          <a:xfrm>
            <a:off x="1440180" y="5806440"/>
            <a:ext cx="310896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1"/>
                </a:solidFill>
              </a:rPr>
              <a:t>✓  تم التعرّف  •  IDENTIFIED</a:t>
            </a:r>
            <a:endParaRPr lang="ar-SA" sz="1500" dirty="0"/>
          </a:p>
        </p:txBody>
      </p:sp>
      <p:sp>
        <p:nvSpPr>
          <p:cNvPr id="17" name="fx2|card"/>
          <p:cNvSpPr/>
          <p:nvPr/>
        </p:nvSpPr>
        <p:spPr>
          <a:xfrm>
            <a:off x="5760720" y="1143000"/>
            <a:ext cx="5879592" cy="4846320"/>
          </a:xfrm>
          <a:prstGeom prst="roundRect">
            <a:avLst>
              <a:gd name="adj" fmla="val 2642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8" name="fx2|card head"/>
          <p:cNvSpPr txBox="1"/>
          <p:nvPr/>
        </p:nvSpPr>
        <p:spPr>
          <a:xfrm>
            <a:off x="5760720" y="1143000"/>
            <a:ext cx="5879592" cy="566928"/>
          </a:xfrm>
          <a:prstGeom prst="roundRect">
            <a:avLst>
              <a:gd name="adj" fmla="val 22581"/>
            </a:avLst>
          </a:prstGeom>
          <a:solidFill>
            <a:schemeClr val="accent2"/>
          </a:solidFill>
          <a:ln/>
        </p:spPr>
        <p:txBody>
          <a:bodyPr wrap="square" lIns="0" tIns="3810" rIns="381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0A0E1A"/>
                </a:solidFill>
              </a:rPr>
              <a:t>بطاقة عضو الفريق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TEAM MEMBER ID</a:t>
            </a:r>
            <a:endParaRPr lang="ar-SA" sz="1700" dirty="0"/>
          </a:p>
        </p:txBody>
      </p:sp>
      <p:sp>
        <p:nvSpPr>
          <p:cNvPr id="19" name="fx6|lab"/>
          <p:cNvSpPr txBox="1"/>
          <p:nvPr/>
        </p:nvSpPr>
        <p:spPr>
          <a:xfrm>
            <a:off x="6035040" y="1920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الاسم  •  Name</a:t>
            </a:r>
            <a:endParaRPr lang="ar-SA" sz="1200" dirty="0"/>
          </a:p>
        </p:txBody>
      </p:sp>
      <p:sp>
        <p:nvSpPr>
          <p:cNvPr id="20" name="fx6|v1"/>
          <p:cNvSpPr txBox="1"/>
          <p:nvPr/>
        </p:nvSpPr>
        <p:spPr>
          <a:xfrm>
            <a:off x="6035040" y="219456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عيسى إبراهيم شايع</a:t>
            </a:r>
            <a:endParaRPr lang="ar-SA" sz="2400" dirty="0"/>
          </a:p>
        </p:txBody>
      </p:sp>
      <p:sp>
        <p:nvSpPr>
          <p:cNvPr id="21" name="fx6|v2"/>
          <p:cNvSpPr txBox="1"/>
          <p:nvPr/>
        </p:nvSpPr>
        <p:spPr>
          <a:xfrm>
            <a:off x="6035040" y="261518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Eisa Ibrahim Shaye</a:t>
            </a:r>
            <a:endParaRPr lang="en-US" sz="1200" dirty="0"/>
          </a:p>
        </p:txBody>
      </p:sp>
      <p:sp>
        <p:nvSpPr>
          <p:cNvPr id="22" name="fx7|lab"/>
          <p:cNvSpPr txBox="1"/>
          <p:nvPr/>
        </p:nvSpPr>
        <p:spPr>
          <a:xfrm>
            <a:off x="6035040" y="29718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الدور  •  Role</a:t>
            </a:r>
            <a:endParaRPr lang="ar-SA" sz="1200" dirty="0"/>
          </a:p>
        </p:txBody>
      </p:sp>
      <p:sp>
        <p:nvSpPr>
          <p:cNvPr id="23" name="fx7|v1"/>
          <p:cNvSpPr txBox="1"/>
          <p:nvPr/>
        </p:nvSpPr>
        <p:spPr>
          <a:xfrm>
            <a:off x="6035040" y="324612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قائد الفريق ومدير المشروع</a:t>
            </a:r>
            <a:endParaRPr lang="ar-SA" sz="1800" dirty="0"/>
          </a:p>
        </p:txBody>
      </p:sp>
      <p:sp>
        <p:nvSpPr>
          <p:cNvPr id="24" name="fx7|v2"/>
          <p:cNvSpPr txBox="1"/>
          <p:nvPr/>
        </p:nvSpPr>
        <p:spPr>
          <a:xfrm>
            <a:off x="6035040" y="366674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Team Leader &amp; Project Manager</a:t>
            </a:r>
            <a:endParaRPr lang="en-US" sz="1200" dirty="0"/>
          </a:p>
        </p:txBody>
      </p:sp>
      <p:sp>
        <p:nvSpPr>
          <p:cNvPr id="25" name="fx8|lab"/>
          <p:cNvSpPr txBox="1"/>
          <p:nvPr/>
        </p:nvSpPr>
        <p:spPr>
          <a:xfrm>
            <a:off x="6035040" y="40233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المهام  •  Tasks</a:t>
            </a:r>
            <a:endParaRPr lang="ar-SA" sz="1200" dirty="0"/>
          </a:p>
        </p:txBody>
      </p:sp>
      <p:sp>
        <p:nvSpPr>
          <p:cNvPr id="26" name="fx8|v1"/>
          <p:cNvSpPr txBox="1"/>
          <p:nvPr/>
        </p:nvSpPr>
        <p:spPr>
          <a:xfrm>
            <a:off x="6035040" y="429768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تحليل المتطلبات وتنسيق دمج مكونات النظام</a:t>
            </a:r>
            <a:endParaRPr lang="ar-SA" sz="1800" dirty="0"/>
          </a:p>
        </p:txBody>
      </p:sp>
      <p:sp>
        <p:nvSpPr>
          <p:cNvPr id="27" name="fx9@pop|plate#3d"/>
          <p:cNvSpPr txBox="1"/>
          <p:nvPr/>
        </p:nvSpPr>
        <p:spPr>
          <a:xfrm>
            <a:off x="6035040" y="507492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F5F5F0"/>
          </a:solidFill>
          <a:ln w="25400">
            <a:solidFill>
              <a:srgbClr val="11111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01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333333"/>
                </a:solidFill>
              </a:rPr>
              <a:t>YEMEN  •  اليمن</a:t>
            </a:r>
            <a:endParaRPr lang="en-US" sz="2400" dirty="0"/>
          </a:p>
        </p:txBody>
      </p:sp>
      <p:sp>
        <p:nvSpPr>
          <p:cNvPr id="28" name="fx9|code"/>
          <p:cNvSpPr txBox="1"/>
          <p:nvPr/>
        </p:nvSpPr>
        <p:spPr>
          <a:xfrm>
            <a:off x="9262872" y="5303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UST-IB  •  2026</a:t>
            </a:r>
            <a:endParaRPr lang="en-US" sz="1200" dirty="0"/>
          </a:p>
        </p:txBody>
      </p:sp>
      <p:sp>
        <p:nvSpPr>
          <p:cNvPr id="30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1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0 0.6 E" pathEditMode="relative" ptsTypes="AA">
                                      <p:cBhvr>
                                        <p:cTn id="42" dur="1800" accel="20000" decel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|kicker"/>
          <p:cNvSpPr txBox="1"/>
          <p:nvPr/>
        </p:nvSpPr>
        <p:spPr>
          <a:xfrm>
            <a:off x="5760720" y="411480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IDENTITY VERIFIED  •  تم التعرّف على العضو</a:t>
            </a:r>
            <a:endParaRPr lang="ar-SA" sz="1400" dirty="0"/>
          </a:p>
        </p:txBody>
      </p:sp>
      <p:sp>
        <p:nvSpPr>
          <p:cNvPr id="3" name="Photo frame"/>
          <p:cNvSpPr/>
          <p:nvPr/>
        </p:nvSpPr>
        <p:spPr>
          <a:xfrm>
            <a:off x="768096" y="1088136"/>
            <a:ext cx="4453128" cy="4453128"/>
          </a:xfrm>
          <a:prstGeom prst="rect">
            <a:avLst/>
          </a:prstGeom>
          <a:solidFill>
            <a:srgbClr val="05070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330200" dist="50800" dir="16200000">
              <a:srgbClr val="22D3EE">
                <a:alpha val="45000"/>
              </a:srgbClr>
            </a:outerShdw>
          </a:effectLst>
        </p:spPr>
      </p:sp>
      <p:pic>
        <p:nvPicPr>
          <p:cNvPr id="4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4343400" cy="4343400"/>
          </a:xfrm>
          <a:prstGeom prst="rect">
            <a:avLst/>
          </a:prstGeom>
        </p:spPr>
      </p:pic>
      <p:sp>
        <p:nvSpPr>
          <p:cNvPr id="5" name="fx1|brackets h0"/>
          <p:cNvSpPr/>
          <p:nvPr/>
        </p:nvSpPr>
        <p:spPr>
          <a:xfrm>
            <a:off x="594360" y="9144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6" name="fx1|brackets v0"/>
          <p:cNvSpPr/>
          <p:nvPr/>
        </p:nvSpPr>
        <p:spPr>
          <a:xfrm>
            <a:off x="594360" y="91440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7" name="fx1|brackets h1"/>
          <p:cNvSpPr/>
          <p:nvPr/>
        </p:nvSpPr>
        <p:spPr>
          <a:xfrm>
            <a:off x="5074920" y="9144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fx1|brackets v1"/>
          <p:cNvSpPr/>
          <p:nvPr/>
        </p:nvSpPr>
        <p:spPr>
          <a:xfrm>
            <a:off x="5394960" y="91440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9" name="fx1|brackets h2"/>
          <p:cNvSpPr/>
          <p:nvPr/>
        </p:nvSpPr>
        <p:spPr>
          <a:xfrm>
            <a:off x="594360" y="57150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0" name="fx1|brackets v2"/>
          <p:cNvSpPr/>
          <p:nvPr/>
        </p:nvSpPr>
        <p:spPr>
          <a:xfrm>
            <a:off x="594360" y="539496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1" name="fx1|brackets h3"/>
          <p:cNvSpPr/>
          <p:nvPr/>
        </p:nvSpPr>
        <p:spPr>
          <a:xfrm>
            <a:off x="5074920" y="571500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2" name="fx1|brackets v3"/>
          <p:cNvSpPr/>
          <p:nvPr/>
        </p:nvSpPr>
        <p:spPr>
          <a:xfrm>
            <a:off x="5394960" y="539496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pic>
        <p:nvPicPr>
          <p:cNvPr id="13" name="fx1@move(0,0.6,18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4343400" cy="457200"/>
          </a:xfrm>
          <a:prstGeom prst="rect">
            <a:avLst/>
          </a:prstGeom>
        </p:spPr>
      </p:pic>
      <p:sp>
        <p:nvSpPr>
          <p:cNvPr id="14" name="fx3@zoom|face box"/>
          <p:cNvSpPr/>
          <p:nvPr/>
        </p:nvSpPr>
        <p:spPr>
          <a:xfrm>
            <a:off x="1778508" y="1403604"/>
            <a:ext cx="2432304" cy="2866644"/>
          </a:xfrm>
          <a:prstGeom prst="rect">
            <a:avLst/>
          </a:prstGeom>
          <a:solidFill>
            <a:srgbClr val="10B981">
              <a:alpha val="0"/>
            </a:srgbClr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15" name="fx4@pop|face tag"/>
          <p:cNvSpPr txBox="1"/>
          <p:nvPr/>
        </p:nvSpPr>
        <p:spPr>
          <a:xfrm>
            <a:off x="1778508" y="1129284"/>
            <a:ext cx="2118482" cy="358445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02  PERSON 0.98</a:t>
            </a:r>
            <a:endParaRPr lang="en-US" sz="1200" dirty="0"/>
          </a:p>
        </p:txBody>
      </p:sp>
      <p:sp>
        <p:nvSpPr>
          <p:cNvPr id="16" name="fx5@pop|ok#3d"/>
          <p:cNvSpPr txBox="1"/>
          <p:nvPr/>
        </p:nvSpPr>
        <p:spPr>
          <a:xfrm>
            <a:off x="1440180" y="5806440"/>
            <a:ext cx="310896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1"/>
                </a:solidFill>
              </a:rPr>
              <a:t>✓  تم التعرّف  •  IDENTIFIED</a:t>
            </a:r>
            <a:endParaRPr lang="ar-SA" sz="1500" dirty="0"/>
          </a:p>
        </p:txBody>
      </p:sp>
      <p:sp>
        <p:nvSpPr>
          <p:cNvPr id="17" name="fx2|card"/>
          <p:cNvSpPr/>
          <p:nvPr/>
        </p:nvSpPr>
        <p:spPr>
          <a:xfrm>
            <a:off x="5760720" y="1143000"/>
            <a:ext cx="5879592" cy="4846320"/>
          </a:xfrm>
          <a:prstGeom prst="roundRect">
            <a:avLst>
              <a:gd name="adj" fmla="val 2642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8" name="fx2|card head"/>
          <p:cNvSpPr txBox="1"/>
          <p:nvPr/>
        </p:nvSpPr>
        <p:spPr>
          <a:xfrm>
            <a:off x="5760720" y="1143000"/>
            <a:ext cx="5879592" cy="566928"/>
          </a:xfrm>
          <a:prstGeom prst="roundRect">
            <a:avLst>
              <a:gd name="adj" fmla="val 22581"/>
            </a:avLst>
          </a:prstGeom>
          <a:solidFill>
            <a:schemeClr val="accent2"/>
          </a:solidFill>
          <a:ln/>
        </p:spPr>
        <p:txBody>
          <a:bodyPr wrap="square" lIns="0" tIns="3810" rIns="381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0A0E1A"/>
                </a:solidFill>
              </a:rPr>
              <a:t>بطاقة عضو الفريق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TEAM MEMBER ID</a:t>
            </a:r>
            <a:endParaRPr lang="ar-SA" sz="1700" dirty="0"/>
          </a:p>
        </p:txBody>
      </p:sp>
      <p:sp>
        <p:nvSpPr>
          <p:cNvPr id="19" name="fx6|lab"/>
          <p:cNvSpPr txBox="1"/>
          <p:nvPr/>
        </p:nvSpPr>
        <p:spPr>
          <a:xfrm>
            <a:off x="6035040" y="1920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الاسم  •  Name</a:t>
            </a:r>
            <a:endParaRPr lang="ar-SA" sz="1200" dirty="0"/>
          </a:p>
        </p:txBody>
      </p:sp>
      <p:sp>
        <p:nvSpPr>
          <p:cNvPr id="20" name="fx6|v1"/>
          <p:cNvSpPr txBox="1"/>
          <p:nvPr/>
        </p:nvSpPr>
        <p:spPr>
          <a:xfrm>
            <a:off x="6035040" y="219456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محمد عبدالإله قريع</a:t>
            </a:r>
            <a:endParaRPr lang="ar-SA" sz="2400" dirty="0"/>
          </a:p>
        </p:txBody>
      </p:sp>
      <p:sp>
        <p:nvSpPr>
          <p:cNvPr id="21" name="fx6|v2"/>
          <p:cNvSpPr txBox="1"/>
          <p:nvPr/>
        </p:nvSpPr>
        <p:spPr>
          <a:xfrm>
            <a:off x="6035040" y="261518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Mohammed Abdulelah Qurai</a:t>
            </a:r>
            <a:endParaRPr lang="en-US" sz="1200" dirty="0"/>
          </a:p>
        </p:txBody>
      </p:sp>
      <p:sp>
        <p:nvSpPr>
          <p:cNvPr id="22" name="fx7|lab"/>
          <p:cNvSpPr txBox="1"/>
          <p:nvPr/>
        </p:nvSpPr>
        <p:spPr>
          <a:xfrm>
            <a:off x="6035040" y="29718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الدور  •  Role</a:t>
            </a:r>
            <a:endParaRPr lang="ar-SA" sz="1200" dirty="0"/>
          </a:p>
        </p:txBody>
      </p:sp>
      <p:sp>
        <p:nvSpPr>
          <p:cNvPr id="23" name="fx7|v1"/>
          <p:cNvSpPr txBox="1"/>
          <p:nvPr/>
        </p:nvSpPr>
        <p:spPr>
          <a:xfrm>
            <a:off x="6035040" y="324612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مطوّر تطبيق الهاتف</a:t>
            </a:r>
            <a:endParaRPr lang="ar-SA" sz="1800" dirty="0"/>
          </a:p>
        </p:txBody>
      </p:sp>
      <p:sp>
        <p:nvSpPr>
          <p:cNvPr id="24" name="fx7|v2"/>
          <p:cNvSpPr txBox="1"/>
          <p:nvPr/>
        </p:nvSpPr>
        <p:spPr>
          <a:xfrm>
            <a:off x="6035040" y="366674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Flutter Mobile Developer</a:t>
            </a:r>
            <a:endParaRPr lang="en-US" sz="1200" dirty="0"/>
          </a:p>
        </p:txBody>
      </p:sp>
      <p:sp>
        <p:nvSpPr>
          <p:cNvPr id="25" name="fx8|lab"/>
          <p:cNvSpPr txBox="1"/>
          <p:nvPr/>
        </p:nvSpPr>
        <p:spPr>
          <a:xfrm>
            <a:off x="6035040" y="40233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المهام  •  Tasks</a:t>
            </a:r>
            <a:endParaRPr lang="ar-SA" sz="1200" dirty="0"/>
          </a:p>
        </p:txBody>
      </p:sp>
      <p:sp>
        <p:nvSpPr>
          <p:cNvPr id="26" name="fx8|v1"/>
          <p:cNvSpPr txBox="1"/>
          <p:nvPr/>
        </p:nvSpPr>
        <p:spPr>
          <a:xfrm>
            <a:off x="6035040" y="429768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تطبيق المراقبة: تشغيل الكاميرا وإرسال البيانات</a:t>
            </a:r>
            <a:endParaRPr lang="ar-SA" sz="1800" dirty="0"/>
          </a:p>
        </p:txBody>
      </p:sp>
      <p:sp>
        <p:nvSpPr>
          <p:cNvPr id="27" name="fx9@pop|plate#3d"/>
          <p:cNvSpPr txBox="1"/>
          <p:nvPr/>
        </p:nvSpPr>
        <p:spPr>
          <a:xfrm>
            <a:off x="6035040" y="507492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F5F5F0"/>
          </a:solidFill>
          <a:ln w="25400">
            <a:solidFill>
              <a:srgbClr val="11111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02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333333"/>
                </a:solidFill>
              </a:rPr>
              <a:t>YEMEN  •  اليمن</a:t>
            </a:r>
            <a:endParaRPr lang="en-US" sz="2400" dirty="0"/>
          </a:p>
        </p:txBody>
      </p:sp>
      <p:sp>
        <p:nvSpPr>
          <p:cNvPr id="28" name="fx9|code"/>
          <p:cNvSpPr txBox="1"/>
          <p:nvPr/>
        </p:nvSpPr>
        <p:spPr>
          <a:xfrm>
            <a:off x="9262872" y="5303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UST-IB  •  2026</a:t>
            </a:r>
            <a:endParaRPr lang="en-US" sz="1200" dirty="0"/>
          </a:p>
        </p:txBody>
      </p:sp>
      <p:sp>
        <p:nvSpPr>
          <p:cNvPr id="30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1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0 0.6 E" pathEditMode="relative" ptsTypes="AA">
                                      <p:cBhvr>
                                        <p:cTn id="42" dur="1800" accel="20000" decel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مشكلة البحث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4" name="fx0|card"/>
          <p:cNvSpPr/>
          <p:nvPr/>
        </p:nvSpPr>
        <p:spPr>
          <a:xfrm>
            <a:off x="8122615" y="1645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5" name="fx0|ic bg#3d"/>
          <p:cNvSpPr/>
          <p:nvPr/>
        </p:nvSpPr>
        <p:spPr>
          <a:xfrm>
            <a:off x="9443923" y="1874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3379" y="2093976"/>
            <a:ext cx="438912" cy="438912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8214055" y="2788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ارتفاع الحوادث بسبب تجاوز السرعة</a:t>
            </a:r>
            <a:endParaRPr lang="ar-SA" sz="1500" dirty="0"/>
          </a:p>
        </p:txBody>
      </p:sp>
      <p:sp>
        <p:nvSpPr>
          <p:cNvPr id="8" name="fx0|en"/>
          <p:cNvSpPr txBox="1"/>
          <p:nvPr/>
        </p:nvSpPr>
        <p:spPr>
          <a:xfrm>
            <a:off x="8259775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Speed-related accidents</a:t>
            </a:r>
            <a:endParaRPr lang="en-US" sz="1100" dirty="0"/>
          </a:p>
        </p:txBody>
      </p:sp>
      <p:sp>
        <p:nvSpPr>
          <p:cNvPr id="9" name="fx1|card"/>
          <p:cNvSpPr/>
          <p:nvPr/>
        </p:nvSpPr>
        <p:spPr>
          <a:xfrm>
            <a:off x="4336999" y="1645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0" name="fx1|ic bg#3d"/>
          <p:cNvSpPr/>
          <p:nvPr/>
        </p:nvSpPr>
        <p:spPr>
          <a:xfrm>
            <a:off x="5658307" y="1874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1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763" y="2093976"/>
            <a:ext cx="438912" cy="438912"/>
          </a:xfrm>
          <a:prstGeom prst="rect">
            <a:avLst/>
          </a:prstGeom>
        </p:spPr>
      </p:pic>
      <p:sp>
        <p:nvSpPr>
          <p:cNvPr id="12" name="fx1|ar"/>
          <p:cNvSpPr txBox="1"/>
          <p:nvPr/>
        </p:nvSpPr>
        <p:spPr>
          <a:xfrm>
            <a:off x="4428439" y="2788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غياب الرقابة المستمرة على الطرق</a:t>
            </a:r>
            <a:endParaRPr lang="ar-SA" sz="1500" dirty="0"/>
          </a:p>
        </p:txBody>
      </p:sp>
      <p:sp>
        <p:nvSpPr>
          <p:cNvPr id="13" name="fx1|en"/>
          <p:cNvSpPr txBox="1"/>
          <p:nvPr/>
        </p:nvSpPr>
        <p:spPr>
          <a:xfrm>
            <a:off x="4474159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No continuous monitoring</a:t>
            </a:r>
            <a:endParaRPr lang="en-US" sz="1100" dirty="0"/>
          </a:p>
        </p:txBody>
      </p:sp>
      <p:sp>
        <p:nvSpPr>
          <p:cNvPr id="14" name="fx2|card"/>
          <p:cNvSpPr/>
          <p:nvPr/>
        </p:nvSpPr>
        <p:spPr>
          <a:xfrm>
            <a:off x="551383" y="1645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5" name="fx2|ic bg#3d"/>
          <p:cNvSpPr/>
          <p:nvPr/>
        </p:nvSpPr>
        <p:spPr>
          <a:xfrm>
            <a:off x="1872691" y="1874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6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147" y="2093976"/>
            <a:ext cx="438912" cy="438912"/>
          </a:xfrm>
          <a:prstGeom prst="rect">
            <a:avLst/>
          </a:prstGeom>
        </p:spPr>
      </p:pic>
      <p:sp>
        <p:nvSpPr>
          <p:cNvPr id="17" name="fx2|ar"/>
          <p:cNvSpPr txBox="1"/>
          <p:nvPr/>
        </p:nvSpPr>
        <p:spPr>
          <a:xfrm>
            <a:off x="642823" y="2788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أخطاء وتفاوت في الرقابة البشرية</a:t>
            </a:r>
            <a:endParaRPr lang="ar-SA" sz="1500" dirty="0"/>
          </a:p>
        </p:txBody>
      </p:sp>
      <p:sp>
        <p:nvSpPr>
          <p:cNvPr id="18" name="fx2|en"/>
          <p:cNvSpPr txBox="1"/>
          <p:nvPr/>
        </p:nvSpPr>
        <p:spPr>
          <a:xfrm>
            <a:off x="688543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Human error &amp; inconsistency</a:t>
            </a:r>
            <a:endParaRPr lang="en-US" sz="1100" dirty="0"/>
          </a:p>
        </p:txBody>
      </p:sp>
      <p:sp>
        <p:nvSpPr>
          <p:cNvPr id="19" name="fx3|card"/>
          <p:cNvSpPr/>
          <p:nvPr/>
        </p:nvSpPr>
        <p:spPr>
          <a:xfrm>
            <a:off x="8122615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0" name="fx3|ic bg#3d"/>
          <p:cNvSpPr/>
          <p:nvPr/>
        </p:nvSpPr>
        <p:spPr>
          <a:xfrm>
            <a:off x="9443923" y="4160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1" name="fx3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379" y="4379976"/>
            <a:ext cx="438912" cy="438912"/>
          </a:xfrm>
          <a:prstGeom prst="rect">
            <a:avLst/>
          </a:prstGeom>
        </p:spPr>
      </p:pic>
      <p:sp>
        <p:nvSpPr>
          <p:cNvPr id="22" name="fx3|ar"/>
          <p:cNvSpPr txBox="1"/>
          <p:nvPr/>
        </p:nvSpPr>
        <p:spPr>
          <a:xfrm>
            <a:off x="8214055" y="5074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تأخر اكتشاف مخالفات السرعة</a:t>
            </a:r>
            <a:endParaRPr lang="ar-SA" sz="1500" dirty="0"/>
          </a:p>
        </p:txBody>
      </p:sp>
      <p:sp>
        <p:nvSpPr>
          <p:cNvPr id="23" name="fx3|en"/>
          <p:cNvSpPr txBox="1"/>
          <p:nvPr/>
        </p:nvSpPr>
        <p:spPr>
          <a:xfrm>
            <a:off x="8259775" y="5596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Delayed detection</a:t>
            </a:r>
            <a:endParaRPr lang="en-US" sz="1100" dirty="0"/>
          </a:p>
        </p:txBody>
      </p:sp>
      <p:sp>
        <p:nvSpPr>
          <p:cNvPr id="24" name="fx4|card"/>
          <p:cNvSpPr/>
          <p:nvPr/>
        </p:nvSpPr>
        <p:spPr>
          <a:xfrm>
            <a:off x="4336999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5" name="fx4|ic bg#3d"/>
          <p:cNvSpPr/>
          <p:nvPr/>
        </p:nvSpPr>
        <p:spPr>
          <a:xfrm>
            <a:off x="5658307" y="4160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6" name="fx4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379976"/>
            <a:ext cx="438912" cy="438912"/>
          </a:xfrm>
          <a:prstGeom prst="rect">
            <a:avLst/>
          </a:prstGeom>
        </p:spPr>
      </p:pic>
      <p:sp>
        <p:nvSpPr>
          <p:cNvPr id="27" name="fx4|ar"/>
          <p:cNvSpPr txBox="1"/>
          <p:nvPr/>
        </p:nvSpPr>
        <p:spPr>
          <a:xfrm>
            <a:off x="4428439" y="5074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ارتفاع تكلفة الرادارات التقليدية</a:t>
            </a:r>
            <a:endParaRPr lang="ar-SA" sz="1500" dirty="0"/>
          </a:p>
        </p:txBody>
      </p:sp>
      <p:sp>
        <p:nvSpPr>
          <p:cNvPr id="28" name="fx4|en"/>
          <p:cNvSpPr txBox="1"/>
          <p:nvPr/>
        </p:nvSpPr>
        <p:spPr>
          <a:xfrm>
            <a:off x="4474159" y="5596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Expensive radar systems</a:t>
            </a:r>
            <a:endParaRPr lang="en-US" sz="1100" dirty="0"/>
          </a:p>
        </p:txBody>
      </p:sp>
      <p:sp>
        <p:nvSpPr>
          <p:cNvPr id="29" name="fx5|card"/>
          <p:cNvSpPr/>
          <p:nvPr/>
        </p:nvSpPr>
        <p:spPr>
          <a:xfrm>
            <a:off x="551383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30" name="fx5|ic bg#3d"/>
          <p:cNvSpPr/>
          <p:nvPr/>
        </p:nvSpPr>
        <p:spPr>
          <a:xfrm>
            <a:off x="1872691" y="4160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31" name="fx5|ic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147" y="4379976"/>
            <a:ext cx="438912" cy="438912"/>
          </a:xfrm>
          <a:prstGeom prst="rect">
            <a:avLst/>
          </a:prstGeom>
        </p:spPr>
      </p:pic>
      <p:sp>
        <p:nvSpPr>
          <p:cNvPr id="32" name="fx5|ar"/>
          <p:cNvSpPr txBox="1"/>
          <p:nvPr/>
        </p:nvSpPr>
        <p:spPr>
          <a:xfrm>
            <a:off x="642823" y="5074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ربط المخالفة بالمالك يدوياً</a:t>
            </a:r>
            <a:endParaRPr lang="ar-SA" sz="1500" dirty="0"/>
          </a:p>
        </p:txBody>
      </p:sp>
      <p:sp>
        <p:nvSpPr>
          <p:cNvPr id="33" name="fx5|en"/>
          <p:cNvSpPr txBox="1"/>
          <p:nvPr/>
        </p:nvSpPr>
        <p:spPr>
          <a:xfrm>
            <a:off x="688543" y="5596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Manual owner linking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اكتشاف المركبات وتتبعها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YOLO Detection  •  ByteTrack Tracking</a:t>
            </a:r>
            <a:endParaRPr lang="en-US" sz="1500" dirty="0"/>
          </a:p>
        </p:txBody>
      </p:sp>
      <p:sp>
        <p:nvSpPr>
          <p:cNvPr id="4" name="Scene frame"/>
          <p:cNvSpPr/>
          <p:nvPr/>
        </p:nvSpPr>
        <p:spPr>
          <a:xfrm>
            <a:off x="502920" y="1463040"/>
            <a:ext cx="7132320" cy="4051935"/>
          </a:xfrm>
          <a:prstGeom prst="rect">
            <a:avLst/>
          </a:prstGeom>
          <a:solidFill>
            <a:srgbClr val="05070C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330200" dist="50800" dir="16200000">
              <a:srgbClr val="22D3EE">
                <a:alpha val="50000"/>
              </a:srgbClr>
            </a:outerShdw>
          </a:effectLst>
        </p:spPr>
      </p:sp>
      <p:pic>
        <p:nvPicPr>
          <p:cNvPr id="5" name="Raw scene" descr="مشهد الطري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040880" cy="3960495"/>
          </a:xfrm>
          <a:prstGeom prst="rect">
            <a:avLst/>
          </a:prstGeom>
        </p:spPr>
      </p:pic>
      <p:sp>
        <p:nvSpPr>
          <p:cNvPr id="6" name="fx1@zoom|box 0.22"/>
          <p:cNvSpPr/>
          <p:nvPr/>
        </p:nvSpPr>
        <p:spPr>
          <a:xfrm>
            <a:off x="3855213" y="3144444"/>
            <a:ext cx="427733" cy="273274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fx1@pop|lab 0.22"/>
          <p:cNvSpPr txBox="1"/>
          <p:nvPr/>
        </p:nvSpPr>
        <p:spPr>
          <a:xfrm>
            <a:off x="3855213" y="2904872"/>
            <a:ext cx="1123798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09 TAXI 0.88</a:t>
            </a:r>
            <a:endParaRPr lang="en-US" sz="700" dirty="0"/>
          </a:p>
        </p:txBody>
      </p:sp>
      <p:sp>
        <p:nvSpPr>
          <p:cNvPr id="8" name="fx2@zoom|box 0.38"/>
          <p:cNvSpPr/>
          <p:nvPr/>
        </p:nvSpPr>
        <p:spPr>
          <a:xfrm>
            <a:off x="4805145" y="3389995"/>
            <a:ext cx="712889" cy="455457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fx2@pop|lab 0.38"/>
          <p:cNvSpPr txBox="1"/>
          <p:nvPr/>
        </p:nvSpPr>
        <p:spPr>
          <a:xfrm>
            <a:off x="4805145" y="3150422"/>
            <a:ext cx="1061070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05 CAR 0.92</a:t>
            </a:r>
            <a:endParaRPr lang="en-US" sz="700" dirty="0"/>
          </a:p>
        </p:txBody>
      </p:sp>
      <p:sp>
        <p:nvSpPr>
          <p:cNvPr id="10" name="fx5@pop|spd 0.38"/>
          <p:cNvSpPr txBox="1"/>
          <p:nvPr/>
        </p:nvSpPr>
        <p:spPr>
          <a:xfrm>
            <a:off x="4805145" y="3845452"/>
            <a:ext cx="684703" cy="263347"/>
          </a:xfrm>
          <a:prstGeom prst="rect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km/h</a:t>
            </a:r>
            <a:endParaRPr lang="en-US" sz="800" dirty="0"/>
          </a:p>
        </p:txBody>
      </p:sp>
      <p:sp>
        <p:nvSpPr>
          <p:cNvPr id="11" name="fx3@zoom|box 0.45"/>
          <p:cNvSpPr/>
          <p:nvPr/>
        </p:nvSpPr>
        <p:spPr>
          <a:xfrm>
            <a:off x="2359466" y="3501109"/>
            <a:ext cx="831704" cy="531366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fx3@pop|lab 0.45"/>
          <p:cNvSpPr txBox="1"/>
          <p:nvPr/>
        </p:nvSpPr>
        <p:spPr>
          <a:xfrm>
            <a:off x="2359466" y="3261536"/>
            <a:ext cx="1061070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04 CAR 0.94</a:t>
            </a:r>
            <a:endParaRPr lang="en-US" sz="700" dirty="0"/>
          </a:p>
        </p:txBody>
      </p:sp>
      <p:sp>
        <p:nvSpPr>
          <p:cNvPr id="13" name="fx5@pop|spd 0.45"/>
          <p:cNvSpPr txBox="1"/>
          <p:nvPr/>
        </p:nvSpPr>
        <p:spPr>
          <a:xfrm>
            <a:off x="2359466" y="4032475"/>
            <a:ext cx="684703" cy="263347"/>
          </a:xfrm>
          <a:prstGeom prst="rect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km/h</a:t>
            </a:r>
            <a:endParaRPr lang="en-US" sz="800" dirty="0"/>
          </a:p>
        </p:txBody>
      </p:sp>
      <p:sp>
        <p:nvSpPr>
          <p:cNvPr id="14" name="fx4@zoom|box 0.78"/>
          <p:cNvSpPr/>
          <p:nvPr/>
        </p:nvSpPr>
        <p:spPr>
          <a:xfrm>
            <a:off x="3356191" y="4003872"/>
            <a:ext cx="1425778" cy="910914"/>
          </a:xfrm>
          <a:prstGeom prst="rect">
            <a:avLst/>
          </a:prstGeom>
          <a:solidFill>
            <a:srgbClr val="F43F5E">
              <a:alpha val="0"/>
            </a:srgbClr>
          </a:solidFill>
          <a:ln w="31750">
            <a:solidFill>
              <a:srgbClr val="F43F5E"/>
            </a:solidFill>
            <a:prstDash val="solid"/>
          </a:ln>
        </p:spPr>
      </p:sp>
      <p:sp>
        <p:nvSpPr>
          <p:cNvPr id="15" name="fx4@pop|lab 0.78"/>
          <p:cNvSpPr txBox="1"/>
          <p:nvPr/>
        </p:nvSpPr>
        <p:spPr>
          <a:xfrm>
            <a:off x="3356191" y="3692976"/>
            <a:ext cx="1437437" cy="310896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07 CAR 0.96</a:t>
            </a:r>
            <a:endParaRPr lang="en-US" sz="1000" dirty="0"/>
          </a:p>
        </p:txBody>
      </p:sp>
      <p:sp>
        <p:nvSpPr>
          <p:cNvPr id="16" name="fx6@pop|spd 0.78"/>
          <p:cNvSpPr txBox="1"/>
          <p:nvPr/>
        </p:nvSpPr>
        <p:spPr>
          <a:xfrm>
            <a:off x="3356191" y="4914786"/>
            <a:ext cx="872886" cy="334670"/>
          </a:xfrm>
          <a:prstGeom prst="rect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km/h</a:t>
            </a:r>
            <a:endParaRPr lang="en-US" sz="1100" dirty="0"/>
          </a:p>
        </p:txBody>
      </p:sp>
      <p:sp>
        <p:nvSpPr>
          <p:cNvPr id="17" name="fx7@pop|violation#3d"/>
          <p:cNvSpPr txBox="1"/>
          <p:nvPr/>
        </p:nvSpPr>
        <p:spPr>
          <a:xfrm>
            <a:off x="2953169" y="3436944"/>
            <a:ext cx="1828800" cy="292608"/>
          </a:xfrm>
          <a:prstGeom prst="rect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</a:rPr>
              <a:t>مخالفة  •  VIOLATION</a:t>
            </a:r>
            <a:endParaRPr lang="ar-SA" sz="1100" dirty="0"/>
          </a:p>
        </p:txBody>
      </p:sp>
      <p:sp>
        <p:nvSpPr>
          <p:cNvPr id="18" name="fx1|step"/>
          <p:cNvSpPr/>
          <p:nvPr/>
        </p:nvSpPr>
        <p:spPr>
          <a:xfrm>
            <a:off x="7909560" y="1508760"/>
            <a:ext cx="3730752" cy="868680"/>
          </a:xfrm>
          <a:prstGeom prst="roundRect">
            <a:avLst>
              <a:gd name="adj" fmla="val 1473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9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728216"/>
            <a:ext cx="420624" cy="420624"/>
          </a:xfrm>
          <a:prstGeom prst="rect">
            <a:avLst/>
          </a:prstGeom>
        </p:spPr>
      </p:pic>
      <p:sp>
        <p:nvSpPr>
          <p:cNvPr id="20" name="fx1|ar"/>
          <p:cNvSpPr txBox="1"/>
          <p:nvPr/>
        </p:nvSpPr>
        <p:spPr>
          <a:xfrm>
            <a:off x="80467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اكتشاف المركبات</a:t>
            </a:r>
            <a:endParaRPr lang="ar-SA" sz="1600" dirty="0"/>
          </a:p>
        </p:txBody>
      </p:sp>
      <p:sp>
        <p:nvSpPr>
          <p:cNvPr id="21" name="fx1|sub"/>
          <p:cNvSpPr txBox="1"/>
          <p:nvPr/>
        </p:nvSpPr>
        <p:spPr>
          <a:xfrm>
            <a:off x="804672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bg2"/>
                </a:solidFill>
              </a:rPr>
              <a:t>YOLO: الموقع والنوع ودرجة الثقة</a:t>
            </a:r>
            <a:endParaRPr lang="ar-SA" sz="1100" dirty="0"/>
          </a:p>
        </p:txBody>
      </p:sp>
      <p:sp>
        <p:nvSpPr>
          <p:cNvPr id="22" name="fx4|step"/>
          <p:cNvSpPr/>
          <p:nvPr/>
        </p:nvSpPr>
        <p:spPr>
          <a:xfrm>
            <a:off x="7909560" y="2514600"/>
            <a:ext cx="3730752" cy="868680"/>
          </a:xfrm>
          <a:prstGeom prst="roundRect">
            <a:avLst>
              <a:gd name="adj" fmla="val 1473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3" name="fx4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734056"/>
            <a:ext cx="420624" cy="420624"/>
          </a:xfrm>
          <a:prstGeom prst="rect">
            <a:avLst/>
          </a:prstGeom>
        </p:spPr>
      </p:pic>
      <p:sp>
        <p:nvSpPr>
          <p:cNvPr id="24" name="fx4|ar"/>
          <p:cNvSpPr txBox="1"/>
          <p:nvPr/>
        </p:nvSpPr>
        <p:spPr>
          <a:xfrm>
            <a:off x="80467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تتبع كل مركبة</a:t>
            </a:r>
            <a:endParaRPr lang="ar-SA" sz="1600" dirty="0"/>
          </a:p>
        </p:txBody>
      </p:sp>
      <p:sp>
        <p:nvSpPr>
          <p:cNvPr id="25" name="fx4|sub"/>
          <p:cNvSpPr txBox="1"/>
          <p:nvPr/>
        </p:nvSpPr>
        <p:spPr>
          <a:xfrm>
            <a:off x="804672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bg2"/>
                </a:solidFill>
              </a:rPr>
              <a:t>ByteTrack: معرّف ثابت ومسار الحركة</a:t>
            </a:r>
            <a:endParaRPr lang="ar-SA" sz="1100" dirty="0"/>
          </a:p>
        </p:txBody>
      </p:sp>
      <p:sp>
        <p:nvSpPr>
          <p:cNvPr id="26" name="fx5|step"/>
          <p:cNvSpPr/>
          <p:nvPr/>
        </p:nvSpPr>
        <p:spPr>
          <a:xfrm>
            <a:off x="7909560" y="3520440"/>
            <a:ext cx="3730752" cy="868680"/>
          </a:xfrm>
          <a:prstGeom prst="roundRect">
            <a:avLst>
              <a:gd name="adj" fmla="val 1473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7" name="fx5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3739896"/>
            <a:ext cx="420624" cy="420624"/>
          </a:xfrm>
          <a:prstGeom prst="rect">
            <a:avLst/>
          </a:prstGeom>
        </p:spPr>
      </p:pic>
      <p:sp>
        <p:nvSpPr>
          <p:cNvPr id="28" name="fx5|ar"/>
          <p:cNvSpPr txBox="1"/>
          <p:nvPr/>
        </p:nvSpPr>
        <p:spPr>
          <a:xfrm>
            <a:off x="80467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حساب السرعة</a:t>
            </a:r>
            <a:endParaRPr lang="ar-SA" sz="1600" dirty="0"/>
          </a:p>
        </p:txBody>
      </p:sp>
      <p:sp>
        <p:nvSpPr>
          <p:cNvPr id="29" name="fx5|sub"/>
          <p:cNvSpPr txBox="1"/>
          <p:nvPr/>
        </p:nvSpPr>
        <p:spPr>
          <a:xfrm>
            <a:off x="804672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bg2"/>
                </a:solidFill>
              </a:rPr>
              <a:t>المسافة ÷ الزمن بعد معايرة الطريق</a:t>
            </a:r>
            <a:endParaRPr lang="ar-SA" sz="1100" dirty="0"/>
          </a:p>
        </p:txBody>
      </p:sp>
      <p:sp>
        <p:nvSpPr>
          <p:cNvPr id="30" name="fx7|step"/>
          <p:cNvSpPr/>
          <p:nvPr/>
        </p:nvSpPr>
        <p:spPr>
          <a:xfrm>
            <a:off x="7909560" y="4526280"/>
            <a:ext cx="3730752" cy="868680"/>
          </a:xfrm>
          <a:prstGeom prst="roundRect">
            <a:avLst>
              <a:gd name="adj" fmla="val 14737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31" name="fx7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4745736"/>
            <a:ext cx="420624" cy="420624"/>
          </a:xfrm>
          <a:prstGeom prst="rect">
            <a:avLst/>
          </a:prstGeom>
        </p:spPr>
      </p:pic>
      <p:sp>
        <p:nvSpPr>
          <p:cNvPr id="32" name="fx7|ar"/>
          <p:cNvSpPr txBox="1"/>
          <p:nvPr/>
        </p:nvSpPr>
        <p:spPr>
          <a:xfrm>
            <a:off x="804672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رصد المخالفة</a:t>
            </a:r>
            <a:endParaRPr lang="ar-SA" sz="1600" dirty="0"/>
          </a:p>
        </p:txBody>
      </p:sp>
      <p:sp>
        <p:nvSpPr>
          <p:cNvPr id="33" name="fx7|sub"/>
          <p:cNvSpPr txBox="1"/>
          <p:nvPr/>
        </p:nvSpPr>
        <p:spPr>
          <a:xfrm>
            <a:off x="8046720" y="4983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bg2"/>
                </a:solidFill>
              </a:rPr>
              <a:t>سرعة 92 أكبر من الحد 60</a:t>
            </a:r>
            <a:endParaRPr lang="ar-SA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حساب سرعة المركبة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Speed Estimation  •  V = D / T</a:t>
            </a:r>
            <a:endParaRPr lang="en-US" sz="1500" dirty="0"/>
          </a:p>
        </p:txBody>
      </p:sp>
      <p:pic>
        <p:nvPicPr>
          <p:cNvPr id="4" name="fx0@zoom|gauge" descr="img/gauge_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4480560" cy="4480560"/>
          </a:xfrm>
          <a:prstGeom prst="rect">
            <a:avLst/>
          </a:prstGeom>
        </p:spPr>
      </p:pic>
      <p:pic>
        <p:nvPicPr>
          <p:cNvPr id="5" name="fx1@spin(138,2200)|needle" descr="img/gauge_need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4480560" cy="4480560"/>
          </a:xfrm>
          <a:prstGeom prst="rect">
            <a:avLst/>
          </a:prstGeom>
        </p:spPr>
      </p:pic>
      <p:sp>
        <p:nvSpPr>
          <p:cNvPr id="6" name="fx11@pop|readout"/>
          <p:cNvSpPr txBox="1"/>
          <p:nvPr/>
        </p:nvSpPr>
        <p:spPr>
          <a:xfrm>
            <a:off x="1691640" y="4464101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km/h</a:t>
            </a:r>
            <a:endParaRPr lang="en-US" sz="3000" dirty="0"/>
          </a:p>
        </p:txBody>
      </p:sp>
      <p:sp>
        <p:nvSpPr>
          <p:cNvPr id="7" name="fx1|formula card"/>
          <p:cNvSpPr/>
          <p:nvPr/>
        </p:nvSpPr>
        <p:spPr>
          <a:xfrm>
            <a:off x="5669280" y="1463040"/>
            <a:ext cx="5971032" cy="1828800"/>
          </a:xfrm>
          <a:prstGeom prst="roundRect">
            <a:avLst>
              <a:gd name="adj" fmla="val 7000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8" name="fx1|formula"/>
          <p:cNvSpPr txBox="1"/>
          <p:nvPr/>
        </p:nvSpPr>
        <p:spPr>
          <a:xfrm>
            <a:off x="5669280" y="1554480"/>
            <a:ext cx="5971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5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D / T</a:t>
            </a:r>
            <a:endParaRPr lang="en-US" sz="5000" dirty="0"/>
          </a:p>
        </p:txBody>
      </p:sp>
      <p:sp>
        <p:nvSpPr>
          <p:cNvPr id="9" name="fx2|f ar"/>
          <p:cNvSpPr txBox="1"/>
          <p:nvPr/>
        </p:nvSpPr>
        <p:spPr>
          <a:xfrm>
            <a:off x="5852160" y="2514600"/>
            <a:ext cx="5605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السرعة = المسافة الحقيقية ÷ الزمن المستغرق</a:t>
            </a:r>
            <a:endParaRPr lang="ar-SA" sz="1600" dirty="0"/>
          </a:p>
        </p:txBody>
      </p:sp>
      <p:sp>
        <p:nvSpPr>
          <p:cNvPr id="10" name="fx3|example"/>
          <p:cNvSpPr/>
          <p:nvPr/>
        </p:nvSpPr>
        <p:spPr>
          <a:xfrm>
            <a:off x="5669280" y="3520440"/>
            <a:ext cx="5971032" cy="1143000"/>
          </a:xfrm>
          <a:prstGeom prst="roundRect">
            <a:avLst>
              <a:gd name="adj" fmla="val 112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1" name="fx3|ex"/>
          <p:cNvSpPr txBox="1"/>
          <p:nvPr/>
        </p:nvSpPr>
        <p:spPr>
          <a:xfrm>
            <a:off x="5852160" y="3584448"/>
            <a:ext cx="5605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مثال: 20 متراً في ثانية واحدة</a:t>
            </a:r>
            <a:endParaRPr lang="ar-SA" sz="1500" dirty="0"/>
          </a:p>
          <a:p>
            <a:pPr algn="ctr" indent="0" marL="0">
              <a:buNone/>
            </a:pPr>
            <a:r>
              <a:rPr lang="ar-SA" altLang="en-US" sz="2200" b="1" dirty="0">
                <a:solidFill>
                  <a:srgbClr val="E2B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m/s × 3.6 = 72 km/h</a:t>
            </a:r>
            <a:endParaRPr lang="ar-SA" sz="1500" dirty="0"/>
          </a:p>
        </p:txBody>
      </p:sp>
      <p:sp>
        <p:nvSpPr>
          <p:cNvPr id="12" name="fx12|compare"/>
          <p:cNvSpPr/>
          <p:nvPr/>
        </p:nvSpPr>
        <p:spPr>
          <a:xfrm>
            <a:off x="5669280" y="4892040"/>
            <a:ext cx="5971032" cy="1234440"/>
          </a:xfrm>
          <a:prstGeom prst="roundRect">
            <a:avLst>
              <a:gd name="adj" fmla="val 10370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3" name="fx12|limit#3d"/>
          <p:cNvSpPr txBox="1"/>
          <p:nvPr/>
        </p:nvSpPr>
        <p:spPr>
          <a:xfrm>
            <a:off x="10561320" y="5029200"/>
            <a:ext cx="960120" cy="96012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DC2626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rgbClr val="111111"/>
                </a:solidFill>
              </a:rPr>
              <a:t>60</a:t>
            </a:r>
            <a:endParaRPr lang="en-US" sz="2600" dirty="0"/>
          </a:p>
        </p:txBody>
      </p:sp>
      <p:sp>
        <p:nvSpPr>
          <p:cNvPr id="14" name="fx13@pop|result"/>
          <p:cNvSpPr txBox="1"/>
          <p:nvPr/>
        </p:nvSpPr>
        <p:spPr>
          <a:xfrm>
            <a:off x="5852160" y="495604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الحد القانوني 60  ←  السرعة 92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800" b="1" dirty="0">
                <a:solidFill>
                  <a:srgbClr val="F43F5E"/>
                </a:solidFill>
              </a:rPr>
              <a:t>مخالفة: تجاوز بمقدار +32 km/h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8280000">
                                      <p:cBhvr>
                                        <p:cTn id="11" dur="2200" decel="6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3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3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الخوارزميات المعتمدة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Algorithms Pipeline</a:t>
            </a:r>
            <a:endParaRPr lang="en-US" sz="1500" dirty="0"/>
          </a:p>
        </p:txBody>
      </p:sp>
      <p:sp>
        <p:nvSpPr>
          <p:cNvPr id="4" name="fx0@zoom|node#3d"/>
          <p:cNvSpPr/>
          <p:nvPr/>
        </p:nvSpPr>
        <p:spPr>
          <a:xfrm>
            <a:off x="10198303" y="2377440"/>
            <a:ext cx="1444752" cy="2377440"/>
          </a:xfrm>
          <a:prstGeom prst="roundRect">
            <a:avLst>
              <a:gd name="adj" fmla="val 8861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5" name="fx0@pop|num"/>
          <p:cNvSpPr txBox="1"/>
          <p:nvPr/>
        </p:nvSpPr>
        <p:spPr>
          <a:xfrm>
            <a:off x="10719511" y="21762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pic>
        <p:nvPicPr>
          <p:cNvPr id="6" name="fx0|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6359" y="2743200"/>
            <a:ext cx="548640" cy="548640"/>
          </a:xfrm>
          <a:prstGeom prst="rect">
            <a:avLst/>
          </a:prstGeom>
        </p:spPr>
      </p:pic>
      <p:sp>
        <p:nvSpPr>
          <p:cNvPr id="7" name="fx0|en"/>
          <p:cNvSpPr txBox="1"/>
          <p:nvPr/>
        </p:nvSpPr>
        <p:spPr>
          <a:xfrm>
            <a:off x="10244023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YOLO</a:t>
            </a:r>
            <a:endParaRPr lang="en-US" sz="1300" dirty="0"/>
          </a:p>
        </p:txBody>
      </p:sp>
      <p:sp>
        <p:nvSpPr>
          <p:cNvPr id="8" name="fx0|ar"/>
          <p:cNvSpPr txBox="1"/>
          <p:nvPr/>
        </p:nvSpPr>
        <p:spPr>
          <a:xfrm>
            <a:off x="10244023" y="393192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اكتشاف المركبات</a:t>
            </a:r>
            <a:endParaRPr lang="ar-SA" sz="1200" dirty="0"/>
          </a:p>
        </p:txBody>
      </p:sp>
      <p:sp>
        <p:nvSpPr>
          <p:cNvPr id="9" name="fx0|arrow"/>
          <p:cNvSpPr/>
          <p:nvPr/>
        </p:nvSpPr>
        <p:spPr>
          <a:xfrm>
            <a:off x="10051999" y="3429000"/>
            <a:ext cx="137160" cy="256032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x1@zoom|node#3d"/>
          <p:cNvSpPr/>
          <p:nvPr/>
        </p:nvSpPr>
        <p:spPr>
          <a:xfrm>
            <a:off x="8598103" y="2377440"/>
            <a:ext cx="1444752" cy="2377440"/>
          </a:xfrm>
          <a:prstGeom prst="roundRect">
            <a:avLst>
              <a:gd name="adj" fmla="val 8861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1" name="fx1@pop|num"/>
          <p:cNvSpPr txBox="1"/>
          <p:nvPr/>
        </p:nvSpPr>
        <p:spPr>
          <a:xfrm>
            <a:off x="9119311" y="21762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pic>
        <p:nvPicPr>
          <p:cNvPr id="12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159" y="2743200"/>
            <a:ext cx="548640" cy="548640"/>
          </a:xfrm>
          <a:prstGeom prst="rect">
            <a:avLst/>
          </a:prstGeom>
        </p:spPr>
      </p:pic>
      <p:sp>
        <p:nvSpPr>
          <p:cNvPr id="13" name="fx1|en"/>
          <p:cNvSpPr txBox="1"/>
          <p:nvPr/>
        </p:nvSpPr>
        <p:spPr>
          <a:xfrm>
            <a:off x="8643823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ByteTrack</a:t>
            </a:r>
            <a:endParaRPr lang="en-US" sz="1300" dirty="0"/>
          </a:p>
        </p:txBody>
      </p:sp>
      <p:sp>
        <p:nvSpPr>
          <p:cNvPr id="14" name="fx1|ar"/>
          <p:cNvSpPr txBox="1"/>
          <p:nvPr/>
        </p:nvSpPr>
        <p:spPr>
          <a:xfrm>
            <a:off x="8643823" y="393192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تتبع المركبات</a:t>
            </a:r>
            <a:endParaRPr lang="ar-SA" sz="1200" dirty="0"/>
          </a:p>
        </p:txBody>
      </p:sp>
      <p:sp>
        <p:nvSpPr>
          <p:cNvPr id="15" name="fx1|arrow"/>
          <p:cNvSpPr/>
          <p:nvPr/>
        </p:nvSpPr>
        <p:spPr>
          <a:xfrm>
            <a:off x="8451799" y="3429000"/>
            <a:ext cx="137160" cy="256032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fx2@zoom|node#3d"/>
          <p:cNvSpPr/>
          <p:nvPr/>
        </p:nvSpPr>
        <p:spPr>
          <a:xfrm>
            <a:off x="6997903" y="2377440"/>
            <a:ext cx="1444752" cy="2377440"/>
          </a:xfrm>
          <a:prstGeom prst="roundRect">
            <a:avLst>
              <a:gd name="adj" fmla="val 8861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7" name="fx2@pop|num"/>
          <p:cNvSpPr txBox="1"/>
          <p:nvPr/>
        </p:nvSpPr>
        <p:spPr>
          <a:xfrm>
            <a:off x="7519111" y="21762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pic>
        <p:nvPicPr>
          <p:cNvPr id="18" name="fx2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959" y="2743200"/>
            <a:ext cx="548640" cy="548640"/>
          </a:xfrm>
          <a:prstGeom prst="rect">
            <a:avLst/>
          </a:prstGeom>
        </p:spPr>
      </p:pic>
      <p:sp>
        <p:nvSpPr>
          <p:cNvPr id="19" name="fx2|en"/>
          <p:cNvSpPr txBox="1"/>
          <p:nvPr/>
        </p:nvSpPr>
        <p:spPr>
          <a:xfrm>
            <a:off x="7043623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Homography</a:t>
            </a:r>
            <a:endParaRPr lang="en-US" sz="1300" dirty="0"/>
          </a:p>
        </p:txBody>
      </p:sp>
      <p:sp>
        <p:nvSpPr>
          <p:cNvPr id="20" name="fx2|ar"/>
          <p:cNvSpPr txBox="1"/>
          <p:nvPr/>
        </p:nvSpPr>
        <p:spPr>
          <a:xfrm>
            <a:off x="7043623" y="393192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معايرة الطريق</a:t>
            </a:r>
            <a:endParaRPr lang="ar-SA" sz="1200" dirty="0"/>
          </a:p>
        </p:txBody>
      </p:sp>
      <p:sp>
        <p:nvSpPr>
          <p:cNvPr id="21" name="fx2|arrow"/>
          <p:cNvSpPr/>
          <p:nvPr/>
        </p:nvSpPr>
        <p:spPr>
          <a:xfrm>
            <a:off x="6851599" y="3429000"/>
            <a:ext cx="137160" cy="256032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fx3@zoom|node#3d"/>
          <p:cNvSpPr/>
          <p:nvPr/>
        </p:nvSpPr>
        <p:spPr>
          <a:xfrm>
            <a:off x="5397703" y="2377440"/>
            <a:ext cx="1444752" cy="2377440"/>
          </a:xfrm>
          <a:prstGeom prst="roundRect">
            <a:avLst>
              <a:gd name="adj" fmla="val 8861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3" name="fx3@pop|num"/>
          <p:cNvSpPr txBox="1"/>
          <p:nvPr/>
        </p:nvSpPr>
        <p:spPr>
          <a:xfrm>
            <a:off x="5918911" y="21762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pic>
        <p:nvPicPr>
          <p:cNvPr id="24" name="fx3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759" y="2743200"/>
            <a:ext cx="548640" cy="548640"/>
          </a:xfrm>
          <a:prstGeom prst="rect">
            <a:avLst/>
          </a:prstGeom>
        </p:spPr>
      </p:pic>
      <p:sp>
        <p:nvSpPr>
          <p:cNvPr id="25" name="fx3|en"/>
          <p:cNvSpPr txBox="1"/>
          <p:nvPr/>
        </p:nvSpPr>
        <p:spPr>
          <a:xfrm>
            <a:off x="5443423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Speed</a:t>
            </a:r>
            <a:endParaRPr lang="en-US" sz="1300" dirty="0"/>
          </a:p>
        </p:txBody>
      </p:sp>
      <p:sp>
        <p:nvSpPr>
          <p:cNvPr id="26" name="fx3|ar"/>
          <p:cNvSpPr txBox="1"/>
          <p:nvPr/>
        </p:nvSpPr>
        <p:spPr>
          <a:xfrm>
            <a:off x="5443423" y="393192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حساب السرعة</a:t>
            </a:r>
            <a:endParaRPr lang="ar-SA" sz="1200" dirty="0"/>
          </a:p>
        </p:txBody>
      </p:sp>
      <p:sp>
        <p:nvSpPr>
          <p:cNvPr id="27" name="fx3|arrow"/>
          <p:cNvSpPr/>
          <p:nvPr/>
        </p:nvSpPr>
        <p:spPr>
          <a:xfrm>
            <a:off x="5251399" y="3429000"/>
            <a:ext cx="137160" cy="256032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fx4@zoom|node#3d"/>
          <p:cNvSpPr/>
          <p:nvPr/>
        </p:nvSpPr>
        <p:spPr>
          <a:xfrm>
            <a:off x="3797503" y="2377440"/>
            <a:ext cx="1444752" cy="2377440"/>
          </a:xfrm>
          <a:prstGeom prst="roundRect">
            <a:avLst>
              <a:gd name="adj" fmla="val 8861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9" name="fx4@pop|num"/>
          <p:cNvSpPr txBox="1"/>
          <p:nvPr/>
        </p:nvSpPr>
        <p:spPr>
          <a:xfrm>
            <a:off x="4318711" y="21762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pic>
        <p:nvPicPr>
          <p:cNvPr id="30" name="fx4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559" y="2743200"/>
            <a:ext cx="548640" cy="548640"/>
          </a:xfrm>
          <a:prstGeom prst="rect">
            <a:avLst/>
          </a:prstGeom>
        </p:spPr>
      </p:pic>
      <p:sp>
        <p:nvSpPr>
          <p:cNvPr id="31" name="fx4|en"/>
          <p:cNvSpPr txBox="1"/>
          <p:nvPr/>
        </p:nvSpPr>
        <p:spPr>
          <a:xfrm>
            <a:off x="3843223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Threshold</a:t>
            </a:r>
            <a:endParaRPr lang="en-US" sz="1300" dirty="0"/>
          </a:p>
        </p:txBody>
      </p:sp>
      <p:sp>
        <p:nvSpPr>
          <p:cNvPr id="32" name="fx4|ar"/>
          <p:cNvSpPr txBox="1"/>
          <p:nvPr/>
        </p:nvSpPr>
        <p:spPr>
          <a:xfrm>
            <a:off x="3843223" y="393192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مقارنة بالحد</a:t>
            </a:r>
            <a:endParaRPr lang="ar-SA" sz="1200" dirty="0"/>
          </a:p>
        </p:txBody>
      </p:sp>
      <p:sp>
        <p:nvSpPr>
          <p:cNvPr id="33" name="fx4|arrow"/>
          <p:cNvSpPr/>
          <p:nvPr/>
        </p:nvSpPr>
        <p:spPr>
          <a:xfrm>
            <a:off x="3651199" y="3429000"/>
            <a:ext cx="137160" cy="256032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fx5@zoom|node#3d"/>
          <p:cNvSpPr/>
          <p:nvPr/>
        </p:nvSpPr>
        <p:spPr>
          <a:xfrm>
            <a:off x="2197303" y="2377440"/>
            <a:ext cx="1444752" cy="2377440"/>
          </a:xfrm>
          <a:prstGeom prst="roundRect">
            <a:avLst>
              <a:gd name="adj" fmla="val 8861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35" name="fx5@pop|num"/>
          <p:cNvSpPr txBox="1"/>
          <p:nvPr/>
        </p:nvSpPr>
        <p:spPr>
          <a:xfrm>
            <a:off x="2718511" y="217627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pic>
        <p:nvPicPr>
          <p:cNvPr id="36" name="fx5|ic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5359" y="2743200"/>
            <a:ext cx="548640" cy="548640"/>
          </a:xfrm>
          <a:prstGeom prst="rect">
            <a:avLst/>
          </a:prstGeom>
        </p:spPr>
      </p:pic>
      <p:sp>
        <p:nvSpPr>
          <p:cNvPr id="37" name="fx5|en"/>
          <p:cNvSpPr txBox="1"/>
          <p:nvPr/>
        </p:nvSpPr>
        <p:spPr>
          <a:xfrm>
            <a:off x="2243023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PaddleOCR</a:t>
            </a:r>
            <a:endParaRPr lang="en-US" sz="1300" dirty="0"/>
          </a:p>
        </p:txBody>
      </p:sp>
      <p:sp>
        <p:nvSpPr>
          <p:cNvPr id="38" name="fx5|ar"/>
          <p:cNvSpPr txBox="1"/>
          <p:nvPr/>
        </p:nvSpPr>
        <p:spPr>
          <a:xfrm>
            <a:off x="2243023" y="393192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قراءة اللوحة</a:t>
            </a:r>
            <a:endParaRPr lang="ar-SA" sz="1200" dirty="0"/>
          </a:p>
        </p:txBody>
      </p:sp>
      <p:sp>
        <p:nvSpPr>
          <p:cNvPr id="39" name="fx5|arrow"/>
          <p:cNvSpPr/>
          <p:nvPr/>
        </p:nvSpPr>
        <p:spPr>
          <a:xfrm>
            <a:off x="2050999" y="3429000"/>
            <a:ext cx="137160" cy="256032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fx6@zoom|node#3d"/>
          <p:cNvSpPr/>
          <p:nvPr/>
        </p:nvSpPr>
        <p:spPr>
          <a:xfrm>
            <a:off x="597103" y="2377440"/>
            <a:ext cx="1444752" cy="2377440"/>
          </a:xfrm>
          <a:prstGeom prst="roundRect">
            <a:avLst>
              <a:gd name="adj" fmla="val 8861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41" name="fx6@pop|num"/>
          <p:cNvSpPr txBox="1"/>
          <p:nvPr/>
        </p:nvSpPr>
        <p:spPr>
          <a:xfrm>
            <a:off x="1118311" y="21762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7</a:t>
            </a:r>
            <a:endParaRPr lang="en-US" sz="1300" dirty="0"/>
          </a:p>
        </p:txBody>
      </p:sp>
      <p:pic>
        <p:nvPicPr>
          <p:cNvPr id="42" name="fx6|ic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159" y="2743200"/>
            <a:ext cx="548640" cy="548640"/>
          </a:xfrm>
          <a:prstGeom prst="rect">
            <a:avLst/>
          </a:prstGeom>
        </p:spPr>
      </p:pic>
      <p:sp>
        <p:nvSpPr>
          <p:cNvPr id="43" name="fx6|en"/>
          <p:cNvSpPr txBox="1"/>
          <p:nvPr/>
        </p:nvSpPr>
        <p:spPr>
          <a:xfrm>
            <a:off x="642823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DB Matching</a:t>
            </a:r>
            <a:endParaRPr lang="en-US" sz="1300" dirty="0"/>
          </a:p>
        </p:txBody>
      </p:sp>
      <p:sp>
        <p:nvSpPr>
          <p:cNvPr id="44" name="fx6|ar"/>
          <p:cNvSpPr txBox="1"/>
          <p:nvPr/>
        </p:nvSpPr>
        <p:spPr>
          <a:xfrm>
            <a:off x="642823" y="393192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ربط بالمالك</a:t>
            </a:r>
            <a:endParaRPr lang="ar-SA" sz="1200" dirty="0"/>
          </a:p>
        </p:txBody>
      </p:sp>
      <p:sp>
        <p:nvSpPr>
          <p:cNvPr id="45" name="fx8@pop|note"/>
          <p:cNvSpPr txBox="1"/>
          <p:nvPr/>
        </p:nvSpPr>
        <p:spPr>
          <a:xfrm>
            <a:off x="2011680" y="5257800"/>
            <a:ext cx="8165592" cy="548640"/>
          </a:xfrm>
          <a:prstGeom prst="roundRect">
            <a:avLst>
              <a:gd name="adj" fmla="val 20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PaddleOCR لا يعمل لجميع المركبات — فقط بعد اكتشاف تجاوز السرعة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3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3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3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3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3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3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3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3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35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35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1@zoom|thanks"/>
          <p:cNvSpPr txBox="1"/>
          <p:nvPr/>
        </p:nvSpPr>
        <p:spPr>
          <a:xfrm>
            <a:off x="1371600" y="91440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شكراً لحسن استماعكم</a:t>
            </a:r>
            <a:endParaRPr lang="ar-SA" sz="5400" dirty="0"/>
          </a:p>
        </p:txBody>
      </p:sp>
      <p:sp>
        <p:nvSpPr>
          <p:cNvPr id="3" name="fx2|ty"/>
          <p:cNvSpPr txBox="1"/>
          <p:nvPr/>
        </p:nvSpPr>
        <p:spPr>
          <a:xfrm>
            <a:off x="1371600" y="201168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200" b="1" spc="600" kern="0" dirty="0">
                <a:solidFill>
                  <a:schemeClr val="accent2"/>
                </a:solidFill>
              </a:rPr>
              <a:t>Thank You</a:t>
            </a:r>
            <a:endParaRPr lang="en-US" sz="3200" dirty="0"/>
          </a:p>
        </p:txBody>
      </p:sp>
      <p:sp>
        <p:nvSpPr>
          <p:cNvPr id="4" name="fx3|q"/>
          <p:cNvSpPr txBox="1"/>
          <p:nvPr/>
        </p:nvSpPr>
        <p:spPr>
          <a:xfrm>
            <a:off x="1371600" y="26974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نسعد بأسئلتكم وملاحظاتكم  •  Questions?</a:t>
            </a:r>
            <a:endParaRPr lang="ar-SA" sz="1800" dirty="0"/>
          </a:p>
        </p:txBody>
      </p:sp>
      <p:sp>
        <p:nvSpPr>
          <p:cNvPr id="5" name="fx4@zoom|ring"/>
          <p:cNvSpPr/>
          <p:nvPr/>
        </p:nvSpPr>
        <p:spPr>
          <a:xfrm>
            <a:off x="9501988" y="35661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6" name="fx4@zoom|photo" descr="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7708" y="3611880"/>
            <a:ext cx="1097280" cy="1097280"/>
          </a:xfrm>
          <a:prstGeom prst="ellipse">
            <a:avLst/>
          </a:prstGeom>
        </p:spPr>
      </p:pic>
      <p:sp>
        <p:nvSpPr>
          <p:cNvPr id="7" name="fx4|name"/>
          <p:cNvSpPr txBox="1"/>
          <p:nvPr/>
        </p:nvSpPr>
        <p:spPr>
          <a:xfrm>
            <a:off x="9319108" y="4818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عيسى شايع</a:t>
            </a:r>
            <a:endParaRPr lang="ar-SA" sz="1200" dirty="0"/>
          </a:p>
        </p:txBody>
      </p:sp>
      <p:sp>
        <p:nvSpPr>
          <p:cNvPr id="8" name="fx5@zoom|ring"/>
          <p:cNvSpPr/>
          <p:nvPr/>
        </p:nvSpPr>
        <p:spPr>
          <a:xfrm>
            <a:off x="7901788" y="35661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9" name="fx5@zoom|photo" descr="محمد قري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08" y="3611880"/>
            <a:ext cx="1097280" cy="1097280"/>
          </a:xfrm>
          <a:prstGeom prst="ellipse">
            <a:avLst/>
          </a:prstGeom>
        </p:spPr>
      </p:pic>
      <p:sp>
        <p:nvSpPr>
          <p:cNvPr id="10" name="fx5|name"/>
          <p:cNvSpPr txBox="1"/>
          <p:nvPr/>
        </p:nvSpPr>
        <p:spPr>
          <a:xfrm>
            <a:off x="7718908" y="4818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محمد قريع</a:t>
            </a:r>
            <a:endParaRPr lang="ar-SA" sz="1200" dirty="0"/>
          </a:p>
        </p:txBody>
      </p:sp>
      <p:sp>
        <p:nvSpPr>
          <p:cNvPr id="11" name="fx6@zoom|ring"/>
          <p:cNvSpPr/>
          <p:nvPr/>
        </p:nvSpPr>
        <p:spPr>
          <a:xfrm>
            <a:off x="6301588" y="35661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2" name="fx6@zoom|photo" descr="مازن عبد المع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8" y="3611880"/>
            <a:ext cx="1097280" cy="1097280"/>
          </a:xfrm>
          <a:prstGeom prst="ellipse">
            <a:avLst/>
          </a:prstGeom>
        </p:spPr>
      </p:pic>
      <p:sp>
        <p:nvSpPr>
          <p:cNvPr id="13" name="fx6|name"/>
          <p:cNvSpPr txBox="1"/>
          <p:nvPr/>
        </p:nvSpPr>
        <p:spPr>
          <a:xfrm>
            <a:off x="6118708" y="4818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مازن عبد المعز</a:t>
            </a:r>
            <a:endParaRPr lang="ar-SA" sz="1200" dirty="0"/>
          </a:p>
        </p:txBody>
      </p:sp>
      <p:sp>
        <p:nvSpPr>
          <p:cNvPr id="14" name="fx7@zoom|ring"/>
          <p:cNvSpPr/>
          <p:nvPr/>
        </p:nvSpPr>
        <p:spPr>
          <a:xfrm>
            <a:off x="4701388" y="35661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5" name="fx7@zoom|photo" descr="برهان الزم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108" y="3611880"/>
            <a:ext cx="1097280" cy="1097280"/>
          </a:xfrm>
          <a:prstGeom prst="ellipse">
            <a:avLst/>
          </a:prstGeom>
        </p:spPr>
      </p:pic>
      <p:sp>
        <p:nvSpPr>
          <p:cNvPr id="16" name="fx7|name"/>
          <p:cNvSpPr txBox="1"/>
          <p:nvPr/>
        </p:nvSpPr>
        <p:spPr>
          <a:xfrm>
            <a:off x="4518508" y="4818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برهان الزمر</a:t>
            </a:r>
            <a:endParaRPr lang="ar-SA" sz="1200" dirty="0"/>
          </a:p>
        </p:txBody>
      </p:sp>
      <p:sp>
        <p:nvSpPr>
          <p:cNvPr id="17" name="fx8@zoom|ring"/>
          <p:cNvSpPr/>
          <p:nvPr/>
        </p:nvSpPr>
        <p:spPr>
          <a:xfrm>
            <a:off x="3101188" y="35661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8" name="fx8@zoom|photo" descr="محمد عاد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6908" y="3611880"/>
            <a:ext cx="1097280" cy="1097280"/>
          </a:xfrm>
          <a:prstGeom prst="ellipse">
            <a:avLst/>
          </a:prstGeom>
        </p:spPr>
      </p:pic>
      <p:sp>
        <p:nvSpPr>
          <p:cNvPr id="19" name="fx8|name"/>
          <p:cNvSpPr txBox="1"/>
          <p:nvPr/>
        </p:nvSpPr>
        <p:spPr>
          <a:xfrm>
            <a:off x="2918308" y="4818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محمد عادل</a:t>
            </a:r>
            <a:endParaRPr lang="ar-SA" sz="1200" dirty="0"/>
          </a:p>
        </p:txBody>
      </p:sp>
      <p:sp>
        <p:nvSpPr>
          <p:cNvPr id="20" name="fx9@zoom|ring"/>
          <p:cNvSpPr/>
          <p:nvPr/>
        </p:nvSpPr>
        <p:spPr>
          <a:xfrm>
            <a:off x="1500988" y="35661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03200" dist="50800" dir="16200000">
              <a:srgbClr val="E2BA52">
                <a:alpha val="60000"/>
              </a:srgbClr>
            </a:outerShdw>
          </a:effectLst>
        </p:spPr>
      </p:sp>
      <p:pic>
        <p:nvPicPr>
          <p:cNvPr id="21" name="fx9@zoom|photo" descr="د. مطيع الجعفر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708" y="3611880"/>
            <a:ext cx="1097280" cy="1097280"/>
          </a:xfrm>
          <a:prstGeom prst="ellipse">
            <a:avLst/>
          </a:prstGeom>
        </p:spPr>
      </p:pic>
      <p:sp>
        <p:nvSpPr>
          <p:cNvPr id="22" name="fx9|name"/>
          <p:cNvSpPr txBox="1"/>
          <p:nvPr/>
        </p:nvSpPr>
        <p:spPr>
          <a:xfrm>
            <a:off x="1318108" y="4818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د. مطيع الجعفري</a:t>
            </a:r>
            <a:endParaRPr lang="ar-SA" sz="1200" dirty="0"/>
          </a:p>
        </p:txBody>
      </p:sp>
      <p:pic>
        <p:nvPicPr>
          <p:cNvPr id="23" name="fx0@move(1.5,0,2400)|car" descr="img/car_si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572000" y="5760720"/>
            <a:ext cx="3931920" cy="914400"/>
          </a:xfrm>
          <a:prstGeom prst="rect">
            <a:avLst/>
          </a:prstGeom>
        </p:spPr>
      </p:pic>
      <p:sp>
        <p:nvSpPr>
          <p:cNvPr id="25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26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2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1.5 0 E" pathEditMode="relative" ptsTypes="AA">
                                      <p:cBhvr>
                                        <p:cTn id="103" dur="2400" accel="20000" decel="3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theme/theme1.xml><?xml version="1.0" encoding="utf-8"?>
<a:theme xmlns:a="http://schemas.openxmlformats.org/drawingml/2006/main" name="Night Enforcement">
  <a:themeElements>
    <a:clrScheme name="Night Enforcement">
      <a:dk1>
        <a:srgbClr val="0A0E1A"/>
      </a:dk1>
      <a:lt1>
        <a:srgbClr val="FFFFFF"/>
      </a:lt1>
      <a:dk2>
        <a:srgbClr val="121A2E"/>
      </a:dk2>
      <a:lt2>
        <a:srgbClr val="B8C7E0"/>
      </a:lt2>
      <a:accent1>
        <a:srgbClr val="22D3EE"/>
      </a:accent1>
      <a:accent2>
        <a:srgbClr val="E2BA52"/>
      </a:accent2>
      <a:accent3>
        <a:srgbClr val="6366F1"/>
      </a:accent3>
      <a:accent4>
        <a:srgbClr val="10B981"/>
      </a:accent4>
      <a:accent5>
        <a:srgbClr val="F43F5E"/>
      </a:accent5>
      <a:accent6>
        <a:srgbClr val="A7F3D0"/>
      </a:accent6>
      <a:hlink>
        <a:srgbClr val="22D3EE"/>
      </a:hlink>
      <a:folHlink>
        <a:srgbClr val="E2BA52"/>
      </a:folHlink>
    </a:clrScheme>
    <a:fontScheme name="Night Enforcem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نسخة تجريبية — نظام رصد السرعة الذكي</dc:title>
  <dc:subject>PptxGenJS Presentation</dc:subject>
  <dc:creator>PptxGenJS</dc:creator>
  <cp:lastModifiedBy>PptxGenJS</cp:lastModifiedBy>
  <cp:revision>1</cp:revision>
  <dcterms:created xsi:type="dcterms:W3CDTF">2026-10-17T00:30:11Z</dcterms:created>
  <dcterms:modified xsi:type="dcterms:W3CDTF">2026-10-17T00:30:11Z</dcterms:modified>
</cp:coreProperties>
</file>