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" id="{ab9681a0-5331-197c-a1f9-db683cd30bd0}">
          <p14:sldIdLst>
            <p14:sldId id="256"/>
            <p14:sldId id="257"/>
          </p14:sldIdLst>
        </p14:section>
        <p14:section name="تشكيلة الفريق" id="{29475c78-f253-85b5-8f8e-a2f33f832cc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المشروع" id="{99b7ffcb-33e7-81d8-bd54-c8b891c46e0b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0:30 — بسم الله الرحمن الرحيم. السلام عليكم ورحمة الله. نرحّب بلجنة المناقشة الموقرة، ونقدّم لكم مشروع تخرجنا: نظام ذكي لرصد سرعة المركبات وتسجيل المخالفات باستخدام كاميرا الهاتف والذكاء الاصطناعي.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0:20 — نرحّب بالدكتور رضوان الديلمي والدكتور رضوان شداد، ونشكر مشرفنا الدكتور مطيع الجعفري.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1:30 للقسم كاملاً — «اسمحوا لنا أن نقدّم لكم تشكيلة فريقنا». كل طالب جملة واحدة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عيسى إبراهيم شايع: يعرّف بنفسه ودوره في جملة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محمد عبدالإله قريع: يعرّف بنفسه ودوره في جملة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مازن عبد المعز: يعرّف بنفسه ودوره في جملة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برهان الزمر: يعرّف بنفسه ودوره في جملة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محمد عادل قاسم قائد: يعرّف بنفسه ودوره في جملة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قدّم المشرف كمدرب الفريق واشكره على التوجيه.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«هذا فريقنا… والآن ننتقل إلى المشروع».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0:15 — محاور العرض باختصار.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0:45 — ابدأ بالواقع اليمني: السرعة سبب رئيسي للحوادث، والرقابة البشرية لا تغطي كل الطرق. ثم الفكرة: الهاتف يصبح كاميرا مرور ذكية.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0:50 — ركّز على: الحوادث، غياب الرقابة المستمرة، الأخطاء البشرية، وتكلفة الرادارات. ومن هنا جاءت الحاجة لنظام آلي منخفض التكلفة.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0:45 — كل هدف يقابل مشكلة من الشريحة السابقة.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اشرح الفكرة في أربع خطوات، وأكّد أن المشروع نموذج أولي يثبت إمكانية التطبيق.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لا تقرأ الجدول كاملاً. اذكر دراستين قريبتين (Obaidat و Salahat لاستخدام الهاتف) ثم الفجوة: أغلبها يقدّر السرعة فقط ولا يبني نظاماً متكاملاً للمخالفات.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0:35 — منهجية Agile على مراحل متتالية، وكل مرحلة تُختبر قبل الانتقال للتالية.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اتبع السهم: تصوير ← اكتشاف ← تتبع ← معايرة ← مسافة وزمن ← سرعة. إذا لا مخالفة نستمر بالمراقبة، وإذا نعم: توثيق ← قراءة اللوحة ← المالك ← تسجيل ← الخادم.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0:50 — سبع مراحل متسلسلة. النقطة المهمة: PaddleOCR لا يعمل لكل المركبات، فقط بعد اكتشاف التجاوز، وهذا يوفّر المعالجة.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YOLO يجيب: ما المركبات وأين؟ وByteTrack يجيب: أين تحركت المركبة نفسها؟ الخطوط الذهبية في الصورة هي خطوط المعايرة.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المعادلة بسيطة: السرعة = المسافة ÷ الزمن. السر في المعايرة. ومثال: 20 متر في ثانية = 72 كم/س. ولكل موقع حد سرعة مختلف يحدده المدير.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0:45 — شرط منطقي بسيط. أكّد أن قراءة اللوحة تعمل فقط عند المخالفة، فنركّز المعالجة على المركبات المخالفة.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0:50 — خمسة مكونات: التطبيق يصوّر، خادم الذكاء الاصطناعي يحلل، الخادم المركزي يدير، قاعدة البيانات تخزن، ولوحة التحكم للمراجعة. والاتصال عبر REST API، والإشعارات عبر Firebase.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0:30 — النظام لا يعتمد على هاتف واحد: كل هاتف في موقع بحد سرعة مختلف، وكلها ترسل للنظام المركزي.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0:50 — سبعة جداول. العلاقة الأهم: المركبة ← المالك ← المخالفات، وجهاز المراقبة مرتبط بالموقع والسرعة القانونية. (طابق الحقول مع قاعدتكم الفعلية)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0:30 — ثلاث صلاحيات: المدير يدير كل شيء، مشغّل الجهاز يشغّل المراقبة، والمراجع يعتمد المخالفات.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0:40 — Flutter للتطبيق، Python و OpenCV و YOLO و ByteTrack و PaddleOCR للذكاء الاصطناعي عبر FastAPI، و Laravel مع MySQL للخادم ولوحة التحكم، و Firebase للمصادقة والإشعارات.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0:45 — هذا ما يخرجه النظام: سجل كامل للمخالفة مع الدليل المصوّر ورقم اللوحة والمالك. (البيانات هنا توضيحية)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0:40 — (هذه شاشات توضيحية — بدّلها بلقطات حقيقية من تطبيقكم: كليك يمين ← تغيير الصورة)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0:30 — لوحة التحكم يستخدمها المدير والمراجع. (بدّل الصورة بلقطة حقيقية من لوحتكم)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2:00 — شغّل الفيديو أو العرض الحي واتبع السيناريو. الفيديو احتياطي إذا تعطّل الاتصال.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0:40 — اذكر نتائجكم الفعلية. إذا لم تكتمل الاختبارات، اذكر كيف ستقيسون كل معيار.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0:30 — اذكر أهم فكرتين: رصد مخالفات أخرى والتكامل مع الجهات الرسمية.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0:30 — جملة ختامية قوية: حل منخفض التكلفة يساهم في السلامة المرورية في اليمن.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اشكروا اللجنة والمشرف، وافتحوا باب الأسئلة.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STADIUM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PITCH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ROAD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TECH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DIUM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TCH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A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CH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92608" cy="0"/>
          </a:xfrm>
          <a:prstGeom prst="line">
            <a:avLst/>
          </a:prstGeom>
          <a:noFill/>
          <a:ln w="1905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92608"/>
          </a:xfrm>
          <a:prstGeom prst="line">
            <a:avLst/>
          </a:prstGeom>
          <a:noFill/>
          <a:ln w="1905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70487" y="228600"/>
            <a:ext cx="292608" cy="0"/>
          </a:xfrm>
          <a:prstGeom prst="line">
            <a:avLst/>
          </a:prstGeom>
          <a:noFill/>
          <a:ln w="1905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63095" y="228600"/>
            <a:ext cx="0" cy="292608"/>
          </a:xfrm>
          <a:prstGeom prst="line">
            <a:avLst/>
          </a:prstGeom>
          <a:noFill/>
          <a:ln w="1905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629400"/>
            <a:ext cx="292608" cy="0"/>
          </a:xfrm>
          <a:prstGeom prst="line">
            <a:avLst/>
          </a:prstGeom>
          <a:noFill/>
          <a:ln w="1905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336792"/>
            <a:ext cx="0" cy="292608"/>
          </a:xfrm>
          <a:prstGeom prst="line">
            <a:avLst/>
          </a:prstGeom>
          <a:noFill/>
          <a:ln w="1905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70487" y="6629400"/>
            <a:ext cx="292608" cy="0"/>
          </a:xfrm>
          <a:prstGeom prst="line">
            <a:avLst/>
          </a:prstGeom>
          <a:noFill/>
          <a:ln w="1905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3095" y="6336792"/>
            <a:ext cx="0" cy="292608"/>
          </a:xfrm>
          <a:prstGeom prst="line">
            <a:avLst/>
          </a:prstGeom>
          <a:noFill/>
          <a:ln w="1905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2D3EE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• COMPUTER VISION • 2026</a:t>
            </a:r>
            <a:endParaRPr lang="en-US" sz="1000" dirty="0"/>
          </a:p>
        </p:txBody>
      </p:sp>
      <p:sp>
        <p:nvSpPr>
          <p:cNvPr id="11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image" Target="../media/image-4-1.pn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image" Target="../media/image-5-1.png"/><Relationship Id="rId4" Type="http://schemas.openxmlformats.org/officeDocument/2006/relationships/image" Target="../media/image-5-4.jpg"/><Relationship Id="rId5" Type="http://schemas.openxmlformats.org/officeDocument/2006/relationships/image" Target="../media/image-5-1.png"/><Relationship Id="rId6" Type="http://schemas.openxmlformats.org/officeDocument/2006/relationships/image" Target="../media/image-5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image" Target="../media/image-6-1.png"/><Relationship Id="rId4" Type="http://schemas.openxmlformats.org/officeDocument/2006/relationships/image" Target="../media/image-6-4.jpg"/><Relationship Id="rId5" Type="http://schemas.openxmlformats.org/officeDocument/2006/relationships/image" Target="../media/image-6-1.png"/><Relationship Id="rId6" Type="http://schemas.openxmlformats.org/officeDocument/2006/relationships/image" Target="../media/image-6-6.jpg"/><Relationship Id="rId7" Type="http://schemas.openxmlformats.org/officeDocument/2006/relationships/image" Target="../media/image-6-1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1.png"/><Relationship Id="rId4" Type="http://schemas.openxmlformats.org/officeDocument/2006/relationships/image" Target="../media/image-7-4.jpg"/><Relationship Id="rId5" Type="http://schemas.openxmlformats.org/officeDocument/2006/relationships/image" Target="../media/image-7-1.png"/><Relationship Id="rId6" Type="http://schemas.openxmlformats.org/officeDocument/2006/relationships/image" Target="../media/image-7-6.jpg"/><Relationship Id="rId7" Type="http://schemas.openxmlformats.org/officeDocument/2006/relationships/image" Target="../media/image-7-1.png"/><Relationship Id="rId8" Type="http://schemas.openxmlformats.org/officeDocument/2006/relationships/image" Target="../media/image-7-8.png"/><Relationship Id="rId9" Type="http://schemas.openxmlformats.org/officeDocument/2006/relationships/image" Target="../media/image-7-1.png"/><Relationship Id="rId10" Type="http://schemas.openxmlformats.org/officeDocument/2006/relationships/image" Target="../media/image-7-8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1.png"/><Relationship Id="rId4" Type="http://schemas.openxmlformats.org/officeDocument/2006/relationships/image" Target="../media/image-8-4.jpg"/><Relationship Id="rId5" Type="http://schemas.openxmlformats.org/officeDocument/2006/relationships/image" Target="../media/image-8-1.png"/><Relationship Id="rId6" Type="http://schemas.openxmlformats.org/officeDocument/2006/relationships/image" Target="../media/image-8-6.jpg"/><Relationship Id="rId7" Type="http://schemas.openxmlformats.org/officeDocument/2006/relationships/image" Target="../media/image-8-1.png"/><Relationship Id="rId8" Type="http://schemas.openxmlformats.org/officeDocument/2006/relationships/image" Target="../media/image-8-8.png"/><Relationship Id="rId9" Type="http://schemas.openxmlformats.org/officeDocument/2006/relationships/image" Target="../media/image-8-1.png"/><Relationship Id="rId10" Type="http://schemas.openxmlformats.org/officeDocument/2006/relationships/image" Target="../media/image-8-8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jp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1.png"/><Relationship Id="rId4" Type="http://schemas.openxmlformats.org/officeDocument/2006/relationships/image" Target="../media/image-9-4.jpg"/><Relationship Id="rId5" Type="http://schemas.openxmlformats.org/officeDocument/2006/relationships/image" Target="../media/image-9-1.png"/><Relationship Id="rId6" Type="http://schemas.openxmlformats.org/officeDocument/2006/relationships/image" Target="../media/image-9-6.jpg"/><Relationship Id="rId7" Type="http://schemas.openxmlformats.org/officeDocument/2006/relationships/image" Target="../media/image-9-1.png"/><Relationship Id="rId8" Type="http://schemas.openxmlformats.org/officeDocument/2006/relationships/image" Target="../media/image-9-8.png"/><Relationship Id="rId9" Type="http://schemas.openxmlformats.org/officeDocument/2006/relationships/image" Target="../media/image-9-1.png"/><Relationship Id="rId10" Type="http://schemas.openxmlformats.org/officeDocument/2006/relationships/image" Target="../media/image-9-8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jp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image" Target="../media/image-10-1.png"/><Relationship Id="rId4" Type="http://schemas.openxmlformats.org/officeDocument/2006/relationships/image" Target="../media/image-10-4.jpg"/><Relationship Id="rId5" Type="http://schemas.openxmlformats.org/officeDocument/2006/relationships/image" Target="../media/image-10-1.png"/><Relationship Id="rId6" Type="http://schemas.openxmlformats.org/officeDocument/2006/relationships/image" Target="../media/image-10-6.jpg"/><Relationship Id="rId7" Type="http://schemas.openxmlformats.org/officeDocument/2006/relationships/image" Target="../media/image-10-1.png"/><Relationship Id="rId8" Type="http://schemas.openxmlformats.org/officeDocument/2006/relationships/image" Target="../media/image-10-8.png"/><Relationship Id="rId9" Type="http://schemas.openxmlformats.org/officeDocument/2006/relationships/image" Target="../media/image-10-1.png"/><Relationship Id="rId10" Type="http://schemas.openxmlformats.org/officeDocument/2006/relationships/image" Target="../media/image-10-8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jp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slideLayout" Target="../slideLayouts/slideLayout5.xml"/><Relationship Id="rId1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png"/><Relationship Id="rId15" Type="http://schemas.openxmlformats.org/officeDocument/2006/relationships/image" Target="../media/image-27-15.png"/><Relationship Id="rId16" Type="http://schemas.openxmlformats.org/officeDocument/2006/relationships/slideLayout" Target="../slideLayouts/slideLayout5.xml"/><Relationship Id="rId1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jpg"/><Relationship Id="rId3" Type="http://schemas.openxmlformats.org/officeDocument/2006/relationships/image" Target="../media/image-29-1.png"/><Relationship Id="rId4" Type="http://schemas.openxmlformats.org/officeDocument/2006/relationships/image" Target="../media/image-29-4.jpg"/><Relationship Id="rId5" Type="http://schemas.openxmlformats.org/officeDocument/2006/relationships/image" Target="../media/image-29-1.png"/><Relationship Id="rId6" Type="http://schemas.openxmlformats.org/officeDocument/2006/relationships/image" Target="../media/image-29-6.jp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image" Target="../media/image-35-3.jpg"/><Relationship Id="rId4" Type="http://schemas.openxmlformats.org/officeDocument/2006/relationships/image" Target="../media/image-35-4.png"/><Relationship Id="rId5" Type="http://schemas.openxmlformats.org/officeDocument/2006/relationships/image" Target="../media/image-35-4.png"/><Relationship Id="rId6" Type="http://schemas.openxmlformats.org/officeDocument/2006/relationships/image" Target="../media/image-35-6.jp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niversity logo" descr="شعار الجامعة — بدّله من: تغيير الصور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365760"/>
            <a:ext cx="1051560" cy="1051560"/>
          </a:xfrm>
          <a:prstGeom prst="rect">
            <a:avLst/>
          </a:prstGeom>
        </p:spPr>
      </p:pic>
      <p:sp>
        <p:nvSpPr>
          <p:cNvPr id="3" name="fx0|university"/>
          <p:cNvSpPr txBox="1"/>
          <p:nvPr/>
        </p:nvSpPr>
        <p:spPr>
          <a:xfrm>
            <a:off x="5120640" y="365760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الجمهورية اليمنية</a:t>
            </a:r>
            <a:endParaRPr lang="ar-SA" sz="1200" dirty="0"/>
          </a:p>
          <a:p>
            <a:pPr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جامعة العلوم والتكنولوجيا — فرع إب</a:t>
            </a:r>
            <a:endParaRPr lang="ar-SA" sz="12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كلية الحاسبات وتكنولوجيا المعلومات  •  قسم تقنية المعلومات</a:t>
            </a:r>
            <a:endParaRPr lang="ar-SA" sz="1200" dirty="0"/>
          </a:p>
        </p:txBody>
      </p:sp>
      <p:sp>
        <p:nvSpPr>
          <p:cNvPr id="4" name="fx1|kicker"/>
          <p:cNvSpPr txBox="1"/>
          <p:nvPr/>
        </p:nvSpPr>
        <p:spPr>
          <a:xfrm>
            <a:off x="6035040" y="178308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مشروع تخرج 2026  •  Graduation Project</a:t>
            </a:r>
            <a:endParaRPr lang="ar-SA" sz="1500" dirty="0"/>
          </a:p>
        </p:txBody>
      </p:sp>
      <p:sp>
        <p:nvSpPr>
          <p:cNvPr id="5" name="!!projtitle"/>
          <p:cNvSpPr txBox="1"/>
          <p:nvPr/>
        </p:nvSpPr>
        <p:spPr>
          <a:xfrm>
            <a:off x="5760720" y="2148840"/>
            <a:ext cx="5897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bg1"/>
                </a:solidFill>
              </a:rPr>
              <a:t>نظام ذكي لرصد وحساب سرعة المركبات وتسجيل المخالفات المرورية</a:t>
            </a:r>
            <a:endParaRPr lang="ar-SA" sz="3200" dirty="0"/>
          </a:p>
        </p:txBody>
      </p:sp>
      <p:sp>
        <p:nvSpPr>
          <p:cNvPr id="6" name="!!projsub"/>
          <p:cNvSpPr txBox="1"/>
          <p:nvPr/>
        </p:nvSpPr>
        <p:spPr>
          <a:xfrm>
            <a:off x="5760720" y="3931920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accent2"/>
                </a:solidFill>
              </a:rPr>
              <a:t>باستخدام كاميرا الهاتف وتقنيات الذكاء الاصطناعي والرؤية الحاسوبية</a:t>
            </a:r>
            <a:endParaRPr lang="ar-SA" sz="1700" dirty="0"/>
          </a:p>
        </p:txBody>
      </p:sp>
      <p:sp>
        <p:nvSpPr>
          <p:cNvPr id="7" name="fx2|en title"/>
          <p:cNvSpPr txBox="1"/>
          <p:nvPr/>
        </p:nvSpPr>
        <p:spPr>
          <a:xfrm>
            <a:off x="5760720" y="4663440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i="1" dirty="0">
                <a:solidFill>
                  <a:schemeClr val="bg2"/>
                </a:solidFill>
              </a:rPr>
              <a:t>Smart Mobile-Based Vehicle Speed Estimation and Traffic Violation Detection System Using AI and Computer Vision</a:t>
            </a:r>
            <a:endParaRPr lang="en-US" sz="1200" dirty="0"/>
          </a:p>
        </p:txBody>
      </p:sp>
      <p:sp>
        <p:nvSpPr>
          <p:cNvPr id="8" name="fx3|supervisor"/>
          <p:cNvSpPr txBox="1"/>
          <p:nvPr/>
        </p:nvSpPr>
        <p:spPr>
          <a:xfrm>
            <a:off x="5760720" y="5532120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chemeClr val="bg2"/>
                </a:solidFill>
              </a:rPr>
              <a:t>إشراف: </a:t>
            </a:r>
            <a:pPr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د. مطيع الجعفري</a:t>
            </a:r>
            <a:endParaRPr lang="ar-SA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أعضاء لجنة المناقشة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Examination Committee</a:t>
            </a:r>
            <a:endParaRPr lang="en-US" sz="1500" dirty="0"/>
          </a:p>
        </p:txBody>
      </p:sp>
      <p:sp>
        <p:nvSpPr>
          <p:cNvPr id="4" name="fx0|ring"/>
          <p:cNvSpPr/>
          <p:nvPr/>
        </p:nvSpPr>
        <p:spPr>
          <a:xfrm>
            <a:off x="8156448" y="1709928"/>
            <a:ext cx="2340864" cy="234086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79400" dist="50800" dir="16200000">
              <a:srgbClr val="22D3EE">
                <a:alpha val="80000"/>
              </a:srgbClr>
            </a:outerShdw>
          </a:effectLst>
        </p:spPr>
      </p:sp>
      <p:pic>
        <p:nvPicPr>
          <p:cNvPr id="5" name="fx0|photo" descr="د. رضوان الديلم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783080"/>
            <a:ext cx="2194560" cy="2194560"/>
          </a:xfrm>
          <a:prstGeom prst="ellipse">
            <a:avLst/>
          </a:prstGeom>
        </p:spPr>
      </p:pic>
      <p:sp>
        <p:nvSpPr>
          <p:cNvPr id="6" name="fx0|name"/>
          <p:cNvSpPr txBox="1"/>
          <p:nvPr/>
        </p:nvSpPr>
        <p:spPr>
          <a:xfrm>
            <a:off x="7680960" y="4343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د. رضوان الديلمي</a:t>
            </a:r>
            <a:endParaRPr lang="ar-SA" sz="2200" dirty="0"/>
          </a:p>
        </p:txBody>
      </p:sp>
      <p:sp>
        <p:nvSpPr>
          <p:cNvPr id="7" name="fx0|en"/>
          <p:cNvSpPr txBox="1"/>
          <p:nvPr/>
        </p:nvSpPr>
        <p:spPr>
          <a:xfrm>
            <a:off x="7680960" y="4828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chemeClr val="bg2"/>
                </a:solidFill>
              </a:rPr>
              <a:t>Dr. Radwan Al-Dailami</a:t>
            </a:r>
            <a:endParaRPr lang="en-US" sz="1400" dirty="0"/>
          </a:p>
        </p:txBody>
      </p:sp>
      <p:sp>
        <p:nvSpPr>
          <p:cNvPr id="8" name="fx0|role#3d"/>
          <p:cNvSpPr txBox="1"/>
          <p:nvPr/>
        </p:nvSpPr>
        <p:spPr>
          <a:xfrm>
            <a:off x="7863840" y="5257800"/>
            <a:ext cx="292608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tx1"/>
                </a:solidFill>
              </a:rPr>
              <a:t>عضو لجنة المناقشة  •  Examiner</a:t>
            </a:r>
            <a:endParaRPr lang="ar-SA" sz="1200" dirty="0"/>
          </a:p>
        </p:txBody>
      </p:sp>
      <p:sp>
        <p:nvSpPr>
          <p:cNvPr id="9" name="fx1|ring"/>
          <p:cNvSpPr/>
          <p:nvPr/>
        </p:nvSpPr>
        <p:spPr>
          <a:xfrm>
            <a:off x="4788713" y="1527048"/>
            <a:ext cx="2615184" cy="2615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279400" dist="50800" dir="16200000">
              <a:srgbClr val="E2BA52">
                <a:alpha val="80000"/>
              </a:srgbClr>
            </a:outerShdw>
          </a:effectLst>
        </p:spPr>
      </p:sp>
      <p:pic>
        <p:nvPicPr>
          <p:cNvPr id="10" name="fx1|photo" descr="د. مطيع الجعفري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865" y="1600200"/>
            <a:ext cx="2468880" cy="2468880"/>
          </a:xfrm>
          <a:prstGeom prst="ellipse">
            <a:avLst/>
          </a:prstGeom>
        </p:spPr>
      </p:pic>
      <p:sp>
        <p:nvSpPr>
          <p:cNvPr id="11" name="fx1|name"/>
          <p:cNvSpPr txBox="1"/>
          <p:nvPr/>
        </p:nvSpPr>
        <p:spPr>
          <a:xfrm>
            <a:off x="4450385" y="4343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د. مطيع الجعفري</a:t>
            </a:r>
            <a:endParaRPr lang="ar-SA" sz="2200" dirty="0"/>
          </a:p>
        </p:txBody>
      </p:sp>
      <p:sp>
        <p:nvSpPr>
          <p:cNvPr id="12" name="fx1|en"/>
          <p:cNvSpPr txBox="1"/>
          <p:nvPr/>
        </p:nvSpPr>
        <p:spPr>
          <a:xfrm>
            <a:off x="4450385" y="4828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chemeClr val="bg2"/>
                </a:solidFill>
              </a:rPr>
              <a:t>Dr. Mutee Al-Jaafari</a:t>
            </a:r>
            <a:endParaRPr lang="en-US" sz="1400" dirty="0"/>
          </a:p>
        </p:txBody>
      </p:sp>
      <p:sp>
        <p:nvSpPr>
          <p:cNvPr id="13" name="fx1|role#3d"/>
          <p:cNvSpPr txBox="1"/>
          <p:nvPr/>
        </p:nvSpPr>
        <p:spPr>
          <a:xfrm>
            <a:off x="4633265" y="5257800"/>
            <a:ext cx="2926080" cy="384048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tx1"/>
                </a:solidFill>
              </a:rPr>
              <a:t>المشرف  •  Supervisor</a:t>
            </a:r>
            <a:endParaRPr lang="ar-SA" sz="1200" dirty="0"/>
          </a:p>
        </p:txBody>
      </p:sp>
      <p:sp>
        <p:nvSpPr>
          <p:cNvPr id="14" name="fx2|ring"/>
          <p:cNvSpPr/>
          <p:nvPr/>
        </p:nvSpPr>
        <p:spPr>
          <a:xfrm>
            <a:off x="1691640" y="1709928"/>
            <a:ext cx="2340864" cy="234086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79400" dist="50800" dir="16200000">
              <a:srgbClr val="22D3EE">
                <a:alpha val="80000"/>
              </a:srgbClr>
            </a:outerShdw>
          </a:effectLst>
        </p:spPr>
      </p:sp>
      <p:pic>
        <p:nvPicPr>
          <p:cNvPr id="15" name="fx2|photo" descr="د. رضوان شداد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792" y="1783080"/>
            <a:ext cx="2194560" cy="2194560"/>
          </a:xfrm>
          <a:prstGeom prst="ellipse">
            <a:avLst/>
          </a:prstGeom>
        </p:spPr>
      </p:pic>
      <p:sp>
        <p:nvSpPr>
          <p:cNvPr id="16" name="fx2|name"/>
          <p:cNvSpPr txBox="1"/>
          <p:nvPr/>
        </p:nvSpPr>
        <p:spPr>
          <a:xfrm>
            <a:off x="1216152" y="4343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د. رضوان شداد</a:t>
            </a:r>
            <a:endParaRPr lang="ar-SA" sz="2200" dirty="0"/>
          </a:p>
        </p:txBody>
      </p:sp>
      <p:sp>
        <p:nvSpPr>
          <p:cNvPr id="17" name="fx2|en"/>
          <p:cNvSpPr txBox="1"/>
          <p:nvPr/>
        </p:nvSpPr>
        <p:spPr>
          <a:xfrm>
            <a:off x="1216152" y="4828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chemeClr val="bg2"/>
                </a:solidFill>
              </a:rPr>
              <a:t>Dr. Radwan Shaddad</a:t>
            </a:r>
            <a:endParaRPr lang="en-US" sz="1400" dirty="0"/>
          </a:p>
        </p:txBody>
      </p:sp>
      <p:sp>
        <p:nvSpPr>
          <p:cNvPr id="18" name="fx2|role#3d"/>
          <p:cNvSpPr txBox="1"/>
          <p:nvPr/>
        </p:nvSpPr>
        <p:spPr>
          <a:xfrm>
            <a:off x="1399032" y="5257800"/>
            <a:ext cx="292608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tx1"/>
                </a:solidFill>
              </a:rPr>
              <a:t>عضو لجنة المناقشة  •  Examiner</a:t>
            </a:r>
            <a:endParaRPr lang="ar-SA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x0|title"/>
          <p:cNvSpPr txBox="1"/>
          <p:nvPr/>
        </p:nvSpPr>
        <p:spPr>
          <a:xfrm>
            <a:off x="1371600" y="91440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b="1" dirty="0">
                <a:solidFill>
                  <a:schemeClr val="bg1"/>
                </a:solidFill>
              </a:rPr>
              <a:t>تشكيلة الفريق</a:t>
            </a:r>
            <a:endParaRPr lang="ar-SA" sz="6000" dirty="0"/>
          </a:p>
        </p:txBody>
      </p:sp>
      <p:sp>
        <p:nvSpPr>
          <p:cNvPr id="3" name="fx1|en"/>
          <p:cNvSpPr txBox="1"/>
          <p:nvPr/>
        </p:nvSpPr>
        <p:spPr>
          <a:xfrm>
            <a:off x="1371600" y="201168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600" b="1" spc="1000" kern="0" dirty="0">
                <a:solidFill>
                  <a:schemeClr val="accent2"/>
                </a:solidFill>
              </a:rPr>
              <a:t>THE SQUAD</a:t>
            </a:r>
            <a:endParaRPr lang="en-US" sz="2600" dirty="0"/>
          </a:p>
        </p:txBody>
      </p:sp>
      <p:sp>
        <p:nvSpPr>
          <p:cNvPr id="4" name="fx2|line"/>
          <p:cNvSpPr txBox="1"/>
          <p:nvPr/>
        </p:nvSpPr>
        <p:spPr>
          <a:xfrm>
            <a:off x="1371600" y="26974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bg2"/>
                </a:solidFill>
              </a:rPr>
              <a:t>اللاعبون الذين صنعوا هذا المشروع  •  The players behind the project</a:t>
            </a:r>
            <a:endParaRPr lang="ar-SA" sz="1800" dirty="0"/>
          </a:p>
        </p:txBody>
      </p:sp>
      <p:pic>
        <p:nvPicPr>
          <p:cNvPr id="5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6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7" name="!!pos_p1"/>
          <p:cNvSpPr txBox="1"/>
          <p:nvPr/>
        </p:nvSpPr>
        <p:spPr>
          <a:xfrm>
            <a:off x="1349393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PM</a:t>
            </a:r>
            <a:endParaRPr lang="en-US" sz="3300" dirty="0"/>
          </a:p>
        </p:txBody>
      </p:sp>
      <p:sp>
        <p:nvSpPr>
          <p:cNvPr id="8" name="!!name_p1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9" name="!!role_p1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10" name="!!cap_p1"/>
          <p:cNvSpPr txBox="1"/>
          <p:nvPr/>
        </p:nvSpPr>
        <p:spPr>
          <a:xfrm>
            <a:off x="1490472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©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4" name="!!pos_p1"/>
          <p:cNvSpPr txBox="1"/>
          <p:nvPr/>
        </p:nvSpPr>
        <p:spPr>
          <a:xfrm>
            <a:off x="133241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PM</a:t>
            </a:r>
            <a:endParaRPr lang="en-US" sz="3300" dirty="0"/>
          </a:p>
        </p:txBody>
      </p:sp>
      <p:sp>
        <p:nvSpPr>
          <p:cNvPr id="5" name="!!name_p1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6" name="!!role_p1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7" name="!!cap_p1"/>
          <p:cNvSpPr txBox="1"/>
          <p:nvPr/>
        </p:nvSpPr>
        <p:spPr>
          <a:xfrm>
            <a:off x="274320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©</a:t>
            </a:r>
            <a:endParaRPr lang="en-US" sz="1800" dirty="0"/>
          </a:p>
        </p:txBody>
      </p:sp>
      <p:pic>
        <p:nvPicPr>
          <p:cNvPr id="8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9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10" name="!!pos_p2"/>
          <p:cNvSpPr txBox="1"/>
          <p:nvPr/>
        </p:nvSpPr>
        <p:spPr>
          <a:xfrm>
            <a:off x="1349393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MOB</a:t>
            </a:r>
            <a:endParaRPr lang="en-US" sz="3300" dirty="0"/>
          </a:p>
        </p:txBody>
      </p:sp>
      <p:sp>
        <p:nvSpPr>
          <p:cNvPr id="11" name="!!name_p2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2" name="!!role_p2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تطبيق الهاتف</a:t>
            </a:r>
            <a:endParaRPr lang="ar-SA" sz="1400" dirty="0"/>
          </a:p>
        </p:txBody>
      </p:sp>
      <p:sp>
        <p:nvSpPr>
          <p:cNvPr id="13" name="Info panel"/>
          <p:cNvSpPr/>
          <p:nvPr/>
        </p:nvSpPr>
        <p:spPr>
          <a:xfrm>
            <a:off x="5394960" y="1005840"/>
            <a:ext cx="6355080" cy="4023360"/>
          </a:xfrm>
          <a:prstGeom prst="roundRect">
            <a:avLst>
              <a:gd name="adj" fmla="val 4545"/>
            </a:avLst>
          </a:prstGeom>
          <a:solidFill>
            <a:schemeClr val="tx1">
              <a:alpha val="7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5669280" y="1234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اللاعب  •  PLAYER  •  الكابتن ©</a:t>
            </a:r>
            <a:endParaRPr lang="ar-SA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5669280" y="1737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عيسى إبراهيم شايع</a:t>
            </a:r>
            <a:endParaRPr lang="ar-SA" sz="4000" dirty="0"/>
          </a:p>
        </p:txBody>
      </p:sp>
      <p:sp>
        <p:nvSpPr>
          <p:cNvPr id="16" name="Text 10"/>
          <p:cNvSpPr txBox="1"/>
          <p:nvPr/>
        </p:nvSpPr>
        <p:spPr>
          <a:xfrm>
            <a:off x="566928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000" b="1" dirty="0">
                <a:solidFill>
                  <a:schemeClr val="accent2"/>
                </a:solidFill>
              </a:rPr>
              <a:t>Eisa Ibrahim Shaye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5669280" y="32004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dirty="0">
                <a:solidFill>
                  <a:schemeClr val="bg1"/>
                </a:solidFill>
              </a:rPr>
              <a:t>قائد الفريق ومدير المشروع</a:t>
            </a:r>
            <a:endParaRPr lang="ar-SA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5669280" y="3749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chemeClr val="bg2"/>
                </a:solidFill>
              </a:rPr>
              <a:t>Team Leader &amp; Project Manager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669280" y="42519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تحليل المتطلبات وتنسيق دمج مكونات النظام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4" name="!!pos_p1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PM</a:t>
            </a:r>
            <a:endParaRPr lang="en-US" sz="3300" dirty="0"/>
          </a:p>
        </p:txBody>
      </p:sp>
      <p:sp>
        <p:nvSpPr>
          <p:cNvPr id="5" name="!!name_p1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6" name="!!role_p1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7" name="!!cap_p1"/>
          <p:cNvSpPr txBox="1"/>
          <p:nvPr/>
        </p:nvSpPr>
        <p:spPr>
          <a:xfrm>
            <a:off x="-384048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©</a:t>
            </a:r>
            <a:endParaRPr lang="en-US" sz="1800" dirty="0"/>
          </a:p>
        </p:txBody>
      </p:sp>
      <p:pic>
        <p:nvPicPr>
          <p:cNvPr id="8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9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10" name="!!pos_p2"/>
          <p:cNvSpPr txBox="1"/>
          <p:nvPr/>
        </p:nvSpPr>
        <p:spPr>
          <a:xfrm>
            <a:off x="133241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MOB</a:t>
            </a:r>
            <a:endParaRPr lang="en-US" sz="3300" dirty="0"/>
          </a:p>
        </p:txBody>
      </p:sp>
      <p:sp>
        <p:nvSpPr>
          <p:cNvPr id="11" name="!!name_p2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2" name="!!role_p2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تطبيق الهاتف</a:t>
            </a:r>
            <a:endParaRPr lang="ar-SA" sz="1400" dirty="0"/>
          </a:p>
        </p:txBody>
      </p:sp>
      <p:pic>
        <p:nvPicPr>
          <p:cNvPr id="13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4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15" name="!!pos_p3"/>
          <p:cNvSpPr txBox="1"/>
          <p:nvPr/>
        </p:nvSpPr>
        <p:spPr>
          <a:xfrm>
            <a:off x="1349393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AI</a:t>
            </a:r>
            <a:endParaRPr lang="en-US" sz="3300" dirty="0"/>
          </a:p>
        </p:txBody>
      </p:sp>
      <p:sp>
        <p:nvSpPr>
          <p:cNvPr id="16" name="!!name_p3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مازن عبد المعز</a:t>
            </a:r>
            <a:endParaRPr lang="ar-SA" sz="2400" dirty="0"/>
          </a:p>
        </p:txBody>
      </p:sp>
      <p:sp>
        <p:nvSpPr>
          <p:cNvPr id="17" name="!!role_p3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مهندس الذكاء الاصطناعي والرؤية الحاسوبية</a:t>
            </a:r>
            <a:endParaRPr lang="ar-SA" sz="1400" dirty="0"/>
          </a:p>
        </p:txBody>
      </p:sp>
      <p:sp>
        <p:nvSpPr>
          <p:cNvPr id="18" name="Info panel"/>
          <p:cNvSpPr/>
          <p:nvPr/>
        </p:nvSpPr>
        <p:spPr>
          <a:xfrm>
            <a:off x="5394960" y="1005840"/>
            <a:ext cx="6355080" cy="4023360"/>
          </a:xfrm>
          <a:prstGeom prst="roundRect">
            <a:avLst>
              <a:gd name="adj" fmla="val 4545"/>
            </a:avLst>
          </a:prstGeom>
          <a:solidFill>
            <a:schemeClr val="tx1">
              <a:alpha val="7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5669280" y="1234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اللاعب  •  PLAYER</a:t>
            </a:r>
            <a:endParaRPr lang="ar-SA" sz="1800" dirty="0"/>
          </a:p>
        </p:txBody>
      </p:sp>
      <p:sp>
        <p:nvSpPr>
          <p:cNvPr id="20" name="Text 12"/>
          <p:cNvSpPr txBox="1"/>
          <p:nvPr/>
        </p:nvSpPr>
        <p:spPr>
          <a:xfrm>
            <a:off x="5669280" y="1737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محمد عبدالإله قريع</a:t>
            </a:r>
            <a:endParaRPr lang="ar-SA" sz="4000" dirty="0"/>
          </a:p>
        </p:txBody>
      </p:sp>
      <p:sp>
        <p:nvSpPr>
          <p:cNvPr id="21" name="Text 13"/>
          <p:cNvSpPr txBox="1"/>
          <p:nvPr/>
        </p:nvSpPr>
        <p:spPr>
          <a:xfrm>
            <a:off x="566928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000" b="1" dirty="0">
                <a:solidFill>
                  <a:schemeClr val="accent2"/>
                </a:solidFill>
              </a:rPr>
              <a:t>Mohammed Abdulelah Qurai</a:t>
            </a:r>
            <a:endParaRPr lang="en-US" sz="2000" dirty="0"/>
          </a:p>
        </p:txBody>
      </p:sp>
      <p:sp>
        <p:nvSpPr>
          <p:cNvPr id="22" name="Text 14"/>
          <p:cNvSpPr txBox="1"/>
          <p:nvPr/>
        </p:nvSpPr>
        <p:spPr>
          <a:xfrm>
            <a:off x="5669280" y="32004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dirty="0">
                <a:solidFill>
                  <a:schemeClr val="bg1"/>
                </a:solidFill>
              </a:rPr>
              <a:t>مطوّر تطبيق الهاتف</a:t>
            </a:r>
            <a:endParaRPr lang="ar-SA" sz="2400" dirty="0"/>
          </a:p>
        </p:txBody>
      </p:sp>
      <p:sp>
        <p:nvSpPr>
          <p:cNvPr id="23" name="Text 15"/>
          <p:cNvSpPr txBox="1"/>
          <p:nvPr/>
        </p:nvSpPr>
        <p:spPr>
          <a:xfrm>
            <a:off x="5669280" y="3749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chemeClr val="bg2"/>
                </a:solidFill>
              </a:rPr>
              <a:t>Flutter Mobile Developer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5669280" y="42519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تطبيق المراقبة: تشغيل الكاميرا وإرسال البيانات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4" name="!!pos_p1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PM</a:t>
            </a:r>
            <a:endParaRPr lang="en-US" sz="3300" dirty="0"/>
          </a:p>
        </p:txBody>
      </p:sp>
      <p:sp>
        <p:nvSpPr>
          <p:cNvPr id="5" name="!!name_p1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6" name="!!role_p1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7" name="!!cap_p1"/>
          <p:cNvSpPr txBox="1"/>
          <p:nvPr/>
        </p:nvSpPr>
        <p:spPr>
          <a:xfrm>
            <a:off x="-384048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©</a:t>
            </a:r>
            <a:endParaRPr lang="en-US" sz="1800" dirty="0"/>
          </a:p>
        </p:txBody>
      </p:sp>
      <p:pic>
        <p:nvPicPr>
          <p:cNvPr id="8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9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0" name="!!pos_p2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MOB</a:t>
            </a:r>
            <a:endParaRPr lang="en-US" sz="3300" dirty="0"/>
          </a:p>
        </p:txBody>
      </p:sp>
      <p:sp>
        <p:nvSpPr>
          <p:cNvPr id="11" name="!!name_p2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2" name="!!role_p2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تطبيق الهاتف</a:t>
            </a:r>
            <a:endParaRPr lang="ar-SA" sz="1400" dirty="0"/>
          </a:p>
        </p:txBody>
      </p:sp>
      <p:pic>
        <p:nvPicPr>
          <p:cNvPr id="13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4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15" name="!!pos_p3"/>
          <p:cNvSpPr txBox="1"/>
          <p:nvPr/>
        </p:nvSpPr>
        <p:spPr>
          <a:xfrm>
            <a:off x="133241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AI</a:t>
            </a:r>
            <a:endParaRPr lang="en-US" sz="3300" dirty="0"/>
          </a:p>
        </p:txBody>
      </p:sp>
      <p:sp>
        <p:nvSpPr>
          <p:cNvPr id="16" name="!!name_p3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مازن عبد المعز</a:t>
            </a:r>
            <a:endParaRPr lang="ar-SA" sz="2400" dirty="0"/>
          </a:p>
        </p:txBody>
      </p:sp>
      <p:sp>
        <p:nvSpPr>
          <p:cNvPr id="17" name="!!role_p3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مهندس الذكاء الاصطناعي والرؤية الحاسوبية</a:t>
            </a:r>
            <a:endParaRPr lang="ar-SA" sz="1400" dirty="0"/>
          </a:p>
        </p:txBody>
      </p:sp>
      <p:pic>
        <p:nvPicPr>
          <p:cNvPr id="18" name="!!card_p4" descr="بطاقة برهان الزمر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9" name="!!photo_p4" descr="صورة برهان الزمر — بدّلها من: تغيير الصور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20" name="!!pos_p4"/>
          <p:cNvSpPr txBox="1"/>
          <p:nvPr/>
        </p:nvSpPr>
        <p:spPr>
          <a:xfrm>
            <a:off x="1349393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WEB</a:t>
            </a:r>
            <a:endParaRPr lang="en-US" sz="3300" dirty="0"/>
          </a:p>
        </p:txBody>
      </p:sp>
      <p:sp>
        <p:nvSpPr>
          <p:cNvPr id="21" name="!!name_p4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برهان الزمر</a:t>
            </a:r>
            <a:endParaRPr lang="ar-SA" sz="2400" dirty="0"/>
          </a:p>
        </p:txBody>
      </p:sp>
      <p:sp>
        <p:nvSpPr>
          <p:cNvPr id="22" name="!!role_p4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الخادم ولوحة التحكم</a:t>
            </a:r>
            <a:endParaRPr lang="ar-SA" sz="1400" dirty="0"/>
          </a:p>
        </p:txBody>
      </p:sp>
      <p:sp>
        <p:nvSpPr>
          <p:cNvPr id="23" name="Info panel"/>
          <p:cNvSpPr/>
          <p:nvPr/>
        </p:nvSpPr>
        <p:spPr>
          <a:xfrm>
            <a:off x="5394960" y="1005840"/>
            <a:ext cx="6355080" cy="4023360"/>
          </a:xfrm>
          <a:prstGeom prst="roundRect">
            <a:avLst>
              <a:gd name="adj" fmla="val 4545"/>
            </a:avLst>
          </a:prstGeom>
          <a:solidFill>
            <a:schemeClr val="tx1">
              <a:alpha val="7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5669280" y="1234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اللاعب  •  PLAYER</a:t>
            </a:r>
            <a:endParaRPr lang="ar-SA" sz="1800" dirty="0"/>
          </a:p>
        </p:txBody>
      </p:sp>
      <p:sp>
        <p:nvSpPr>
          <p:cNvPr id="25" name="Text 15"/>
          <p:cNvSpPr txBox="1"/>
          <p:nvPr/>
        </p:nvSpPr>
        <p:spPr>
          <a:xfrm>
            <a:off x="5669280" y="1737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مازن عبد المعز</a:t>
            </a:r>
            <a:endParaRPr lang="ar-SA" sz="4000" dirty="0"/>
          </a:p>
        </p:txBody>
      </p:sp>
      <p:sp>
        <p:nvSpPr>
          <p:cNvPr id="26" name="Text 16"/>
          <p:cNvSpPr txBox="1"/>
          <p:nvPr/>
        </p:nvSpPr>
        <p:spPr>
          <a:xfrm>
            <a:off x="566928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000" b="1" dirty="0">
                <a:solidFill>
                  <a:schemeClr val="accent2"/>
                </a:solidFill>
              </a:rPr>
              <a:t>Mazen Abdulmoez</a:t>
            </a:r>
            <a:endParaRPr lang="en-US" sz="2000" dirty="0"/>
          </a:p>
        </p:txBody>
      </p:sp>
      <p:sp>
        <p:nvSpPr>
          <p:cNvPr id="27" name="Text 17"/>
          <p:cNvSpPr txBox="1"/>
          <p:nvPr/>
        </p:nvSpPr>
        <p:spPr>
          <a:xfrm>
            <a:off x="5669280" y="32004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dirty="0">
                <a:solidFill>
                  <a:schemeClr val="bg1"/>
                </a:solidFill>
              </a:rPr>
              <a:t>مهندس الذكاء الاصطناعي والرؤية الحاسوبية</a:t>
            </a:r>
            <a:endParaRPr lang="ar-SA" sz="2400" dirty="0"/>
          </a:p>
        </p:txBody>
      </p:sp>
      <p:sp>
        <p:nvSpPr>
          <p:cNvPr id="28" name="Text 18"/>
          <p:cNvSpPr txBox="1"/>
          <p:nvPr/>
        </p:nvSpPr>
        <p:spPr>
          <a:xfrm>
            <a:off x="5669280" y="3749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chemeClr val="bg2"/>
                </a:solidFill>
              </a:rPr>
              <a:t>AI &amp; Computer Vision Engineer</a:t>
            </a:r>
            <a:endParaRPr lang="en-US" sz="1600" dirty="0"/>
          </a:p>
        </p:txBody>
      </p:sp>
      <p:sp>
        <p:nvSpPr>
          <p:cNvPr id="29" name="Text 19"/>
          <p:cNvSpPr txBox="1"/>
          <p:nvPr/>
        </p:nvSpPr>
        <p:spPr>
          <a:xfrm>
            <a:off x="5669280" y="42519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YOLO و ByteTrack وحساب سرعة المركبات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4" name="!!pos_p1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PM</a:t>
            </a:r>
            <a:endParaRPr lang="en-US" sz="3300" dirty="0"/>
          </a:p>
        </p:txBody>
      </p:sp>
      <p:sp>
        <p:nvSpPr>
          <p:cNvPr id="5" name="!!name_p1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6" name="!!role_p1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7" name="!!cap_p1"/>
          <p:cNvSpPr txBox="1"/>
          <p:nvPr/>
        </p:nvSpPr>
        <p:spPr>
          <a:xfrm>
            <a:off x="-384048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©</a:t>
            </a:r>
            <a:endParaRPr lang="en-US" sz="1800" dirty="0"/>
          </a:p>
        </p:txBody>
      </p:sp>
      <p:pic>
        <p:nvPicPr>
          <p:cNvPr id="8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9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0" name="!!pos_p2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MOB</a:t>
            </a:r>
            <a:endParaRPr lang="en-US" sz="3300" dirty="0"/>
          </a:p>
        </p:txBody>
      </p:sp>
      <p:sp>
        <p:nvSpPr>
          <p:cNvPr id="11" name="!!name_p2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2" name="!!role_p2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تطبيق الهاتف</a:t>
            </a:r>
            <a:endParaRPr lang="ar-SA" sz="1400" dirty="0"/>
          </a:p>
        </p:txBody>
      </p:sp>
      <p:pic>
        <p:nvPicPr>
          <p:cNvPr id="13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4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5" name="!!pos_p3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AI</a:t>
            </a:r>
            <a:endParaRPr lang="en-US" sz="3300" dirty="0"/>
          </a:p>
        </p:txBody>
      </p:sp>
      <p:sp>
        <p:nvSpPr>
          <p:cNvPr id="16" name="!!name_p3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مازن عبد المعز</a:t>
            </a:r>
            <a:endParaRPr lang="ar-SA" sz="2400" dirty="0"/>
          </a:p>
        </p:txBody>
      </p:sp>
      <p:sp>
        <p:nvSpPr>
          <p:cNvPr id="17" name="!!role_p3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مهندس الذكاء الاصطناعي والرؤية الحاسوبية</a:t>
            </a:r>
            <a:endParaRPr lang="ar-SA" sz="1400" dirty="0"/>
          </a:p>
        </p:txBody>
      </p:sp>
      <p:pic>
        <p:nvPicPr>
          <p:cNvPr id="18" name="!!card_p4" descr="بطاقة برهان الزمر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9" name="!!photo_p4" descr="صورة برهان الزمر — بدّلها من: تغيير الصور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20" name="!!pos_p4"/>
          <p:cNvSpPr txBox="1"/>
          <p:nvPr/>
        </p:nvSpPr>
        <p:spPr>
          <a:xfrm>
            <a:off x="133241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WEB</a:t>
            </a:r>
            <a:endParaRPr lang="en-US" sz="3300" dirty="0"/>
          </a:p>
        </p:txBody>
      </p:sp>
      <p:sp>
        <p:nvSpPr>
          <p:cNvPr id="21" name="!!name_p4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برهان الزمر</a:t>
            </a:r>
            <a:endParaRPr lang="ar-SA" sz="2400" dirty="0"/>
          </a:p>
        </p:txBody>
      </p:sp>
      <p:sp>
        <p:nvSpPr>
          <p:cNvPr id="22" name="!!role_p4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الخادم ولوحة التحكم</a:t>
            </a:r>
            <a:endParaRPr lang="ar-SA" sz="1400" dirty="0"/>
          </a:p>
        </p:txBody>
      </p:sp>
      <p:pic>
        <p:nvPicPr>
          <p:cNvPr id="23" name="!!card_p5" descr="بطاقة محمد عادل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24" name="!!photo_p5" descr="صورة محمد عادل — بدّلها من: تغيير الصورة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25" name="!!pos_p5"/>
          <p:cNvSpPr txBox="1"/>
          <p:nvPr/>
        </p:nvSpPr>
        <p:spPr>
          <a:xfrm>
            <a:off x="1349393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DB</a:t>
            </a:r>
            <a:endParaRPr lang="en-US" sz="3300" dirty="0"/>
          </a:p>
        </p:txBody>
      </p:sp>
      <p:sp>
        <p:nvSpPr>
          <p:cNvPr id="26" name="!!name_p5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عادل</a:t>
            </a:r>
            <a:endParaRPr lang="ar-SA" sz="2400" dirty="0"/>
          </a:p>
        </p:txBody>
      </p:sp>
      <p:sp>
        <p:nvSpPr>
          <p:cNvPr id="27" name="!!role_p5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مسؤول قواعد البيانات والتعرّف على اللوحات</a:t>
            </a:r>
            <a:endParaRPr lang="ar-SA" sz="1400" dirty="0"/>
          </a:p>
        </p:txBody>
      </p:sp>
      <p:sp>
        <p:nvSpPr>
          <p:cNvPr id="28" name="Info panel"/>
          <p:cNvSpPr/>
          <p:nvPr/>
        </p:nvSpPr>
        <p:spPr>
          <a:xfrm>
            <a:off x="5394960" y="1005840"/>
            <a:ext cx="6355080" cy="4023360"/>
          </a:xfrm>
          <a:prstGeom prst="roundRect">
            <a:avLst>
              <a:gd name="adj" fmla="val 4545"/>
            </a:avLst>
          </a:prstGeom>
          <a:solidFill>
            <a:schemeClr val="tx1">
              <a:alpha val="7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29" name="Text 17"/>
          <p:cNvSpPr txBox="1"/>
          <p:nvPr/>
        </p:nvSpPr>
        <p:spPr>
          <a:xfrm>
            <a:off x="5669280" y="1234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اللاعب  •  PLAYER</a:t>
            </a:r>
            <a:endParaRPr lang="ar-SA" sz="1800" dirty="0"/>
          </a:p>
        </p:txBody>
      </p:sp>
      <p:sp>
        <p:nvSpPr>
          <p:cNvPr id="30" name="Text 18"/>
          <p:cNvSpPr txBox="1"/>
          <p:nvPr/>
        </p:nvSpPr>
        <p:spPr>
          <a:xfrm>
            <a:off x="5669280" y="1737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برهان الزمر</a:t>
            </a:r>
            <a:endParaRPr lang="ar-SA" sz="4000" dirty="0"/>
          </a:p>
        </p:txBody>
      </p:sp>
      <p:sp>
        <p:nvSpPr>
          <p:cNvPr id="31" name="Text 19"/>
          <p:cNvSpPr txBox="1"/>
          <p:nvPr/>
        </p:nvSpPr>
        <p:spPr>
          <a:xfrm>
            <a:off x="566928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000" b="1" dirty="0">
                <a:solidFill>
                  <a:schemeClr val="accent2"/>
                </a:solidFill>
              </a:rPr>
              <a:t>Burhan Al-Zumar</a:t>
            </a:r>
            <a:endParaRPr lang="en-US" sz="2000" dirty="0"/>
          </a:p>
        </p:txBody>
      </p:sp>
      <p:sp>
        <p:nvSpPr>
          <p:cNvPr id="32" name="Text 20"/>
          <p:cNvSpPr txBox="1"/>
          <p:nvPr/>
        </p:nvSpPr>
        <p:spPr>
          <a:xfrm>
            <a:off x="5669280" y="32004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dirty="0">
                <a:solidFill>
                  <a:schemeClr val="bg1"/>
                </a:solidFill>
              </a:rPr>
              <a:t>مطوّر الخادم ولوحة التحكم</a:t>
            </a:r>
            <a:endParaRPr lang="ar-SA" sz="2400" dirty="0"/>
          </a:p>
        </p:txBody>
      </p:sp>
      <p:sp>
        <p:nvSpPr>
          <p:cNvPr id="33" name="Text 21"/>
          <p:cNvSpPr txBox="1"/>
          <p:nvPr/>
        </p:nvSpPr>
        <p:spPr>
          <a:xfrm>
            <a:off x="5669280" y="3749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chemeClr val="bg2"/>
                </a:solidFill>
              </a:rPr>
              <a:t>Backend &amp; Dashboard Developer</a:t>
            </a:r>
            <a:endParaRPr lang="en-US" sz="1600" dirty="0"/>
          </a:p>
        </p:txBody>
      </p:sp>
      <p:sp>
        <p:nvSpPr>
          <p:cNvPr id="34" name="Text 22"/>
          <p:cNvSpPr txBox="1"/>
          <p:nvPr/>
        </p:nvSpPr>
        <p:spPr>
          <a:xfrm>
            <a:off x="5669280" y="42519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Laravel و FastAPI وواجهات REST API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4" name="!!pos_p1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PM</a:t>
            </a:r>
            <a:endParaRPr lang="en-US" sz="3300" dirty="0"/>
          </a:p>
        </p:txBody>
      </p:sp>
      <p:sp>
        <p:nvSpPr>
          <p:cNvPr id="5" name="!!name_p1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6" name="!!role_p1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7" name="!!cap_p1"/>
          <p:cNvSpPr txBox="1"/>
          <p:nvPr/>
        </p:nvSpPr>
        <p:spPr>
          <a:xfrm>
            <a:off x="-384048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©</a:t>
            </a:r>
            <a:endParaRPr lang="en-US" sz="1800" dirty="0"/>
          </a:p>
        </p:txBody>
      </p:sp>
      <p:pic>
        <p:nvPicPr>
          <p:cNvPr id="8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9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0" name="!!pos_p2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MOB</a:t>
            </a:r>
            <a:endParaRPr lang="en-US" sz="3300" dirty="0"/>
          </a:p>
        </p:txBody>
      </p:sp>
      <p:sp>
        <p:nvSpPr>
          <p:cNvPr id="11" name="!!name_p2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2" name="!!role_p2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تطبيق الهاتف</a:t>
            </a:r>
            <a:endParaRPr lang="ar-SA" sz="1400" dirty="0"/>
          </a:p>
        </p:txBody>
      </p:sp>
      <p:pic>
        <p:nvPicPr>
          <p:cNvPr id="13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4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5" name="!!pos_p3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AI</a:t>
            </a:r>
            <a:endParaRPr lang="en-US" sz="3300" dirty="0"/>
          </a:p>
        </p:txBody>
      </p:sp>
      <p:sp>
        <p:nvSpPr>
          <p:cNvPr id="16" name="!!name_p3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مازن عبد المعز</a:t>
            </a:r>
            <a:endParaRPr lang="ar-SA" sz="2400" dirty="0"/>
          </a:p>
        </p:txBody>
      </p:sp>
      <p:sp>
        <p:nvSpPr>
          <p:cNvPr id="17" name="!!role_p3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مهندس الذكاء الاصطناعي والرؤية الحاسوبية</a:t>
            </a:r>
            <a:endParaRPr lang="ar-SA" sz="1400" dirty="0"/>
          </a:p>
        </p:txBody>
      </p:sp>
      <p:pic>
        <p:nvPicPr>
          <p:cNvPr id="18" name="!!card_p4" descr="بطاقة برهان الزمر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9" name="!!photo_p4" descr="صورة برهان الزمر — بدّلها من: تغيير الصور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20" name="!!pos_p4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WEB</a:t>
            </a:r>
            <a:endParaRPr lang="en-US" sz="3300" dirty="0"/>
          </a:p>
        </p:txBody>
      </p:sp>
      <p:sp>
        <p:nvSpPr>
          <p:cNvPr id="21" name="!!name_p4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برهان الزمر</a:t>
            </a:r>
            <a:endParaRPr lang="ar-SA" sz="2400" dirty="0"/>
          </a:p>
        </p:txBody>
      </p:sp>
      <p:sp>
        <p:nvSpPr>
          <p:cNvPr id="22" name="!!role_p4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الخادم ولوحة التحكم</a:t>
            </a:r>
            <a:endParaRPr lang="ar-SA" sz="1400" dirty="0"/>
          </a:p>
        </p:txBody>
      </p:sp>
      <p:pic>
        <p:nvPicPr>
          <p:cNvPr id="23" name="!!card_p5" descr="بطاقة محمد عادل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24" name="!!photo_p5" descr="صورة محمد عادل — بدّلها من: تغيير الصورة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25" name="!!pos_p5"/>
          <p:cNvSpPr txBox="1"/>
          <p:nvPr/>
        </p:nvSpPr>
        <p:spPr>
          <a:xfrm>
            <a:off x="133241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DB</a:t>
            </a:r>
            <a:endParaRPr lang="en-US" sz="3300" dirty="0"/>
          </a:p>
        </p:txBody>
      </p:sp>
      <p:sp>
        <p:nvSpPr>
          <p:cNvPr id="26" name="!!name_p5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عادل</a:t>
            </a:r>
            <a:endParaRPr lang="ar-SA" sz="2400" dirty="0"/>
          </a:p>
        </p:txBody>
      </p:sp>
      <p:sp>
        <p:nvSpPr>
          <p:cNvPr id="27" name="!!role_p5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مسؤول قواعد البيانات والتعرّف على اللوحات</a:t>
            </a:r>
            <a:endParaRPr lang="ar-SA" sz="1400" dirty="0"/>
          </a:p>
        </p:txBody>
      </p:sp>
      <p:pic>
        <p:nvPicPr>
          <p:cNvPr id="28" name="!!card_coach" descr="بطاقة د. مطيع الجعفري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29" name="!!photo_coach" descr="صورة د. مطيع الجعفري — بدّلها من: تغيير الصورة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30" name="!!pos_coach"/>
          <p:cNvSpPr txBox="1"/>
          <p:nvPr/>
        </p:nvSpPr>
        <p:spPr>
          <a:xfrm>
            <a:off x="1349393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5100" b="1" dirty="0">
                <a:solidFill>
                  <a:schemeClr val="accent2"/>
                </a:solidFill>
              </a:rPr>
              <a:t>C</a:t>
            </a:r>
            <a:endParaRPr lang="en-US" sz="5100" dirty="0"/>
          </a:p>
        </p:txBody>
      </p:sp>
      <p:sp>
        <p:nvSpPr>
          <p:cNvPr id="31" name="!!tag_coach"/>
          <p:cNvSpPr txBox="1"/>
          <p:nvPr/>
        </p:nvSpPr>
        <p:spPr>
          <a:xfrm>
            <a:off x="13493931" y="1892808"/>
            <a:ext cx="12932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accent2"/>
                </a:solidFill>
              </a:rPr>
              <a:t>COACH</a:t>
            </a:r>
            <a:endParaRPr lang="en-US" sz="1300" dirty="0"/>
          </a:p>
        </p:txBody>
      </p:sp>
      <p:sp>
        <p:nvSpPr>
          <p:cNvPr id="32" name="!!name_coach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د. مطيع الجعفري</a:t>
            </a:r>
            <a:endParaRPr lang="ar-SA" sz="2400" dirty="0"/>
          </a:p>
        </p:txBody>
      </p:sp>
      <p:sp>
        <p:nvSpPr>
          <p:cNvPr id="33" name="!!role_coach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المشرف على المشروع</a:t>
            </a:r>
            <a:endParaRPr lang="ar-SA" sz="1400" dirty="0"/>
          </a:p>
        </p:txBody>
      </p:sp>
      <p:sp>
        <p:nvSpPr>
          <p:cNvPr id="34" name="Info panel"/>
          <p:cNvSpPr/>
          <p:nvPr/>
        </p:nvSpPr>
        <p:spPr>
          <a:xfrm>
            <a:off x="5394960" y="1005840"/>
            <a:ext cx="6355080" cy="4023360"/>
          </a:xfrm>
          <a:prstGeom prst="roundRect">
            <a:avLst>
              <a:gd name="adj" fmla="val 4545"/>
            </a:avLst>
          </a:prstGeom>
          <a:solidFill>
            <a:schemeClr val="tx1">
              <a:alpha val="7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35" name="Text 21"/>
          <p:cNvSpPr txBox="1"/>
          <p:nvPr/>
        </p:nvSpPr>
        <p:spPr>
          <a:xfrm>
            <a:off x="5669280" y="1234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اللاعب  •  PLAYER</a:t>
            </a:r>
            <a:endParaRPr lang="ar-SA" sz="1800" dirty="0"/>
          </a:p>
        </p:txBody>
      </p:sp>
      <p:sp>
        <p:nvSpPr>
          <p:cNvPr id="36" name="Text 22"/>
          <p:cNvSpPr txBox="1"/>
          <p:nvPr/>
        </p:nvSpPr>
        <p:spPr>
          <a:xfrm>
            <a:off x="5669280" y="1737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bg1"/>
                </a:solidFill>
              </a:rPr>
              <a:t>محمد عادل قاسم قائد</a:t>
            </a:r>
            <a:endParaRPr lang="ar-SA" sz="3200" dirty="0"/>
          </a:p>
        </p:txBody>
      </p:sp>
      <p:sp>
        <p:nvSpPr>
          <p:cNvPr id="37" name="Text 23"/>
          <p:cNvSpPr txBox="1"/>
          <p:nvPr/>
        </p:nvSpPr>
        <p:spPr>
          <a:xfrm>
            <a:off x="566928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000" b="1" dirty="0">
                <a:solidFill>
                  <a:schemeClr val="accent2"/>
                </a:solidFill>
              </a:rPr>
              <a:t>Mohammed Adel Qasem Qaid</a:t>
            </a:r>
            <a:endParaRPr lang="en-US" sz="2000" dirty="0"/>
          </a:p>
        </p:txBody>
      </p:sp>
      <p:sp>
        <p:nvSpPr>
          <p:cNvPr id="38" name="Text 24"/>
          <p:cNvSpPr txBox="1"/>
          <p:nvPr/>
        </p:nvSpPr>
        <p:spPr>
          <a:xfrm>
            <a:off x="5669280" y="32004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dirty="0">
                <a:solidFill>
                  <a:schemeClr val="bg1"/>
                </a:solidFill>
              </a:rPr>
              <a:t>مسؤول قواعد البيانات والتعرّف على اللوحات</a:t>
            </a:r>
            <a:endParaRPr lang="ar-SA" sz="2400" dirty="0"/>
          </a:p>
        </p:txBody>
      </p:sp>
      <p:sp>
        <p:nvSpPr>
          <p:cNvPr id="39" name="Text 25"/>
          <p:cNvSpPr txBox="1"/>
          <p:nvPr/>
        </p:nvSpPr>
        <p:spPr>
          <a:xfrm>
            <a:off x="5669280" y="3749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chemeClr val="bg2"/>
                </a:solidFill>
              </a:rPr>
              <a:t>Database &amp; OCR Engineer</a:t>
            </a:r>
            <a:endParaRPr lang="en-US" sz="1600" dirty="0"/>
          </a:p>
        </p:txBody>
      </p:sp>
      <p:sp>
        <p:nvSpPr>
          <p:cNvPr id="40" name="Text 26"/>
          <p:cNvSpPr txBox="1"/>
          <p:nvPr/>
        </p:nvSpPr>
        <p:spPr>
          <a:xfrm>
            <a:off x="5669280" y="42519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MySQL و PaddleOCR وربط المخالفة بالمالك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4" name="!!pos_p1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PM</a:t>
            </a:r>
            <a:endParaRPr lang="en-US" sz="3300" dirty="0"/>
          </a:p>
        </p:txBody>
      </p:sp>
      <p:sp>
        <p:nvSpPr>
          <p:cNvPr id="5" name="!!name_p1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6" name="!!role_p1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7" name="!!cap_p1"/>
          <p:cNvSpPr txBox="1"/>
          <p:nvPr/>
        </p:nvSpPr>
        <p:spPr>
          <a:xfrm>
            <a:off x="-384048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©</a:t>
            </a:r>
            <a:endParaRPr lang="en-US" sz="1800" dirty="0"/>
          </a:p>
        </p:txBody>
      </p:sp>
      <p:pic>
        <p:nvPicPr>
          <p:cNvPr id="8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9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0" name="!!pos_p2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MOB</a:t>
            </a:r>
            <a:endParaRPr lang="en-US" sz="3300" dirty="0"/>
          </a:p>
        </p:txBody>
      </p:sp>
      <p:sp>
        <p:nvSpPr>
          <p:cNvPr id="11" name="!!name_p2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2" name="!!role_p2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تطبيق الهاتف</a:t>
            </a:r>
            <a:endParaRPr lang="ar-SA" sz="1400" dirty="0"/>
          </a:p>
        </p:txBody>
      </p:sp>
      <p:pic>
        <p:nvPicPr>
          <p:cNvPr id="13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4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5" name="!!pos_p3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AI</a:t>
            </a:r>
            <a:endParaRPr lang="en-US" sz="3300" dirty="0"/>
          </a:p>
        </p:txBody>
      </p:sp>
      <p:sp>
        <p:nvSpPr>
          <p:cNvPr id="16" name="!!name_p3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مازن عبد المعز</a:t>
            </a:r>
            <a:endParaRPr lang="ar-SA" sz="2400" dirty="0"/>
          </a:p>
        </p:txBody>
      </p:sp>
      <p:sp>
        <p:nvSpPr>
          <p:cNvPr id="17" name="!!role_p3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مهندس الذكاء الاصطناعي والرؤية الحاسوبية</a:t>
            </a:r>
            <a:endParaRPr lang="ar-SA" sz="1400" dirty="0"/>
          </a:p>
        </p:txBody>
      </p:sp>
      <p:pic>
        <p:nvPicPr>
          <p:cNvPr id="18" name="!!card_p4" descr="بطاقة برهان الزمر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9" name="!!photo_p4" descr="صورة برهان الزمر — بدّلها من: تغيير الصور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20" name="!!pos_p4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WEB</a:t>
            </a:r>
            <a:endParaRPr lang="en-US" sz="3300" dirty="0"/>
          </a:p>
        </p:txBody>
      </p:sp>
      <p:sp>
        <p:nvSpPr>
          <p:cNvPr id="21" name="!!name_p4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برهان الزمر</a:t>
            </a:r>
            <a:endParaRPr lang="ar-SA" sz="2400" dirty="0"/>
          </a:p>
        </p:txBody>
      </p:sp>
      <p:sp>
        <p:nvSpPr>
          <p:cNvPr id="22" name="!!role_p4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الخادم ولوحة التحكم</a:t>
            </a:r>
            <a:endParaRPr lang="ar-SA" sz="1400" dirty="0"/>
          </a:p>
        </p:txBody>
      </p:sp>
      <p:pic>
        <p:nvPicPr>
          <p:cNvPr id="23" name="!!card_p5" descr="بطاقة محمد عادل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24" name="!!photo_p5" descr="صورة محمد عادل — بدّلها من: تغيير الصورة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25" name="!!pos_p5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300" b="1" dirty="0">
                <a:solidFill>
                  <a:schemeClr val="tx2"/>
                </a:solidFill>
              </a:rPr>
              <a:t>DB</a:t>
            </a:r>
            <a:endParaRPr lang="en-US" sz="3300" dirty="0"/>
          </a:p>
        </p:txBody>
      </p:sp>
      <p:sp>
        <p:nvSpPr>
          <p:cNvPr id="26" name="!!name_p5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عادل</a:t>
            </a:r>
            <a:endParaRPr lang="ar-SA" sz="2400" dirty="0"/>
          </a:p>
        </p:txBody>
      </p:sp>
      <p:sp>
        <p:nvSpPr>
          <p:cNvPr id="27" name="!!role_p5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مسؤول قواعد البيانات والتعرّف على اللوحات</a:t>
            </a:r>
            <a:endParaRPr lang="ar-SA" sz="1400" dirty="0"/>
          </a:p>
        </p:txBody>
      </p:sp>
      <p:pic>
        <p:nvPicPr>
          <p:cNvPr id="28" name="!!card_coach" descr="بطاقة د. مطيع الجعفري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29" name="!!photo_coach" descr="صورة د. مطيع الجعفري — بدّلها من: تغيير الصورة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30" name="!!pos_coach"/>
          <p:cNvSpPr txBox="1"/>
          <p:nvPr/>
        </p:nvSpPr>
        <p:spPr>
          <a:xfrm>
            <a:off x="133241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5100" b="1" dirty="0">
                <a:solidFill>
                  <a:schemeClr val="accent2"/>
                </a:solidFill>
              </a:rPr>
              <a:t>C</a:t>
            </a:r>
            <a:endParaRPr lang="en-US" sz="5100" dirty="0"/>
          </a:p>
        </p:txBody>
      </p:sp>
      <p:sp>
        <p:nvSpPr>
          <p:cNvPr id="31" name="!!tag_coach"/>
          <p:cNvSpPr txBox="1"/>
          <p:nvPr/>
        </p:nvSpPr>
        <p:spPr>
          <a:xfrm>
            <a:off x="1332411" y="1892808"/>
            <a:ext cx="12932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accent2"/>
                </a:solidFill>
              </a:rPr>
              <a:t>COACH</a:t>
            </a:r>
            <a:endParaRPr lang="en-US" sz="1300" dirty="0"/>
          </a:p>
        </p:txBody>
      </p:sp>
      <p:sp>
        <p:nvSpPr>
          <p:cNvPr id="32" name="!!name_coach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د. مطيع الجعفري</a:t>
            </a:r>
            <a:endParaRPr lang="ar-SA" sz="2400" dirty="0"/>
          </a:p>
        </p:txBody>
      </p:sp>
      <p:sp>
        <p:nvSpPr>
          <p:cNvPr id="33" name="!!role_coach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المشرف على المشروع</a:t>
            </a:r>
            <a:endParaRPr lang="ar-SA" sz="1400" dirty="0"/>
          </a:p>
        </p:txBody>
      </p:sp>
      <p:sp>
        <p:nvSpPr>
          <p:cNvPr id="34" name="Info panel"/>
          <p:cNvSpPr/>
          <p:nvPr/>
        </p:nvSpPr>
        <p:spPr>
          <a:xfrm>
            <a:off x="5394960" y="1005840"/>
            <a:ext cx="6355080" cy="4023360"/>
          </a:xfrm>
          <a:prstGeom prst="roundRect">
            <a:avLst>
              <a:gd name="adj" fmla="val 4545"/>
            </a:avLst>
          </a:prstGeom>
          <a:solidFill>
            <a:schemeClr val="tx1">
              <a:alpha val="7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35" name="Text 21"/>
          <p:cNvSpPr txBox="1"/>
          <p:nvPr/>
        </p:nvSpPr>
        <p:spPr>
          <a:xfrm>
            <a:off x="5669280" y="1234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المدرب  •  HEAD COACH</a:t>
            </a:r>
            <a:endParaRPr lang="ar-SA" sz="1800" dirty="0"/>
          </a:p>
        </p:txBody>
      </p:sp>
      <p:sp>
        <p:nvSpPr>
          <p:cNvPr id="36" name="Text 22"/>
          <p:cNvSpPr txBox="1"/>
          <p:nvPr/>
        </p:nvSpPr>
        <p:spPr>
          <a:xfrm>
            <a:off x="5669280" y="1737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bg1"/>
                </a:solidFill>
              </a:rPr>
              <a:t>د. مطيع محمد عبده الجعفري</a:t>
            </a:r>
            <a:endParaRPr lang="ar-SA" sz="3200" dirty="0"/>
          </a:p>
        </p:txBody>
      </p:sp>
      <p:sp>
        <p:nvSpPr>
          <p:cNvPr id="37" name="Text 23"/>
          <p:cNvSpPr txBox="1"/>
          <p:nvPr/>
        </p:nvSpPr>
        <p:spPr>
          <a:xfrm>
            <a:off x="566928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000" b="1" dirty="0">
                <a:solidFill>
                  <a:schemeClr val="accent2"/>
                </a:solidFill>
              </a:rPr>
              <a:t>Dr. Mutee Al-Jaafari</a:t>
            </a:r>
            <a:endParaRPr lang="en-US" sz="2000" dirty="0"/>
          </a:p>
        </p:txBody>
      </p:sp>
      <p:sp>
        <p:nvSpPr>
          <p:cNvPr id="38" name="Text 24"/>
          <p:cNvSpPr txBox="1"/>
          <p:nvPr/>
        </p:nvSpPr>
        <p:spPr>
          <a:xfrm>
            <a:off x="5669280" y="32004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dirty="0">
                <a:solidFill>
                  <a:schemeClr val="bg1"/>
                </a:solidFill>
              </a:rPr>
              <a:t>المشرف على المشروع</a:t>
            </a:r>
            <a:endParaRPr lang="ar-SA" sz="2400" dirty="0"/>
          </a:p>
        </p:txBody>
      </p:sp>
      <p:sp>
        <p:nvSpPr>
          <p:cNvPr id="39" name="Text 25"/>
          <p:cNvSpPr txBox="1"/>
          <p:nvPr/>
        </p:nvSpPr>
        <p:spPr>
          <a:xfrm>
            <a:off x="5669280" y="3749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chemeClr val="bg2"/>
                </a:solidFill>
              </a:rPr>
              <a:t>Project Supervisor</a:t>
            </a:r>
            <a:endParaRPr lang="en-US" sz="1600" dirty="0"/>
          </a:p>
        </p:txBody>
      </p:sp>
      <p:sp>
        <p:nvSpPr>
          <p:cNvPr id="40" name="Text 26"/>
          <p:cNvSpPr txBox="1"/>
          <p:nvPr/>
        </p:nvSpPr>
        <p:spPr>
          <a:xfrm>
            <a:off x="5669280" y="42519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التوجيه والإشراف ومتابعة الفريق في كل مراحل المشروع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0" y="274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bg1"/>
                </a:solidFill>
              </a:rPr>
              <a:t>تشكيلة الفريق</a:t>
            </a:r>
            <a:endParaRPr lang="ar-SA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675120" y="960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accent2"/>
                </a:solidFill>
              </a:rPr>
              <a:t>Starting XI</a:t>
            </a:r>
            <a:endParaRPr lang="en-US" sz="1800" dirty="0"/>
          </a:p>
        </p:txBody>
      </p:sp>
      <p:pic>
        <p:nvPicPr>
          <p:cNvPr id="4" name="!!card_p2" descr="بطاقة محمد قر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31" y="1417320"/>
            <a:ext cx="1632857" cy="2286000"/>
          </a:xfrm>
          <a:prstGeom prst="rect">
            <a:avLst/>
          </a:prstGeom>
          <a:effectLst>
            <a:outerShdw sx="100000" sy="100000" kx="0" ky="0" algn="bl" rotWithShape="0" blurRad="95250" dist="50800" dir="5400000">
              <a:srgbClr val="000000">
                <a:alpha val="55000"/>
              </a:srgbClr>
            </a:outerShdw>
          </a:effectLst>
        </p:spPr>
      </p:pic>
      <p:pic>
        <p:nvPicPr>
          <p:cNvPr id="5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489" y="1645920"/>
            <a:ext cx="816429" cy="816429"/>
          </a:xfrm>
          <a:prstGeom prst="ellipse">
            <a:avLst/>
          </a:prstGeom>
        </p:spPr>
      </p:pic>
      <p:sp>
        <p:nvSpPr>
          <p:cNvPr id="6" name="!!pos_p2"/>
          <p:cNvSpPr txBox="1"/>
          <p:nvPr/>
        </p:nvSpPr>
        <p:spPr>
          <a:xfrm>
            <a:off x="3076303" y="1645920"/>
            <a:ext cx="5388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chemeClr val="tx2"/>
                </a:solidFill>
              </a:rPr>
              <a:t>MOB</a:t>
            </a:r>
            <a:endParaRPr lang="en-US" sz="1400" dirty="0"/>
          </a:p>
        </p:txBody>
      </p:sp>
      <p:sp>
        <p:nvSpPr>
          <p:cNvPr id="7" name="!!name_p2"/>
          <p:cNvSpPr txBox="1"/>
          <p:nvPr/>
        </p:nvSpPr>
        <p:spPr>
          <a:xfrm>
            <a:off x="3092631" y="2560320"/>
            <a:ext cx="1404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tx2"/>
                </a:solidFill>
              </a:rPr>
              <a:t>محمد قريع</a:t>
            </a:r>
            <a:endParaRPr lang="ar-SA" sz="1000" dirty="0"/>
          </a:p>
        </p:txBody>
      </p:sp>
      <p:pic>
        <p:nvPicPr>
          <p:cNvPr id="8" name="!!card_p1" descr="بطاقة عيسى شا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619" y="1417320"/>
            <a:ext cx="1632857" cy="2286000"/>
          </a:xfrm>
          <a:prstGeom prst="rect">
            <a:avLst/>
          </a:prstGeom>
          <a:effectLst>
            <a:outerShdw sx="100000" sy="100000" kx="0" ky="0" algn="bl" rotWithShape="0" blurRad="95250" dist="50800" dir="5400000">
              <a:srgbClr val="000000">
                <a:alpha val="55000"/>
              </a:srgbClr>
            </a:outerShdw>
          </a:effectLst>
        </p:spPr>
      </p:pic>
      <p:pic>
        <p:nvPicPr>
          <p:cNvPr id="9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777" y="1645920"/>
            <a:ext cx="816429" cy="816429"/>
          </a:xfrm>
          <a:prstGeom prst="ellipse">
            <a:avLst/>
          </a:prstGeom>
        </p:spPr>
      </p:pic>
      <p:sp>
        <p:nvSpPr>
          <p:cNvPr id="10" name="!!pos_p1"/>
          <p:cNvSpPr txBox="1"/>
          <p:nvPr/>
        </p:nvSpPr>
        <p:spPr>
          <a:xfrm>
            <a:off x="5380591" y="1645920"/>
            <a:ext cx="5388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chemeClr val="tx2"/>
                </a:solidFill>
              </a:rPr>
              <a:t>PM</a:t>
            </a:r>
            <a:endParaRPr lang="en-US" sz="1400" dirty="0"/>
          </a:p>
        </p:txBody>
      </p:sp>
      <p:sp>
        <p:nvSpPr>
          <p:cNvPr id="11" name="!!name_p1"/>
          <p:cNvSpPr txBox="1"/>
          <p:nvPr/>
        </p:nvSpPr>
        <p:spPr>
          <a:xfrm>
            <a:off x="5396919" y="2560320"/>
            <a:ext cx="1404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tx2"/>
                </a:solidFill>
              </a:rPr>
              <a:t>عيسى شايع</a:t>
            </a:r>
            <a:endParaRPr lang="ar-SA" sz="1000" dirty="0"/>
          </a:p>
        </p:txBody>
      </p:sp>
      <p:sp>
        <p:nvSpPr>
          <p:cNvPr id="12" name="!!cap_p1"/>
          <p:cNvSpPr txBox="1"/>
          <p:nvPr/>
        </p:nvSpPr>
        <p:spPr>
          <a:xfrm>
            <a:off x="5968419" y="3246120"/>
            <a:ext cx="261257" cy="26125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2"/>
                </a:solidFill>
              </a:rPr>
              <a:t>©</a:t>
            </a:r>
            <a:endParaRPr lang="en-US" sz="800" dirty="0"/>
          </a:p>
        </p:txBody>
      </p:sp>
      <p:pic>
        <p:nvPicPr>
          <p:cNvPr id="13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6907" y="1417320"/>
            <a:ext cx="1632857" cy="2286000"/>
          </a:xfrm>
          <a:prstGeom prst="rect">
            <a:avLst/>
          </a:prstGeom>
          <a:effectLst>
            <a:outerShdw sx="100000" sy="100000" kx="0" ky="0" algn="bl" rotWithShape="0" blurRad="95250" dist="50800" dir="5400000">
              <a:srgbClr val="000000">
                <a:alpha val="55000"/>
              </a:srgbClr>
            </a:outerShdw>
          </a:effectLst>
        </p:spPr>
      </p:pic>
      <p:pic>
        <p:nvPicPr>
          <p:cNvPr id="14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065" y="1645920"/>
            <a:ext cx="816429" cy="816429"/>
          </a:xfrm>
          <a:prstGeom prst="ellipse">
            <a:avLst/>
          </a:prstGeom>
        </p:spPr>
      </p:pic>
      <p:sp>
        <p:nvSpPr>
          <p:cNvPr id="15" name="!!pos_p3"/>
          <p:cNvSpPr txBox="1"/>
          <p:nvPr/>
        </p:nvSpPr>
        <p:spPr>
          <a:xfrm>
            <a:off x="7684879" y="1645920"/>
            <a:ext cx="5388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chemeClr val="tx2"/>
                </a:solidFill>
              </a:rPr>
              <a:t>AI</a:t>
            </a:r>
            <a:endParaRPr lang="en-US" sz="1400" dirty="0"/>
          </a:p>
        </p:txBody>
      </p:sp>
      <p:sp>
        <p:nvSpPr>
          <p:cNvPr id="16" name="!!name_p3"/>
          <p:cNvSpPr txBox="1"/>
          <p:nvPr/>
        </p:nvSpPr>
        <p:spPr>
          <a:xfrm>
            <a:off x="7701207" y="2560320"/>
            <a:ext cx="1404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tx2"/>
                </a:solidFill>
              </a:rPr>
              <a:t>مازن عبد المعز</a:t>
            </a:r>
            <a:endParaRPr lang="ar-SA" sz="1000" dirty="0"/>
          </a:p>
        </p:txBody>
      </p:sp>
      <p:pic>
        <p:nvPicPr>
          <p:cNvPr id="17" name="!!card_p4" descr="بطاقة برهان الزمر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8654" y="3886200"/>
            <a:ext cx="1926771" cy="2697480"/>
          </a:xfrm>
          <a:prstGeom prst="rect">
            <a:avLst/>
          </a:prstGeom>
          <a:effectLst>
            <a:outerShdw sx="100000" sy="100000" kx="0" ky="0" algn="bl" rotWithShape="0" blurRad="112395" dist="59944" dir="5400000">
              <a:srgbClr val="000000">
                <a:alpha val="55000"/>
              </a:srgbClr>
            </a:outerShdw>
          </a:effectLst>
        </p:spPr>
      </p:pic>
      <p:pic>
        <p:nvPicPr>
          <p:cNvPr id="18" name="!!photo_p4" descr="صورة برهان الزمر — بدّلها من: تغيير الصور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1560" y="4155948"/>
            <a:ext cx="963386" cy="963386"/>
          </a:xfrm>
          <a:prstGeom prst="ellipse">
            <a:avLst/>
          </a:prstGeom>
        </p:spPr>
      </p:pic>
      <p:sp>
        <p:nvSpPr>
          <p:cNvPr id="19" name="!!pos_p4"/>
          <p:cNvSpPr txBox="1"/>
          <p:nvPr/>
        </p:nvSpPr>
        <p:spPr>
          <a:xfrm>
            <a:off x="4044261" y="4155948"/>
            <a:ext cx="635835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2"/>
                </a:solidFill>
              </a:rPr>
              <a:t>WEB</a:t>
            </a:r>
            <a:endParaRPr lang="en-US" sz="1600" dirty="0"/>
          </a:p>
        </p:txBody>
      </p:sp>
      <p:sp>
        <p:nvSpPr>
          <p:cNvPr id="20" name="!!name_p4"/>
          <p:cNvSpPr txBox="1"/>
          <p:nvPr/>
        </p:nvSpPr>
        <p:spPr>
          <a:xfrm>
            <a:off x="4063528" y="5234940"/>
            <a:ext cx="1657023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tx2"/>
                </a:solidFill>
              </a:rPr>
              <a:t>برهان الزمر</a:t>
            </a:r>
            <a:endParaRPr lang="ar-SA" sz="1200" dirty="0"/>
          </a:p>
        </p:txBody>
      </p:sp>
      <p:pic>
        <p:nvPicPr>
          <p:cNvPr id="21" name="!!card_p5" descr="بطاقة محمد عادل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3526" y="3886200"/>
            <a:ext cx="1926771" cy="2697480"/>
          </a:xfrm>
          <a:prstGeom prst="rect">
            <a:avLst/>
          </a:prstGeom>
          <a:effectLst>
            <a:outerShdw sx="100000" sy="100000" kx="0" ky="0" algn="bl" rotWithShape="0" blurRad="112395" dist="59944" dir="5400000">
              <a:srgbClr val="000000">
                <a:alpha val="55000"/>
              </a:srgbClr>
            </a:outerShdw>
          </a:effectLst>
        </p:spPr>
      </p:pic>
      <p:pic>
        <p:nvPicPr>
          <p:cNvPr id="22" name="!!photo_p5" descr="صورة محمد عادل — بدّلها من: تغيير الصورة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6432" y="4155948"/>
            <a:ext cx="963386" cy="963386"/>
          </a:xfrm>
          <a:prstGeom prst="ellipse">
            <a:avLst/>
          </a:prstGeom>
        </p:spPr>
      </p:pic>
      <p:sp>
        <p:nvSpPr>
          <p:cNvPr id="23" name="!!pos_p5"/>
          <p:cNvSpPr txBox="1"/>
          <p:nvPr/>
        </p:nvSpPr>
        <p:spPr>
          <a:xfrm>
            <a:off x="6449133" y="4155948"/>
            <a:ext cx="635835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2"/>
                </a:solidFill>
              </a:rPr>
              <a:t>DB</a:t>
            </a:r>
            <a:endParaRPr lang="en-US" sz="1600" dirty="0"/>
          </a:p>
        </p:txBody>
      </p:sp>
      <p:sp>
        <p:nvSpPr>
          <p:cNvPr id="24" name="!!name_p5"/>
          <p:cNvSpPr txBox="1"/>
          <p:nvPr/>
        </p:nvSpPr>
        <p:spPr>
          <a:xfrm>
            <a:off x="6468400" y="5234940"/>
            <a:ext cx="1657023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tx2"/>
                </a:solidFill>
              </a:rPr>
              <a:t>محمد عادل</a:t>
            </a:r>
            <a:endParaRPr lang="ar-SA" sz="1200" dirty="0"/>
          </a:p>
        </p:txBody>
      </p:sp>
      <p:pic>
        <p:nvPicPr>
          <p:cNvPr id="25" name="!!card_coach" descr="بطاقة د. مطيع الجعفري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3886200"/>
            <a:ext cx="1926771" cy="2697480"/>
          </a:xfrm>
          <a:prstGeom prst="rect">
            <a:avLst/>
          </a:prstGeom>
          <a:effectLst>
            <a:outerShdw sx="100000" sy="100000" kx="0" ky="0" algn="bl" rotWithShape="0" blurRad="112395" dist="59944" dir="5400000">
              <a:srgbClr val="000000">
                <a:alpha val="55000"/>
              </a:srgbClr>
            </a:outerShdw>
          </a:effectLst>
        </p:spPr>
      </p:pic>
      <p:pic>
        <p:nvPicPr>
          <p:cNvPr id="26" name="!!photo_coach" descr="صورة د. مطيع الجعفري — بدّلها من: تغيير الصورة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1545" y="4155948"/>
            <a:ext cx="963386" cy="963386"/>
          </a:xfrm>
          <a:prstGeom prst="ellipse">
            <a:avLst/>
          </a:prstGeom>
        </p:spPr>
      </p:pic>
      <p:sp>
        <p:nvSpPr>
          <p:cNvPr id="27" name="!!pos_coach"/>
          <p:cNvSpPr txBox="1"/>
          <p:nvPr/>
        </p:nvSpPr>
        <p:spPr>
          <a:xfrm>
            <a:off x="664246" y="4155948"/>
            <a:ext cx="635835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2500" b="1" dirty="0">
                <a:solidFill>
                  <a:schemeClr val="accent2"/>
                </a:solidFill>
              </a:rPr>
              <a:t>C</a:t>
            </a:r>
            <a:endParaRPr lang="en-US" sz="2500" dirty="0"/>
          </a:p>
        </p:txBody>
      </p:sp>
      <p:sp>
        <p:nvSpPr>
          <p:cNvPr id="28" name="!!tag_coach"/>
          <p:cNvSpPr txBox="1"/>
          <p:nvPr/>
        </p:nvSpPr>
        <p:spPr>
          <a:xfrm>
            <a:off x="664246" y="4479646"/>
            <a:ext cx="635835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chemeClr val="accent2"/>
                </a:solidFill>
              </a:rPr>
              <a:t>COACH</a:t>
            </a:r>
            <a:endParaRPr lang="en-US" sz="700" dirty="0"/>
          </a:p>
        </p:txBody>
      </p:sp>
      <p:sp>
        <p:nvSpPr>
          <p:cNvPr id="29" name="!!name_coach"/>
          <p:cNvSpPr txBox="1"/>
          <p:nvPr/>
        </p:nvSpPr>
        <p:spPr>
          <a:xfrm>
            <a:off x="683514" y="5234940"/>
            <a:ext cx="1657023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د. مطيع الجعفري</a:t>
            </a:r>
            <a:endParaRPr lang="ar-SA" sz="1200" dirty="0"/>
          </a:p>
        </p:txBody>
      </p:sp>
      <p:sp>
        <p:nvSpPr>
          <p:cNvPr id="30" name="Text 16"/>
          <p:cNvSpPr txBox="1"/>
          <p:nvPr/>
        </p:nvSpPr>
        <p:spPr>
          <a:xfrm>
            <a:off x="365760" y="3429000"/>
            <a:ext cx="2292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المدرب  •  Coach</a:t>
            </a:r>
            <a:endParaRPr lang="ar-SA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محتويات العرض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Agenda</a:t>
            </a:r>
            <a:endParaRPr lang="en-US" sz="1500" dirty="0"/>
          </a:p>
        </p:txBody>
      </p:sp>
      <p:sp>
        <p:nvSpPr>
          <p:cNvPr id="4" name="fx0|chip"/>
          <p:cNvSpPr/>
          <p:nvPr/>
        </p:nvSpPr>
        <p:spPr>
          <a:xfrm>
            <a:off x="8122615" y="1645920"/>
            <a:ext cx="3520440" cy="914400"/>
          </a:xfrm>
          <a:prstGeom prst="roundRect">
            <a:avLst>
              <a:gd name="adj" fmla="val 14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5" name="fx0|num#3d"/>
          <p:cNvSpPr txBox="1"/>
          <p:nvPr/>
        </p:nvSpPr>
        <p:spPr>
          <a:xfrm>
            <a:off x="10801807" y="1810512"/>
            <a:ext cx="585216" cy="585216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01</a:t>
            </a:r>
            <a:endParaRPr lang="en-US" sz="1500" dirty="0"/>
          </a:p>
        </p:txBody>
      </p:sp>
      <p:sp>
        <p:nvSpPr>
          <p:cNvPr id="6" name="fx0|ar"/>
          <p:cNvSpPr txBox="1"/>
          <p:nvPr/>
        </p:nvSpPr>
        <p:spPr>
          <a:xfrm>
            <a:off x="8305495" y="17647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المقدمة والمشكلة</a:t>
            </a:r>
            <a:endParaRPr lang="ar-SA" sz="1700" dirty="0"/>
          </a:p>
        </p:txBody>
      </p:sp>
      <p:sp>
        <p:nvSpPr>
          <p:cNvPr id="7" name="fx0|en"/>
          <p:cNvSpPr txBox="1"/>
          <p:nvPr/>
        </p:nvSpPr>
        <p:spPr>
          <a:xfrm>
            <a:off x="8305495" y="21579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Introduction &amp; Problem</a:t>
            </a:r>
            <a:endParaRPr lang="en-US" sz="1200" dirty="0"/>
          </a:p>
        </p:txBody>
      </p:sp>
      <p:sp>
        <p:nvSpPr>
          <p:cNvPr id="8" name="fx1|chip"/>
          <p:cNvSpPr/>
          <p:nvPr/>
        </p:nvSpPr>
        <p:spPr>
          <a:xfrm>
            <a:off x="8122615" y="2743200"/>
            <a:ext cx="3520440" cy="914400"/>
          </a:xfrm>
          <a:prstGeom prst="roundRect">
            <a:avLst>
              <a:gd name="adj" fmla="val 14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9" name="fx1|num#3d"/>
          <p:cNvSpPr txBox="1"/>
          <p:nvPr/>
        </p:nvSpPr>
        <p:spPr>
          <a:xfrm>
            <a:off x="10801807" y="2907792"/>
            <a:ext cx="585216" cy="585216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02</a:t>
            </a:r>
            <a:endParaRPr lang="en-US" sz="1500" dirty="0"/>
          </a:p>
        </p:txBody>
      </p:sp>
      <p:sp>
        <p:nvSpPr>
          <p:cNvPr id="10" name="fx1|ar"/>
          <p:cNvSpPr txBox="1"/>
          <p:nvPr/>
        </p:nvSpPr>
        <p:spPr>
          <a:xfrm>
            <a:off x="8305495" y="28620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الأهداف</a:t>
            </a:r>
            <a:endParaRPr lang="ar-SA" sz="1700" dirty="0"/>
          </a:p>
        </p:txBody>
      </p:sp>
      <p:sp>
        <p:nvSpPr>
          <p:cNvPr id="11" name="fx1|en"/>
          <p:cNvSpPr txBox="1"/>
          <p:nvPr/>
        </p:nvSpPr>
        <p:spPr>
          <a:xfrm>
            <a:off x="8305495" y="32552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12" name="fx2|chip"/>
          <p:cNvSpPr/>
          <p:nvPr/>
        </p:nvSpPr>
        <p:spPr>
          <a:xfrm>
            <a:off x="8122615" y="3840480"/>
            <a:ext cx="3520440" cy="914400"/>
          </a:xfrm>
          <a:prstGeom prst="roundRect">
            <a:avLst>
              <a:gd name="adj" fmla="val 14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3" name="fx2|num#3d"/>
          <p:cNvSpPr txBox="1"/>
          <p:nvPr/>
        </p:nvSpPr>
        <p:spPr>
          <a:xfrm>
            <a:off x="10801807" y="4005072"/>
            <a:ext cx="585216" cy="585216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03</a:t>
            </a:r>
            <a:endParaRPr lang="en-US" sz="1500" dirty="0"/>
          </a:p>
        </p:txBody>
      </p:sp>
      <p:sp>
        <p:nvSpPr>
          <p:cNvPr id="14" name="fx2|ar"/>
          <p:cNvSpPr txBox="1"/>
          <p:nvPr/>
        </p:nvSpPr>
        <p:spPr>
          <a:xfrm>
            <a:off x="8305495" y="39593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فكرة النظام</a:t>
            </a:r>
            <a:endParaRPr lang="ar-SA" sz="1700" dirty="0"/>
          </a:p>
        </p:txBody>
      </p:sp>
      <p:sp>
        <p:nvSpPr>
          <p:cNvPr id="15" name="fx2|en"/>
          <p:cNvSpPr txBox="1"/>
          <p:nvPr/>
        </p:nvSpPr>
        <p:spPr>
          <a:xfrm>
            <a:off x="8305495" y="43525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Concept</a:t>
            </a:r>
            <a:endParaRPr lang="en-US" sz="1200" dirty="0"/>
          </a:p>
        </p:txBody>
      </p:sp>
      <p:sp>
        <p:nvSpPr>
          <p:cNvPr id="16" name="fx3|chip"/>
          <p:cNvSpPr/>
          <p:nvPr/>
        </p:nvSpPr>
        <p:spPr>
          <a:xfrm>
            <a:off x="8122615" y="4937760"/>
            <a:ext cx="3520440" cy="914400"/>
          </a:xfrm>
          <a:prstGeom prst="roundRect">
            <a:avLst>
              <a:gd name="adj" fmla="val 14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7" name="fx3|num#3d"/>
          <p:cNvSpPr txBox="1"/>
          <p:nvPr/>
        </p:nvSpPr>
        <p:spPr>
          <a:xfrm>
            <a:off x="10801807" y="5102352"/>
            <a:ext cx="585216" cy="585216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04</a:t>
            </a:r>
            <a:endParaRPr lang="en-US" sz="1500" dirty="0"/>
          </a:p>
        </p:txBody>
      </p:sp>
      <p:sp>
        <p:nvSpPr>
          <p:cNvPr id="18" name="fx3|ar"/>
          <p:cNvSpPr txBox="1"/>
          <p:nvPr/>
        </p:nvSpPr>
        <p:spPr>
          <a:xfrm>
            <a:off x="8305495" y="50566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الدراسات السابقة</a:t>
            </a:r>
            <a:endParaRPr lang="ar-SA" sz="1700" dirty="0"/>
          </a:p>
        </p:txBody>
      </p:sp>
      <p:sp>
        <p:nvSpPr>
          <p:cNvPr id="19" name="fx3|en"/>
          <p:cNvSpPr txBox="1"/>
          <p:nvPr/>
        </p:nvSpPr>
        <p:spPr>
          <a:xfrm>
            <a:off x="8305495" y="54498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Related Work</a:t>
            </a:r>
            <a:endParaRPr lang="en-US" sz="1200" dirty="0"/>
          </a:p>
        </p:txBody>
      </p:sp>
      <p:sp>
        <p:nvSpPr>
          <p:cNvPr id="20" name="fx4|chip"/>
          <p:cNvSpPr/>
          <p:nvPr/>
        </p:nvSpPr>
        <p:spPr>
          <a:xfrm>
            <a:off x="4336999" y="1645920"/>
            <a:ext cx="3520440" cy="914400"/>
          </a:xfrm>
          <a:prstGeom prst="roundRect">
            <a:avLst>
              <a:gd name="adj" fmla="val 14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21" name="fx4|num#3d"/>
          <p:cNvSpPr txBox="1"/>
          <p:nvPr/>
        </p:nvSpPr>
        <p:spPr>
          <a:xfrm>
            <a:off x="7016191" y="1810512"/>
            <a:ext cx="585216" cy="585216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05</a:t>
            </a:r>
            <a:endParaRPr lang="en-US" sz="1500" dirty="0"/>
          </a:p>
        </p:txBody>
      </p:sp>
      <p:sp>
        <p:nvSpPr>
          <p:cNvPr id="22" name="fx4|ar"/>
          <p:cNvSpPr txBox="1"/>
          <p:nvPr/>
        </p:nvSpPr>
        <p:spPr>
          <a:xfrm>
            <a:off x="4519879" y="17647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المنهجية</a:t>
            </a:r>
            <a:endParaRPr lang="ar-SA" sz="1700" dirty="0"/>
          </a:p>
        </p:txBody>
      </p:sp>
      <p:sp>
        <p:nvSpPr>
          <p:cNvPr id="23" name="fx4|en"/>
          <p:cNvSpPr txBox="1"/>
          <p:nvPr/>
        </p:nvSpPr>
        <p:spPr>
          <a:xfrm>
            <a:off x="4519879" y="21579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Methodology</a:t>
            </a:r>
            <a:endParaRPr lang="en-US" sz="1200" dirty="0"/>
          </a:p>
        </p:txBody>
      </p:sp>
      <p:sp>
        <p:nvSpPr>
          <p:cNvPr id="24" name="fx5|chip"/>
          <p:cNvSpPr/>
          <p:nvPr/>
        </p:nvSpPr>
        <p:spPr>
          <a:xfrm>
            <a:off x="4336999" y="2743200"/>
            <a:ext cx="3520440" cy="914400"/>
          </a:xfrm>
          <a:prstGeom prst="roundRect">
            <a:avLst>
              <a:gd name="adj" fmla="val 14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25" name="fx5|num#3d"/>
          <p:cNvSpPr txBox="1"/>
          <p:nvPr/>
        </p:nvSpPr>
        <p:spPr>
          <a:xfrm>
            <a:off x="7016191" y="2907792"/>
            <a:ext cx="585216" cy="585216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06</a:t>
            </a:r>
            <a:endParaRPr lang="en-US" sz="1500" dirty="0"/>
          </a:p>
        </p:txBody>
      </p:sp>
      <p:sp>
        <p:nvSpPr>
          <p:cNvPr id="26" name="fx5|ar"/>
          <p:cNvSpPr txBox="1"/>
          <p:nvPr/>
        </p:nvSpPr>
        <p:spPr>
          <a:xfrm>
            <a:off x="4519879" y="28620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آلية عمل النظام</a:t>
            </a:r>
            <a:endParaRPr lang="ar-SA" sz="1700" dirty="0"/>
          </a:p>
        </p:txBody>
      </p:sp>
      <p:sp>
        <p:nvSpPr>
          <p:cNvPr id="27" name="fx5|en"/>
          <p:cNvSpPr txBox="1"/>
          <p:nvPr/>
        </p:nvSpPr>
        <p:spPr>
          <a:xfrm>
            <a:off x="4519879" y="32552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Workflow</a:t>
            </a:r>
            <a:endParaRPr lang="en-US" sz="1200" dirty="0"/>
          </a:p>
        </p:txBody>
      </p:sp>
      <p:sp>
        <p:nvSpPr>
          <p:cNvPr id="28" name="fx6|chip"/>
          <p:cNvSpPr/>
          <p:nvPr/>
        </p:nvSpPr>
        <p:spPr>
          <a:xfrm>
            <a:off x="4336999" y="3840480"/>
            <a:ext cx="3520440" cy="914400"/>
          </a:xfrm>
          <a:prstGeom prst="roundRect">
            <a:avLst>
              <a:gd name="adj" fmla="val 14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29" name="fx6|num#3d"/>
          <p:cNvSpPr txBox="1"/>
          <p:nvPr/>
        </p:nvSpPr>
        <p:spPr>
          <a:xfrm>
            <a:off x="7016191" y="4005072"/>
            <a:ext cx="585216" cy="585216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07</a:t>
            </a:r>
            <a:endParaRPr lang="en-US" sz="1500" dirty="0"/>
          </a:p>
        </p:txBody>
      </p:sp>
      <p:sp>
        <p:nvSpPr>
          <p:cNvPr id="30" name="fx6|ar"/>
          <p:cNvSpPr txBox="1"/>
          <p:nvPr/>
        </p:nvSpPr>
        <p:spPr>
          <a:xfrm>
            <a:off x="4519879" y="39593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الخوارزميات</a:t>
            </a:r>
            <a:endParaRPr lang="ar-SA" sz="1700" dirty="0"/>
          </a:p>
        </p:txBody>
      </p:sp>
      <p:sp>
        <p:nvSpPr>
          <p:cNvPr id="31" name="fx6|en"/>
          <p:cNvSpPr txBox="1"/>
          <p:nvPr/>
        </p:nvSpPr>
        <p:spPr>
          <a:xfrm>
            <a:off x="4519879" y="43525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Algorithms</a:t>
            </a:r>
            <a:endParaRPr lang="en-US" sz="1200" dirty="0"/>
          </a:p>
        </p:txBody>
      </p:sp>
      <p:sp>
        <p:nvSpPr>
          <p:cNvPr id="32" name="fx7|chip"/>
          <p:cNvSpPr/>
          <p:nvPr/>
        </p:nvSpPr>
        <p:spPr>
          <a:xfrm>
            <a:off x="4336999" y="4937760"/>
            <a:ext cx="3520440" cy="914400"/>
          </a:xfrm>
          <a:prstGeom prst="roundRect">
            <a:avLst>
              <a:gd name="adj" fmla="val 14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33" name="fx7|num#3d"/>
          <p:cNvSpPr txBox="1"/>
          <p:nvPr/>
        </p:nvSpPr>
        <p:spPr>
          <a:xfrm>
            <a:off x="7016191" y="5102352"/>
            <a:ext cx="585216" cy="585216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08</a:t>
            </a:r>
            <a:endParaRPr lang="en-US" sz="1500" dirty="0"/>
          </a:p>
        </p:txBody>
      </p:sp>
      <p:sp>
        <p:nvSpPr>
          <p:cNvPr id="34" name="fx7|ar"/>
          <p:cNvSpPr txBox="1"/>
          <p:nvPr/>
        </p:nvSpPr>
        <p:spPr>
          <a:xfrm>
            <a:off x="4519879" y="50566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السرعة والمخالفة</a:t>
            </a:r>
            <a:endParaRPr lang="ar-SA" sz="1700" dirty="0"/>
          </a:p>
        </p:txBody>
      </p:sp>
      <p:sp>
        <p:nvSpPr>
          <p:cNvPr id="35" name="fx7|en"/>
          <p:cNvSpPr txBox="1"/>
          <p:nvPr/>
        </p:nvSpPr>
        <p:spPr>
          <a:xfrm>
            <a:off x="4519879" y="54498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Speed &amp; Violation</a:t>
            </a:r>
            <a:endParaRPr lang="en-US" sz="1200" dirty="0"/>
          </a:p>
        </p:txBody>
      </p:sp>
      <p:sp>
        <p:nvSpPr>
          <p:cNvPr id="36" name="fx8|chip"/>
          <p:cNvSpPr/>
          <p:nvPr/>
        </p:nvSpPr>
        <p:spPr>
          <a:xfrm>
            <a:off x="551383" y="1645920"/>
            <a:ext cx="3520440" cy="914400"/>
          </a:xfrm>
          <a:prstGeom prst="roundRect">
            <a:avLst>
              <a:gd name="adj" fmla="val 14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37" name="fx8|num#3d"/>
          <p:cNvSpPr txBox="1"/>
          <p:nvPr/>
        </p:nvSpPr>
        <p:spPr>
          <a:xfrm>
            <a:off x="3230575" y="1810512"/>
            <a:ext cx="585216" cy="585216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09</a:t>
            </a:r>
            <a:endParaRPr lang="en-US" sz="1500" dirty="0"/>
          </a:p>
        </p:txBody>
      </p:sp>
      <p:sp>
        <p:nvSpPr>
          <p:cNvPr id="38" name="fx8|ar"/>
          <p:cNvSpPr txBox="1"/>
          <p:nvPr/>
        </p:nvSpPr>
        <p:spPr>
          <a:xfrm>
            <a:off x="734263" y="17647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معمارية النظام</a:t>
            </a:r>
            <a:endParaRPr lang="ar-SA" sz="1700" dirty="0"/>
          </a:p>
        </p:txBody>
      </p:sp>
      <p:sp>
        <p:nvSpPr>
          <p:cNvPr id="39" name="fx8|en"/>
          <p:cNvSpPr txBox="1"/>
          <p:nvPr/>
        </p:nvSpPr>
        <p:spPr>
          <a:xfrm>
            <a:off x="734263" y="21579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40" name="fx9|chip"/>
          <p:cNvSpPr/>
          <p:nvPr/>
        </p:nvSpPr>
        <p:spPr>
          <a:xfrm>
            <a:off x="551383" y="2743200"/>
            <a:ext cx="3520440" cy="914400"/>
          </a:xfrm>
          <a:prstGeom prst="roundRect">
            <a:avLst>
              <a:gd name="adj" fmla="val 14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41" name="fx9|num#3d"/>
          <p:cNvSpPr txBox="1"/>
          <p:nvPr/>
        </p:nvSpPr>
        <p:spPr>
          <a:xfrm>
            <a:off x="3230575" y="2907792"/>
            <a:ext cx="585216" cy="585216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10</a:t>
            </a:r>
            <a:endParaRPr lang="en-US" sz="1500" dirty="0"/>
          </a:p>
        </p:txBody>
      </p:sp>
      <p:sp>
        <p:nvSpPr>
          <p:cNvPr id="42" name="fx9|ar"/>
          <p:cNvSpPr txBox="1"/>
          <p:nvPr/>
        </p:nvSpPr>
        <p:spPr>
          <a:xfrm>
            <a:off x="734263" y="28620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قاعدة البيانات</a:t>
            </a:r>
            <a:endParaRPr lang="ar-SA" sz="1700" dirty="0"/>
          </a:p>
        </p:txBody>
      </p:sp>
      <p:sp>
        <p:nvSpPr>
          <p:cNvPr id="43" name="fx9|en"/>
          <p:cNvSpPr txBox="1"/>
          <p:nvPr/>
        </p:nvSpPr>
        <p:spPr>
          <a:xfrm>
            <a:off x="734263" y="32552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Database</a:t>
            </a:r>
            <a:endParaRPr lang="en-US" sz="1200" dirty="0"/>
          </a:p>
        </p:txBody>
      </p:sp>
      <p:sp>
        <p:nvSpPr>
          <p:cNvPr id="44" name="fx10|chip"/>
          <p:cNvSpPr/>
          <p:nvPr/>
        </p:nvSpPr>
        <p:spPr>
          <a:xfrm>
            <a:off x="551383" y="3840480"/>
            <a:ext cx="3520440" cy="914400"/>
          </a:xfrm>
          <a:prstGeom prst="roundRect">
            <a:avLst>
              <a:gd name="adj" fmla="val 14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45" name="fx10|num#3d"/>
          <p:cNvSpPr txBox="1"/>
          <p:nvPr/>
        </p:nvSpPr>
        <p:spPr>
          <a:xfrm>
            <a:off x="3230575" y="4005072"/>
            <a:ext cx="585216" cy="585216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11</a:t>
            </a:r>
            <a:endParaRPr lang="en-US" sz="1500" dirty="0"/>
          </a:p>
        </p:txBody>
      </p:sp>
      <p:sp>
        <p:nvSpPr>
          <p:cNvPr id="46" name="fx10|ar"/>
          <p:cNvSpPr txBox="1"/>
          <p:nvPr/>
        </p:nvSpPr>
        <p:spPr>
          <a:xfrm>
            <a:off x="734263" y="39593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الواجهات والعرض</a:t>
            </a:r>
            <a:endParaRPr lang="ar-SA" sz="1700" dirty="0"/>
          </a:p>
        </p:txBody>
      </p:sp>
      <p:sp>
        <p:nvSpPr>
          <p:cNvPr id="47" name="fx10|en"/>
          <p:cNvSpPr txBox="1"/>
          <p:nvPr/>
        </p:nvSpPr>
        <p:spPr>
          <a:xfrm>
            <a:off x="734263" y="43525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Screens &amp; Demo</a:t>
            </a:r>
            <a:endParaRPr lang="en-US" sz="1200" dirty="0"/>
          </a:p>
        </p:txBody>
      </p:sp>
      <p:sp>
        <p:nvSpPr>
          <p:cNvPr id="48" name="fx11|chip"/>
          <p:cNvSpPr/>
          <p:nvPr/>
        </p:nvSpPr>
        <p:spPr>
          <a:xfrm>
            <a:off x="551383" y="4937760"/>
            <a:ext cx="3520440" cy="914400"/>
          </a:xfrm>
          <a:prstGeom prst="roundRect">
            <a:avLst>
              <a:gd name="adj" fmla="val 14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49" name="fx11|num#3d"/>
          <p:cNvSpPr txBox="1"/>
          <p:nvPr/>
        </p:nvSpPr>
        <p:spPr>
          <a:xfrm>
            <a:off x="3230575" y="5102352"/>
            <a:ext cx="585216" cy="585216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12</a:t>
            </a:r>
            <a:endParaRPr lang="en-US" sz="1500" dirty="0"/>
          </a:p>
        </p:txBody>
      </p:sp>
      <p:sp>
        <p:nvSpPr>
          <p:cNvPr id="50" name="fx11|ar"/>
          <p:cNvSpPr txBox="1"/>
          <p:nvPr/>
        </p:nvSpPr>
        <p:spPr>
          <a:xfrm>
            <a:off x="734263" y="50566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الخاتمة</a:t>
            </a:r>
            <a:endParaRPr lang="ar-SA" sz="1700" dirty="0"/>
          </a:p>
        </p:txBody>
      </p:sp>
      <p:sp>
        <p:nvSpPr>
          <p:cNvPr id="51" name="fx11|en"/>
          <p:cNvSpPr txBox="1"/>
          <p:nvPr/>
        </p:nvSpPr>
        <p:spPr>
          <a:xfrm>
            <a:off x="734263" y="54498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6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6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6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4" dur="6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6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6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6" dur="6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0" dur="6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6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8" dur="6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2" dur="6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6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المقدمة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Introduction</a:t>
            </a:r>
            <a:endParaRPr lang="en-US" sz="1500" dirty="0"/>
          </a:p>
        </p:txBody>
      </p:sp>
      <p:sp>
        <p:nvSpPr>
          <p:cNvPr id="4" name="Scene frame"/>
          <p:cNvSpPr/>
          <p:nvPr/>
        </p:nvSpPr>
        <p:spPr>
          <a:xfrm>
            <a:off x="548640" y="1645920"/>
            <a:ext cx="5257800" cy="2962656"/>
          </a:xfrm>
          <a:prstGeom prst="roundRect">
            <a:avLst>
              <a:gd name="adj" fmla="val 3704"/>
            </a:avLst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79400" dist="50800" dir="16200000">
              <a:srgbClr val="22D3EE">
                <a:alpha val="45000"/>
              </a:srgbClr>
            </a:outerShdw>
          </a:effectLst>
        </p:spPr>
      </p:sp>
      <p:pic>
        <p:nvPicPr>
          <p:cNvPr id="5" name="Scene image" descr="مشهد توضيحي لرصد المركبات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19072"/>
            <a:ext cx="5111496" cy="2816352"/>
          </a:xfrm>
          <a:prstGeom prst="rect">
            <a:avLst/>
          </a:prstGeom>
        </p:spPr>
      </p:pic>
      <p:sp>
        <p:nvSpPr>
          <p:cNvPr id="6" name="fx0|p1"/>
          <p:cNvSpPr txBox="1"/>
          <p:nvPr/>
        </p:nvSpPr>
        <p:spPr>
          <a:xfrm>
            <a:off x="6126480" y="1645920"/>
            <a:ext cx="5513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bg1"/>
                </a:solidFill>
              </a:rPr>
              <a:t>تُعد السرعة الزائدة وعدم الالتزام بالسرعات المحددة من أبرز أسباب الحوادث المرورية في اليمن، مع صعوبة توفير رقابة مرورية مستمرة على جميع الطرق.</a:t>
            </a:r>
            <a:endParaRPr lang="ar-SA" sz="1800" dirty="0"/>
          </a:p>
        </p:txBody>
      </p:sp>
      <p:sp>
        <p:nvSpPr>
          <p:cNvPr id="7" name="fx1|p2"/>
          <p:cNvSpPr txBox="1"/>
          <p:nvPr/>
        </p:nvSpPr>
        <p:spPr>
          <a:xfrm>
            <a:off x="6126480" y="3017520"/>
            <a:ext cx="5513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800" dirty="0">
                <a:solidFill>
                  <a:schemeClr val="bg1"/>
                </a:solidFill>
              </a:rPr>
              <a:t>يقدّم مشروعنا نظاماً ذكياً </a:t>
            </a:r>
            <a:pPr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يحوّل الهاتف الذكي إلى كاميرا مرورية</a:t>
            </a:r>
            <a:pPr algn="r" indent="0" marL="0">
              <a:buNone/>
            </a:pPr>
            <a:r>
              <a:rPr lang="ar-SA" altLang="en-US" sz="1800" dirty="0">
                <a:solidFill>
                  <a:schemeClr val="bg1"/>
                </a:solidFill>
              </a:rPr>
              <a:t> تكتشف المركبات وتحسب سرعتها وتوثّق المخالفات آلياً، مع قراءة اللوحات وربطها بمالكيها.</a:t>
            </a:r>
            <a:endParaRPr lang="ar-SA" sz="1800" dirty="0"/>
          </a:p>
        </p:txBody>
      </p:sp>
      <p:sp>
        <p:nvSpPr>
          <p:cNvPr id="8" name="fx2|card"/>
          <p:cNvSpPr/>
          <p:nvPr/>
        </p:nvSpPr>
        <p:spPr>
          <a:xfrm>
            <a:off x="9009583" y="4846320"/>
            <a:ext cx="2633472" cy="1325880"/>
          </a:xfrm>
          <a:prstGeom prst="roundRect">
            <a:avLst>
              <a:gd name="adj" fmla="val 965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5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9" name="fx2|ic bg#3d"/>
          <p:cNvSpPr/>
          <p:nvPr/>
        </p:nvSpPr>
        <p:spPr>
          <a:xfrm>
            <a:off x="10911535" y="5010912"/>
            <a:ext cx="566928" cy="566928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0" name="fx2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267" y="5152644"/>
            <a:ext cx="283464" cy="283464"/>
          </a:xfrm>
          <a:prstGeom prst="rect">
            <a:avLst/>
          </a:prstGeom>
        </p:spPr>
      </p:pic>
      <p:sp>
        <p:nvSpPr>
          <p:cNvPr id="11" name="fx2|ar"/>
          <p:cNvSpPr txBox="1"/>
          <p:nvPr/>
        </p:nvSpPr>
        <p:spPr>
          <a:xfrm>
            <a:off x="9146743" y="5074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السرعة الزائدة</a:t>
            </a:r>
            <a:endParaRPr lang="ar-SA" sz="1600" dirty="0"/>
          </a:p>
        </p:txBody>
      </p:sp>
      <p:sp>
        <p:nvSpPr>
          <p:cNvPr id="12" name="fx2|en"/>
          <p:cNvSpPr txBox="1"/>
          <p:nvPr/>
        </p:nvSpPr>
        <p:spPr>
          <a:xfrm>
            <a:off x="9146743" y="568756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سبب رئيسي للحوادث</a:t>
            </a:r>
            <a:endParaRPr lang="ar-SA" sz="1300" dirty="0"/>
          </a:p>
        </p:txBody>
      </p:sp>
      <p:sp>
        <p:nvSpPr>
          <p:cNvPr id="13" name="fx3|card"/>
          <p:cNvSpPr/>
          <p:nvPr/>
        </p:nvSpPr>
        <p:spPr>
          <a:xfrm>
            <a:off x="6193231" y="4846320"/>
            <a:ext cx="2633472" cy="1325880"/>
          </a:xfrm>
          <a:prstGeom prst="roundRect">
            <a:avLst>
              <a:gd name="adj" fmla="val 965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5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4" name="fx3|ic bg#3d"/>
          <p:cNvSpPr/>
          <p:nvPr/>
        </p:nvSpPr>
        <p:spPr>
          <a:xfrm>
            <a:off x="8095183" y="5010912"/>
            <a:ext cx="566928" cy="566928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5" name="fx3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915" y="5152644"/>
            <a:ext cx="283464" cy="283464"/>
          </a:xfrm>
          <a:prstGeom prst="rect">
            <a:avLst/>
          </a:prstGeom>
        </p:spPr>
      </p:pic>
      <p:sp>
        <p:nvSpPr>
          <p:cNvPr id="16" name="fx3|ar"/>
          <p:cNvSpPr txBox="1"/>
          <p:nvPr/>
        </p:nvSpPr>
        <p:spPr>
          <a:xfrm>
            <a:off x="6330391" y="5074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رقابة محدودة</a:t>
            </a:r>
            <a:endParaRPr lang="ar-SA" sz="1600" dirty="0"/>
          </a:p>
        </p:txBody>
      </p:sp>
      <p:sp>
        <p:nvSpPr>
          <p:cNvPr id="17" name="fx3|en"/>
          <p:cNvSpPr txBox="1"/>
          <p:nvPr/>
        </p:nvSpPr>
        <p:spPr>
          <a:xfrm>
            <a:off x="6330391" y="568756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صعوبة تغطية كل الطرق</a:t>
            </a:r>
            <a:endParaRPr lang="ar-SA" sz="1300" dirty="0"/>
          </a:p>
        </p:txBody>
      </p:sp>
      <p:sp>
        <p:nvSpPr>
          <p:cNvPr id="18" name="fx4|card"/>
          <p:cNvSpPr/>
          <p:nvPr/>
        </p:nvSpPr>
        <p:spPr>
          <a:xfrm>
            <a:off x="3376879" y="4846320"/>
            <a:ext cx="2633472" cy="1325880"/>
          </a:xfrm>
          <a:prstGeom prst="roundRect">
            <a:avLst>
              <a:gd name="adj" fmla="val 965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9" name="fx4|ic bg#3d"/>
          <p:cNvSpPr/>
          <p:nvPr/>
        </p:nvSpPr>
        <p:spPr>
          <a:xfrm>
            <a:off x="5278831" y="5010912"/>
            <a:ext cx="566928" cy="566928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0" name="fx4|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0563" y="5152644"/>
            <a:ext cx="283464" cy="283464"/>
          </a:xfrm>
          <a:prstGeom prst="rect">
            <a:avLst/>
          </a:prstGeom>
        </p:spPr>
      </p:pic>
      <p:sp>
        <p:nvSpPr>
          <p:cNvPr id="21" name="fx4|ar"/>
          <p:cNvSpPr txBox="1"/>
          <p:nvPr/>
        </p:nvSpPr>
        <p:spPr>
          <a:xfrm>
            <a:off x="3514039" y="5074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الذكاء الاصطناعي</a:t>
            </a:r>
            <a:endParaRPr lang="ar-SA" sz="1600" dirty="0"/>
          </a:p>
        </p:txBody>
      </p:sp>
      <p:sp>
        <p:nvSpPr>
          <p:cNvPr id="22" name="fx4|en"/>
          <p:cNvSpPr txBox="1"/>
          <p:nvPr/>
        </p:nvSpPr>
        <p:spPr>
          <a:xfrm>
            <a:off x="3514039" y="568756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حل منخفض التكلفة</a:t>
            </a:r>
            <a:endParaRPr lang="ar-SA" sz="1300" dirty="0"/>
          </a:p>
        </p:txBody>
      </p:sp>
      <p:sp>
        <p:nvSpPr>
          <p:cNvPr id="23" name="fx5|card"/>
          <p:cNvSpPr/>
          <p:nvPr/>
        </p:nvSpPr>
        <p:spPr>
          <a:xfrm>
            <a:off x="560527" y="4846320"/>
            <a:ext cx="2633472" cy="1325880"/>
          </a:xfrm>
          <a:prstGeom prst="roundRect">
            <a:avLst>
              <a:gd name="adj" fmla="val 965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24" name="fx5|ic bg#3d"/>
          <p:cNvSpPr/>
          <p:nvPr/>
        </p:nvSpPr>
        <p:spPr>
          <a:xfrm>
            <a:off x="2462479" y="5010912"/>
            <a:ext cx="566928" cy="566928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5" name="fx5|ic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4211" y="5152644"/>
            <a:ext cx="283464" cy="283464"/>
          </a:xfrm>
          <a:prstGeom prst="rect">
            <a:avLst/>
          </a:prstGeom>
        </p:spPr>
      </p:pic>
      <p:sp>
        <p:nvSpPr>
          <p:cNvPr id="26" name="fx5|ar"/>
          <p:cNvSpPr txBox="1"/>
          <p:nvPr/>
        </p:nvSpPr>
        <p:spPr>
          <a:xfrm>
            <a:off x="697687" y="5074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الهاتف الذكي</a:t>
            </a:r>
            <a:endParaRPr lang="ar-SA" sz="1600" dirty="0"/>
          </a:p>
        </p:txBody>
      </p:sp>
      <p:sp>
        <p:nvSpPr>
          <p:cNvPr id="27" name="fx5|en"/>
          <p:cNvSpPr txBox="1"/>
          <p:nvPr/>
        </p:nvSpPr>
        <p:spPr>
          <a:xfrm>
            <a:off x="697687" y="568756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يتحول إلى كاميرا مرور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مشكلة البحث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Statement</a:t>
            </a:r>
            <a:endParaRPr lang="en-US" sz="1500" dirty="0"/>
          </a:p>
        </p:txBody>
      </p:sp>
      <p:sp>
        <p:nvSpPr>
          <p:cNvPr id="4" name="fx0|card"/>
          <p:cNvSpPr/>
          <p:nvPr/>
        </p:nvSpPr>
        <p:spPr>
          <a:xfrm>
            <a:off x="8122615" y="1645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5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5" name="fx0|ic bg#3d"/>
          <p:cNvSpPr/>
          <p:nvPr/>
        </p:nvSpPr>
        <p:spPr>
          <a:xfrm>
            <a:off x="9443923" y="1874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6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3379" y="2093976"/>
            <a:ext cx="438912" cy="438912"/>
          </a:xfrm>
          <a:prstGeom prst="rect">
            <a:avLst/>
          </a:prstGeom>
        </p:spPr>
      </p:pic>
      <p:sp>
        <p:nvSpPr>
          <p:cNvPr id="7" name="fx0|ar"/>
          <p:cNvSpPr txBox="1"/>
          <p:nvPr/>
        </p:nvSpPr>
        <p:spPr>
          <a:xfrm>
            <a:off x="8214055" y="2788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ارتفاع الحوادث بسبب تجاوز السرعة</a:t>
            </a:r>
            <a:endParaRPr lang="ar-SA" sz="1500" dirty="0"/>
          </a:p>
        </p:txBody>
      </p:sp>
      <p:sp>
        <p:nvSpPr>
          <p:cNvPr id="8" name="fx0|en"/>
          <p:cNvSpPr txBox="1"/>
          <p:nvPr/>
        </p:nvSpPr>
        <p:spPr>
          <a:xfrm>
            <a:off x="8259775" y="3310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Speed-related accidents</a:t>
            </a:r>
            <a:endParaRPr lang="en-US" sz="1100" dirty="0"/>
          </a:p>
        </p:txBody>
      </p:sp>
      <p:sp>
        <p:nvSpPr>
          <p:cNvPr id="9" name="fx1|card"/>
          <p:cNvSpPr/>
          <p:nvPr/>
        </p:nvSpPr>
        <p:spPr>
          <a:xfrm>
            <a:off x="4336999" y="1645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5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0" name="fx1|ic bg#3d"/>
          <p:cNvSpPr/>
          <p:nvPr/>
        </p:nvSpPr>
        <p:spPr>
          <a:xfrm>
            <a:off x="5658307" y="1874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1" name="fx1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763" y="2093976"/>
            <a:ext cx="438912" cy="438912"/>
          </a:xfrm>
          <a:prstGeom prst="rect">
            <a:avLst/>
          </a:prstGeom>
        </p:spPr>
      </p:pic>
      <p:sp>
        <p:nvSpPr>
          <p:cNvPr id="12" name="fx1|ar"/>
          <p:cNvSpPr txBox="1"/>
          <p:nvPr/>
        </p:nvSpPr>
        <p:spPr>
          <a:xfrm>
            <a:off x="4428439" y="2788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غياب الرقابة المستمرة على الطرق</a:t>
            </a:r>
            <a:endParaRPr lang="ar-SA" sz="1500" dirty="0"/>
          </a:p>
        </p:txBody>
      </p:sp>
      <p:sp>
        <p:nvSpPr>
          <p:cNvPr id="13" name="fx1|en"/>
          <p:cNvSpPr txBox="1"/>
          <p:nvPr/>
        </p:nvSpPr>
        <p:spPr>
          <a:xfrm>
            <a:off x="4474159" y="3310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No continuous monitoring</a:t>
            </a:r>
            <a:endParaRPr lang="en-US" sz="1100" dirty="0"/>
          </a:p>
        </p:txBody>
      </p:sp>
      <p:sp>
        <p:nvSpPr>
          <p:cNvPr id="14" name="fx2|card"/>
          <p:cNvSpPr/>
          <p:nvPr/>
        </p:nvSpPr>
        <p:spPr>
          <a:xfrm>
            <a:off x="551383" y="1645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5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5" name="fx2|ic bg#3d"/>
          <p:cNvSpPr/>
          <p:nvPr/>
        </p:nvSpPr>
        <p:spPr>
          <a:xfrm>
            <a:off x="1872691" y="1874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6" name="fx2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147" y="2093976"/>
            <a:ext cx="438912" cy="438912"/>
          </a:xfrm>
          <a:prstGeom prst="rect">
            <a:avLst/>
          </a:prstGeom>
        </p:spPr>
      </p:pic>
      <p:sp>
        <p:nvSpPr>
          <p:cNvPr id="17" name="fx2|ar"/>
          <p:cNvSpPr txBox="1"/>
          <p:nvPr/>
        </p:nvSpPr>
        <p:spPr>
          <a:xfrm>
            <a:off x="642823" y="2788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أخطاء وتفاوت في الرقابة البشرية</a:t>
            </a:r>
            <a:endParaRPr lang="ar-SA" sz="1500" dirty="0"/>
          </a:p>
        </p:txBody>
      </p:sp>
      <p:sp>
        <p:nvSpPr>
          <p:cNvPr id="18" name="fx2|en"/>
          <p:cNvSpPr txBox="1"/>
          <p:nvPr/>
        </p:nvSpPr>
        <p:spPr>
          <a:xfrm>
            <a:off x="688543" y="3310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Human error &amp; inconsistency</a:t>
            </a:r>
            <a:endParaRPr lang="en-US" sz="1100" dirty="0"/>
          </a:p>
        </p:txBody>
      </p:sp>
      <p:sp>
        <p:nvSpPr>
          <p:cNvPr id="19" name="fx3|card"/>
          <p:cNvSpPr/>
          <p:nvPr/>
        </p:nvSpPr>
        <p:spPr>
          <a:xfrm>
            <a:off x="8122615" y="3931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5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20" name="fx3|ic bg#3d"/>
          <p:cNvSpPr/>
          <p:nvPr/>
        </p:nvSpPr>
        <p:spPr>
          <a:xfrm>
            <a:off x="9443923" y="4160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1" name="fx3|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3379" y="4379976"/>
            <a:ext cx="438912" cy="438912"/>
          </a:xfrm>
          <a:prstGeom prst="rect">
            <a:avLst/>
          </a:prstGeom>
        </p:spPr>
      </p:pic>
      <p:sp>
        <p:nvSpPr>
          <p:cNvPr id="22" name="fx3|ar"/>
          <p:cNvSpPr txBox="1"/>
          <p:nvPr/>
        </p:nvSpPr>
        <p:spPr>
          <a:xfrm>
            <a:off x="8214055" y="5074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تأخر اكتشاف مخالفات السرعة</a:t>
            </a:r>
            <a:endParaRPr lang="ar-SA" sz="1500" dirty="0"/>
          </a:p>
        </p:txBody>
      </p:sp>
      <p:sp>
        <p:nvSpPr>
          <p:cNvPr id="23" name="fx3|en"/>
          <p:cNvSpPr txBox="1"/>
          <p:nvPr/>
        </p:nvSpPr>
        <p:spPr>
          <a:xfrm>
            <a:off x="8259775" y="5596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Delayed detection</a:t>
            </a:r>
            <a:endParaRPr lang="en-US" sz="1100" dirty="0"/>
          </a:p>
        </p:txBody>
      </p:sp>
      <p:sp>
        <p:nvSpPr>
          <p:cNvPr id="24" name="fx4|card"/>
          <p:cNvSpPr/>
          <p:nvPr/>
        </p:nvSpPr>
        <p:spPr>
          <a:xfrm>
            <a:off x="4336999" y="3931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5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25" name="fx4|ic bg#3d"/>
          <p:cNvSpPr/>
          <p:nvPr/>
        </p:nvSpPr>
        <p:spPr>
          <a:xfrm>
            <a:off x="5658307" y="4160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6" name="fx4|ic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763" y="4379976"/>
            <a:ext cx="438912" cy="438912"/>
          </a:xfrm>
          <a:prstGeom prst="rect">
            <a:avLst/>
          </a:prstGeom>
        </p:spPr>
      </p:pic>
      <p:sp>
        <p:nvSpPr>
          <p:cNvPr id="27" name="fx4|ar"/>
          <p:cNvSpPr txBox="1"/>
          <p:nvPr/>
        </p:nvSpPr>
        <p:spPr>
          <a:xfrm>
            <a:off x="4428439" y="5074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ارتفاع تكلفة الرادارات التقليدية</a:t>
            </a:r>
            <a:endParaRPr lang="ar-SA" sz="1500" dirty="0"/>
          </a:p>
        </p:txBody>
      </p:sp>
      <p:sp>
        <p:nvSpPr>
          <p:cNvPr id="28" name="fx4|en"/>
          <p:cNvSpPr txBox="1"/>
          <p:nvPr/>
        </p:nvSpPr>
        <p:spPr>
          <a:xfrm>
            <a:off x="4474159" y="5596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Expensive radar systems</a:t>
            </a:r>
            <a:endParaRPr lang="en-US" sz="1100" dirty="0"/>
          </a:p>
        </p:txBody>
      </p:sp>
      <p:sp>
        <p:nvSpPr>
          <p:cNvPr id="29" name="fx5|card"/>
          <p:cNvSpPr/>
          <p:nvPr/>
        </p:nvSpPr>
        <p:spPr>
          <a:xfrm>
            <a:off x="551383" y="3931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5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30" name="fx5|ic bg#3d"/>
          <p:cNvSpPr/>
          <p:nvPr/>
        </p:nvSpPr>
        <p:spPr>
          <a:xfrm>
            <a:off x="1872691" y="4160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31" name="fx5|ic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147" y="4379976"/>
            <a:ext cx="438912" cy="438912"/>
          </a:xfrm>
          <a:prstGeom prst="rect">
            <a:avLst/>
          </a:prstGeom>
        </p:spPr>
      </p:pic>
      <p:sp>
        <p:nvSpPr>
          <p:cNvPr id="32" name="fx5|ar"/>
          <p:cNvSpPr txBox="1"/>
          <p:nvPr/>
        </p:nvSpPr>
        <p:spPr>
          <a:xfrm>
            <a:off x="642823" y="5074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ربط المخالفة بالمالك يدوياً</a:t>
            </a:r>
            <a:endParaRPr lang="ar-SA" sz="1500" dirty="0"/>
          </a:p>
        </p:txBody>
      </p:sp>
      <p:sp>
        <p:nvSpPr>
          <p:cNvPr id="33" name="fx5|en"/>
          <p:cNvSpPr txBox="1"/>
          <p:nvPr/>
        </p:nvSpPr>
        <p:spPr>
          <a:xfrm>
            <a:off x="688543" y="5596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Manual owner linking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أهداف المشروع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Project Objectives</a:t>
            </a:r>
            <a:endParaRPr lang="en-US" sz="1500" dirty="0"/>
          </a:p>
        </p:txBody>
      </p:sp>
      <p:sp>
        <p:nvSpPr>
          <p:cNvPr id="4" name="Target halo"/>
          <p:cNvSpPr/>
          <p:nvPr/>
        </p:nvSpPr>
        <p:spPr>
          <a:xfrm>
            <a:off x="685800" y="2148840"/>
            <a:ext cx="3108960" cy="3108960"/>
          </a:xfrm>
          <a:prstGeom prst="ellipse">
            <a:avLst/>
          </a:prstGeom>
          <a:solidFill>
            <a:schemeClr val="accent2">
              <a:alpha val="8000"/>
            </a:schemeClr>
          </a:solidFill>
          <a:ln w="1905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5" name="Targe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68880"/>
            <a:ext cx="2468880" cy="2468880"/>
          </a:xfrm>
          <a:prstGeom prst="rect">
            <a:avLst/>
          </a:prstGeom>
        </p:spPr>
      </p:pic>
      <p:sp>
        <p:nvSpPr>
          <p:cNvPr id="6" name="fx0|row"/>
          <p:cNvSpPr/>
          <p:nvPr/>
        </p:nvSpPr>
        <p:spPr>
          <a:xfrm>
            <a:off x="4206240" y="1600200"/>
            <a:ext cx="7434072" cy="694944"/>
          </a:xfrm>
          <a:prstGeom prst="roundRect">
            <a:avLst>
              <a:gd name="adj" fmla="val 18421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7" name="fx0|num#3d"/>
          <p:cNvSpPr txBox="1"/>
          <p:nvPr/>
        </p:nvSpPr>
        <p:spPr>
          <a:xfrm>
            <a:off x="11000232" y="1719072"/>
            <a:ext cx="457200" cy="457200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fx0|ar"/>
          <p:cNvSpPr txBox="1"/>
          <p:nvPr/>
        </p:nvSpPr>
        <p:spPr>
          <a:xfrm>
            <a:off x="4434840" y="1655064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الحد من الحوادث عبر الرصد الآلي لمخالفات السرعة</a:t>
            </a:r>
            <a:endParaRPr lang="ar-SA" sz="1600" dirty="0"/>
          </a:p>
        </p:txBody>
      </p:sp>
      <p:sp>
        <p:nvSpPr>
          <p:cNvPr id="9" name="fx0|en"/>
          <p:cNvSpPr txBox="1"/>
          <p:nvPr/>
        </p:nvSpPr>
        <p:spPr>
          <a:xfrm>
            <a:off x="4434840" y="2011680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Reduce accidents through automatic detection</a:t>
            </a:r>
            <a:endParaRPr lang="en-US" sz="1100" dirty="0"/>
          </a:p>
        </p:txBody>
      </p:sp>
      <p:sp>
        <p:nvSpPr>
          <p:cNvPr id="10" name="fx1|row"/>
          <p:cNvSpPr/>
          <p:nvPr/>
        </p:nvSpPr>
        <p:spPr>
          <a:xfrm>
            <a:off x="4206240" y="2386584"/>
            <a:ext cx="7434072" cy="694944"/>
          </a:xfrm>
          <a:prstGeom prst="roundRect">
            <a:avLst>
              <a:gd name="adj" fmla="val 18421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1" name="fx1|num#3d"/>
          <p:cNvSpPr txBox="1"/>
          <p:nvPr/>
        </p:nvSpPr>
        <p:spPr>
          <a:xfrm>
            <a:off x="11000232" y="2505456"/>
            <a:ext cx="457200" cy="457200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fx1|ar"/>
          <p:cNvSpPr txBox="1"/>
          <p:nvPr/>
        </p:nvSpPr>
        <p:spPr>
          <a:xfrm>
            <a:off x="4434840" y="2441448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رقابة مستمرة منخفضة التكلفة باستخدام الهواتف الذكية</a:t>
            </a:r>
            <a:endParaRPr lang="ar-SA" sz="1600" dirty="0"/>
          </a:p>
        </p:txBody>
      </p:sp>
      <p:sp>
        <p:nvSpPr>
          <p:cNvPr id="13" name="fx1|en"/>
          <p:cNvSpPr txBox="1"/>
          <p:nvPr/>
        </p:nvSpPr>
        <p:spPr>
          <a:xfrm>
            <a:off x="4434840" y="2798064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Low-cost continuous monitoring with smartphones</a:t>
            </a:r>
            <a:endParaRPr lang="en-US" sz="1100" dirty="0"/>
          </a:p>
        </p:txBody>
      </p:sp>
      <p:sp>
        <p:nvSpPr>
          <p:cNvPr id="14" name="fx2|row"/>
          <p:cNvSpPr/>
          <p:nvPr/>
        </p:nvSpPr>
        <p:spPr>
          <a:xfrm>
            <a:off x="4206240" y="3172968"/>
            <a:ext cx="7434072" cy="694944"/>
          </a:xfrm>
          <a:prstGeom prst="roundRect">
            <a:avLst>
              <a:gd name="adj" fmla="val 18421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5" name="fx2|num#3d"/>
          <p:cNvSpPr txBox="1"/>
          <p:nvPr/>
        </p:nvSpPr>
        <p:spPr>
          <a:xfrm>
            <a:off x="11000232" y="3291840"/>
            <a:ext cx="457200" cy="457200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fx2|ar"/>
          <p:cNvSpPr txBox="1"/>
          <p:nvPr/>
        </p:nvSpPr>
        <p:spPr>
          <a:xfrm>
            <a:off x="4434840" y="3227832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حساب سرعة المركبات بدقة باستخدام الرؤية الحاسوبية</a:t>
            </a:r>
            <a:endParaRPr lang="ar-SA" sz="1600" dirty="0"/>
          </a:p>
        </p:txBody>
      </p:sp>
      <p:sp>
        <p:nvSpPr>
          <p:cNvPr id="17" name="fx2|en"/>
          <p:cNvSpPr txBox="1"/>
          <p:nvPr/>
        </p:nvSpPr>
        <p:spPr>
          <a:xfrm>
            <a:off x="4434840" y="3584448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Accurate speed estimation with computer vision</a:t>
            </a:r>
            <a:endParaRPr lang="en-US" sz="1100" dirty="0"/>
          </a:p>
        </p:txBody>
      </p:sp>
      <p:sp>
        <p:nvSpPr>
          <p:cNvPr id="18" name="fx3|row"/>
          <p:cNvSpPr/>
          <p:nvPr/>
        </p:nvSpPr>
        <p:spPr>
          <a:xfrm>
            <a:off x="4206240" y="3959352"/>
            <a:ext cx="7434072" cy="694944"/>
          </a:xfrm>
          <a:prstGeom prst="roundRect">
            <a:avLst>
              <a:gd name="adj" fmla="val 18421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9" name="fx3|num#3d"/>
          <p:cNvSpPr txBox="1"/>
          <p:nvPr/>
        </p:nvSpPr>
        <p:spPr>
          <a:xfrm>
            <a:off x="11000232" y="4078224"/>
            <a:ext cx="457200" cy="457200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fx3|ar"/>
          <p:cNvSpPr txBox="1"/>
          <p:nvPr/>
        </p:nvSpPr>
        <p:spPr>
          <a:xfrm>
            <a:off x="4434840" y="4014216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التعرف التلقائي على اللوحات وربط المخالفة بالمالك</a:t>
            </a:r>
            <a:endParaRPr lang="ar-SA" sz="1600" dirty="0"/>
          </a:p>
        </p:txBody>
      </p:sp>
      <p:sp>
        <p:nvSpPr>
          <p:cNvPr id="21" name="fx3|en"/>
          <p:cNvSpPr txBox="1"/>
          <p:nvPr/>
        </p:nvSpPr>
        <p:spPr>
          <a:xfrm>
            <a:off x="4434840" y="4370832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Automatic plate recognition linked to owners</a:t>
            </a:r>
            <a:endParaRPr lang="en-US" sz="1100" dirty="0"/>
          </a:p>
        </p:txBody>
      </p:sp>
      <p:sp>
        <p:nvSpPr>
          <p:cNvPr id="22" name="fx4|row"/>
          <p:cNvSpPr/>
          <p:nvPr/>
        </p:nvSpPr>
        <p:spPr>
          <a:xfrm>
            <a:off x="4206240" y="4745736"/>
            <a:ext cx="7434072" cy="694944"/>
          </a:xfrm>
          <a:prstGeom prst="roundRect">
            <a:avLst>
              <a:gd name="adj" fmla="val 18421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23" name="fx4|num#3d"/>
          <p:cNvSpPr txBox="1"/>
          <p:nvPr/>
        </p:nvSpPr>
        <p:spPr>
          <a:xfrm>
            <a:off x="11000232" y="4864608"/>
            <a:ext cx="457200" cy="457200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fx4|ar"/>
          <p:cNvSpPr txBox="1"/>
          <p:nvPr/>
        </p:nvSpPr>
        <p:spPr>
          <a:xfrm>
            <a:off x="4434840" y="4800600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لوحة تحكم لإدارة المستخدمين والأجهزة والمواقع والمخالفات</a:t>
            </a:r>
            <a:endParaRPr lang="ar-SA" sz="1600" dirty="0"/>
          </a:p>
        </p:txBody>
      </p:sp>
      <p:sp>
        <p:nvSpPr>
          <p:cNvPr id="25" name="fx4|en"/>
          <p:cNvSpPr txBox="1"/>
          <p:nvPr/>
        </p:nvSpPr>
        <p:spPr>
          <a:xfrm>
            <a:off x="4434840" y="5157216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Dashboard for users, devices, locations and violations</a:t>
            </a:r>
            <a:endParaRPr lang="en-US" sz="1100" dirty="0"/>
          </a:p>
        </p:txBody>
      </p:sp>
      <p:sp>
        <p:nvSpPr>
          <p:cNvPr id="26" name="fx5|row"/>
          <p:cNvSpPr/>
          <p:nvPr/>
        </p:nvSpPr>
        <p:spPr>
          <a:xfrm>
            <a:off x="4206240" y="5532120"/>
            <a:ext cx="7434072" cy="694944"/>
          </a:xfrm>
          <a:prstGeom prst="roundRect">
            <a:avLst>
              <a:gd name="adj" fmla="val 18421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27" name="fx5|num#3d"/>
          <p:cNvSpPr txBox="1"/>
          <p:nvPr/>
        </p:nvSpPr>
        <p:spPr>
          <a:xfrm>
            <a:off x="11000232" y="5650992"/>
            <a:ext cx="457200" cy="457200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fx5|ar"/>
          <p:cNvSpPr txBox="1"/>
          <p:nvPr/>
        </p:nvSpPr>
        <p:spPr>
          <a:xfrm>
            <a:off x="4434840" y="5586984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تقارير وإحصائيات تدعم اتخاذ القرار</a:t>
            </a:r>
            <a:endParaRPr lang="ar-SA" sz="1600" dirty="0"/>
          </a:p>
        </p:txBody>
      </p:sp>
      <p:sp>
        <p:nvSpPr>
          <p:cNvPr id="29" name="fx5|en"/>
          <p:cNvSpPr txBox="1"/>
          <p:nvPr/>
        </p:nvSpPr>
        <p:spPr>
          <a:xfrm>
            <a:off x="4434840" y="5943600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Reports and statistics for decision-making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فكرة النظام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From a smartphone to a smart traffic camera</a:t>
            </a:r>
            <a:endParaRPr lang="en-US" sz="1500" dirty="0"/>
          </a:p>
        </p:txBody>
      </p:sp>
      <p:sp>
        <p:nvSpPr>
          <p:cNvPr id="4" name="fx0|card#3d"/>
          <p:cNvSpPr/>
          <p:nvPr/>
        </p:nvSpPr>
        <p:spPr>
          <a:xfrm>
            <a:off x="9128455" y="1691640"/>
            <a:ext cx="2514600" cy="3566160"/>
          </a:xfrm>
          <a:prstGeom prst="roundRect">
            <a:avLst>
              <a:gd name="adj" fmla="val 5091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5" name="fx0|ic bg#3d"/>
          <p:cNvSpPr/>
          <p:nvPr/>
        </p:nvSpPr>
        <p:spPr>
          <a:xfrm>
            <a:off x="9763963" y="1965960"/>
            <a:ext cx="1243584" cy="124358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6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859" y="2276856"/>
            <a:ext cx="621792" cy="621792"/>
          </a:xfrm>
          <a:prstGeom prst="rect">
            <a:avLst/>
          </a:prstGeom>
        </p:spPr>
      </p:pic>
      <p:sp>
        <p:nvSpPr>
          <p:cNvPr id="7" name="fx0|num"/>
          <p:cNvSpPr txBox="1"/>
          <p:nvPr/>
        </p:nvSpPr>
        <p:spPr>
          <a:xfrm>
            <a:off x="9265615" y="18288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fx0|ar"/>
          <p:cNvSpPr txBox="1"/>
          <p:nvPr/>
        </p:nvSpPr>
        <p:spPr>
          <a:xfrm>
            <a:off x="9201607" y="333756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الهاتف يصوّر الطريق</a:t>
            </a:r>
            <a:endParaRPr lang="ar-SA" sz="1500" dirty="0"/>
          </a:p>
        </p:txBody>
      </p:sp>
      <p:sp>
        <p:nvSpPr>
          <p:cNvPr id="9" name="fx0|en"/>
          <p:cNvSpPr txBox="1"/>
          <p:nvPr/>
        </p:nvSpPr>
        <p:spPr>
          <a:xfrm>
            <a:off x="9238183" y="382219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Phone camera</a:t>
            </a:r>
            <a:endParaRPr lang="en-US" sz="1200" dirty="0"/>
          </a:p>
        </p:txBody>
      </p:sp>
      <p:sp>
        <p:nvSpPr>
          <p:cNvPr id="10" name="fx0|body"/>
          <p:cNvSpPr txBox="1"/>
          <p:nvPr/>
        </p:nvSpPr>
        <p:spPr>
          <a:xfrm>
            <a:off x="9311335" y="4206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هاتف مثبّت في موقع محدد يلتقط الفيديو باستمرار</a:t>
            </a:r>
            <a:endParaRPr lang="ar-SA" sz="1400" dirty="0"/>
          </a:p>
        </p:txBody>
      </p:sp>
      <p:sp>
        <p:nvSpPr>
          <p:cNvPr id="11" name="fx1|arrow"/>
          <p:cNvSpPr/>
          <p:nvPr/>
        </p:nvSpPr>
        <p:spPr>
          <a:xfrm>
            <a:off x="8826703" y="2441448"/>
            <a:ext cx="274320" cy="384048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fx2|card#3d"/>
          <p:cNvSpPr/>
          <p:nvPr/>
        </p:nvSpPr>
        <p:spPr>
          <a:xfrm>
            <a:off x="6266383" y="1691640"/>
            <a:ext cx="2514600" cy="3566160"/>
          </a:xfrm>
          <a:prstGeom prst="roundRect">
            <a:avLst>
              <a:gd name="adj" fmla="val 5091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3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3" name="fx2|ic bg#3d"/>
          <p:cNvSpPr/>
          <p:nvPr/>
        </p:nvSpPr>
        <p:spPr>
          <a:xfrm>
            <a:off x="6901891" y="1965960"/>
            <a:ext cx="1243584" cy="124358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3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4" name="fx2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787" y="2276856"/>
            <a:ext cx="621792" cy="621792"/>
          </a:xfrm>
          <a:prstGeom prst="rect">
            <a:avLst/>
          </a:prstGeom>
        </p:spPr>
      </p:pic>
      <p:sp>
        <p:nvSpPr>
          <p:cNvPr id="15" name="fx2|num"/>
          <p:cNvSpPr txBox="1"/>
          <p:nvPr/>
        </p:nvSpPr>
        <p:spPr>
          <a:xfrm>
            <a:off x="6403543" y="18288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fx2|ar"/>
          <p:cNvSpPr txBox="1"/>
          <p:nvPr/>
        </p:nvSpPr>
        <p:spPr>
          <a:xfrm>
            <a:off x="6339535" y="333756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الذكاء الاصطناعي يحلّل</a:t>
            </a:r>
            <a:endParaRPr lang="ar-SA" sz="1500" dirty="0"/>
          </a:p>
        </p:txBody>
      </p:sp>
      <p:sp>
        <p:nvSpPr>
          <p:cNvPr id="17" name="fx2|en"/>
          <p:cNvSpPr txBox="1"/>
          <p:nvPr/>
        </p:nvSpPr>
        <p:spPr>
          <a:xfrm>
            <a:off x="6376111" y="382219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3"/>
                </a:solidFill>
              </a:rPr>
              <a:t>AI analysis</a:t>
            </a:r>
            <a:endParaRPr lang="en-US" sz="1200" dirty="0"/>
          </a:p>
        </p:txBody>
      </p:sp>
      <p:sp>
        <p:nvSpPr>
          <p:cNvPr id="18" name="fx2|body"/>
          <p:cNvSpPr txBox="1"/>
          <p:nvPr/>
        </p:nvSpPr>
        <p:spPr>
          <a:xfrm>
            <a:off x="6449263" y="4206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اكتشاف وتتبع المركبات وحساب سرعتها</a:t>
            </a:r>
            <a:endParaRPr lang="ar-SA" sz="1400" dirty="0"/>
          </a:p>
        </p:txBody>
      </p:sp>
      <p:sp>
        <p:nvSpPr>
          <p:cNvPr id="19" name="fx3|arrow"/>
          <p:cNvSpPr/>
          <p:nvPr/>
        </p:nvSpPr>
        <p:spPr>
          <a:xfrm>
            <a:off x="5964631" y="2441448"/>
            <a:ext cx="274320" cy="384048"/>
          </a:xfrm>
          <a:prstGeom prst="lef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fx4|card#3d"/>
          <p:cNvSpPr/>
          <p:nvPr/>
        </p:nvSpPr>
        <p:spPr>
          <a:xfrm>
            <a:off x="3404311" y="1691640"/>
            <a:ext cx="2514600" cy="3566160"/>
          </a:xfrm>
          <a:prstGeom prst="roundRect">
            <a:avLst>
              <a:gd name="adj" fmla="val 5091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5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1" name="fx4|ic bg#3d"/>
          <p:cNvSpPr/>
          <p:nvPr/>
        </p:nvSpPr>
        <p:spPr>
          <a:xfrm>
            <a:off x="4039819" y="1965960"/>
            <a:ext cx="1243584" cy="124358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2" name="fx4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715" y="2276856"/>
            <a:ext cx="621792" cy="621792"/>
          </a:xfrm>
          <a:prstGeom prst="rect">
            <a:avLst/>
          </a:prstGeom>
        </p:spPr>
      </p:pic>
      <p:sp>
        <p:nvSpPr>
          <p:cNvPr id="23" name="fx4|num"/>
          <p:cNvSpPr txBox="1"/>
          <p:nvPr/>
        </p:nvSpPr>
        <p:spPr>
          <a:xfrm>
            <a:off x="3541471" y="182880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fx4|ar"/>
          <p:cNvSpPr txBox="1"/>
          <p:nvPr/>
        </p:nvSpPr>
        <p:spPr>
          <a:xfrm>
            <a:off x="3477463" y="333756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رصد المخالفة وتوثيقها</a:t>
            </a:r>
            <a:endParaRPr lang="ar-SA" sz="1500" dirty="0"/>
          </a:p>
        </p:txBody>
      </p:sp>
      <p:sp>
        <p:nvSpPr>
          <p:cNvPr id="25" name="fx4|en"/>
          <p:cNvSpPr txBox="1"/>
          <p:nvPr/>
        </p:nvSpPr>
        <p:spPr>
          <a:xfrm>
            <a:off x="3514039" y="382219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5"/>
                </a:solidFill>
              </a:rPr>
              <a:t>Violation evidence</a:t>
            </a:r>
            <a:endParaRPr lang="en-US" sz="1200" dirty="0"/>
          </a:p>
        </p:txBody>
      </p:sp>
      <p:sp>
        <p:nvSpPr>
          <p:cNvPr id="26" name="fx4|body"/>
          <p:cNvSpPr txBox="1"/>
          <p:nvPr/>
        </p:nvSpPr>
        <p:spPr>
          <a:xfrm>
            <a:off x="3587191" y="4206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صورة المركبة + السرعة + قراءة اللوحة OCR</a:t>
            </a:r>
            <a:endParaRPr lang="ar-SA" sz="1400" dirty="0"/>
          </a:p>
        </p:txBody>
      </p:sp>
      <p:sp>
        <p:nvSpPr>
          <p:cNvPr id="27" name="fx5|arrow"/>
          <p:cNvSpPr/>
          <p:nvPr/>
        </p:nvSpPr>
        <p:spPr>
          <a:xfrm>
            <a:off x="3102559" y="2441448"/>
            <a:ext cx="274320" cy="384048"/>
          </a:xfrm>
          <a:prstGeom prst="lef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fx6|card#3d"/>
          <p:cNvSpPr/>
          <p:nvPr/>
        </p:nvSpPr>
        <p:spPr>
          <a:xfrm>
            <a:off x="542239" y="1691640"/>
            <a:ext cx="2514600" cy="3566160"/>
          </a:xfrm>
          <a:prstGeom prst="roundRect">
            <a:avLst>
              <a:gd name="adj" fmla="val 5091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9" name="fx6|ic bg#3d"/>
          <p:cNvSpPr/>
          <p:nvPr/>
        </p:nvSpPr>
        <p:spPr>
          <a:xfrm>
            <a:off x="1177747" y="1965960"/>
            <a:ext cx="1243584" cy="124358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30" name="fx6|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643" y="2276856"/>
            <a:ext cx="621792" cy="621792"/>
          </a:xfrm>
          <a:prstGeom prst="rect">
            <a:avLst/>
          </a:prstGeom>
        </p:spPr>
      </p:pic>
      <p:sp>
        <p:nvSpPr>
          <p:cNvPr id="31" name="fx6|num"/>
          <p:cNvSpPr txBox="1"/>
          <p:nvPr/>
        </p:nvSpPr>
        <p:spPr>
          <a:xfrm>
            <a:off x="679399" y="1828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fx6|ar"/>
          <p:cNvSpPr txBox="1"/>
          <p:nvPr/>
        </p:nvSpPr>
        <p:spPr>
          <a:xfrm>
            <a:off x="615391" y="333756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الخادم ولوحة التحكم</a:t>
            </a:r>
            <a:endParaRPr lang="ar-SA" sz="1500" dirty="0"/>
          </a:p>
        </p:txBody>
      </p:sp>
      <p:sp>
        <p:nvSpPr>
          <p:cNvPr id="33" name="fx6|en"/>
          <p:cNvSpPr txBox="1"/>
          <p:nvPr/>
        </p:nvSpPr>
        <p:spPr>
          <a:xfrm>
            <a:off x="651967" y="382219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2"/>
                </a:solidFill>
              </a:rPr>
              <a:t>Central server</a:t>
            </a:r>
            <a:endParaRPr lang="en-US" sz="1200" dirty="0"/>
          </a:p>
        </p:txBody>
      </p:sp>
      <p:sp>
        <p:nvSpPr>
          <p:cNvPr id="34" name="fx6|body"/>
          <p:cNvSpPr txBox="1"/>
          <p:nvPr/>
        </p:nvSpPr>
        <p:spPr>
          <a:xfrm>
            <a:off x="725119" y="4206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ربط المخالفة بالمالك ومراجعتها واعتمادها</a:t>
            </a:r>
            <a:endParaRPr lang="ar-SA" sz="1400" dirty="0"/>
          </a:p>
        </p:txBody>
      </p:sp>
      <p:sp>
        <p:nvSpPr>
          <p:cNvPr id="35" name="fx8|scope"/>
          <p:cNvSpPr/>
          <p:nvPr/>
        </p:nvSpPr>
        <p:spPr>
          <a:xfrm>
            <a:off x="548640" y="5486400"/>
            <a:ext cx="11091672" cy="658368"/>
          </a:xfrm>
          <a:prstGeom prst="roundRect">
            <a:avLst>
              <a:gd name="adj" fmla="val 19444"/>
            </a:avLst>
          </a:prstGeom>
          <a:solidFill>
            <a:schemeClr val="tx2">
              <a:alpha val="70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36" name="fx9|scope text"/>
          <p:cNvSpPr txBox="1"/>
          <p:nvPr/>
        </p:nvSpPr>
        <p:spPr>
          <a:xfrm>
            <a:off x="777240" y="553212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chemeClr val="accent2"/>
                </a:solidFill>
              </a:rPr>
              <a:t>نطاق المشروع:  </a:t>
            </a:r>
            <a:pPr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نموذج أولي يثبت إمكانية تطبيق الفكرة، ولا يشمل إصدار المخالفات الرسمية أو التكامل المباشر مع الأنظمة الحكومية.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الدراسات السابقة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Related Work — Comparison</a:t>
            </a:r>
            <a:endParaRPr lang="en-US" sz="1500" dirty="0"/>
          </a:p>
        </p:txBody>
      </p:sp>
      <p:graphicFrame>
        <p:nvGraphicFramePr>
          <p:cNvPr id="17" name="Studi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044952"/>
                <a:gridCol w="1600200"/>
                <a:gridCol w="777240"/>
                <a:gridCol w="2377440"/>
              </a:tblGrid>
              <a:tr h="37033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العلاقة بالمشروع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المنهجية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المجال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السنة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الدراسة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اكتشاف وتتبع المركبات وتقدير السرعة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YOLOv5 + DeepSORT + Digital Twin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إدارة المرور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2024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Kan et al.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تقدير السرعة وقراءة اللوحات وربط بيانات المركبة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YOLOv8 + CNN/Transformer + OCR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المراقبة المرورية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2026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Katumba et al.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كشف مخالفات السرعة والتعرف على اللوحات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PP-YOLO + OpenALPR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مخالفات السرعة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2022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Cypto &amp; Karthikeyan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استخدام الهاتف وتقدير سرعة المركبات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Smartphone + Computer Vision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معايير المرور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2022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Obaidat &amp; Kwaylih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يدعم استخدام الهاتف وتقدير السرعة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 camera + Tracking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تقدير السرعة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2017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Salahat et al.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اكتشاف وتتبع المركبات وتقدير السرعة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 + Kalman Filter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تقدير السرعة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2022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Peralta-Peñuñuri et al.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إنشاء مخالفات السرعة وقراءة اللوحات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YOLOv9 + DeepSORT + OpenALPR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المخالفات المرورية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2024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Akshit et al.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كشف المخالفات والتعرف على اللوحات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 + CRNN + OCR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المخالفات المتعددة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2024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Abd Ali et al.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9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تقدير السرعة من الفيديو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YOLOv4 + DeepSORT + IPP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تقدير السرعة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2022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Wang et al.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</a:tbl>
          </a:graphicData>
        </a:graphic>
      </p:graphicFrame>
      <p:sp>
        <p:nvSpPr>
          <p:cNvPr id="5" name="fx0|gap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7500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6" name="fx1|gap text"/>
          <p:cNvSpPr txBox="1"/>
          <p:nvPr/>
        </p:nvSpPr>
        <p:spPr>
          <a:xfrm>
            <a:off x="777240" y="5486400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chemeClr val="accent2"/>
                </a:solidFill>
              </a:rPr>
              <a:t>ما يضيفه مشروعنا:  </a:t>
            </a:r>
            <a:pPr algn="r" indent="0" marL="0">
              <a:buNone/>
            </a:pPr>
            <a:r>
              <a:rPr lang="ar-SA" altLang="en-US" sz="1500" dirty="0">
                <a:solidFill>
                  <a:schemeClr val="bg1"/>
                </a:solidFill>
              </a:rPr>
              <a:t>نظام متكامل منخفض التكلفة يجمع: حساب السرعة، توثيق المخالفة، قراءة اللوحة، الربط بالمالك، تعدد الأجهزة، ولوحة تحكم.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منهجية التطوير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Agile — Iterative Development</a:t>
            </a:r>
            <a:endParaRPr lang="en-US" sz="1500" dirty="0"/>
          </a:p>
        </p:txBody>
      </p:sp>
      <p:sp>
        <p:nvSpPr>
          <p:cNvPr id="4" name="fx0|card#3d"/>
          <p:cNvSpPr/>
          <p:nvPr/>
        </p:nvSpPr>
        <p:spPr>
          <a:xfrm>
            <a:off x="9951415" y="1783080"/>
            <a:ext cx="1691640" cy="2743200"/>
          </a:xfrm>
          <a:prstGeom prst="roundRect">
            <a:avLst>
              <a:gd name="adj" fmla="val 7568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5" name="fx0|ic bg#3d"/>
          <p:cNvSpPr/>
          <p:nvPr/>
        </p:nvSpPr>
        <p:spPr>
          <a:xfrm>
            <a:off x="10362895" y="2103120"/>
            <a:ext cx="868680" cy="86868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6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0065" y="2320290"/>
            <a:ext cx="434340" cy="434340"/>
          </a:xfrm>
          <a:prstGeom prst="rect">
            <a:avLst/>
          </a:prstGeom>
        </p:spPr>
      </p:pic>
      <p:sp>
        <p:nvSpPr>
          <p:cNvPr id="7" name="fx0|num"/>
          <p:cNvSpPr txBox="1"/>
          <p:nvPr/>
        </p:nvSpPr>
        <p:spPr>
          <a:xfrm>
            <a:off x="10042855" y="18745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fx0|ar"/>
          <p:cNvSpPr txBox="1"/>
          <p:nvPr/>
        </p:nvSpPr>
        <p:spPr>
          <a:xfrm>
            <a:off x="10024567" y="3154680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تحليل المتطلبات</a:t>
            </a:r>
            <a:endParaRPr lang="ar-SA" sz="1600" dirty="0"/>
          </a:p>
        </p:txBody>
      </p:sp>
      <p:sp>
        <p:nvSpPr>
          <p:cNvPr id="9" name="fx0|en"/>
          <p:cNvSpPr txBox="1"/>
          <p:nvPr/>
        </p:nvSpPr>
        <p:spPr>
          <a:xfrm>
            <a:off x="10024567" y="39319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1"/>
                </a:solidFill>
              </a:rPr>
              <a:t>Analysis</a:t>
            </a:r>
            <a:endParaRPr lang="en-US" sz="1100" dirty="0"/>
          </a:p>
        </p:txBody>
      </p:sp>
      <p:sp>
        <p:nvSpPr>
          <p:cNvPr id="10" name="fx1|card#3d"/>
          <p:cNvSpPr/>
          <p:nvPr/>
        </p:nvSpPr>
        <p:spPr>
          <a:xfrm>
            <a:off x="8071409" y="1783080"/>
            <a:ext cx="1691640" cy="2743200"/>
          </a:xfrm>
          <a:prstGeom prst="roundRect">
            <a:avLst>
              <a:gd name="adj" fmla="val 7568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1" name="fx1|ic bg#3d"/>
          <p:cNvSpPr/>
          <p:nvPr/>
        </p:nvSpPr>
        <p:spPr>
          <a:xfrm>
            <a:off x="8482889" y="2103120"/>
            <a:ext cx="868680" cy="86868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2" name="fx1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59" y="2320290"/>
            <a:ext cx="434340" cy="434340"/>
          </a:xfrm>
          <a:prstGeom prst="rect">
            <a:avLst/>
          </a:prstGeom>
        </p:spPr>
      </p:pic>
      <p:sp>
        <p:nvSpPr>
          <p:cNvPr id="13" name="fx1|num"/>
          <p:cNvSpPr txBox="1"/>
          <p:nvPr/>
        </p:nvSpPr>
        <p:spPr>
          <a:xfrm>
            <a:off x="8162849" y="18745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fx1|ar"/>
          <p:cNvSpPr txBox="1"/>
          <p:nvPr/>
        </p:nvSpPr>
        <p:spPr>
          <a:xfrm>
            <a:off x="8144561" y="3154680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تصميم النظام</a:t>
            </a:r>
            <a:endParaRPr lang="ar-SA" sz="1600" dirty="0"/>
          </a:p>
        </p:txBody>
      </p:sp>
      <p:sp>
        <p:nvSpPr>
          <p:cNvPr id="15" name="fx1|en"/>
          <p:cNvSpPr txBox="1"/>
          <p:nvPr/>
        </p:nvSpPr>
        <p:spPr>
          <a:xfrm>
            <a:off x="8144561" y="39319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1"/>
                </a:solidFill>
              </a:rPr>
              <a:t>Design</a:t>
            </a:r>
            <a:endParaRPr lang="en-US" sz="1100" dirty="0"/>
          </a:p>
        </p:txBody>
      </p:sp>
      <p:sp>
        <p:nvSpPr>
          <p:cNvPr id="16" name="fx2|card#3d"/>
          <p:cNvSpPr/>
          <p:nvPr/>
        </p:nvSpPr>
        <p:spPr>
          <a:xfrm>
            <a:off x="6191402" y="1783080"/>
            <a:ext cx="1691640" cy="2743200"/>
          </a:xfrm>
          <a:prstGeom prst="roundRect">
            <a:avLst>
              <a:gd name="adj" fmla="val 7568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7" name="fx2|ic bg#3d"/>
          <p:cNvSpPr/>
          <p:nvPr/>
        </p:nvSpPr>
        <p:spPr>
          <a:xfrm>
            <a:off x="6602882" y="2103120"/>
            <a:ext cx="868680" cy="86868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8" name="fx2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052" y="2320290"/>
            <a:ext cx="434340" cy="434340"/>
          </a:xfrm>
          <a:prstGeom prst="rect">
            <a:avLst/>
          </a:prstGeom>
        </p:spPr>
      </p:pic>
      <p:sp>
        <p:nvSpPr>
          <p:cNvPr id="19" name="fx2|num"/>
          <p:cNvSpPr txBox="1"/>
          <p:nvPr/>
        </p:nvSpPr>
        <p:spPr>
          <a:xfrm>
            <a:off x="6282842" y="18745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fx2|ar"/>
          <p:cNvSpPr txBox="1"/>
          <p:nvPr/>
        </p:nvSpPr>
        <p:spPr>
          <a:xfrm>
            <a:off x="6264554" y="3154680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تطوير المكونات</a:t>
            </a:r>
            <a:endParaRPr lang="ar-SA" sz="1600" dirty="0"/>
          </a:p>
        </p:txBody>
      </p:sp>
      <p:sp>
        <p:nvSpPr>
          <p:cNvPr id="21" name="fx2|en"/>
          <p:cNvSpPr txBox="1"/>
          <p:nvPr/>
        </p:nvSpPr>
        <p:spPr>
          <a:xfrm>
            <a:off x="6264554" y="39319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1"/>
                </a:solidFill>
              </a:rPr>
              <a:t>Development</a:t>
            </a:r>
            <a:endParaRPr lang="en-US" sz="1100" dirty="0"/>
          </a:p>
        </p:txBody>
      </p:sp>
      <p:sp>
        <p:nvSpPr>
          <p:cNvPr id="22" name="fx3|card#3d"/>
          <p:cNvSpPr/>
          <p:nvPr/>
        </p:nvSpPr>
        <p:spPr>
          <a:xfrm>
            <a:off x="4311396" y="1783080"/>
            <a:ext cx="1691640" cy="2743200"/>
          </a:xfrm>
          <a:prstGeom prst="roundRect">
            <a:avLst>
              <a:gd name="adj" fmla="val 7568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3" name="fx3|ic bg#3d"/>
          <p:cNvSpPr/>
          <p:nvPr/>
        </p:nvSpPr>
        <p:spPr>
          <a:xfrm>
            <a:off x="4722876" y="2103120"/>
            <a:ext cx="868680" cy="86868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4" name="fx3|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046" y="2320290"/>
            <a:ext cx="434340" cy="434340"/>
          </a:xfrm>
          <a:prstGeom prst="rect">
            <a:avLst/>
          </a:prstGeom>
        </p:spPr>
      </p:pic>
      <p:sp>
        <p:nvSpPr>
          <p:cNvPr id="25" name="fx3|num"/>
          <p:cNvSpPr txBox="1"/>
          <p:nvPr/>
        </p:nvSpPr>
        <p:spPr>
          <a:xfrm>
            <a:off x="4402836" y="18745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fx3|ar"/>
          <p:cNvSpPr txBox="1"/>
          <p:nvPr/>
        </p:nvSpPr>
        <p:spPr>
          <a:xfrm>
            <a:off x="4384548" y="3154680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دمج المكونات</a:t>
            </a:r>
            <a:endParaRPr lang="ar-SA" sz="1600" dirty="0"/>
          </a:p>
        </p:txBody>
      </p:sp>
      <p:sp>
        <p:nvSpPr>
          <p:cNvPr id="27" name="fx3|en"/>
          <p:cNvSpPr txBox="1"/>
          <p:nvPr/>
        </p:nvSpPr>
        <p:spPr>
          <a:xfrm>
            <a:off x="4384548" y="39319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1"/>
                </a:solidFill>
              </a:rPr>
              <a:t>Integration</a:t>
            </a:r>
            <a:endParaRPr lang="en-US" sz="1100" dirty="0"/>
          </a:p>
        </p:txBody>
      </p:sp>
      <p:sp>
        <p:nvSpPr>
          <p:cNvPr id="28" name="fx4|card#3d"/>
          <p:cNvSpPr/>
          <p:nvPr/>
        </p:nvSpPr>
        <p:spPr>
          <a:xfrm>
            <a:off x="2431390" y="1783080"/>
            <a:ext cx="1691640" cy="2743200"/>
          </a:xfrm>
          <a:prstGeom prst="roundRect">
            <a:avLst>
              <a:gd name="adj" fmla="val 7568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9" name="fx4|ic bg#3d"/>
          <p:cNvSpPr/>
          <p:nvPr/>
        </p:nvSpPr>
        <p:spPr>
          <a:xfrm>
            <a:off x="2842870" y="2103120"/>
            <a:ext cx="868680" cy="86868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30" name="fx4|ic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040" y="2320290"/>
            <a:ext cx="434340" cy="434340"/>
          </a:xfrm>
          <a:prstGeom prst="rect">
            <a:avLst/>
          </a:prstGeom>
        </p:spPr>
      </p:pic>
      <p:sp>
        <p:nvSpPr>
          <p:cNvPr id="31" name="fx4|num"/>
          <p:cNvSpPr txBox="1"/>
          <p:nvPr/>
        </p:nvSpPr>
        <p:spPr>
          <a:xfrm>
            <a:off x="2522830" y="18745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fx4|ar"/>
          <p:cNvSpPr txBox="1"/>
          <p:nvPr/>
        </p:nvSpPr>
        <p:spPr>
          <a:xfrm>
            <a:off x="2504542" y="3154680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الاختبار</a:t>
            </a:r>
            <a:endParaRPr lang="ar-SA" sz="1600" dirty="0"/>
          </a:p>
        </p:txBody>
      </p:sp>
      <p:sp>
        <p:nvSpPr>
          <p:cNvPr id="33" name="fx4|en"/>
          <p:cNvSpPr txBox="1"/>
          <p:nvPr/>
        </p:nvSpPr>
        <p:spPr>
          <a:xfrm>
            <a:off x="2504542" y="39319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1"/>
                </a:solidFill>
              </a:rPr>
              <a:t>Testing</a:t>
            </a:r>
            <a:endParaRPr lang="en-US" sz="1100" dirty="0"/>
          </a:p>
        </p:txBody>
      </p:sp>
      <p:sp>
        <p:nvSpPr>
          <p:cNvPr id="34" name="fx5|card#3d"/>
          <p:cNvSpPr/>
          <p:nvPr/>
        </p:nvSpPr>
        <p:spPr>
          <a:xfrm>
            <a:off x="551383" y="1783080"/>
            <a:ext cx="1691640" cy="2743200"/>
          </a:xfrm>
          <a:prstGeom prst="roundRect">
            <a:avLst>
              <a:gd name="adj" fmla="val 7568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35" name="fx5|ic bg#3d"/>
          <p:cNvSpPr/>
          <p:nvPr/>
        </p:nvSpPr>
        <p:spPr>
          <a:xfrm>
            <a:off x="962863" y="2103120"/>
            <a:ext cx="868680" cy="86868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36" name="fx5|ic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0033" y="2320290"/>
            <a:ext cx="434340" cy="434340"/>
          </a:xfrm>
          <a:prstGeom prst="rect">
            <a:avLst/>
          </a:prstGeom>
        </p:spPr>
      </p:pic>
      <p:sp>
        <p:nvSpPr>
          <p:cNvPr id="37" name="fx5|num"/>
          <p:cNvSpPr txBox="1"/>
          <p:nvPr/>
        </p:nvSpPr>
        <p:spPr>
          <a:xfrm>
            <a:off x="642823" y="18745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fx5|ar"/>
          <p:cNvSpPr txBox="1"/>
          <p:nvPr/>
        </p:nvSpPr>
        <p:spPr>
          <a:xfrm>
            <a:off x="624535" y="3154680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التحسين والتطوير</a:t>
            </a:r>
            <a:endParaRPr lang="ar-SA" sz="1600" dirty="0"/>
          </a:p>
        </p:txBody>
      </p:sp>
      <p:sp>
        <p:nvSpPr>
          <p:cNvPr id="39" name="fx5|en"/>
          <p:cNvSpPr txBox="1"/>
          <p:nvPr/>
        </p:nvSpPr>
        <p:spPr>
          <a:xfrm>
            <a:off x="624535" y="39319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1"/>
                </a:solidFill>
              </a:rPr>
              <a:t>Improvement</a:t>
            </a:r>
            <a:endParaRPr lang="en-US" sz="1100" dirty="0"/>
          </a:p>
        </p:txBody>
      </p:sp>
      <p:sp>
        <p:nvSpPr>
          <p:cNvPr id="40" name="fx6|applied"/>
          <p:cNvSpPr/>
          <p:nvPr/>
        </p:nvSpPr>
        <p:spPr>
          <a:xfrm>
            <a:off x="548640" y="4846320"/>
            <a:ext cx="11091672" cy="1234440"/>
          </a:xfrm>
          <a:prstGeom prst="roundRect">
            <a:avLst>
              <a:gd name="adj" fmla="val 10370"/>
            </a:avLst>
          </a:prstGeom>
          <a:solidFill>
            <a:schemeClr val="tx2">
              <a:alpha val="7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41" name="fx7|applied text"/>
          <p:cNvSpPr txBox="1"/>
          <p:nvPr/>
        </p:nvSpPr>
        <p:spPr>
          <a:xfrm>
            <a:off x="777240" y="4919472"/>
            <a:ext cx="10652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chemeClr val="accent2"/>
                </a:solidFill>
              </a:rPr>
              <a:t>المنهج البحثي: التحليل التطبيقي</a:t>
            </a:r>
            <a:endParaRPr lang="ar-SA" sz="1600" dirty="0"/>
          </a:p>
          <a:p>
            <a:pPr algn="r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دراسة مشكلة تجاوز السرعة ← تحليل المتطلبات ← تصميم وتطوير الحل بالذكاء الاصطناعي ← الاختبار وتقييم الأداء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6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6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آلية عمل النظام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System Workflow</a:t>
            </a:r>
            <a:endParaRPr lang="en-US" sz="1500" dirty="0"/>
          </a:p>
        </p:txBody>
      </p:sp>
      <p:sp>
        <p:nvSpPr>
          <p:cNvPr id="4" name="fx0|node"/>
          <p:cNvSpPr/>
          <p:nvPr/>
        </p:nvSpPr>
        <p:spPr>
          <a:xfrm>
            <a:off x="9978847" y="1600200"/>
            <a:ext cx="1664208" cy="1188720"/>
          </a:xfrm>
          <a:prstGeom prst="roundRect">
            <a:avLst>
              <a:gd name="adj" fmla="val 10769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5" name="fx0|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2351" y="1737360"/>
            <a:ext cx="457200" cy="457200"/>
          </a:xfrm>
          <a:prstGeom prst="rect">
            <a:avLst/>
          </a:prstGeom>
        </p:spPr>
      </p:pic>
      <p:sp>
        <p:nvSpPr>
          <p:cNvPr id="6" name="fx0|t"/>
          <p:cNvSpPr txBox="1"/>
          <p:nvPr/>
        </p:nvSpPr>
        <p:spPr>
          <a:xfrm>
            <a:off x="10024567" y="22860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كاميرا الهاتف</a:t>
            </a:r>
            <a:endParaRPr lang="ar-SA" sz="1400" dirty="0"/>
          </a:p>
        </p:txBody>
      </p:sp>
      <p:sp>
        <p:nvSpPr>
          <p:cNvPr id="7" name="fx0|a"/>
          <p:cNvSpPr/>
          <p:nvPr/>
        </p:nvSpPr>
        <p:spPr>
          <a:xfrm>
            <a:off x="9782251" y="2057400"/>
            <a:ext cx="173736" cy="274320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fx1|node"/>
          <p:cNvSpPr/>
          <p:nvPr/>
        </p:nvSpPr>
        <p:spPr>
          <a:xfrm>
            <a:off x="8093354" y="1600200"/>
            <a:ext cx="1664208" cy="1188720"/>
          </a:xfrm>
          <a:prstGeom prst="roundRect">
            <a:avLst>
              <a:gd name="adj" fmla="val 10769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9" name="fx1|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858" y="1737360"/>
            <a:ext cx="457200" cy="457200"/>
          </a:xfrm>
          <a:prstGeom prst="rect">
            <a:avLst/>
          </a:prstGeom>
        </p:spPr>
      </p:pic>
      <p:sp>
        <p:nvSpPr>
          <p:cNvPr id="10" name="fx1|t"/>
          <p:cNvSpPr txBox="1"/>
          <p:nvPr/>
        </p:nvSpPr>
        <p:spPr>
          <a:xfrm>
            <a:off x="8139074" y="22860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اكتشاف المركبات</a:t>
            </a:r>
            <a:endParaRPr lang="ar-SA" sz="1400" dirty="0"/>
          </a:p>
        </p:txBody>
      </p:sp>
      <p:sp>
        <p:nvSpPr>
          <p:cNvPr id="11" name="fx1|a"/>
          <p:cNvSpPr/>
          <p:nvPr/>
        </p:nvSpPr>
        <p:spPr>
          <a:xfrm>
            <a:off x="7896758" y="2057400"/>
            <a:ext cx="173736" cy="274320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fx2|node"/>
          <p:cNvSpPr/>
          <p:nvPr/>
        </p:nvSpPr>
        <p:spPr>
          <a:xfrm>
            <a:off x="6207862" y="1600200"/>
            <a:ext cx="1664208" cy="1188720"/>
          </a:xfrm>
          <a:prstGeom prst="roundRect">
            <a:avLst>
              <a:gd name="adj" fmla="val 10769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3" name="fx2|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366" y="1737360"/>
            <a:ext cx="457200" cy="457200"/>
          </a:xfrm>
          <a:prstGeom prst="rect">
            <a:avLst/>
          </a:prstGeom>
        </p:spPr>
      </p:pic>
      <p:sp>
        <p:nvSpPr>
          <p:cNvPr id="14" name="fx2|t"/>
          <p:cNvSpPr txBox="1"/>
          <p:nvPr/>
        </p:nvSpPr>
        <p:spPr>
          <a:xfrm>
            <a:off x="6253582" y="22860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تتبع المركبات</a:t>
            </a:r>
            <a:endParaRPr lang="ar-SA" sz="1400" dirty="0"/>
          </a:p>
        </p:txBody>
      </p:sp>
      <p:sp>
        <p:nvSpPr>
          <p:cNvPr id="15" name="fx2|a"/>
          <p:cNvSpPr/>
          <p:nvPr/>
        </p:nvSpPr>
        <p:spPr>
          <a:xfrm>
            <a:off x="6011266" y="2057400"/>
            <a:ext cx="173736" cy="274320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fx3|node"/>
          <p:cNvSpPr/>
          <p:nvPr/>
        </p:nvSpPr>
        <p:spPr>
          <a:xfrm>
            <a:off x="4322369" y="1600200"/>
            <a:ext cx="1664208" cy="1188720"/>
          </a:xfrm>
          <a:prstGeom prst="roundRect">
            <a:avLst>
              <a:gd name="adj" fmla="val 10769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7" name="fx3|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873" y="1737360"/>
            <a:ext cx="457200" cy="457200"/>
          </a:xfrm>
          <a:prstGeom prst="rect">
            <a:avLst/>
          </a:prstGeom>
        </p:spPr>
      </p:pic>
      <p:sp>
        <p:nvSpPr>
          <p:cNvPr id="18" name="fx3|t"/>
          <p:cNvSpPr txBox="1"/>
          <p:nvPr/>
        </p:nvSpPr>
        <p:spPr>
          <a:xfrm>
            <a:off x="4368089" y="22860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معايرة الطريق</a:t>
            </a:r>
            <a:endParaRPr lang="ar-SA" sz="1400" dirty="0"/>
          </a:p>
        </p:txBody>
      </p:sp>
      <p:sp>
        <p:nvSpPr>
          <p:cNvPr id="19" name="fx3|a"/>
          <p:cNvSpPr/>
          <p:nvPr/>
        </p:nvSpPr>
        <p:spPr>
          <a:xfrm>
            <a:off x="4125773" y="2057400"/>
            <a:ext cx="173736" cy="274320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fx4|node"/>
          <p:cNvSpPr/>
          <p:nvPr/>
        </p:nvSpPr>
        <p:spPr>
          <a:xfrm>
            <a:off x="2436876" y="1600200"/>
            <a:ext cx="1664208" cy="1188720"/>
          </a:xfrm>
          <a:prstGeom prst="roundRect">
            <a:avLst>
              <a:gd name="adj" fmla="val 10769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1" name="fx4|ic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0380" y="1737360"/>
            <a:ext cx="457200" cy="457200"/>
          </a:xfrm>
          <a:prstGeom prst="rect">
            <a:avLst/>
          </a:prstGeom>
        </p:spPr>
      </p:pic>
      <p:sp>
        <p:nvSpPr>
          <p:cNvPr id="22" name="fx4|t"/>
          <p:cNvSpPr txBox="1"/>
          <p:nvPr/>
        </p:nvSpPr>
        <p:spPr>
          <a:xfrm>
            <a:off x="2482596" y="22860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المسافة والزمن</a:t>
            </a:r>
            <a:endParaRPr lang="ar-SA" sz="1400" dirty="0"/>
          </a:p>
        </p:txBody>
      </p:sp>
      <p:sp>
        <p:nvSpPr>
          <p:cNvPr id="23" name="fx4|a"/>
          <p:cNvSpPr/>
          <p:nvPr/>
        </p:nvSpPr>
        <p:spPr>
          <a:xfrm>
            <a:off x="2240280" y="2057400"/>
            <a:ext cx="173736" cy="274320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fx5|node"/>
          <p:cNvSpPr/>
          <p:nvPr/>
        </p:nvSpPr>
        <p:spPr>
          <a:xfrm>
            <a:off x="551383" y="1600200"/>
            <a:ext cx="1664208" cy="1188720"/>
          </a:xfrm>
          <a:prstGeom prst="roundRect">
            <a:avLst>
              <a:gd name="adj" fmla="val 10769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5" name="fx5|ic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887" y="1737360"/>
            <a:ext cx="457200" cy="457200"/>
          </a:xfrm>
          <a:prstGeom prst="rect">
            <a:avLst/>
          </a:prstGeom>
        </p:spPr>
      </p:pic>
      <p:sp>
        <p:nvSpPr>
          <p:cNvPr id="26" name="fx5|t"/>
          <p:cNvSpPr txBox="1"/>
          <p:nvPr/>
        </p:nvSpPr>
        <p:spPr>
          <a:xfrm>
            <a:off x="597103" y="22860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حساب السرعة</a:t>
            </a:r>
            <a:endParaRPr lang="ar-SA" sz="1400" dirty="0"/>
          </a:p>
        </p:txBody>
      </p:sp>
      <p:sp>
        <p:nvSpPr>
          <p:cNvPr id="27" name="fx6|down"/>
          <p:cNvSpPr/>
          <p:nvPr/>
        </p:nvSpPr>
        <p:spPr>
          <a:xfrm>
            <a:off x="1383487" y="2788920"/>
            <a:ext cx="914" cy="365760"/>
          </a:xfrm>
          <a:prstGeom prst="line">
            <a:avLst/>
          </a:prstGeom>
          <a:noFill/>
          <a:ln w="25400">
            <a:solidFill>
              <a:srgbClr val="22D3E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8" name="fx6|decision#3d"/>
          <p:cNvSpPr txBox="1"/>
          <p:nvPr/>
        </p:nvSpPr>
        <p:spPr>
          <a:xfrm>
            <a:off x="368503" y="3154680"/>
            <a:ext cx="2029968" cy="1417320"/>
          </a:xfrm>
          <a:prstGeom prst="diamond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tx1"/>
                </a:solidFill>
              </a:rPr>
              <a:t>هل السرعة أكبر من الحد القانوني؟</a:t>
            </a:r>
            <a:endParaRPr lang="ar-SA" sz="1200" dirty="0"/>
          </a:p>
        </p:txBody>
      </p:sp>
      <p:sp>
        <p:nvSpPr>
          <p:cNvPr id="29" name="fx7|no line"/>
          <p:cNvSpPr/>
          <p:nvPr/>
        </p:nvSpPr>
        <p:spPr>
          <a:xfrm>
            <a:off x="1383487" y="4572000"/>
            <a:ext cx="914" cy="502920"/>
          </a:xfrm>
          <a:prstGeom prst="line">
            <a:avLst/>
          </a:prstGeom>
          <a:noFill/>
          <a:ln w="25400">
            <a:solidFill>
              <a:srgbClr val="10B981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0" name="fx7|no"/>
          <p:cNvSpPr txBox="1"/>
          <p:nvPr/>
        </p:nvSpPr>
        <p:spPr>
          <a:xfrm>
            <a:off x="1456639" y="4617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ar-SA" altLang="en-US" sz="1300" b="1" dirty="0">
                <a:solidFill>
                  <a:schemeClr val="accent4"/>
                </a:solidFill>
              </a:rPr>
              <a:t>لا</a:t>
            </a:r>
            <a:endParaRPr lang="ar-SA" sz="1300" dirty="0"/>
          </a:p>
        </p:txBody>
      </p:sp>
      <p:sp>
        <p:nvSpPr>
          <p:cNvPr id="31" name="fx7|continue"/>
          <p:cNvSpPr txBox="1"/>
          <p:nvPr/>
        </p:nvSpPr>
        <p:spPr>
          <a:xfrm>
            <a:off x="551383" y="5074920"/>
            <a:ext cx="1664208" cy="685800"/>
          </a:xfrm>
          <a:prstGeom prst="roundRect">
            <a:avLst>
              <a:gd name="adj" fmla="val 13333"/>
            </a:avLst>
          </a:prstGeom>
          <a:solidFill>
            <a:schemeClr val="accent4">
              <a:alpha val="25000"/>
            </a:schemeClr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استمرار المراقبة</a:t>
            </a:r>
            <a:endParaRPr lang="ar-SA" sz="1400" dirty="0"/>
          </a:p>
        </p:txBody>
      </p:sp>
      <p:sp>
        <p:nvSpPr>
          <p:cNvPr id="32" name="fx8|yes line"/>
          <p:cNvSpPr/>
          <p:nvPr/>
        </p:nvSpPr>
        <p:spPr>
          <a:xfrm>
            <a:off x="2398471" y="3858768"/>
            <a:ext cx="320040" cy="914"/>
          </a:xfrm>
          <a:prstGeom prst="line">
            <a:avLst/>
          </a:prstGeom>
          <a:noFill/>
          <a:ln w="25400">
            <a:solidFill>
              <a:srgbClr val="F43F5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3" name="fx8|yes"/>
          <p:cNvSpPr txBox="1"/>
          <p:nvPr/>
        </p:nvSpPr>
        <p:spPr>
          <a:xfrm>
            <a:off x="2325319" y="35204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ar-SA" altLang="en-US" sz="1300" b="1" dirty="0">
                <a:solidFill>
                  <a:schemeClr val="accent5"/>
                </a:solidFill>
              </a:rPr>
              <a:t>نعم</a:t>
            </a:r>
            <a:endParaRPr lang="ar-SA" sz="1300" dirty="0"/>
          </a:p>
        </p:txBody>
      </p:sp>
      <p:sp>
        <p:nvSpPr>
          <p:cNvPr id="34" name="fx9|node"/>
          <p:cNvSpPr/>
          <p:nvPr/>
        </p:nvSpPr>
        <p:spPr>
          <a:xfrm>
            <a:off x="2718511" y="3291840"/>
            <a:ext cx="1609344" cy="1188720"/>
          </a:xfrm>
          <a:prstGeom prst="roundRect">
            <a:avLst>
              <a:gd name="adj" fmla="val 10769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5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35" name="fx9|ic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4583" y="3429000"/>
            <a:ext cx="457200" cy="457200"/>
          </a:xfrm>
          <a:prstGeom prst="rect">
            <a:avLst/>
          </a:prstGeom>
        </p:spPr>
      </p:pic>
      <p:sp>
        <p:nvSpPr>
          <p:cNvPr id="36" name="fx9|t"/>
          <p:cNvSpPr txBox="1"/>
          <p:nvPr/>
        </p:nvSpPr>
        <p:spPr>
          <a:xfrm>
            <a:off x="2764231" y="39776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توثيق المخالفة</a:t>
            </a:r>
            <a:endParaRPr lang="ar-SA" sz="1400" dirty="0"/>
          </a:p>
        </p:txBody>
      </p:sp>
      <p:sp>
        <p:nvSpPr>
          <p:cNvPr id="37" name="fx9|a"/>
          <p:cNvSpPr/>
          <p:nvPr/>
        </p:nvSpPr>
        <p:spPr>
          <a:xfrm>
            <a:off x="4350715" y="3749040"/>
            <a:ext cx="173736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fx10|node"/>
          <p:cNvSpPr/>
          <p:nvPr/>
        </p:nvSpPr>
        <p:spPr>
          <a:xfrm>
            <a:off x="4547311" y="3291840"/>
            <a:ext cx="1609344" cy="1188720"/>
          </a:xfrm>
          <a:prstGeom prst="roundRect">
            <a:avLst>
              <a:gd name="adj" fmla="val 10769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5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39" name="fx10|ic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3383" y="3429000"/>
            <a:ext cx="457200" cy="457200"/>
          </a:xfrm>
          <a:prstGeom prst="rect">
            <a:avLst/>
          </a:prstGeom>
        </p:spPr>
      </p:pic>
      <p:sp>
        <p:nvSpPr>
          <p:cNvPr id="40" name="fx10|t"/>
          <p:cNvSpPr txBox="1"/>
          <p:nvPr/>
        </p:nvSpPr>
        <p:spPr>
          <a:xfrm>
            <a:off x="4593031" y="39776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قراءة اللوحة OCR</a:t>
            </a:r>
            <a:endParaRPr lang="ar-SA" sz="1400" dirty="0"/>
          </a:p>
        </p:txBody>
      </p:sp>
      <p:sp>
        <p:nvSpPr>
          <p:cNvPr id="41" name="fx10|a"/>
          <p:cNvSpPr/>
          <p:nvPr/>
        </p:nvSpPr>
        <p:spPr>
          <a:xfrm>
            <a:off x="6179515" y="3749040"/>
            <a:ext cx="173736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fx11|node"/>
          <p:cNvSpPr/>
          <p:nvPr/>
        </p:nvSpPr>
        <p:spPr>
          <a:xfrm>
            <a:off x="6376111" y="3291840"/>
            <a:ext cx="1609344" cy="1188720"/>
          </a:xfrm>
          <a:prstGeom prst="roundRect">
            <a:avLst>
              <a:gd name="adj" fmla="val 10769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5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43" name="fx11|ic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2183" y="3429000"/>
            <a:ext cx="457200" cy="457200"/>
          </a:xfrm>
          <a:prstGeom prst="rect">
            <a:avLst/>
          </a:prstGeom>
        </p:spPr>
      </p:pic>
      <p:sp>
        <p:nvSpPr>
          <p:cNvPr id="44" name="fx11|t"/>
          <p:cNvSpPr txBox="1"/>
          <p:nvPr/>
        </p:nvSpPr>
        <p:spPr>
          <a:xfrm>
            <a:off x="6421831" y="39776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بيانات المالك</a:t>
            </a:r>
            <a:endParaRPr lang="ar-SA" sz="1400" dirty="0"/>
          </a:p>
        </p:txBody>
      </p:sp>
      <p:sp>
        <p:nvSpPr>
          <p:cNvPr id="45" name="fx11|a"/>
          <p:cNvSpPr/>
          <p:nvPr/>
        </p:nvSpPr>
        <p:spPr>
          <a:xfrm>
            <a:off x="8008315" y="3749040"/>
            <a:ext cx="173736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fx12|node"/>
          <p:cNvSpPr/>
          <p:nvPr/>
        </p:nvSpPr>
        <p:spPr>
          <a:xfrm>
            <a:off x="8204911" y="3291840"/>
            <a:ext cx="1609344" cy="1188720"/>
          </a:xfrm>
          <a:prstGeom prst="roundRect">
            <a:avLst>
              <a:gd name="adj" fmla="val 10769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5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47" name="fx12|ic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80983" y="3429000"/>
            <a:ext cx="457200" cy="457200"/>
          </a:xfrm>
          <a:prstGeom prst="rect">
            <a:avLst/>
          </a:prstGeom>
        </p:spPr>
      </p:pic>
      <p:sp>
        <p:nvSpPr>
          <p:cNvPr id="48" name="fx12|t"/>
          <p:cNvSpPr txBox="1"/>
          <p:nvPr/>
        </p:nvSpPr>
        <p:spPr>
          <a:xfrm>
            <a:off x="8250631" y="39776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تسجيل المخالفة</a:t>
            </a:r>
            <a:endParaRPr lang="ar-SA" sz="1400" dirty="0"/>
          </a:p>
        </p:txBody>
      </p:sp>
      <p:sp>
        <p:nvSpPr>
          <p:cNvPr id="49" name="fx12|a"/>
          <p:cNvSpPr/>
          <p:nvPr/>
        </p:nvSpPr>
        <p:spPr>
          <a:xfrm>
            <a:off x="9837115" y="3749040"/>
            <a:ext cx="173736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fx13|node"/>
          <p:cNvSpPr/>
          <p:nvPr/>
        </p:nvSpPr>
        <p:spPr>
          <a:xfrm>
            <a:off x="10033711" y="3291840"/>
            <a:ext cx="1609344" cy="1188720"/>
          </a:xfrm>
          <a:prstGeom prst="roundRect">
            <a:avLst>
              <a:gd name="adj" fmla="val 10769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5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51" name="fx13|ic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09783" y="3429000"/>
            <a:ext cx="457200" cy="457200"/>
          </a:xfrm>
          <a:prstGeom prst="rect">
            <a:avLst/>
          </a:prstGeom>
        </p:spPr>
      </p:pic>
      <p:sp>
        <p:nvSpPr>
          <p:cNvPr id="52" name="fx13|t"/>
          <p:cNvSpPr txBox="1"/>
          <p:nvPr/>
        </p:nvSpPr>
        <p:spPr>
          <a:xfrm>
            <a:off x="10079431" y="39776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الخادم المركزي</a:t>
            </a:r>
            <a:endParaRPr lang="ar-SA" sz="1400" dirty="0"/>
          </a:p>
        </p:txBody>
      </p:sp>
      <p:sp>
        <p:nvSpPr>
          <p:cNvPr id="53" name="fx14|note"/>
          <p:cNvSpPr txBox="1"/>
          <p:nvPr/>
        </p:nvSpPr>
        <p:spPr>
          <a:xfrm>
            <a:off x="2718511" y="4937760"/>
            <a:ext cx="8924544" cy="822960"/>
          </a:xfrm>
          <a:prstGeom prst="roundRect">
            <a:avLst>
              <a:gd name="adj" fmla="val 11111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2">
                <a:alpha val="60000"/>
              </a:schemeClr>
            </a:solidFill>
          </a:ln>
        </p:spPr>
        <p:txBody>
          <a:bodyPr wrap="square" lIns="1270" tIns="1270" rIns="1270" bIns="127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accent2"/>
                </a:solidFill>
              </a:rPr>
              <a:t>لا يتم تسجيل جميع المركبات — التوثيق وقراءة اللوحة فقط عند اكتشاف تجاوز السرعة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6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6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6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4" dur="6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6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6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6" dur="6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0" dur="6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6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8" dur="6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2" dur="6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6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6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4" dur="6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52" grpId="0" animBg="1"/>
      <p:bldP spid="5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الخوارزميات المعتمدة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Algorithms Pipeline</a:t>
            </a:r>
            <a:endParaRPr lang="en-US" sz="1500" dirty="0"/>
          </a:p>
        </p:txBody>
      </p:sp>
      <p:sp>
        <p:nvSpPr>
          <p:cNvPr id="4" name="fx0|card"/>
          <p:cNvSpPr/>
          <p:nvPr/>
        </p:nvSpPr>
        <p:spPr>
          <a:xfrm>
            <a:off x="9036558" y="1600200"/>
            <a:ext cx="2606040" cy="1828800"/>
          </a:xfrm>
          <a:prstGeom prst="roundRect">
            <a:avLst>
              <a:gd name="adj" fmla="val 7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5" name="fx0|num#3d"/>
          <p:cNvSpPr txBox="1"/>
          <p:nvPr/>
        </p:nvSpPr>
        <p:spPr>
          <a:xfrm>
            <a:off x="11093958" y="1737360"/>
            <a:ext cx="411480" cy="411480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pic>
        <p:nvPicPr>
          <p:cNvPr id="6" name="fx0|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9438" y="1764792"/>
            <a:ext cx="411480" cy="411480"/>
          </a:xfrm>
          <a:prstGeom prst="rect">
            <a:avLst/>
          </a:prstGeom>
        </p:spPr>
      </p:pic>
      <p:sp>
        <p:nvSpPr>
          <p:cNvPr id="7" name="fx0|en"/>
          <p:cNvSpPr txBox="1"/>
          <p:nvPr/>
        </p:nvSpPr>
        <p:spPr>
          <a:xfrm>
            <a:off x="9173718" y="2258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bg1"/>
                </a:solidFill>
              </a:rPr>
              <a:t>YOLO</a:t>
            </a:r>
            <a:endParaRPr lang="en-US" sz="1800" dirty="0"/>
          </a:p>
        </p:txBody>
      </p:sp>
      <p:sp>
        <p:nvSpPr>
          <p:cNvPr id="8" name="fx0|ar"/>
          <p:cNvSpPr txBox="1"/>
          <p:nvPr/>
        </p:nvSpPr>
        <p:spPr>
          <a:xfrm>
            <a:off x="9173718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اكتشاف المركبات وتحديد نوعها وموقعها</a:t>
            </a:r>
            <a:endParaRPr lang="ar-SA" sz="1300" dirty="0"/>
          </a:p>
        </p:txBody>
      </p:sp>
      <p:sp>
        <p:nvSpPr>
          <p:cNvPr id="9" name="fx1|card"/>
          <p:cNvSpPr/>
          <p:nvPr/>
        </p:nvSpPr>
        <p:spPr>
          <a:xfrm>
            <a:off x="6208319" y="1600200"/>
            <a:ext cx="2606040" cy="1828800"/>
          </a:xfrm>
          <a:prstGeom prst="roundRect">
            <a:avLst>
              <a:gd name="adj" fmla="val 7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0" name="fx1|num#3d"/>
          <p:cNvSpPr txBox="1"/>
          <p:nvPr/>
        </p:nvSpPr>
        <p:spPr>
          <a:xfrm>
            <a:off x="8265719" y="1737360"/>
            <a:ext cx="411480" cy="411480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pic>
        <p:nvPicPr>
          <p:cNvPr id="11" name="fx1|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199" y="1764792"/>
            <a:ext cx="411480" cy="411480"/>
          </a:xfrm>
          <a:prstGeom prst="rect">
            <a:avLst/>
          </a:prstGeom>
        </p:spPr>
      </p:pic>
      <p:sp>
        <p:nvSpPr>
          <p:cNvPr id="12" name="fx1|en"/>
          <p:cNvSpPr txBox="1"/>
          <p:nvPr/>
        </p:nvSpPr>
        <p:spPr>
          <a:xfrm>
            <a:off x="6345479" y="2258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bg1"/>
                </a:solidFill>
              </a:rPr>
              <a:t>ByteTrack</a:t>
            </a:r>
            <a:endParaRPr lang="en-US" sz="1800" dirty="0"/>
          </a:p>
        </p:txBody>
      </p:sp>
      <p:sp>
        <p:nvSpPr>
          <p:cNvPr id="13" name="fx1|ar"/>
          <p:cNvSpPr txBox="1"/>
          <p:nvPr/>
        </p:nvSpPr>
        <p:spPr>
          <a:xfrm>
            <a:off x="6345479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تتبع المركبات والحفاظ على هوية كل مركبة</a:t>
            </a:r>
            <a:endParaRPr lang="ar-SA" sz="1300" dirty="0"/>
          </a:p>
        </p:txBody>
      </p:sp>
      <p:sp>
        <p:nvSpPr>
          <p:cNvPr id="14" name="fx2|card"/>
          <p:cNvSpPr/>
          <p:nvPr/>
        </p:nvSpPr>
        <p:spPr>
          <a:xfrm>
            <a:off x="3380080" y="1600200"/>
            <a:ext cx="2606040" cy="1828800"/>
          </a:xfrm>
          <a:prstGeom prst="roundRect">
            <a:avLst>
              <a:gd name="adj" fmla="val 7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5" name="fx2|num#3d"/>
          <p:cNvSpPr txBox="1"/>
          <p:nvPr/>
        </p:nvSpPr>
        <p:spPr>
          <a:xfrm>
            <a:off x="5437480" y="1737360"/>
            <a:ext cx="411480" cy="411480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pic>
        <p:nvPicPr>
          <p:cNvPr id="16" name="fx2|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960" y="1764792"/>
            <a:ext cx="411480" cy="411480"/>
          </a:xfrm>
          <a:prstGeom prst="rect">
            <a:avLst/>
          </a:prstGeom>
        </p:spPr>
      </p:pic>
      <p:sp>
        <p:nvSpPr>
          <p:cNvPr id="17" name="fx2|en"/>
          <p:cNvSpPr txBox="1"/>
          <p:nvPr/>
        </p:nvSpPr>
        <p:spPr>
          <a:xfrm>
            <a:off x="3517240" y="2258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bg1"/>
                </a:solidFill>
              </a:rPr>
              <a:t>Homography</a:t>
            </a:r>
            <a:endParaRPr lang="en-US" sz="1800" dirty="0"/>
          </a:p>
        </p:txBody>
      </p:sp>
      <p:sp>
        <p:nvSpPr>
          <p:cNvPr id="18" name="fx2|ar"/>
          <p:cNvSpPr txBox="1"/>
          <p:nvPr/>
        </p:nvSpPr>
        <p:spPr>
          <a:xfrm>
            <a:off x="351724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تحويل إحداثيات الصورة إلى مستوى الطريق</a:t>
            </a:r>
            <a:endParaRPr lang="ar-SA" sz="1300" dirty="0"/>
          </a:p>
        </p:txBody>
      </p:sp>
      <p:sp>
        <p:nvSpPr>
          <p:cNvPr id="19" name="fx3|card"/>
          <p:cNvSpPr/>
          <p:nvPr/>
        </p:nvSpPr>
        <p:spPr>
          <a:xfrm>
            <a:off x="551840" y="1600200"/>
            <a:ext cx="2606040" cy="1828800"/>
          </a:xfrm>
          <a:prstGeom prst="roundRect">
            <a:avLst>
              <a:gd name="adj" fmla="val 7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20" name="fx3|num#3d"/>
          <p:cNvSpPr txBox="1"/>
          <p:nvPr/>
        </p:nvSpPr>
        <p:spPr>
          <a:xfrm>
            <a:off x="2609240" y="1737360"/>
            <a:ext cx="411480" cy="411480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pic>
        <p:nvPicPr>
          <p:cNvPr id="21" name="fx3|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20" y="1764792"/>
            <a:ext cx="411480" cy="411480"/>
          </a:xfrm>
          <a:prstGeom prst="rect">
            <a:avLst/>
          </a:prstGeom>
        </p:spPr>
      </p:pic>
      <p:sp>
        <p:nvSpPr>
          <p:cNvPr id="22" name="fx3|en"/>
          <p:cNvSpPr txBox="1"/>
          <p:nvPr/>
        </p:nvSpPr>
        <p:spPr>
          <a:xfrm>
            <a:off x="689000" y="2258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bg1"/>
                </a:solidFill>
              </a:rPr>
              <a:t>Speed Estimation</a:t>
            </a:r>
            <a:endParaRPr lang="en-US" sz="1800" dirty="0"/>
          </a:p>
        </p:txBody>
      </p:sp>
      <p:sp>
        <p:nvSpPr>
          <p:cNvPr id="23" name="fx3|ar"/>
          <p:cNvSpPr txBox="1"/>
          <p:nvPr/>
        </p:nvSpPr>
        <p:spPr>
          <a:xfrm>
            <a:off x="68900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حساب السرعة من المسافة والزمن</a:t>
            </a:r>
            <a:endParaRPr lang="ar-SA" sz="1300" dirty="0"/>
          </a:p>
        </p:txBody>
      </p:sp>
      <p:sp>
        <p:nvSpPr>
          <p:cNvPr id="24" name="fx4|card"/>
          <p:cNvSpPr/>
          <p:nvPr/>
        </p:nvSpPr>
        <p:spPr>
          <a:xfrm>
            <a:off x="7622438" y="3703320"/>
            <a:ext cx="2606040" cy="1828800"/>
          </a:xfrm>
          <a:prstGeom prst="roundRect">
            <a:avLst>
              <a:gd name="adj" fmla="val 7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25" name="fx4|num#3d"/>
          <p:cNvSpPr txBox="1"/>
          <p:nvPr/>
        </p:nvSpPr>
        <p:spPr>
          <a:xfrm>
            <a:off x="9679838" y="3840480"/>
            <a:ext cx="411480" cy="411480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pic>
        <p:nvPicPr>
          <p:cNvPr id="26" name="fx4|ic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318" y="3867912"/>
            <a:ext cx="411480" cy="411480"/>
          </a:xfrm>
          <a:prstGeom prst="rect">
            <a:avLst/>
          </a:prstGeom>
        </p:spPr>
      </p:pic>
      <p:sp>
        <p:nvSpPr>
          <p:cNvPr id="27" name="fx4|en"/>
          <p:cNvSpPr txBox="1"/>
          <p:nvPr/>
        </p:nvSpPr>
        <p:spPr>
          <a:xfrm>
            <a:off x="7759598" y="43616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bg1"/>
                </a:solidFill>
              </a:rPr>
              <a:t>Speed Threshold</a:t>
            </a:r>
            <a:endParaRPr lang="en-US" sz="1800" dirty="0"/>
          </a:p>
        </p:txBody>
      </p:sp>
      <p:sp>
        <p:nvSpPr>
          <p:cNvPr id="28" name="fx4|ar"/>
          <p:cNvSpPr txBox="1"/>
          <p:nvPr/>
        </p:nvSpPr>
        <p:spPr>
          <a:xfrm>
            <a:off x="7759598" y="4800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مقارنة السرعة بالحد القانوني للموقع</a:t>
            </a:r>
            <a:endParaRPr lang="ar-SA" sz="1300" dirty="0"/>
          </a:p>
        </p:txBody>
      </p:sp>
      <p:sp>
        <p:nvSpPr>
          <p:cNvPr id="29" name="fx5|card"/>
          <p:cNvSpPr/>
          <p:nvPr/>
        </p:nvSpPr>
        <p:spPr>
          <a:xfrm>
            <a:off x="4794199" y="3703320"/>
            <a:ext cx="2606040" cy="1828800"/>
          </a:xfrm>
          <a:prstGeom prst="roundRect">
            <a:avLst>
              <a:gd name="adj" fmla="val 7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30" name="fx5|num#3d"/>
          <p:cNvSpPr txBox="1"/>
          <p:nvPr/>
        </p:nvSpPr>
        <p:spPr>
          <a:xfrm>
            <a:off x="6851599" y="3840480"/>
            <a:ext cx="411480" cy="411480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pic>
        <p:nvPicPr>
          <p:cNvPr id="31" name="fx5|ic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7079" y="3867912"/>
            <a:ext cx="411480" cy="411480"/>
          </a:xfrm>
          <a:prstGeom prst="rect">
            <a:avLst/>
          </a:prstGeom>
        </p:spPr>
      </p:pic>
      <p:sp>
        <p:nvSpPr>
          <p:cNvPr id="32" name="fx5|en"/>
          <p:cNvSpPr txBox="1"/>
          <p:nvPr/>
        </p:nvSpPr>
        <p:spPr>
          <a:xfrm>
            <a:off x="4931359" y="43616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bg1"/>
                </a:solidFill>
              </a:rPr>
              <a:t>PaddleOCR</a:t>
            </a:r>
            <a:endParaRPr lang="en-US" sz="1800" dirty="0"/>
          </a:p>
        </p:txBody>
      </p:sp>
      <p:sp>
        <p:nvSpPr>
          <p:cNvPr id="33" name="fx5|ar"/>
          <p:cNvSpPr txBox="1"/>
          <p:nvPr/>
        </p:nvSpPr>
        <p:spPr>
          <a:xfrm>
            <a:off x="4931359" y="4800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قراءة رقم اللوحة عند المخالفة فقط</a:t>
            </a:r>
            <a:endParaRPr lang="ar-SA" sz="1300" dirty="0"/>
          </a:p>
        </p:txBody>
      </p:sp>
      <p:sp>
        <p:nvSpPr>
          <p:cNvPr id="34" name="fx6|card"/>
          <p:cNvSpPr/>
          <p:nvPr/>
        </p:nvSpPr>
        <p:spPr>
          <a:xfrm>
            <a:off x="1965960" y="3703320"/>
            <a:ext cx="2606040" cy="1828800"/>
          </a:xfrm>
          <a:prstGeom prst="roundRect">
            <a:avLst>
              <a:gd name="adj" fmla="val 7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35" name="fx6|num#3d"/>
          <p:cNvSpPr txBox="1"/>
          <p:nvPr/>
        </p:nvSpPr>
        <p:spPr>
          <a:xfrm>
            <a:off x="4023360" y="3840480"/>
            <a:ext cx="411480" cy="411480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7</a:t>
            </a:r>
            <a:endParaRPr lang="en-US" sz="1300" dirty="0"/>
          </a:p>
        </p:txBody>
      </p:sp>
      <p:pic>
        <p:nvPicPr>
          <p:cNvPr id="36" name="fx6|ic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8840" y="3867912"/>
            <a:ext cx="411480" cy="411480"/>
          </a:xfrm>
          <a:prstGeom prst="rect">
            <a:avLst/>
          </a:prstGeom>
        </p:spPr>
      </p:pic>
      <p:sp>
        <p:nvSpPr>
          <p:cNvPr id="37" name="fx6|en"/>
          <p:cNvSpPr txBox="1"/>
          <p:nvPr/>
        </p:nvSpPr>
        <p:spPr>
          <a:xfrm>
            <a:off x="2103120" y="43616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bg1"/>
                </a:solidFill>
              </a:rPr>
              <a:t>Database Matching</a:t>
            </a:r>
            <a:endParaRPr lang="en-US" sz="1800" dirty="0"/>
          </a:p>
        </p:txBody>
      </p:sp>
      <p:sp>
        <p:nvSpPr>
          <p:cNvPr id="38" name="fx6|ar"/>
          <p:cNvSpPr txBox="1"/>
          <p:nvPr/>
        </p:nvSpPr>
        <p:spPr>
          <a:xfrm>
            <a:off x="2103120" y="4800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مطابقة اللوحة ببيانات المركبة ومالكها</a:t>
            </a:r>
            <a:endParaRPr lang="ar-SA" sz="1300" dirty="0"/>
          </a:p>
        </p:txBody>
      </p:sp>
      <p:sp>
        <p:nvSpPr>
          <p:cNvPr id="39" name="fx7|chain"/>
          <p:cNvSpPr txBox="1"/>
          <p:nvPr/>
        </p:nvSpPr>
        <p:spPr>
          <a:xfrm>
            <a:off x="548640" y="57150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 → ByteTrack → Homography → Speed → Threshold → PaddleOCR → DB Matching → تسجيل المخالفة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اكتشاف المركبات وتتبعها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YOLO Detection + ByteTrack Tracking</a:t>
            </a:r>
            <a:endParaRPr lang="en-US" sz="1500" dirty="0"/>
          </a:p>
        </p:txBody>
      </p:sp>
      <p:sp>
        <p:nvSpPr>
          <p:cNvPr id="4" name="Scene frame"/>
          <p:cNvSpPr/>
          <p:nvPr/>
        </p:nvSpPr>
        <p:spPr>
          <a:xfrm>
            <a:off x="548640" y="1600200"/>
            <a:ext cx="6675120" cy="3776472"/>
          </a:xfrm>
          <a:prstGeom prst="roundRect">
            <a:avLst>
              <a:gd name="adj" fmla="val 2421"/>
            </a:avLst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304800" dist="50800" dir="16200000">
              <a:srgbClr val="22D3EE">
                <a:alpha val="50000"/>
              </a:srgbClr>
            </a:outerShdw>
          </a:effectLst>
        </p:spPr>
      </p:sp>
      <p:pic>
        <p:nvPicPr>
          <p:cNvPr id="5" name="Detection scene" descr="اكتشاف المركبات بمربعات الإحاطة ومعرّفات التتب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6528816" cy="3630168"/>
          </a:xfrm>
          <a:prstGeom prst="rect">
            <a:avLst/>
          </a:prstGeom>
        </p:spPr>
      </p:pic>
      <p:sp>
        <p:nvSpPr>
          <p:cNvPr id="6" name="fx4|chip"/>
          <p:cNvSpPr txBox="1"/>
          <p:nvPr/>
        </p:nvSpPr>
        <p:spPr>
          <a:xfrm>
            <a:off x="548640" y="5532120"/>
            <a:ext cx="1591056" cy="640080"/>
          </a:xfrm>
          <a:prstGeom prst="roundRect">
            <a:avLst>
              <a:gd name="adj" fmla="val 11429"/>
            </a:avLst>
          </a:prstGeom>
          <a:solidFill>
            <a:schemeClr val="tx2">
              <a:alpha val="85000"/>
            </a:schemeClr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ar-SA" altLang="en-US" sz="1200" b="1" dirty="0">
                <a:solidFill>
                  <a:schemeClr val="accent1"/>
                </a:solidFill>
              </a:rPr>
              <a:t>Bounding Box</a:t>
            </a:r>
            <a:endParaRPr lang="ar-SA" sz="1200" dirty="0"/>
          </a:p>
          <a:p>
            <a:pPr algn="ctr" indent="0" marL="0">
              <a:buNone/>
            </a:pPr>
            <a:r>
              <a:rPr lang="ar-SA" altLang="en-US" sz="1000" dirty="0">
                <a:solidFill>
                  <a:schemeClr val="bg2"/>
                </a:solidFill>
              </a:rPr>
              <a:t>موقع المركبة</a:t>
            </a:r>
            <a:endParaRPr lang="ar-SA" sz="1200" dirty="0"/>
          </a:p>
        </p:txBody>
      </p:sp>
      <p:sp>
        <p:nvSpPr>
          <p:cNvPr id="7" name="fx5|chip"/>
          <p:cNvSpPr txBox="1"/>
          <p:nvPr/>
        </p:nvSpPr>
        <p:spPr>
          <a:xfrm>
            <a:off x="2249424" y="5532120"/>
            <a:ext cx="1591056" cy="640080"/>
          </a:xfrm>
          <a:prstGeom prst="roundRect">
            <a:avLst>
              <a:gd name="adj" fmla="val 11429"/>
            </a:avLst>
          </a:prstGeom>
          <a:solidFill>
            <a:schemeClr val="tx2">
              <a:alpha val="85000"/>
            </a:schemeClr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ar-SA" altLang="en-US" sz="1200" b="1" dirty="0">
                <a:solidFill>
                  <a:schemeClr val="accent1"/>
                </a:solidFill>
              </a:rPr>
              <a:t>Class</a:t>
            </a:r>
            <a:endParaRPr lang="ar-SA" sz="1200" dirty="0"/>
          </a:p>
          <a:p>
            <a:pPr algn="ctr" indent="0" marL="0">
              <a:buNone/>
            </a:pPr>
            <a:r>
              <a:rPr lang="ar-SA" altLang="en-US" sz="1000" dirty="0">
                <a:solidFill>
                  <a:schemeClr val="bg2"/>
                </a:solidFill>
              </a:rPr>
              <a:t>Car • Bus • Truck • Motorcycle</a:t>
            </a:r>
            <a:endParaRPr lang="ar-SA" sz="1200" dirty="0"/>
          </a:p>
        </p:txBody>
      </p:sp>
      <p:sp>
        <p:nvSpPr>
          <p:cNvPr id="8" name="fx6|chip"/>
          <p:cNvSpPr txBox="1"/>
          <p:nvPr/>
        </p:nvSpPr>
        <p:spPr>
          <a:xfrm>
            <a:off x="3950208" y="5532120"/>
            <a:ext cx="1591056" cy="640080"/>
          </a:xfrm>
          <a:prstGeom prst="roundRect">
            <a:avLst>
              <a:gd name="adj" fmla="val 11429"/>
            </a:avLst>
          </a:prstGeom>
          <a:solidFill>
            <a:schemeClr val="tx2">
              <a:alpha val="85000"/>
            </a:schemeClr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ar-SA" altLang="en-US" sz="1200" b="1" dirty="0">
                <a:solidFill>
                  <a:schemeClr val="accent1"/>
                </a:solidFill>
              </a:rPr>
              <a:t>Confidence</a:t>
            </a:r>
            <a:endParaRPr lang="ar-SA" sz="1200" dirty="0"/>
          </a:p>
          <a:p>
            <a:pPr algn="ctr" indent="0" marL="0">
              <a:buNone/>
            </a:pPr>
            <a:r>
              <a:rPr lang="ar-SA" altLang="en-US" sz="1000" dirty="0">
                <a:solidFill>
                  <a:schemeClr val="bg2"/>
                </a:solidFill>
              </a:rPr>
              <a:t>درجة الثقة</a:t>
            </a:r>
            <a:endParaRPr lang="ar-SA" sz="1200" dirty="0"/>
          </a:p>
        </p:txBody>
      </p:sp>
      <p:sp>
        <p:nvSpPr>
          <p:cNvPr id="9" name="fx7|chip"/>
          <p:cNvSpPr txBox="1"/>
          <p:nvPr/>
        </p:nvSpPr>
        <p:spPr>
          <a:xfrm>
            <a:off x="5650992" y="5532120"/>
            <a:ext cx="1591056" cy="640080"/>
          </a:xfrm>
          <a:prstGeom prst="roundRect">
            <a:avLst>
              <a:gd name="adj" fmla="val 11429"/>
            </a:avLst>
          </a:prstGeom>
          <a:solidFill>
            <a:schemeClr val="tx2">
              <a:alpha val="85000"/>
            </a:schemeClr>
          </a:solidFill>
          <a:ln w="9525">
            <a:solidFill>
              <a:schemeClr val="accent1">
                <a:alpha val="50000"/>
              </a:scheme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ar-SA" altLang="en-US" sz="1200" b="1" dirty="0">
                <a:solidFill>
                  <a:schemeClr val="accent1"/>
                </a:solidFill>
              </a:rPr>
              <a:t>Track ID</a:t>
            </a:r>
            <a:endParaRPr lang="ar-SA" sz="1200" dirty="0"/>
          </a:p>
          <a:p>
            <a:pPr algn="ctr" indent="0" marL="0">
              <a:buNone/>
            </a:pPr>
            <a:r>
              <a:rPr lang="ar-SA" altLang="en-US" sz="1000" dirty="0">
                <a:solidFill>
                  <a:schemeClr val="bg2"/>
                </a:solidFill>
              </a:rPr>
              <a:t>هوية ثابتة لكل مركبة</a:t>
            </a:r>
            <a:endParaRPr lang="ar-SA" sz="1200" dirty="0"/>
          </a:p>
        </p:txBody>
      </p:sp>
      <p:sp>
        <p:nvSpPr>
          <p:cNvPr id="10" name="fx0|card"/>
          <p:cNvSpPr/>
          <p:nvPr/>
        </p:nvSpPr>
        <p:spPr>
          <a:xfrm>
            <a:off x="7498080" y="1600200"/>
            <a:ext cx="4142232" cy="2148840"/>
          </a:xfrm>
          <a:prstGeom prst="roundRect">
            <a:avLst>
              <a:gd name="adj" fmla="val 5957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1" name="fx0|ic bg#3d"/>
          <p:cNvSpPr/>
          <p:nvPr/>
        </p:nvSpPr>
        <p:spPr>
          <a:xfrm>
            <a:off x="10725912" y="1783080"/>
            <a:ext cx="713232" cy="713232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2" name="fx0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4220" y="1961388"/>
            <a:ext cx="356616" cy="356616"/>
          </a:xfrm>
          <a:prstGeom prst="rect">
            <a:avLst/>
          </a:prstGeom>
        </p:spPr>
      </p:pic>
      <p:sp>
        <p:nvSpPr>
          <p:cNvPr id="13" name="fx0|title"/>
          <p:cNvSpPr txBox="1"/>
          <p:nvPr/>
        </p:nvSpPr>
        <p:spPr>
          <a:xfrm>
            <a:off x="7680960" y="1828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200" b="1" dirty="0">
                <a:solidFill>
                  <a:schemeClr val="bg1"/>
                </a:solidFill>
              </a:rPr>
              <a:t>YOLO</a:t>
            </a:r>
            <a:pPr algn="r" indent="0" marL="0">
              <a:buNone/>
            </a:pPr>
            <a:r>
              <a:rPr lang="en-US" altLang="en-US" sz="1100" dirty="0">
                <a:solidFill>
                  <a:schemeClr val="accent1"/>
                </a:solidFill>
              </a:rPr>
              <a:t>   You Only Look Once</a:t>
            </a:r>
            <a:endParaRPr lang="en-US" sz="2200" dirty="0"/>
          </a:p>
        </p:txBody>
      </p:sp>
      <p:sp>
        <p:nvSpPr>
          <p:cNvPr id="14" name="fx1|q"/>
          <p:cNvSpPr txBox="1"/>
          <p:nvPr/>
        </p:nvSpPr>
        <p:spPr>
          <a:xfrm>
            <a:off x="7680960" y="2404872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chemeClr val="accent1"/>
                </a:solidFill>
              </a:rPr>
              <a:t>«ما المركبات الموجودة في الصورة وأين توجد؟»</a:t>
            </a:r>
            <a:endParaRPr lang="ar-SA" sz="1300" dirty="0"/>
          </a:p>
        </p:txBody>
      </p:sp>
      <p:sp>
        <p:nvSpPr>
          <p:cNvPr id="15" name="fx1|body"/>
          <p:cNvSpPr txBox="1"/>
          <p:nvPr/>
        </p:nvSpPr>
        <p:spPr>
          <a:xfrm>
            <a:off x="7680960" y="2971800"/>
            <a:ext cx="3776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يحلل كل إطار ويحدد مربع الإحاطة ونوع المركبة ودرجة الثقة.</a:t>
            </a:r>
            <a:endParaRPr lang="ar-SA" sz="1300" dirty="0"/>
          </a:p>
        </p:txBody>
      </p:sp>
      <p:sp>
        <p:nvSpPr>
          <p:cNvPr id="16" name="fx2|card"/>
          <p:cNvSpPr/>
          <p:nvPr/>
        </p:nvSpPr>
        <p:spPr>
          <a:xfrm>
            <a:off x="7498080" y="3931920"/>
            <a:ext cx="4142232" cy="2148840"/>
          </a:xfrm>
          <a:prstGeom prst="roundRect">
            <a:avLst>
              <a:gd name="adj" fmla="val 5957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7" name="fx2|ic bg#3d"/>
          <p:cNvSpPr/>
          <p:nvPr/>
        </p:nvSpPr>
        <p:spPr>
          <a:xfrm>
            <a:off x="10725912" y="4114800"/>
            <a:ext cx="713232" cy="713232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8" name="fx2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220" y="4293108"/>
            <a:ext cx="356616" cy="356616"/>
          </a:xfrm>
          <a:prstGeom prst="rect">
            <a:avLst/>
          </a:prstGeom>
        </p:spPr>
      </p:pic>
      <p:sp>
        <p:nvSpPr>
          <p:cNvPr id="19" name="fx2|title"/>
          <p:cNvSpPr txBox="1"/>
          <p:nvPr/>
        </p:nvSpPr>
        <p:spPr>
          <a:xfrm>
            <a:off x="7680960" y="4160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200" b="1" dirty="0">
                <a:solidFill>
                  <a:schemeClr val="bg1"/>
                </a:solidFill>
              </a:rPr>
              <a:t>ByteTrack</a:t>
            </a:r>
            <a:pPr algn="r" indent="0" marL="0">
              <a:buNone/>
            </a:pPr>
            <a:r>
              <a:rPr lang="en-US" altLang="en-US" sz="1100" dirty="0">
                <a:solidFill>
                  <a:schemeClr val="accent2"/>
                </a:solidFill>
              </a:rPr>
              <a:t>   Multi-Object Tracking</a:t>
            </a:r>
            <a:endParaRPr lang="en-US" sz="2200" dirty="0"/>
          </a:p>
        </p:txBody>
      </p:sp>
      <p:sp>
        <p:nvSpPr>
          <p:cNvPr id="20" name="fx3|q"/>
          <p:cNvSpPr txBox="1"/>
          <p:nvPr/>
        </p:nvSpPr>
        <p:spPr>
          <a:xfrm>
            <a:off x="7680960" y="4736592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chemeClr val="accent2"/>
                </a:solidFill>
              </a:rPr>
              <a:t>«أين تحركت المركبة نفسها خلال فترة زمنية؟»</a:t>
            </a:r>
            <a:endParaRPr lang="ar-SA" sz="1300" dirty="0"/>
          </a:p>
        </p:txBody>
      </p:sp>
      <p:sp>
        <p:nvSpPr>
          <p:cNvPr id="21" name="fx3|body"/>
          <p:cNvSpPr txBox="1"/>
          <p:nvPr/>
        </p:nvSpPr>
        <p:spPr>
          <a:xfrm>
            <a:off x="7680960" y="5303520"/>
            <a:ext cx="3776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يعطي كل مركبة معرّفاً (Track ID) ويبني مسار حركتها عبر الإطارات.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حساب سرعة المركبة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Speed Estimation Model</a:t>
            </a:r>
            <a:endParaRPr lang="en-US" sz="1500" dirty="0"/>
          </a:p>
        </p:txBody>
      </p:sp>
      <p:sp>
        <p:nvSpPr>
          <p:cNvPr id="4" name="fx0|formula card#3d"/>
          <p:cNvSpPr/>
          <p:nvPr/>
        </p:nvSpPr>
        <p:spPr>
          <a:xfrm>
            <a:off x="6355080" y="1600200"/>
            <a:ext cx="5285232" cy="2377440"/>
          </a:xfrm>
          <a:prstGeom prst="roundRect">
            <a:avLst>
              <a:gd name="adj" fmla="val 5385"/>
            </a:avLst>
          </a:prstGeom>
          <a:solidFill>
            <a:schemeClr val="tx2">
              <a:alpha val="9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5" name="fx0|formula"/>
          <p:cNvSpPr txBox="1"/>
          <p:nvPr/>
        </p:nvSpPr>
        <p:spPr>
          <a:xfrm>
            <a:off x="6355080" y="1691640"/>
            <a:ext cx="5285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6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D / T</a:t>
            </a:r>
            <a:endParaRPr lang="en-US" sz="6000" dirty="0"/>
          </a:p>
        </p:txBody>
      </p:sp>
      <p:sp>
        <p:nvSpPr>
          <p:cNvPr id="6" name="fx1|legend"/>
          <p:cNvSpPr txBox="1"/>
          <p:nvPr/>
        </p:nvSpPr>
        <p:spPr>
          <a:xfrm>
            <a:off x="6492240" y="2834640"/>
            <a:ext cx="5010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V </a:t>
            </a:r>
            <a:pPr algn="ctr" indent="0" marL="0">
              <a:buNone/>
            </a:pPr>
            <a:r>
              <a:rPr lang="ar-SA" altLang="en-US" sz="1500" dirty="0">
                <a:solidFill>
                  <a:schemeClr val="bg1"/>
                </a:solidFill>
              </a:rPr>
              <a:t>السرعة     </a:t>
            </a:r>
            <a:pPr algn="ctr" indent="0" marL="0"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D </a:t>
            </a:r>
            <a:pPr algn="ctr" indent="0" marL="0">
              <a:buNone/>
            </a:pPr>
            <a:r>
              <a:rPr lang="ar-SA" altLang="en-US" sz="1500" dirty="0">
                <a:solidFill>
                  <a:schemeClr val="bg1"/>
                </a:solidFill>
              </a:rPr>
              <a:t>المسافة الحقيقية     </a:t>
            </a:r>
            <a:pPr algn="ctr" indent="0" marL="0"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T </a:t>
            </a:r>
            <a:pPr algn="ctr" indent="0" marL="0">
              <a:buNone/>
            </a:pPr>
            <a:r>
              <a:rPr lang="ar-SA" altLang="en-US" sz="1500" dirty="0">
                <a:solidFill>
                  <a:schemeClr val="bg1"/>
                </a:solidFill>
              </a:rPr>
              <a:t>الزمن المستغرق</a:t>
            </a:r>
            <a:endParaRPr lang="ar-SA" sz="1500" dirty="0"/>
          </a:p>
        </p:txBody>
      </p:sp>
      <p:sp>
        <p:nvSpPr>
          <p:cNvPr id="7" name="fx1|unit"/>
          <p:cNvSpPr txBox="1"/>
          <p:nvPr/>
        </p:nvSpPr>
        <p:spPr>
          <a:xfrm>
            <a:off x="6492240" y="3291840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ثم يُحوَّل الناتج إلى km/h</a:t>
            </a:r>
            <a:endParaRPr lang="ar-SA" sz="1300" dirty="0"/>
          </a:p>
        </p:txBody>
      </p:sp>
      <p:sp>
        <p:nvSpPr>
          <p:cNvPr id="8" name="fx2|example"/>
          <p:cNvSpPr/>
          <p:nvPr/>
        </p:nvSpPr>
        <p:spPr>
          <a:xfrm>
            <a:off x="6355080" y="4160520"/>
            <a:ext cx="5285232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9" name="fx2|ex t"/>
          <p:cNvSpPr txBox="1"/>
          <p:nvPr/>
        </p:nvSpPr>
        <p:spPr>
          <a:xfrm>
            <a:off x="6583680" y="4279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2"/>
                </a:solidFill>
              </a:rPr>
              <a:t>مثال  •  Example</a:t>
            </a:r>
            <a:endParaRPr lang="ar-SA" sz="1500" dirty="0"/>
          </a:p>
        </p:txBody>
      </p:sp>
      <p:sp>
        <p:nvSpPr>
          <p:cNvPr id="10" name="fx3|ex 1"/>
          <p:cNvSpPr txBox="1"/>
          <p:nvPr/>
        </p:nvSpPr>
        <p:spPr>
          <a:xfrm>
            <a:off x="6583680" y="4663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مركبة قطعت 20 متراً خلال ثانية واحدة:</a:t>
            </a:r>
            <a:endParaRPr lang="ar-SA" sz="1600" dirty="0"/>
          </a:p>
        </p:txBody>
      </p:sp>
      <p:sp>
        <p:nvSpPr>
          <p:cNvPr id="11" name="fx3|ex 2"/>
          <p:cNvSpPr txBox="1"/>
          <p:nvPr/>
        </p:nvSpPr>
        <p:spPr>
          <a:xfrm>
            <a:off x="6583680" y="5120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m/s × 3.6 = 72 km/h</a:t>
            </a:r>
            <a:endParaRPr lang="en-US" sz="2800" dirty="0"/>
          </a:p>
        </p:txBody>
      </p:sp>
      <p:sp>
        <p:nvSpPr>
          <p:cNvPr id="12" name="fx4|calib"/>
          <p:cNvSpPr/>
          <p:nvPr/>
        </p:nvSpPr>
        <p:spPr>
          <a:xfrm>
            <a:off x="548640" y="1600200"/>
            <a:ext cx="5577840" cy="2377440"/>
          </a:xfrm>
          <a:prstGeom prst="roundRect">
            <a:avLst>
              <a:gd name="adj" fmla="val 538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3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3" name="fx4|calib ic bg#3d"/>
          <p:cNvSpPr/>
          <p:nvPr/>
        </p:nvSpPr>
        <p:spPr>
          <a:xfrm>
            <a:off x="5166360" y="1783080"/>
            <a:ext cx="777240" cy="77724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3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4" name="fx4|calib 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0670" y="1977390"/>
            <a:ext cx="388620" cy="388620"/>
          </a:xfrm>
          <a:prstGeom prst="rect">
            <a:avLst/>
          </a:prstGeom>
        </p:spPr>
      </p:pic>
      <p:sp>
        <p:nvSpPr>
          <p:cNvPr id="15" name="fx4|calib t"/>
          <p:cNvSpPr txBox="1"/>
          <p:nvPr/>
        </p:nvSpPr>
        <p:spPr>
          <a:xfrm>
            <a:off x="77724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900" b="1" dirty="0">
                <a:solidFill>
                  <a:schemeClr val="bg1"/>
                </a:solidFill>
              </a:rPr>
              <a:t>معايرة الطريق</a:t>
            </a:r>
            <a:pPr algn="r" indent="0" marL="0">
              <a:buNone/>
            </a:pPr>
            <a:r>
              <a:rPr lang="ar-SA" altLang="en-US" sz="1200" dirty="0">
                <a:solidFill>
                  <a:schemeClr val="accent3"/>
                </a:solidFill>
              </a:rPr>
              <a:t>   Homography</a:t>
            </a:r>
            <a:endParaRPr lang="ar-SA" sz="1900" dirty="0"/>
          </a:p>
        </p:txBody>
      </p:sp>
      <p:sp>
        <p:nvSpPr>
          <p:cNvPr id="16" name="fx5|calib body"/>
          <p:cNvSpPr txBox="1"/>
          <p:nvPr/>
        </p:nvSpPr>
        <p:spPr>
          <a:xfrm>
            <a:off x="777240" y="265176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الكاميرا تصوّر الطريق من زاوية، لذلك نحدد نقاطاً مرجعية ومسافات معروفة لتحويل حركة المركبة في الصورة إلى مسافة حقيقية على الطريق. جودة المعايرة تؤثر مباشرة في دقة السرعة.</a:t>
            </a:r>
            <a:endParaRPr lang="ar-SA" sz="1400" dirty="0"/>
          </a:p>
        </p:txBody>
      </p:sp>
      <p:sp>
        <p:nvSpPr>
          <p:cNvPr id="17" name="fx6|limits"/>
          <p:cNvSpPr/>
          <p:nvPr/>
        </p:nvSpPr>
        <p:spPr>
          <a:xfrm>
            <a:off x="548640" y="4160520"/>
            <a:ext cx="55778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5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8" name="fx6|limits t"/>
          <p:cNvSpPr txBox="1"/>
          <p:nvPr/>
        </p:nvSpPr>
        <p:spPr>
          <a:xfrm>
            <a:off x="777240" y="4279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لكل موقع سرعته القانونية</a:t>
            </a:r>
            <a:endParaRPr lang="ar-SA" sz="1600" dirty="0"/>
          </a:p>
        </p:txBody>
      </p:sp>
      <p:sp>
        <p:nvSpPr>
          <p:cNvPr id="19" name="fx7|sign#3d"/>
          <p:cNvSpPr txBox="1"/>
          <p:nvPr/>
        </p:nvSpPr>
        <p:spPr>
          <a:xfrm>
            <a:off x="4599432" y="4754880"/>
            <a:ext cx="950976" cy="950976"/>
          </a:xfrm>
          <a:prstGeom prst="ellipse">
            <a:avLst/>
          </a:prstGeom>
          <a:solidFill>
            <a:srgbClr val="FFFFFF"/>
          </a:solidFill>
          <a:ln w="118872">
            <a:solidFill>
              <a:srgbClr val="DC2626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700" b="1" dirty="0">
                <a:solidFill>
                  <a:srgbClr val="111111"/>
                </a:solidFill>
              </a:rPr>
              <a:t>60</a:t>
            </a:r>
            <a:endParaRPr lang="en-US" sz="2700" dirty="0"/>
          </a:p>
        </p:txBody>
      </p:sp>
      <p:sp>
        <p:nvSpPr>
          <p:cNvPr id="20" name="fx7|lab"/>
          <p:cNvSpPr txBox="1"/>
          <p:nvPr/>
        </p:nvSpPr>
        <p:spPr>
          <a:xfrm>
            <a:off x="4343400" y="5760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bg2"/>
                </a:solidFill>
              </a:rPr>
              <a:t>موقع A</a:t>
            </a:r>
            <a:endParaRPr lang="ar-SA" sz="1300" dirty="0"/>
          </a:p>
        </p:txBody>
      </p:sp>
      <p:sp>
        <p:nvSpPr>
          <p:cNvPr id="21" name="fx8|sign#3d"/>
          <p:cNvSpPr txBox="1"/>
          <p:nvPr/>
        </p:nvSpPr>
        <p:spPr>
          <a:xfrm>
            <a:off x="2816352" y="4754880"/>
            <a:ext cx="950976" cy="950976"/>
          </a:xfrm>
          <a:prstGeom prst="ellipse">
            <a:avLst/>
          </a:prstGeom>
          <a:solidFill>
            <a:srgbClr val="FFFFFF"/>
          </a:solidFill>
          <a:ln w="118872">
            <a:solidFill>
              <a:srgbClr val="DC2626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700" b="1" dirty="0">
                <a:solidFill>
                  <a:srgbClr val="111111"/>
                </a:solidFill>
              </a:rPr>
              <a:t>80</a:t>
            </a:r>
            <a:endParaRPr lang="en-US" sz="2700" dirty="0"/>
          </a:p>
        </p:txBody>
      </p:sp>
      <p:sp>
        <p:nvSpPr>
          <p:cNvPr id="22" name="fx8|lab"/>
          <p:cNvSpPr txBox="1"/>
          <p:nvPr/>
        </p:nvSpPr>
        <p:spPr>
          <a:xfrm>
            <a:off x="2560320" y="5760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bg2"/>
                </a:solidFill>
              </a:rPr>
              <a:t>موقع B</a:t>
            </a:r>
            <a:endParaRPr lang="ar-SA" sz="1300" dirty="0"/>
          </a:p>
        </p:txBody>
      </p:sp>
      <p:sp>
        <p:nvSpPr>
          <p:cNvPr id="23" name="fx9|sign#3d"/>
          <p:cNvSpPr txBox="1"/>
          <p:nvPr/>
        </p:nvSpPr>
        <p:spPr>
          <a:xfrm>
            <a:off x="1033272" y="4754880"/>
            <a:ext cx="950976" cy="950976"/>
          </a:xfrm>
          <a:prstGeom prst="ellipse">
            <a:avLst/>
          </a:prstGeom>
          <a:solidFill>
            <a:srgbClr val="FFFFFF"/>
          </a:solidFill>
          <a:ln w="118872">
            <a:solidFill>
              <a:srgbClr val="DC2626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700" b="1" dirty="0">
                <a:solidFill>
                  <a:srgbClr val="111111"/>
                </a:solidFill>
              </a:rPr>
              <a:t>40</a:t>
            </a:r>
            <a:endParaRPr lang="en-US" sz="2700" dirty="0"/>
          </a:p>
        </p:txBody>
      </p:sp>
      <p:sp>
        <p:nvSpPr>
          <p:cNvPr id="24" name="fx9|lab"/>
          <p:cNvSpPr txBox="1"/>
          <p:nvPr/>
        </p:nvSpPr>
        <p:spPr>
          <a:xfrm>
            <a:off x="777240" y="5760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bg2"/>
                </a:solidFill>
              </a:rPr>
              <a:t>موقع C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نموذج اكتشاف المخالفة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Violation Detection Logic</a:t>
            </a:r>
            <a:endParaRPr lang="en-US" sz="1500" dirty="0"/>
          </a:p>
        </p:txBody>
      </p:sp>
      <p:sp>
        <p:nvSpPr>
          <p:cNvPr id="4" name="fx0|compare#3d"/>
          <p:cNvSpPr txBox="1"/>
          <p:nvPr/>
        </p:nvSpPr>
        <p:spPr>
          <a:xfrm>
            <a:off x="3355848" y="1554480"/>
            <a:ext cx="5486400" cy="6858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tx1"/>
                </a:solidFill>
              </a:rPr>
              <a:t>مقارنة سرعة المركبة بالسرعة القانونية للموقع</a:t>
            </a:r>
            <a:endParaRPr lang="ar-SA" sz="1700" dirty="0"/>
          </a:p>
        </p:txBody>
      </p:sp>
      <p:sp>
        <p:nvSpPr>
          <p:cNvPr id="5" name="fx1|to yes"/>
          <p:cNvSpPr/>
          <p:nvPr/>
        </p:nvSpPr>
        <p:spPr>
          <a:xfrm>
            <a:off x="6099048" y="2240280"/>
            <a:ext cx="2770632" cy="502920"/>
          </a:xfrm>
          <a:prstGeom prst="line">
            <a:avLst/>
          </a:prstGeom>
          <a:noFill/>
          <a:ln w="25400">
            <a:solidFill>
              <a:srgbClr val="F43F5E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6" name="fx1|to no"/>
          <p:cNvSpPr/>
          <p:nvPr/>
        </p:nvSpPr>
        <p:spPr>
          <a:xfrm flipV="1">
            <a:off x="3319272" y="2240280"/>
            <a:ext cx="2779776" cy="502920"/>
          </a:xfrm>
          <a:prstGeom prst="line">
            <a:avLst/>
          </a:prstGeom>
          <a:noFill/>
          <a:ln w="25400">
            <a:solidFill>
              <a:srgbClr val="10B981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7" name="fx2|card"/>
          <p:cNvSpPr/>
          <p:nvPr/>
        </p:nvSpPr>
        <p:spPr>
          <a:xfrm>
            <a:off x="6309360" y="2788920"/>
            <a:ext cx="5330952" cy="3383280"/>
          </a:xfrm>
          <a:prstGeom prst="roundRect">
            <a:avLst>
              <a:gd name="adj" fmla="val 378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5">
                <a:alpha val="7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8" name="fx2|ic bg#3d"/>
          <p:cNvSpPr/>
          <p:nvPr/>
        </p:nvSpPr>
        <p:spPr>
          <a:xfrm>
            <a:off x="10680192" y="2971800"/>
            <a:ext cx="749808" cy="749808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9" name="fx2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644" y="3159252"/>
            <a:ext cx="374904" cy="374904"/>
          </a:xfrm>
          <a:prstGeom prst="rect">
            <a:avLst/>
          </a:prstGeom>
        </p:spPr>
      </p:pic>
      <p:sp>
        <p:nvSpPr>
          <p:cNvPr id="10" name="fx2|head"/>
          <p:cNvSpPr txBox="1"/>
          <p:nvPr/>
        </p:nvSpPr>
        <p:spPr>
          <a:xfrm>
            <a:off x="6537960" y="2971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سرعة المركبة &gt; السرعة القانونية</a:t>
            </a:r>
            <a:endParaRPr lang="ar-SA" sz="1700" dirty="0"/>
          </a:p>
        </p:txBody>
      </p:sp>
      <p:sp>
        <p:nvSpPr>
          <p:cNvPr id="11" name="fx2|sub"/>
          <p:cNvSpPr txBox="1"/>
          <p:nvPr/>
        </p:nvSpPr>
        <p:spPr>
          <a:xfrm>
            <a:off x="6537960" y="3383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chemeClr val="accent5"/>
                </a:solidFill>
              </a:rPr>
              <a:t>مخالفة  •  Violation</a:t>
            </a:r>
            <a:endParaRPr lang="ar-SA" sz="1300" dirty="0"/>
          </a:p>
        </p:txBody>
      </p:sp>
      <p:sp>
        <p:nvSpPr>
          <p:cNvPr id="12" name="fx3|n"/>
          <p:cNvSpPr txBox="1"/>
          <p:nvPr/>
        </p:nvSpPr>
        <p:spPr>
          <a:xfrm>
            <a:off x="11000232" y="3968496"/>
            <a:ext cx="347472" cy="347472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tx1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fx3|t"/>
          <p:cNvSpPr txBox="1"/>
          <p:nvPr/>
        </p:nvSpPr>
        <p:spPr>
          <a:xfrm>
            <a:off x="6537960" y="393192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bg1"/>
                </a:solidFill>
              </a:rPr>
              <a:t>توثيق المركبة واختيار إطار واضح</a:t>
            </a:r>
            <a:endParaRPr lang="ar-SA" sz="1500" dirty="0"/>
          </a:p>
        </p:txBody>
      </p:sp>
      <p:sp>
        <p:nvSpPr>
          <p:cNvPr id="14" name="fx4|n"/>
          <p:cNvSpPr txBox="1"/>
          <p:nvPr/>
        </p:nvSpPr>
        <p:spPr>
          <a:xfrm>
            <a:off x="11000232" y="4498848"/>
            <a:ext cx="347472" cy="347472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tx1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fx4|t"/>
          <p:cNvSpPr txBox="1"/>
          <p:nvPr/>
        </p:nvSpPr>
        <p:spPr>
          <a:xfrm>
            <a:off x="6537960" y="446227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bg1"/>
                </a:solidFill>
              </a:rPr>
              <a:t>قراءة رقم اللوحة PaddleOCR</a:t>
            </a:r>
            <a:endParaRPr lang="ar-SA" sz="1500" dirty="0"/>
          </a:p>
        </p:txBody>
      </p:sp>
      <p:sp>
        <p:nvSpPr>
          <p:cNvPr id="16" name="fx5|n"/>
          <p:cNvSpPr txBox="1"/>
          <p:nvPr/>
        </p:nvSpPr>
        <p:spPr>
          <a:xfrm>
            <a:off x="11000232" y="5029200"/>
            <a:ext cx="347472" cy="347472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tx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fx5|t"/>
          <p:cNvSpPr txBox="1"/>
          <p:nvPr/>
        </p:nvSpPr>
        <p:spPr>
          <a:xfrm>
            <a:off x="6537960" y="499262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bg1"/>
                </a:solidFill>
              </a:rPr>
              <a:t>البحث عن المركبة ومالكها</a:t>
            </a:r>
            <a:endParaRPr lang="ar-SA" sz="1500" dirty="0"/>
          </a:p>
        </p:txBody>
      </p:sp>
      <p:sp>
        <p:nvSpPr>
          <p:cNvPr id="18" name="fx6|n"/>
          <p:cNvSpPr txBox="1"/>
          <p:nvPr/>
        </p:nvSpPr>
        <p:spPr>
          <a:xfrm>
            <a:off x="11000232" y="5559552"/>
            <a:ext cx="347472" cy="347472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tx1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fx6|t"/>
          <p:cNvSpPr txBox="1"/>
          <p:nvPr/>
        </p:nvSpPr>
        <p:spPr>
          <a:xfrm>
            <a:off x="6537960" y="5522976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bg1"/>
                </a:solidFill>
              </a:rPr>
              <a:t>تسجيل المخالفة وإرسالها للخادم</a:t>
            </a:r>
            <a:endParaRPr lang="ar-SA" sz="1500" dirty="0"/>
          </a:p>
        </p:txBody>
      </p:sp>
      <p:sp>
        <p:nvSpPr>
          <p:cNvPr id="20" name="fx8|card"/>
          <p:cNvSpPr/>
          <p:nvPr/>
        </p:nvSpPr>
        <p:spPr>
          <a:xfrm>
            <a:off x="548640" y="2788920"/>
            <a:ext cx="5330952" cy="3383280"/>
          </a:xfrm>
          <a:prstGeom prst="roundRect">
            <a:avLst>
              <a:gd name="adj" fmla="val 378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>
                <a:alpha val="7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21" name="fx8|ic bg#3d"/>
          <p:cNvSpPr/>
          <p:nvPr/>
        </p:nvSpPr>
        <p:spPr>
          <a:xfrm>
            <a:off x="4919472" y="2971800"/>
            <a:ext cx="749808" cy="749808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2" name="fx8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924" y="3159252"/>
            <a:ext cx="374904" cy="374904"/>
          </a:xfrm>
          <a:prstGeom prst="rect">
            <a:avLst/>
          </a:prstGeom>
        </p:spPr>
      </p:pic>
      <p:sp>
        <p:nvSpPr>
          <p:cNvPr id="23" name="fx8|head"/>
          <p:cNvSpPr txBox="1"/>
          <p:nvPr/>
        </p:nvSpPr>
        <p:spPr>
          <a:xfrm>
            <a:off x="777240" y="2971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سرعة المركبة ≤ السرعة القانونية</a:t>
            </a:r>
            <a:endParaRPr lang="ar-SA" sz="1700" dirty="0"/>
          </a:p>
        </p:txBody>
      </p:sp>
      <p:sp>
        <p:nvSpPr>
          <p:cNvPr id="24" name="fx8|sub"/>
          <p:cNvSpPr txBox="1"/>
          <p:nvPr/>
        </p:nvSpPr>
        <p:spPr>
          <a:xfrm>
            <a:off x="777240" y="3383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chemeClr val="accent4"/>
                </a:solidFill>
              </a:rPr>
              <a:t>لا مخالفة  •  No violation</a:t>
            </a:r>
            <a:endParaRPr lang="ar-SA" sz="1300" dirty="0"/>
          </a:p>
        </p:txBody>
      </p:sp>
      <p:sp>
        <p:nvSpPr>
          <p:cNvPr id="25" name="fx9|n"/>
          <p:cNvSpPr txBox="1"/>
          <p:nvPr/>
        </p:nvSpPr>
        <p:spPr>
          <a:xfrm>
            <a:off x="5239512" y="3968496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tx1"/>
                </a:solidFill>
              </a:rPr>
              <a:t>1</a:t>
            </a:r>
            <a:endParaRPr lang="en-US" sz="1100" dirty="0"/>
          </a:p>
        </p:txBody>
      </p:sp>
      <p:sp>
        <p:nvSpPr>
          <p:cNvPr id="26" name="fx9|t"/>
          <p:cNvSpPr txBox="1"/>
          <p:nvPr/>
        </p:nvSpPr>
        <p:spPr>
          <a:xfrm>
            <a:off x="777240" y="393192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bg1"/>
                </a:solidFill>
              </a:rPr>
              <a:t>لا يتم تسجيل مخالفة</a:t>
            </a:r>
            <a:endParaRPr lang="ar-SA" sz="1500" dirty="0"/>
          </a:p>
        </p:txBody>
      </p:sp>
      <p:sp>
        <p:nvSpPr>
          <p:cNvPr id="27" name="fx10|n"/>
          <p:cNvSpPr txBox="1"/>
          <p:nvPr/>
        </p:nvSpPr>
        <p:spPr>
          <a:xfrm>
            <a:off x="5239512" y="4498848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tx1"/>
                </a:solidFill>
              </a:rPr>
              <a:t>2</a:t>
            </a:r>
            <a:endParaRPr lang="en-US" sz="1100" dirty="0"/>
          </a:p>
        </p:txBody>
      </p:sp>
      <p:sp>
        <p:nvSpPr>
          <p:cNvPr id="28" name="fx10|t"/>
          <p:cNvSpPr txBox="1"/>
          <p:nvPr/>
        </p:nvSpPr>
        <p:spPr>
          <a:xfrm>
            <a:off x="777240" y="446227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bg1"/>
                </a:solidFill>
              </a:rPr>
              <a:t>لا يتم البحث عن رقم اللوحة</a:t>
            </a:r>
            <a:endParaRPr lang="ar-SA" sz="1500" dirty="0"/>
          </a:p>
        </p:txBody>
      </p:sp>
      <p:sp>
        <p:nvSpPr>
          <p:cNvPr id="29" name="fx11|n"/>
          <p:cNvSpPr txBox="1"/>
          <p:nvPr/>
        </p:nvSpPr>
        <p:spPr>
          <a:xfrm>
            <a:off x="5239512" y="5029200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tx1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fx11|t"/>
          <p:cNvSpPr txBox="1"/>
          <p:nvPr/>
        </p:nvSpPr>
        <p:spPr>
          <a:xfrm>
            <a:off x="777240" y="499262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bg1"/>
                </a:solidFill>
              </a:rPr>
              <a:t>لا تُحفظ بيانات المركبة</a:t>
            </a:r>
            <a:endParaRPr lang="ar-SA" sz="1500" dirty="0"/>
          </a:p>
        </p:txBody>
      </p:sp>
      <p:sp>
        <p:nvSpPr>
          <p:cNvPr id="31" name="fx12|n"/>
          <p:cNvSpPr txBox="1"/>
          <p:nvPr/>
        </p:nvSpPr>
        <p:spPr>
          <a:xfrm>
            <a:off x="5239512" y="5559552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tx1"/>
                </a:solidFill>
              </a:rPr>
              <a:t>4</a:t>
            </a:r>
            <a:endParaRPr lang="en-US" sz="1100" dirty="0"/>
          </a:p>
        </p:txBody>
      </p:sp>
      <p:sp>
        <p:nvSpPr>
          <p:cNvPr id="32" name="fx12|t"/>
          <p:cNvSpPr txBox="1"/>
          <p:nvPr/>
        </p:nvSpPr>
        <p:spPr>
          <a:xfrm>
            <a:off x="777240" y="5522976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bg1"/>
                </a:solidFill>
              </a:rPr>
              <a:t>استمرار مراقبة الطريق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معمارية النظام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Multi-Component System Architecture</a:t>
            </a:r>
            <a:endParaRPr lang="en-US" sz="1500" dirty="0"/>
          </a:p>
        </p:txBody>
      </p:sp>
      <p:sp>
        <p:nvSpPr>
          <p:cNvPr id="4" name="fx0|card#3d"/>
          <p:cNvSpPr/>
          <p:nvPr/>
        </p:nvSpPr>
        <p:spPr>
          <a:xfrm>
            <a:off x="9445752" y="1645920"/>
            <a:ext cx="2194560" cy="4526280"/>
          </a:xfrm>
          <a:prstGeom prst="roundRect">
            <a:avLst>
              <a:gd name="adj" fmla="val 5833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7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5" name="fx0|ic bg#3d"/>
          <p:cNvSpPr/>
          <p:nvPr/>
        </p:nvSpPr>
        <p:spPr>
          <a:xfrm>
            <a:off x="10085832" y="1828800"/>
            <a:ext cx="914400" cy="91440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6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057400"/>
            <a:ext cx="457200" cy="457200"/>
          </a:xfrm>
          <a:prstGeom prst="rect">
            <a:avLst/>
          </a:prstGeom>
        </p:spPr>
      </p:pic>
      <p:sp>
        <p:nvSpPr>
          <p:cNvPr id="7" name="fx0|ar"/>
          <p:cNvSpPr txBox="1"/>
          <p:nvPr/>
        </p:nvSpPr>
        <p:spPr>
          <a:xfrm>
            <a:off x="9537192" y="2834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تطبيق الهاتف</a:t>
            </a:r>
            <a:endParaRPr lang="ar-SA" sz="1600" dirty="0"/>
          </a:p>
        </p:txBody>
      </p:sp>
      <p:sp>
        <p:nvSpPr>
          <p:cNvPr id="8" name="fx0|en"/>
          <p:cNvSpPr txBox="1"/>
          <p:nvPr/>
        </p:nvSpPr>
        <p:spPr>
          <a:xfrm>
            <a:off x="9537192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accent1"/>
                </a:solidFill>
              </a:rPr>
              <a:t>Flutter • Dart</a:t>
            </a:r>
            <a:endParaRPr lang="en-US" sz="1100" dirty="0"/>
          </a:p>
        </p:txBody>
      </p:sp>
      <p:sp>
        <p:nvSpPr>
          <p:cNvPr id="9" name="fx1|items"/>
          <p:cNvSpPr txBox="1"/>
          <p:nvPr/>
        </p:nvSpPr>
        <p:spPr>
          <a:xfrm>
            <a:off x="9582912" y="384048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تسجيل الدخول</a:t>
            </a:r>
            <a:endParaRPr lang="ar-SA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تشغيل الكاميرا وتصوير الطريق</a:t>
            </a:r>
            <a:endParaRPr lang="ar-SA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تحديد موقع الجهاز</a:t>
            </a:r>
            <a:endParaRPr lang="ar-SA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إرسال البيانات واستقبال التنبيهات</a:t>
            </a:r>
            <a:endParaRPr lang="ar-SA" sz="1200" dirty="0"/>
          </a:p>
        </p:txBody>
      </p:sp>
      <p:sp>
        <p:nvSpPr>
          <p:cNvPr id="10" name="fx2|card#3d"/>
          <p:cNvSpPr/>
          <p:nvPr/>
        </p:nvSpPr>
        <p:spPr>
          <a:xfrm>
            <a:off x="6464808" y="1645920"/>
            <a:ext cx="2194560" cy="4526280"/>
          </a:xfrm>
          <a:prstGeom prst="roundRect">
            <a:avLst>
              <a:gd name="adj" fmla="val 5833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3">
                <a:alpha val="7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1" name="fx2|ic bg#3d"/>
          <p:cNvSpPr/>
          <p:nvPr/>
        </p:nvSpPr>
        <p:spPr>
          <a:xfrm>
            <a:off x="7104888" y="1828800"/>
            <a:ext cx="914400" cy="91440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3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2" name="fx2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2057400"/>
            <a:ext cx="457200" cy="457200"/>
          </a:xfrm>
          <a:prstGeom prst="rect">
            <a:avLst/>
          </a:prstGeom>
        </p:spPr>
      </p:pic>
      <p:sp>
        <p:nvSpPr>
          <p:cNvPr id="13" name="fx2|ar"/>
          <p:cNvSpPr txBox="1"/>
          <p:nvPr/>
        </p:nvSpPr>
        <p:spPr>
          <a:xfrm>
            <a:off x="6556248" y="2834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خادم الذكاء الاصطناعي</a:t>
            </a:r>
            <a:endParaRPr lang="ar-SA" sz="1600" dirty="0"/>
          </a:p>
        </p:txBody>
      </p:sp>
      <p:sp>
        <p:nvSpPr>
          <p:cNvPr id="14" name="fx2|en"/>
          <p:cNvSpPr txBox="1"/>
          <p:nvPr/>
        </p:nvSpPr>
        <p:spPr>
          <a:xfrm>
            <a:off x="6556248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accent3"/>
                </a:solidFill>
              </a:rPr>
              <a:t>Python • FastAPI</a:t>
            </a:r>
            <a:endParaRPr lang="en-US" sz="1100" dirty="0"/>
          </a:p>
        </p:txBody>
      </p:sp>
      <p:sp>
        <p:nvSpPr>
          <p:cNvPr id="15" name="fx3|items"/>
          <p:cNvSpPr txBox="1"/>
          <p:nvPr/>
        </p:nvSpPr>
        <p:spPr>
          <a:xfrm>
            <a:off x="6601968" y="384048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معالجة الفيديو</a:t>
            </a:r>
            <a:endParaRPr lang="ar-SA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اكتشاف وتتبع المركبات</a:t>
            </a:r>
            <a:endParaRPr lang="ar-SA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حساب السرعة وتحديد المخالفة</a:t>
            </a:r>
            <a:endParaRPr lang="ar-SA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التعرف على اللوحات</a:t>
            </a:r>
            <a:endParaRPr lang="ar-SA" sz="1200" dirty="0"/>
          </a:p>
        </p:txBody>
      </p:sp>
      <p:sp>
        <p:nvSpPr>
          <p:cNvPr id="16" name="fx4|card#3d"/>
          <p:cNvSpPr/>
          <p:nvPr/>
        </p:nvSpPr>
        <p:spPr>
          <a:xfrm>
            <a:off x="3474720" y="1645920"/>
            <a:ext cx="2194560" cy="4526280"/>
          </a:xfrm>
          <a:prstGeom prst="roundRect">
            <a:avLst>
              <a:gd name="adj" fmla="val 5833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7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7" name="fx4|ic bg#3d"/>
          <p:cNvSpPr/>
          <p:nvPr/>
        </p:nvSpPr>
        <p:spPr>
          <a:xfrm>
            <a:off x="4114800" y="1828800"/>
            <a:ext cx="914400" cy="91440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8" name="fx4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057400"/>
            <a:ext cx="457200" cy="457200"/>
          </a:xfrm>
          <a:prstGeom prst="rect">
            <a:avLst/>
          </a:prstGeom>
        </p:spPr>
      </p:pic>
      <p:sp>
        <p:nvSpPr>
          <p:cNvPr id="19" name="fx4|ar"/>
          <p:cNvSpPr txBox="1"/>
          <p:nvPr/>
        </p:nvSpPr>
        <p:spPr>
          <a:xfrm>
            <a:off x="3566160" y="2834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الخادم المركزي</a:t>
            </a:r>
            <a:endParaRPr lang="ar-SA" sz="1600" dirty="0"/>
          </a:p>
        </p:txBody>
      </p:sp>
      <p:sp>
        <p:nvSpPr>
          <p:cNvPr id="20" name="fx4|en"/>
          <p:cNvSpPr txBox="1"/>
          <p:nvPr/>
        </p:nvSpPr>
        <p:spPr>
          <a:xfrm>
            <a:off x="356616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accent2"/>
                </a:solidFill>
              </a:rPr>
              <a:t>Laravel • REST API</a:t>
            </a:r>
            <a:endParaRPr lang="en-US" sz="1100" dirty="0"/>
          </a:p>
        </p:txBody>
      </p:sp>
      <p:sp>
        <p:nvSpPr>
          <p:cNvPr id="21" name="fx5|items"/>
          <p:cNvSpPr txBox="1"/>
          <p:nvPr/>
        </p:nvSpPr>
        <p:spPr>
          <a:xfrm>
            <a:off x="3611880" y="384048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إدارة المستخدمين والأجهزة</a:t>
            </a:r>
            <a:endParaRPr lang="ar-SA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إدارة المواقع والسرعات</a:t>
            </a:r>
            <a:endParaRPr lang="ar-SA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إدارة المركبات ومالكيها</a:t>
            </a:r>
            <a:endParaRPr lang="ar-SA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إدارة المخالفات</a:t>
            </a:r>
            <a:endParaRPr lang="ar-SA" sz="1200" dirty="0"/>
          </a:p>
        </p:txBody>
      </p:sp>
      <p:sp>
        <p:nvSpPr>
          <p:cNvPr id="22" name="fx1|arrow"/>
          <p:cNvSpPr/>
          <p:nvPr/>
        </p:nvSpPr>
        <p:spPr>
          <a:xfrm>
            <a:off x="9006840" y="2743200"/>
            <a:ext cx="457200" cy="292608"/>
          </a:xfrm>
          <a:prstGeom prst="left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fx1|lab"/>
          <p:cNvSpPr txBox="1"/>
          <p:nvPr/>
        </p:nvSpPr>
        <p:spPr>
          <a:xfrm>
            <a:off x="8686800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chemeClr val="accent1"/>
                </a:solidFill>
              </a:rPr>
              <a:t>فيديو / إطارات</a:t>
            </a:r>
            <a:endParaRPr lang="en-US" sz="1000" dirty="0"/>
          </a:p>
        </p:txBody>
      </p:sp>
      <p:sp>
        <p:nvSpPr>
          <p:cNvPr id="24" name="fx3|arrow"/>
          <p:cNvSpPr/>
          <p:nvPr/>
        </p:nvSpPr>
        <p:spPr>
          <a:xfrm>
            <a:off x="6016752" y="2743200"/>
            <a:ext cx="457200" cy="292608"/>
          </a:xfrm>
          <a:prstGeom prst="left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fx3|lab"/>
          <p:cNvSpPr txBox="1"/>
          <p:nvPr/>
        </p:nvSpPr>
        <p:spPr>
          <a:xfrm>
            <a:off x="5696712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chemeClr val="accent3"/>
                </a:solidFill>
              </a:rPr>
              <a:t>REST API</a:t>
            </a:r>
            <a:endParaRPr lang="en-US" sz="1000" dirty="0"/>
          </a:p>
        </p:txBody>
      </p:sp>
      <p:sp>
        <p:nvSpPr>
          <p:cNvPr id="26" name="fx6|card#3d"/>
          <p:cNvSpPr/>
          <p:nvPr/>
        </p:nvSpPr>
        <p:spPr>
          <a:xfrm>
            <a:off x="548640" y="1645920"/>
            <a:ext cx="2606040" cy="2194560"/>
          </a:xfrm>
          <a:prstGeom prst="roundRect">
            <a:avLst>
              <a:gd name="adj" fmla="val 5833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>
                <a:alpha val="7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7" name="fx6|ic bg#3d"/>
          <p:cNvSpPr/>
          <p:nvPr/>
        </p:nvSpPr>
        <p:spPr>
          <a:xfrm>
            <a:off x="2331720" y="1783080"/>
            <a:ext cx="658368" cy="658368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8" name="fx6|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1947672"/>
            <a:ext cx="329184" cy="329184"/>
          </a:xfrm>
          <a:prstGeom prst="rect">
            <a:avLst/>
          </a:prstGeom>
        </p:spPr>
      </p:pic>
      <p:sp>
        <p:nvSpPr>
          <p:cNvPr id="29" name="fx6|ar"/>
          <p:cNvSpPr txBox="1"/>
          <p:nvPr/>
        </p:nvSpPr>
        <p:spPr>
          <a:xfrm>
            <a:off x="685800" y="18105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لوحة التحكم</a:t>
            </a:r>
            <a:endParaRPr lang="ar-SA" sz="1500" dirty="0"/>
          </a:p>
        </p:txBody>
      </p:sp>
      <p:sp>
        <p:nvSpPr>
          <p:cNvPr id="30" name="fx6|en"/>
          <p:cNvSpPr txBox="1"/>
          <p:nvPr/>
        </p:nvSpPr>
        <p:spPr>
          <a:xfrm>
            <a:off x="685800" y="21488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chemeClr val="accent4"/>
                </a:solidFill>
              </a:rPr>
              <a:t>Web Dashboard</a:t>
            </a:r>
            <a:endParaRPr lang="en-US" sz="1100" dirty="0"/>
          </a:p>
        </p:txBody>
      </p:sp>
      <p:sp>
        <p:nvSpPr>
          <p:cNvPr id="31" name="fx6|body"/>
          <p:cNvSpPr txBox="1"/>
          <p:nvPr/>
        </p:nvSpPr>
        <p:spPr>
          <a:xfrm>
            <a:off x="685800" y="2560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إدارة ومراجعة المستخدمين والأجهزة والمواقع والمركبات والمخالفات والتقارير</a:t>
            </a:r>
            <a:endParaRPr lang="ar-SA" sz="1200" dirty="0"/>
          </a:p>
        </p:txBody>
      </p:sp>
      <p:sp>
        <p:nvSpPr>
          <p:cNvPr id="32" name="fx6|arrow"/>
          <p:cNvSpPr/>
          <p:nvPr/>
        </p:nvSpPr>
        <p:spPr>
          <a:xfrm>
            <a:off x="3154680" y="2606040"/>
            <a:ext cx="320040" cy="256032"/>
          </a:xfrm>
          <a:prstGeom prst="left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fx7|card#3d"/>
          <p:cNvSpPr/>
          <p:nvPr/>
        </p:nvSpPr>
        <p:spPr>
          <a:xfrm>
            <a:off x="548640" y="3977640"/>
            <a:ext cx="2606040" cy="2194560"/>
          </a:xfrm>
          <a:prstGeom prst="roundRect">
            <a:avLst>
              <a:gd name="adj" fmla="val 5833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5">
                <a:alpha val="7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34" name="fx7|ic bg#3d"/>
          <p:cNvSpPr/>
          <p:nvPr/>
        </p:nvSpPr>
        <p:spPr>
          <a:xfrm>
            <a:off x="2331720" y="4114800"/>
            <a:ext cx="658368" cy="658368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35" name="fx7|ic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312" y="4279392"/>
            <a:ext cx="329184" cy="329184"/>
          </a:xfrm>
          <a:prstGeom prst="rect">
            <a:avLst/>
          </a:prstGeom>
        </p:spPr>
      </p:pic>
      <p:sp>
        <p:nvSpPr>
          <p:cNvPr id="36" name="fx7|ar"/>
          <p:cNvSpPr txBox="1"/>
          <p:nvPr/>
        </p:nvSpPr>
        <p:spPr>
          <a:xfrm>
            <a:off x="685800" y="41422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قاعدة البيانات</a:t>
            </a:r>
            <a:endParaRPr lang="ar-SA" sz="1500" dirty="0"/>
          </a:p>
        </p:txBody>
      </p:sp>
      <p:sp>
        <p:nvSpPr>
          <p:cNvPr id="37" name="fx7|en"/>
          <p:cNvSpPr txBox="1"/>
          <p:nvPr/>
        </p:nvSpPr>
        <p:spPr>
          <a:xfrm>
            <a:off x="685800" y="44805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chemeClr val="accent5"/>
                </a:solidFill>
              </a:rPr>
              <a:t>MySQL</a:t>
            </a:r>
            <a:endParaRPr lang="en-US" sz="1100" dirty="0"/>
          </a:p>
        </p:txBody>
      </p:sp>
      <p:sp>
        <p:nvSpPr>
          <p:cNvPr id="38" name="fx7|body"/>
          <p:cNvSpPr txBox="1"/>
          <p:nvPr/>
        </p:nvSpPr>
        <p:spPr>
          <a:xfrm>
            <a:off x="685800" y="48920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المستخدمون، المركبات، المالكون، المواقع، السرعات، المخالفات، الأدلة والصور</a:t>
            </a:r>
            <a:endParaRPr lang="ar-SA" sz="1200" dirty="0"/>
          </a:p>
        </p:txBody>
      </p:sp>
      <p:sp>
        <p:nvSpPr>
          <p:cNvPr id="39" name="fx7|arrow"/>
          <p:cNvSpPr/>
          <p:nvPr/>
        </p:nvSpPr>
        <p:spPr>
          <a:xfrm>
            <a:off x="3154680" y="4937760"/>
            <a:ext cx="320040" cy="256032"/>
          </a:xfrm>
          <a:prstGeom prst="left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تعدد أجهزة المراقبة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Multiple Monitoring Devices</a:t>
            </a:r>
            <a:endParaRPr lang="en-US" sz="1500" dirty="0"/>
          </a:p>
        </p:txBody>
      </p:sp>
      <p:sp>
        <p:nvSpPr>
          <p:cNvPr id="4" name="fx0|central#3d"/>
          <p:cNvSpPr txBox="1"/>
          <p:nvPr/>
        </p:nvSpPr>
        <p:spPr>
          <a:xfrm>
            <a:off x="4270248" y="1600200"/>
            <a:ext cx="3657600" cy="868680"/>
          </a:xfrm>
          <a:prstGeom prst="roundRect">
            <a:avLst>
              <a:gd name="adj" fmla="val 16842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304800" dist="50800" dir="16200000">
              <a:srgbClr val="E2BA52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tx1"/>
                </a:solidFill>
              </a:rPr>
              <a:t>النظام المركزي</a:t>
            </a:r>
            <a:endParaRPr lang="ar-SA" sz="2200" dirty="0"/>
          </a:p>
        </p:txBody>
      </p:sp>
      <p:sp>
        <p:nvSpPr>
          <p:cNvPr id="5" name="fx1|link"/>
          <p:cNvSpPr/>
          <p:nvPr/>
        </p:nvSpPr>
        <p:spPr>
          <a:xfrm>
            <a:off x="6099048" y="2468880"/>
            <a:ext cx="2953512" cy="777240"/>
          </a:xfrm>
          <a:prstGeom prst="line">
            <a:avLst/>
          </a:prstGeom>
          <a:noFill/>
          <a:ln w="22225">
            <a:solidFill>
              <a:srgbClr val="E2BA52">
                <a:alpha val="80000"/>
              </a:srgbClr>
            </a:solidFill>
            <a:prstDash val="dash"/>
            <a:headEnd type="triangle"/>
          </a:ln>
        </p:spPr>
      </p:sp>
      <p:sp>
        <p:nvSpPr>
          <p:cNvPr id="6" name="fx1|card#3d"/>
          <p:cNvSpPr/>
          <p:nvPr/>
        </p:nvSpPr>
        <p:spPr>
          <a:xfrm>
            <a:off x="7818120" y="3246120"/>
            <a:ext cx="2468880" cy="2880360"/>
          </a:xfrm>
          <a:prstGeom prst="roundRect">
            <a:avLst>
              <a:gd name="adj" fmla="val 518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7" name="fx1|ic bg#3d"/>
          <p:cNvSpPr/>
          <p:nvPr/>
        </p:nvSpPr>
        <p:spPr>
          <a:xfrm>
            <a:off x="8668512" y="3429000"/>
            <a:ext cx="768096" cy="76809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8" name="fx1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36" y="3621024"/>
            <a:ext cx="384048" cy="384048"/>
          </a:xfrm>
          <a:prstGeom prst="rect">
            <a:avLst/>
          </a:prstGeom>
        </p:spPr>
      </p:pic>
      <p:sp>
        <p:nvSpPr>
          <p:cNvPr id="9" name="fx1|name"/>
          <p:cNvSpPr txBox="1"/>
          <p:nvPr/>
        </p:nvSpPr>
        <p:spPr>
          <a:xfrm>
            <a:off x="7955280" y="4279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هاتف 1</a:t>
            </a:r>
            <a:endParaRPr lang="ar-SA" sz="1700" dirty="0"/>
          </a:p>
        </p:txBody>
      </p:sp>
      <p:sp>
        <p:nvSpPr>
          <p:cNvPr id="10" name="fx1|loc"/>
          <p:cNvSpPr txBox="1"/>
          <p:nvPr/>
        </p:nvSpPr>
        <p:spPr>
          <a:xfrm>
            <a:off x="7955280" y="4645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موقع A</a:t>
            </a:r>
            <a:endParaRPr lang="ar-SA" sz="1300" dirty="0"/>
          </a:p>
        </p:txBody>
      </p:sp>
      <p:sp>
        <p:nvSpPr>
          <p:cNvPr id="11" name="fx1|sign#3d"/>
          <p:cNvSpPr txBox="1"/>
          <p:nvPr/>
        </p:nvSpPr>
        <p:spPr>
          <a:xfrm>
            <a:off x="8595360" y="5029200"/>
            <a:ext cx="914400" cy="914400"/>
          </a:xfrm>
          <a:prstGeom prst="ellipse">
            <a:avLst/>
          </a:prstGeom>
          <a:solidFill>
            <a:srgbClr val="FFFFFF"/>
          </a:solidFill>
          <a:ln w="114300">
            <a:solidFill>
              <a:srgbClr val="DC2626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600" b="1" dirty="0">
                <a:solidFill>
                  <a:srgbClr val="111111"/>
                </a:solidFill>
              </a:rPr>
              <a:t>60</a:t>
            </a:r>
            <a:endParaRPr lang="en-US" sz="2600" dirty="0"/>
          </a:p>
        </p:txBody>
      </p:sp>
      <p:sp>
        <p:nvSpPr>
          <p:cNvPr id="12" name="fx2|link"/>
          <p:cNvSpPr/>
          <p:nvPr/>
        </p:nvSpPr>
        <p:spPr>
          <a:xfrm>
            <a:off x="6099048" y="2468880"/>
            <a:ext cx="914" cy="777240"/>
          </a:xfrm>
          <a:prstGeom prst="line">
            <a:avLst/>
          </a:prstGeom>
          <a:noFill/>
          <a:ln w="22225">
            <a:solidFill>
              <a:srgbClr val="E2BA52">
                <a:alpha val="80000"/>
              </a:srgbClr>
            </a:solidFill>
            <a:prstDash val="dash"/>
            <a:headEnd type="triangle"/>
          </a:ln>
        </p:spPr>
      </p:sp>
      <p:sp>
        <p:nvSpPr>
          <p:cNvPr id="13" name="fx2|card#3d"/>
          <p:cNvSpPr/>
          <p:nvPr/>
        </p:nvSpPr>
        <p:spPr>
          <a:xfrm>
            <a:off x="4864608" y="3246120"/>
            <a:ext cx="2468880" cy="2880360"/>
          </a:xfrm>
          <a:prstGeom prst="roundRect">
            <a:avLst>
              <a:gd name="adj" fmla="val 518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4" name="fx2|ic bg#3d"/>
          <p:cNvSpPr/>
          <p:nvPr/>
        </p:nvSpPr>
        <p:spPr>
          <a:xfrm>
            <a:off x="5715000" y="3429000"/>
            <a:ext cx="768096" cy="76809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5" name="fx2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4" y="3621024"/>
            <a:ext cx="384048" cy="384048"/>
          </a:xfrm>
          <a:prstGeom prst="rect">
            <a:avLst/>
          </a:prstGeom>
        </p:spPr>
      </p:pic>
      <p:sp>
        <p:nvSpPr>
          <p:cNvPr id="16" name="fx2|name"/>
          <p:cNvSpPr txBox="1"/>
          <p:nvPr/>
        </p:nvSpPr>
        <p:spPr>
          <a:xfrm>
            <a:off x="5001768" y="4279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هاتف 2</a:t>
            </a:r>
            <a:endParaRPr lang="ar-SA" sz="1700" dirty="0"/>
          </a:p>
        </p:txBody>
      </p:sp>
      <p:sp>
        <p:nvSpPr>
          <p:cNvPr id="17" name="fx2|loc"/>
          <p:cNvSpPr txBox="1"/>
          <p:nvPr/>
        </p:nvSpPr>
        <p:spPr>
          <a:xfrm>
            <a:off x="5001768" y="4645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موقع B</a:t>
            </a:r>
            <a:endParaRPr lang="ar-SA" sz="1300" dirty="0"/>
          </a:p>
        </p:txBody>
      </p:sp>
      <p:sp>
        <p:nvSpPr>
          <p:cNvPr id="18" name="fx2|sign#3d"/>
          <p:cNvSpPr txBox="1"/>
          <p:nvPr/>
        </p:nvSpPr>
        <p:spPr>
          <a:xfrm>
            <a:off x="5641848" y="5029200"/>
            <a:ext cx="914400" cy="914400"/>
          </a:xfrm>
          <a:prstGeom prst="ellipse">
            <a:avLst/>
          </a:prstGeom>
          <a:solidFill>
            <a:srgbClr val="FFFFFF"/>
          </a:solidFill>
          <a:ln w="114300">
            <a:solidFill>
              <a:srgbClr val="DC2626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600" b="1" dirty="0">
                <a:solidFill>
                  <a:srgbClr val="111111"/>
                </a:solidFill>
              </a:rPr>
              <a:t>80</a:t>
            </a:r>
            <a:endParaRPr lang="en-US" sz="2600" dirty="0"/>
          </a:p>
        </p:txBody>
      </p:sp>
      <p:sp>
        <p:nvSpPr>
          <p:cNvPr id="19" name="fx3|link"/>
          <p:cNvSpPr/>
          <p:nvPr/>
        </p:nvSpPr>
        <p:spPr>
          <a:xfrm flipV="1">
            <a:off x="3136392" y="2468880"/>
            <a:ext cx="2962656" cy="777240"/>
          </a:xfrm>
          <a:prstGeom prst="line">
            <a:avLst/>
          </a:prstGeom>
          <a:noFill/>
          <a:ln w="22225">
            <a:solidFill>
              <a:srgbClr val="E2BA52">
                <a:alpha val="80000"/>
              </a:srgbClr>
            </a:solidFill>
            <a:prstDash val="dash"/>
            <a:headEnd type="triangle"/>
          </a:ln>
        </p:spPr>
      </p:sp>
      <p:sp>
        <p:nvSpPr>
          <p:cNvPr id="20" name="fx3|card#3d"/>
          <p:cNvSpPr/>
          <p:nvPr/>
        </p:nvSpPr>
        <p:spPr>
          <a:xfrm>
            <a:off x="1901952" y="3246120"/>
            <a:ext cx="2468880" cy="2880360"/>
          </a:xfrm>
          <a:prstGeom prst="roundRect">
            <a:avLst>
              <a:gd name="adj" fmla="val 518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1" name="fx3|ic bg#3d"/>
          <p:cNvSpPr/>
          <p:nvPr/>
        </p:nvSpPr>
        <p:spPr>
          <a:xfrm>
            <a:off x="2752344" y="3429000"/>
            <a:ext cx="768096" cy="768096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2" name="fx3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368" y="3621024"/>
            <a:ext cx="384048" cy="384048"/>
          </a:xfrm>
          <a:prstGeom prst="rect">
            <a:avLst/>
          </a:prstGeom>
        </p:spPr>
      </p:pic>
      <p:sp>
        <p:nvSpPr>
          <p:cNvPr id="23" name="fx3|name"/>
          <p:cNvSpPr txBox="1"/>
          <p:nvPr/>
        </p:nvSpPr>
        <p:spPr>
          <a:xfrm>
            <a:off x="2039112" y="4279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هاتف 3</a:t>
            </a:r>
            <a:endParaRPr lang="ar-SA" sz="1700" dirty="0"/>
          </a:p>
        </p:txBody>
      </p:sp>
      <p:sp>
        <p:nvSpPr>
          <p:cNvPr id="24" name="fx3|loc"/>
          <p:cNvSpPr txBox="1"/>
          <p:nvPr/>
        </p:nvSpPr>
        <p:spPr>
          <a:xfrm>
            <a:off x="2039112" y="4645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موقع C</a:t>
            </a:r>
            <a:endParaRPr lang="ar-SA" sz="1300" dirty="0"/>
          </a:p>
        </p:txBody>
      </p:sp>
      <p:sp>
        <p:nvSpPr>
          <p:cNvPr id="25" name="fx3|sign#3d"/>
          <p:cNvSpPr txBox="1"/>
          <p:nvPr/>
        </p:nvSpPr>
        <p:spPr>
          <a:xfrm>
            <a:off x="2679192" y="5029200"/>
            <a:ext cx="914400" cy="914400"/>
          </a:xfrm>
          <a:prstGeom prst="ellipse">
            <a:avLst/>
          </a:prstGeom>
          <a:solidFill>
            <a:srgbClr val="FFFFFF"/>
          </a:solidFill>
          <a:ln w="114300">
            <a:solidFill>
              <a:srgbClr val="DC2626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600" b="1" dirty="0">
                <a:solidFill>
                  <a:srgbClr val="111111"/>
                </a:solidFill>
              </a:rPr>
              <a:t>40</a:t>
            </a:r>
            <a:endParaRPr lang="en-US" sz="2600" dirty="0"/>
          </a:p>
        </p:txBody>
      </p:sp>
      <p:sp>
        <p:nvSpPr>
          <p:cNvPr id="26" name="fx4|desc"/>
          <p:cNvSpPr txBox="1"/>
          <p:nvPr/>
        </p:nvSpPr>
        <p:spPr>
          <a:xfrm>
            <a:off x="548640" y="1600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1"/>
                </a:solidFill>
              </a:rPr>
              <a:t>يُربط كل جهاز بمستخدم وموقع وسرعة قانونية، وتصل المخالفات من جميع الأجهزة إلى النظام المركزي لمراجعتها.</a:t>
            </a:r>
            <a:endParaRPr lang="ar-SA" sz="1300" dirty="0"/>
          </a:p>
        </p:txBody>
      </p:sp>
      <p:sp>
        <p:nvSpPr>
          <p:cNvPr id="27" name="fx4|unit"/>
          <p:cNvSpPr txBox="1"/>
          <p:nvPr/>
        </p:nvSpPr>
        <p:spPr>
          <a:xfrm>
            <a:off x="8183880" y="1600200"/>
            <a:ext cx="3456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السرعات بالكيلومتر في الساعة  •  km/h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تصميم قاعدة البيانات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Database Design — MySQL</a:t>
            </a:r>
            <a:endParaRPr lang="en-US" sz="1500" dirty="0"/>
          </a:p>
        </p:txBody>
      </p:sp>
      <p:sp>
        <p:nvSpPr>
          <p:cNvPr id="4" name="fx8|r1"/>
          <p:cNvSpPr/>
          <p:nvPr/>
        </p:nvSpPr>
        <p:spPr>
          <a:xfrm>
            <a:off x="8750808" y="2240280"/>
            <a:ext cx="420624" cy="914"/>
          </a:xfrm>
          <a:prstGeom prst="line">
            <a:avLst/>
          </a:prstGeom>
          <a:noFill/>
          <a:ln w="1905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5" name="fx8|r1 lab"/>
          <p:cNvSpPr txBox="1"/>
          <p:nvPr/>
        </p:nvSpPr>
        <p:spPr>
          <a:xfrm>
            <a:off x="8759952" y="196596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chemeClr val="accent2"/>
                </a:solidFill>
              </a:rPr>
              <a:t>1:N</a:t>
            </a:r>
            <a:endParaRPr lang="en-US" sz="900" dirty="0"/>
          </a:p>
        </p:txBody>
      </p:sp>
      <p:sp>
        <p:nvSpPr>
          <p:cNvPr id="6" name="fx8|r2"/>
          <p:cNvSpPr/>
          <p:nvPr/>
        </p:nvSpPr>
        <p:spPr>
          <a:xfrm>
            <a:off x="5861304" y="2240280"/>
            <a:ext cx="420624" cy="914"/>
          </a:xfrm>
          <a:prstGeom prst="line">
            <a:avLst/>
          </a:prstGeom>
          <a:noFill/>
          <a:ln w="1905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7" name="fx8|r2 lab"/>
          <p:cNvSpPr txBox="1"/>
          <p:nvPr/>
        </p:nvSpPr>
        <p:spPr>
          <a:xfrm>
            <a:off x="5870448" y="196596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chemeClr val="accent2"/>
                </a:solidFill>
              </a:rPr>
              <a:t>N:1</a:t>
            </a:r>
            <a:endParaRPr lang="en-US" sz="900" dirty="0"/>
          </a:p>
        </p:txBody>
      </p:sp>
      <p:sp>
        <p:nvSpPr>
          <p:cNvPr id="8" name="fx8|r3"/>
          <p:cNvSpPr/>
          <p:nvPr/>
        </p:nvSpPr>
        <p:spPr>
          <a:xfrm>
            <a:off x="8750808" y="4617720"/>
            <a:ext cx="420624" cy="914"/>
          </a:xfrm>
          <a:prstGeom prst="line">
            <a:avLst/>
          </a:prstGeom>
          <a:noFill/>
          <a:ln w="1905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9" name="fx8|r3 lab"/>
          <p:cNvSpPr txBox="1"/>
          <p:nvPr/>
        </p:nvSpPr>
        <p:spPr>
          <a:xfrm>
            <a:off x="8759952" y="434340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chemeClr val="accent2"/>
                </a:solidFill>
              </a:rPr>
              <a:t>1:N</a:t>
            </a:r>
            <a:endParaRPr lang="en-US" sz="900" dirty="0"/>
          </a:p>
        </p:txBody>
      </p:sp>
      <p:sp>
        <p:nvSpPr>
          <p:cNvPr id="10" name="fx8|r4"/>
          <p:cNvSpPr/>
          <p:nvPr/>
        </p:nvSpPr>
        <p:spPr>
          <a:xfrm>
            <a:off x="5861304" y="4617720"/>
            <a:ext cx="420624" cy="914"/>
          </a:xfrm>
          <a:prstGeom prst="line">
            <a:avLst/>
          </a:prstGeom>
          <a:noFill/>
          <a:ln w="1905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11" name="fx8|r4 lab"/>
          <p:cNvSpPr txBox="1"/>
          <p:nvPr/>
        </p:nvSpPr>
        <p:spPr>
          <a:xfrm>
            <a:off x="5870448" y="434340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chemeClr val="accent2"/>
                </a:solidFill>
              </a:rPr>
              <a:t>1:N</a:t>
            </a:r>
            <a:endParaRPr lang="en-US" sz="900" dirty="0"/>
          </a:p>
        </p:txBody>
      </p:sp>
      <p:sp>
        <p:nvSpPr>
          <p:cNvPr id="12" name="fx8|r5"/>
          <p:cNvSpPr/>
          <p:nvPr/>
        </p:nvSpPr>
        <p:spPr>
          <a:xfrm>
            <a:off x="2971800" y="4617720"/>
            <a:ext cx="420624" cy="914"/>
          </a:xfrm>
          <a:prstGeom prst="line">
            <a:avLst/>
          </a:prstGeom>
          <a:noFill/>
          <a:ln w="1905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13" name="fx8|r5 lab"/>
          <p:cNvSpPr txBox="1"/>
          <p:nvPr/>
        </p:nvSpPr>
        <p:spPr>
          <a:xfrm>
            <a:off x="2980944" y="434340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chemeClr val="accent2"/>
                </a:solidFill>
              </a:rPr>
              <a:t>1:N</a:t>
            </a:r>
            <a:endParaRPr lang="en-US" sz="900" dirty="0"/>
          </a:p>
        </p:txBody>
      </p:sp>
      <p:sp>
        <p:nvSpPr>
          <p:cNvPr id="14" name="fx8|r6a"/>
          <p:cNvSpPr/>
          <p:nvPr/>
        </p:nvSpPr>
        <p:spPr>
          <a:xfrm>
            <a:off x="6601968" y="3090672"/>
            <a:ext cx="914" cy="521208"/>
          </a:xfrm>
          <a:prstGeom prst="line">
            <a:avLst/>
          </a:prstGeom>
          <a:noFill/>
          <a:ln w="1905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15" name="fx8|r6b"/>
          <p:cNvSpPr/>
          <p:nvPr/>
        </p:nvSpPr>
        <p:spPr>
          <a:xfrm>
            <a:off x="4626864" y="3611880"/>
            <a:ext cx="1975104" cy="914"/>
          </a:xfrm>
          <a:prstGeom prst="line">
            <a:avLst/>
          </a:prstGeom>
          <a:noFill/>
          <a:ln w="1905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16" name="fx8|r6c"/>
          <p:cNvSpPr/>
          <p:nvPr/>
        </p:nvSpPr>
        <p:spPr>
          <a:xfrm>
            <a:off x="4626864" y="3611880"/>
            <a:ext cx="914" cy="320040"/>
          </a:xfrm>
          <a:prstGeom prst="line">
            <a:avLst/>
          </a:prstGeom>
          <a:noFill/>
          <a:ln w="1905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17" name="fx8|r6 lab"/>
          <p:cNvSpPr txBox="1"/>
          <p:nvPr/>
        </p:nvSpPr>
        <p:spPr>
          <a:xfrm>
            <a:off x="4700016" y="36393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chemeClr val="accent2"/>
                </a:solidFill>
              </a:rPr>
              <a:t>1 : N</a:t>
            </a:r>
            <a:endParaRPr lang="en-US" sz="1000" dirty="0"/>
          </a:p>
        </p:txBody>
      </p:sp>
      <p:sp>
        <p:nvSpPr>
          <p:cNvPr id="18" name="fx0|ent users#3d"/>
          <p:cNvSpPr/>
          <p:nvPr/>
        </p:nvSpPr>
        <p:spPr>
          <a:xfrm>
            <a:off x="9171432" y="1554480"/>
            <a:ext cx="2468880" cy="1536192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9" name="fx0|ent users head"/>
          <p:cNvSpPr txBox="1"/>
          <p:nvPr/>
        </p:nvSpPr>
        <p:spPr>
          <a:xfrm>
            <a:off x="9171432" y="1554480"/>
            <a:ext cx="246888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Users</a:t>
            </a:r>
            <a:pPr algn="ctr" indent="0" marL="0">
              <a:buNone/>
            </a:pPr>
            <a:r>
              <a:rPr lang="en-US" altLang="en-US" sz="1000" dirty="0">
                <a:solidFill>
                  <a:schemeClr val="tx1"/>
                </a:solidFill>
              </a:rPr>
              <a:t>  المستخدمون</a:t>
            </a:r>
            <a:endParaRPr lang="en-US" sz="1200" dirty="0"/>
          </a:p>
        </p:txBody>
      </p:sp>
      <p:sp>
        <p:nvSpPr>
          <p:cNvPr id="20" name="fx0|ent users f"/>
          <p:cNvSpPr txBox="1"/>
          <p:nvPr/>
        </p:nvSpPr>
        <p:spPr>
          <a:xfrm>
            <a:off x="9336024" y="2029968"/>
            <a:ext cx="21396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1100" dirty="0"/>
          </a:p>
        </p:txBody>
      </p:sp>
      <p:sp>
        <p:nvSpPr>
          <p:cNvPr id="21" name="fx1|ent devices#3d"/>
          <p:cNvSpPr/>
          <p:nvPr/>
        </p:nvSpPr>
        <p:spPr>
          <a:xfrm>
            <a:off x="6281928" y="1554480"/>
            <a:ext cx="2468880" cy="1536192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2" name="fx1|ent devices head"/>
          <p:cNvSpPr txBox="1"/>
          <p:nvPr/>
        </p:nvSpPr>
        <p:spPr>
          <a:xfrm>
            <a:off x="6281928" y="1554480"/>
            <a:ext cx="246888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Monitoring_Devices</a:t>
            </a:r>
            <a:pPr algn="ctr" indent="0" marL="0">
              <a:buNone/>
            </a:pPr>
            <a:r>
              <a:rPr lang="en-US" altLang="en-US" sz="1000" dirty="0">
                <a:solidFill>
                  <a:schemeClr val="tx1"/>
                </a:solidFill>
              </a:rPr>
              <a:t>  أجهزة المراقبة</a:t>
            </a:r>
            <a:endParaRPr lang="en-US" sz="1200" dirty="0"/>
          </a:p>
        </p:txBody>
      </p:sp>
      <p:sp>
        <p:nvSpPr>
          <p:cNvPr id="23" name="fx1|ent devices f"/>
          <p:cNvSpPr txBox="1"/>
          <p:nvPr/>
        </p:nvSpPr>
        <p:spPr>
          <a:xfrm>
            <a:off x="6446520" y="2029968"/>
            <a:ext cx="21396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 FK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location_id  FK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100" dirty="0"/>
          </a:p>
        </p:txBody>
      </p:sp>
      <p:sp>
        <p:nvSpPr>
          <p:cNvPr id="24" name="fx2|ent locations#3d"/>
          <p:cNvSpPr/>
          <p:nvPr/>
        </p:nvSpPr>
        <p:spPr>
          <a:xfrm>
            <a:off x="3392424" y="1554480"/>
            <a:ext cx="2468880" cy="1536192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5" name="fx2|ent locations head"/>
          <p:cNvSpPr txBox="1"/>
          <p:nvPr/>
        </p:nvSpPr>
        <p:spPr>
          <a:xfrm>
            <a:off x="3392424" y="1554480"/>
            <a:ext cx="246888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Locations</a:t>
            </a:r>
            <a:pPr algn="ctr" indent="0" marL="0">
              <a:buNone/>
            </a:pPr>
            <a:r>
              <a:rPr lang="en-US" altLang="en-US" sz="1000" dirty="0">
                <a:solidFill>
                  <a:schemeClr val="tx1"/>
                </a:solidFill>
              </a:rPr>
              <a:t>  المواقع</a:t>
            </a:r>
            <a:endParaRPr lang="en-US" sz="1200" dirty="0"/>
          </a:p>
        </p:txBody>
      </p:sp>
      <p:sp>
        <p:nvSpPr>
          <p:cNvPr id="26" name="fx2|ent locations f"/>
          <p:cNvSpPr txBox="1"/>
          <p:nvPr/>
        </p:nvSpPr>
        <p:spPr>
          <a:xfrm>
            <a:off x="3557016" y="2029968"/>
            <a:ext cx="21396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 / lng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speed_limit</a:t>
            </a:r>
            <a:endParaRPr lang="en-US" sz="1100" dirty="0"/>
          </a:p>
        </p:txBody>
      </p:sp>
      <p:sp>
        <p:nvSpPr>
          <p:cNvPr id="27" name="fx3|ent owners#3d"/>
          <p:cNvSpPr/>
          <p:nvPr/>
        </p:nvSpPr>
        <p:spPr>
          <a:xfrm>
            <a:off x="9171432" y="3931920"/>
            <a:ext cx="2468880" cy="1536192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8" name="fx3|ent owners head"/>
          <p:cNvSpPr txBox="1"/>
          <p:nvPr/>
        </p:nvSpPr>
        <p:spPr>
          <a:xfrm>
            <a:off x="9171432" y="3931920"/>
            <a:ext cx="246888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Vehicle_Owners</a:t>
            </a:r>
            <a:pPr algn="ctr" indent="0" marL="0">
              <a:buNone/>
            </a:pPr>
            <a:r>
              <a:rPr lang="en-US" altLang="en-US" sz="1000" dirty="0">
                <a:solidFill>
                  <a:schemeClr val="tx1"/>
                </a:solidFill>
              </a:rPr>
              <a:t>  مالكو المركبات</a:t>
            </a:r>
            <a:endParaRPr lang="en-US" sz="1200" dirty="0"/>
          </a:p>
        </p:txBody>
      </p:sp>
      <p:sp>
        <p:nvSpPr>
          <p:cNvPr id="29" name="fx3|ent owners f"/>
          <p:cNvSpPr txBox="1"/>
          <p:nvPr/>
        </p:nvSpPr>
        <p:spPr>
          <a:xfrm>
            <a:off x="9336024" y="4407408"/>
            <a:ext cx="21396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national_id</a:t>
            </a:r>
            <a:endParaRPr lang="en-US" sz="1100" dirty="0"/>
          </a:p>
        </p:txBody>
      </p:sp>
      <p:sp>
        <p:nvSpPr>
          <p:cNvPr id="30" name="fx4|ent vehicles#3d"/>
          <p:cNvSpPr/>
          <p:nvPr/>
        </p:nvSpPr>
        <p:spPr>
          <a:xfrm>
            <a:off x="6281928" y="3931920"/>
            <a:ext cx="2468880" cy="1536192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31" name="fx4|ent vehicles head"/>
          <p:cNvSpPr txBox="1"/>
          <p:nvPr/>
        </p:nvSpPr>
        <p:spPr>
          <a:xfrm>
            <a:off x="6281928" y="3931920"/>
            <a:ext cx="246888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Vehicles</a:t>
            </a:r>
            <a:pPr algn="ctr" indent="0" marL="0">
              <a:buNone/>
            </a:pPr>
            <a:r>
              <a:rPr lang="en-US" altLang="en-US" sz="1000" dirty="0">
                <a:solidFill>
                  <a:schemeClr val="tx1"/>
                </a:solidFill>
              </a:rPr>
              <a:t>  المركبات</a:t>
            </a:r>
            <a:endParaRPr lang="en-US" sz="1200" dirty="0"/>
          </a:p>
        </p:txBody>
      </p:sp>
      <p:sp>
        <p:nvSpPr>
          <p:cNvPr id="32" name="fx4|ent vehicles f"/>
          <p:cNvSpPr txBox="1"/>
          <p:nvPr/>
        </p:nvSpPr>
        <p:spPr>
          <a:xfrm>
            <a:off x="6446520" y="4407408"/>
            <a:ext cx="21396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plate_no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owner_id  FK</a:t>
            </a:r>
            <a:endParaRPr lang="en-US" sz="1100" dirty="0"/>
          </a:p>
        </p:txBody>
      </p:sp>
      <p:sp>
        <p:nvSpPr>
          <p:cNvPr id="33" name="fx5|ent violations#3d"/>
          <p:cNvSpPr/>
          <p:nvPr/>
        </p:nvSpPr>
        <p:spPr>
          <a:xfrm>
            <a:off x="3392424" y="3931920"/>
            <a:ext cx="2468880" cy="2029968"/>
          </a:xfrm>
          <a:prstGeom prst="roundRect">
            <a:avLst>
              <a:gd name="adj" fmla="val 3604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34" name="fx5|ent violations head"/>
          <p:cNvSpPr txBox="1"/>
          <p:nvPr/>
        </p:nvSpPr>
        <p:spPr>
          <a:xfrm>
            <a:off x="3392424" y="3931920"/>
            <a:ext cx="246888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Violations</a:t>
            </a:r>
            <a:pPr algn="ctr" indent="0" marL="0">
              <a:buNone/>
            </a:pPr>
            <a:r>
              <a:rPr lang="en-US" altLang="en-US" sz="1000" dirty="0">
                <a:solidFill>
                  <a:schemeClr val="tx1"/>
                </a:solidFill>
              </a:rPr>
              <a:t>  المخالفات</a:t>
            </a:r>
            <a:endParaRPr lang="en-US" sz="1200" dirty="0"/>
          </a:p>
        </p:txBody>
      </p:sp>
      <p:sp>
        <p:nvSpPr>
          <p:cNvPr id="35" name="fx5|ent violations f"/>
          <p:cNvSpPr txBox="1"/>
          <p:nvPr/>
        </p:nvSpPr>
        <p:spPr>
          <a:xfrm>
            <a:off x="3557016" y="4407408"/>
            <a:ext cx="21396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vehicle_id  FK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device_id  FK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/ limit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excess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1100" dirty="0"/>
          </a:p>
        </p:txBody>
      </p:sp>
      <p:sp>
        <p:nvSpPr>
          <p:cNvPr id="36" name="fx6|ent evidence#3d"/>
          <p:cNvSpPr/>
          <p:nvPr/>
        </p:nvSpPr>
        <p:spPr>
          <a:xfrm>
            <a:off x="502920" y="3931920"/>
            <a:ext cx="2468880" cy="1536192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37" name="fx6|ent evidence head"/>
          <p:cNvSpPr txBox="1"/>
          <p:nvPr/>
        </p:nvSpPr>
        <p:spPr>
          <a:xfrm>
            <a:off x="502920" y="3931920"/>
            <a:ext cx="246888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Evidence</a:t>
            </a:r>
            <a:pPr algn="ctr" indent="0" marL="0">
              <a:buNone/>
            </a:pPr>
            <a:r>
              <a:rPr lang="en-US" altLang="en-US" sz="1000" dirty="0">
                <a:solidFill>
                  <a:schemeClr val="tx1"/>
                </a:solidFill>
              </a:rPr>
              <a:t>  الأدلة</a:t>
            </a:r>
            <a:endParaRPr lang="en-US" sz="1200" dirty="0"/>
          </a:p>
        </p:txBody>
      </p:sp>
      <p:sp>
        <p:nvSpPr>
          <p:cNvPr id="38" name="fx6|ent evidence f"/>
          <p:cNvSpPr txBox="1"/>
          <p:nvPr/>
        </p:nvSpPr>
        <p:spPr>
          <a:xfrm>
            <a:off x="667512" y="4407408"/>
            <a:ext cx="21396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violation_id  FK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1100" dirty="0"/>
          </a:p>
          <a:p>
            <a:pPr algn="l" indent="0" marL="0">
              <a:lnSpc>
                <a:spcPts val="1940"/>
              </a:lnSpc>
              <a:buNone/>
            </a:pPr>
            <a:r>
              <a:rPr lang="en-US" alt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</a:t>
            </a:r>
            <a:endParaRPr lang="en-US" sz="1100" dirty="0"/>
          </a:p>
        </p:txBody>
      </p:sp>
      <p:sp>
        <p:nvSpPr>
          <p:cNvPr id="39" name="fx7|key"/>
          <p:cNvSpPr/>
          <p:nvPr/>
        </p:nvSpPr>
        <p:spPr>
          <a:xfrm>
            <a:off x="502920" y="1554480"/>
            <a:ext cx="2468880" cy="1965960"/>
          </a:xfrm>
          <a:prstGeom prst="roundRect">
            <a:avLst>
              <a:gd name="adj" fmla="val 6512"/>
            </a:avLst>
          </a:prstGeom>
          <a:solidFill>
            <a:schemeClr val="tx2">
              <a:alpha val="7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40" name="fx7|key text"/>
          <p:cNvSpPr txBox="1"/>
          <p:nvPr/>
        </p:nvSpPr>
        <p:spPr>
          <a:xfrm>
            <a:off x="640080" y="164592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ar-SA" altLang="en-US" sz="1400" b="1" dirty="0">
                <a:solidFill>
                  <a:schemeClr val="accent2"/>
                </a:solidFill>
              </a:rPr>
              <a:t>العلاقة الأساسية</a:t>
            </a:r>
            <a:endParaRPr lang="ar-SA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 → Owner → Violations</a:t>
            </a:r>
            <a:endParaRPr lang="ar-SA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100" dirty="0">
                <a:solidFill>
                  <a:schemeClr val="bg2"/>
                </a:solidFill>
              </a:rPr>
              <a:t>مع ارتباط جهاز المراقبة بالموقع والسرعة القانونية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6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المستخدمون والصلاحيات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Users &amp; Permissions</a:t>
            </a:r>
            <a:endParaRPr lang="en-US" sz="1500" dirty="0"/>
          </a:p>
        </p:txBody>
      </p:sp>
      <p:sp>
        <p:nvSpPr>
          <p:cNvPr id="4" name="fx0|card#3d"/>
          <p:cNvSpPr/>
          <p:nvPr/>
        </p:nvSpPr>
        <p:spPr>
          <a:xfrm>
            <a:off x="8122615" y="1645920"/>
            <a:ext cx="3520440" cy="4526280"/>
          </a:xfrm>
          <a:prstGeom prst="roundRect">
            <a:avLst>
              <a:gd name="adj" fmla="val 3636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7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5" name="fx0|ic bg#3d"/>
          <p:cNvSpPr/>
          <p:nvPr/>
        </p:nvSpPr>
        <p:spPr>
          <a:xfrm>
            <a:off x="9288475" y="1920240"/>
            <a:ext cx="1188720" cy="118872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6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5655" y="2217420"/>
            <a:ext cx="594360" cy="594360"/>
          </a:xfrm>
          <a:prstGeom prst="rect">
            <a:avLst/>
          </a:prstGeom>
        </p:spPr>
      </p:pic>
      <p:sp>
        <p:nvSpPr>
          <p:cNvPr id="7" name="fx0|ar"/>
          <p:cNvSpPr txBox="1"/>
          <p:nvPr/>
        </p:nvSpPr>
        <p:spPr>
          <a:xfrm>
            <a:off x="8122615" y="3246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مدير النظام</a:t>
            </a:r>
            <a:endParaRPr lang="ar-SA" sz="2000" dirty="0"/>
          </a:p>
        </p:txBody>
      </p:sp>
      <p:sp>
        <p:nvSpPr>
          <p:cNvPr id="8" name="fx0|en"/>
          <p:cNvSpPr txBox="1"/>
          <p:nvPr/>
        </p:nvSpPr>
        <p:spPr>
          <a:xfrm>
            <a:off x="8122615" y="37033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accent2"/>
                </a:solidFill>
              </a:rPr>
              <a:t>System Admin</a:t>
            </a:r>
            <a:endParaRPr lang="en-US" sz="1300" dirty="0"/>
          </a:p>
        </p:txBody>
      </p:sp>
      <p:sp>
        <p:nvSpPr>
          <p:cNvPr id="9" name="fx0|list"/>
          <p:cNvSpPr txBox="1"/>
          <p:nvPr/>
        </p:nvSpPr>
        <p:spPr>
          <a:xfrm>
            <a:off x="8396935" y="416052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إدارة المستخدمين</a:t>
            </a:r>
            <a:endParaRPr lang="ar-SA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إضافة الأجهزة وتحديد المواقع</a:t>
            </a:r>
            <a:endParaRPr lang="ar-SA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تحديد السرعات القانونية</a:t>
            </a:r>
            <a:endParaRPr lang="ar-SA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إدارة المركبات والمخالفات</a:t>
            </a:r>
            <a:endParaRPr lang="ar-SA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مشاهدة التقارير</a:t>
            </a:r>
            <a:endParaRPr lang="ar-SA" sz="1400" dirty="0"/>
          </a:p>
        </p:txBody>
      </p:sp>
      <p:sp>
        <p:nvSpPr>
          <p:cNvPr id="10" name="fx1|card#3d"/>
          <p:cNvSpPr/>
          <p:nvPr/>
        </p:nvSpPr>
        <p:spPr>
          <a:xfrm>
            <a:off x="4336999" y="1645920"/>
            <a:ext cx="3520440" cy="4526280"/>
          </a:xfrm>
          <a:prstGeom prst="roundRect">
            <a:avLst>
              <a:gd name="adj" fmla="val 3636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7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1" name="fx1|ic bg#3d"/>
          <p:cNvSpPr/>
          <p:nvPr/>
        </p:nvSpPr>
        <p:spPr>
          <a:xfrm>
            <a:off x="5502859" y="1920240"/>
            <a:ext cx="1188720" cy="118872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2" name="fx1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039" y="2217420"/>
            <a:ext cx="594360" cy="594360"/>
          </a:xfrm>
          <a:prstGeom prst="rect">
            <a:avLst/>
          </a:prstGeom>
        </p:spPr>
      </p:pic>
      <p:sp>
        <p:nvSpPr>
          <p:cNvPr id="13" name="fx1|ar"/>
          <p:cNvSpPr txBox="1"/>
          <p:nvPr/>
        </p:nvSpPr>
        <p:spPr>
          <a:xfrm>
            <a:off x="4336999" y="3246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مستخدم جهاز المراقبة</a:t>
            </a:r>
            <a:endParaRPr lang="ar-SA" sz="2000" dirty="0"/>
          </a:p>
        </p:txBody>
      </p:sp>
      <p:sp>
        <p:nvSpPr>
          <p:cNvPr id="14" name="fx1|en"/>
          <p:cNvSpPr txBox="1"/>
          <p:nvPr/>
        </p:nvSpPr>
        <p:spPr>
          <a:xfrm>
            <a:off x="4336999" y="37033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accent1"/>
                </a:solidFill>
              </a:rPr>
              <a:t>Device Operator</a:t>
            </a:r>
            <a:endParaRPr lang="en-US" sz="1300" dirty="0"/>
          </a:p>
        </p:txBody>
      </p:sp>
      <p:sp>
        <p:nvSpPr>
          <p:cNvPr id="15" name="fx1|list"/>
          <p:cNvSpPr txBox="1"/>
          <p:nvPr/>
        </p:nvSpPr>
        <p:spPr>
          <a:xfrm>
            <a:off x="4611319" y="416052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تسجيل الدخول</a:t>
            </a:r>
            <a:endParaRPr lang="ar-SA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تشغيل كاميرا الهاتف</a:t>
            </a:r>
            <a:endParaRPr lang="ar-SA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بدء وإيقاف المراقبة</a:t>
            </a:r>
            <a:endParaRPr lang="ar-SA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مشاهدة حالة الجهاز</a:t>
            </a:r>
            <a:endParaRPr lang="ar-SA" sz="1400" dirty="0"/>
          </a:p>
        </p:txBody>
      </p:sp>
      <p:sp>
        <p:nvSpPr>
          <p:cNvPr id="16" name="fx2|card#3d"/>
          <p:cNvSpPr/>
          <p:nvPr/>
        </p:nvSpPr>
        <p:spPr>
          <a:xfrm>
            <a:off x="551383" y="1645920"/>
            <a:ext cx="3520440" cy="4526280"/>
          </a:xfrm>
          <a:prstGeom prst="roundRect">
            <a:avLst>
              <a:gd name="adj" fmla="val 3636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>
                <a:alpha val="7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7" name="fx2|ic bg#3d"/>
          <p:cNvSpPr/>
          <p:nvPr/>
        </p:nvSpPr>
        <p:spPr>
          <a:xfrm>
            <a:off x="1717243" y="1920240"/>
            <a:ext cx="1188720" cy="118872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8" name="fx2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423" y="2217420"/>
            <a:ext cx="594360" cy="594360"/>
          </a:xfrm>
          <a:prstGeom prst="rect">
            <a:avLst/>
          </a:prstGeom>
        </p:spPr>
      </p:pic>
      <p:sp>
        <p:nvSpPr>
          <p:cNvPr id="19" name="fx2|ar"/>
          <p:cNvSpPr txBox="1"/>
          <p:nvPr/>
        </p:nvSpPr>
        <p:spPr>
          <a:xfrm>
            <a:off x="551383" y="3246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مراجع المخالفات</a:t>
            </a:r>
            <a:endParaRPr lang="ar-SA" sz="2000" dirty="0"/>
          </a:p>
        </p:txBody>
      </p:sp>
      <p:sp>
        <p:nvSpPr>
          <p:cNvPr id="20" name="fx2|en"/>
          <p:cNvSpPr txBox="1"/>
          <p:nvPr/>
        </p:nvSpPr>
        <p:spPr>
          <a:xfrm>
            <a:off x="551383" y="37033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accent4"/>
                </a:solidFill>
              </a:rPr>
              <a:t>Violations Reviewer</a:t>
            </a:r>
            <a:endParaRPr lang="en-US" sz="1300" dirty="0"/>
          </a:p>
        </p:txBody>
      </p:sp>
      <p:sp>
        <p:nvSpPr>
          <p:cNvPr id="21" name="fx2|list"/>
          <p:cNvSpPr txBox="1"/>
          <p:nvPr/>
        </p:nvSpPr>
        <p:spPr>
          <a:xfrm>
            <a:off x="825703" y="416052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مراجعة المخالفات</a:t>
            </a:r>
            <a:endParaRPr lang="ar-SA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مشاهدة الأدلة</a:t>
            </a:r>
            <a:endParaRPr lang="ar-SA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التحقق من بيانات المركبة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التقنيات المستخدمة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Technology Stack</a:t>
            </a:r>
            <a:endParaRPr lang="en-US" sz="1500" dirty="0"/>
          </a:p>
        </p:txBody>
      </p:sp>
      <p:sp>
        <p:nvSpPr>
          <p:cNvPr id="4" name="fx0|card"/>
          <p:cNvSpPr/>
          <p:nvPr/>
        </p:nvSpPr>
        <p:spPr>
          <a:xfrm>
            <a:off x="8122615" y="1600200"/>
            <a:ext cx="3520440" cy="2103120"/>
          </a:xfrm>
          <a:prstGeom prst="roundRect">
            <a:avLst>
              <a:gd name="adj" fmla="val 6087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5" name="fx0|ar"/>
          <p:cNvSpPr txBox="1"/>
          <p:nvPr/>
        </p:nvSpPr>
        <p:spPr>
          <a:xfrm>
            <a:off x="8305495" y="17373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تطبيق الهاتف</a:t>
            </a:r>
            <a:endParaRPr lang="ar-SA" sz="1600" dirty="0"/>
          </a:p>
        </p:txBody>
      </p:sp>
      <p:sp>
        <p:nvSpPr>
          <p:cNvPr id="6" name="fx0|en"/>
          <p:cNvSpPr txBox="1"/>
          <p:nvPr/>
        </p:nvSpPr>
        <p:spPr>
          <a:xfrm>
            <a:off x="8305495" y="21031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accent1"/>
                </a:solidFill>
              </a:rPr>
              <a:t>Mobile App</a:t>
            </a:r>
            <a:endParaRPr lang="en-US" sz="1100" dirty="0"/>
          </a:p>
        </p:txBody>
      </p:sp>
      <p:pic>
        <p:nvPicPr>
          <p:cNvPr id="7" name="fx0|logo Flutt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8575" y="2514600"/>
            <a:ext cx="548640" cy="548640"/>
          </a:xfrm>
          <a:prstGeom prst="rect">
            <a:avLst/>
          </a:prstGeom>
        </p:spPr>
      </p:pic>
      <p:sp>
        <p:nvSpPr>
          <p:cNvPr id="8" name="fx0|name Flutter"/>
          <p:cNvSpPr txBox="1"/>
          <p:nvPr/>
        </p:nvSpPr>
        <p:spPr>
          <a:xfrm>
            <a:off x="9882835" y="31363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bg1"/>
                </a:solidFill>
              </a:rPr>
              <a:t>Flutter</a:t>
            </a:r>
            <a:endParaRPr lang="en-US" sz="1100" dirty="0"/>
          </a:p>
        </p:txBody>
      </p:sp>
      <p:pic>
        <p:nvPicPr>
          <p:cNvPr id="9" name="fx0|logo Dar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2514600"/>
            <a:ext cx="548640" cy="548640"/>
          </a:xfrm>
          <a:prstGeom prst="rect">
            <a:avLst/>
          </a:prstGeom>
        </p:spPr>
      </p:pic>
      <p:sp>
        <p:nvSpPr>
          <p:cNvPr id="10" name="fx0|name Dart"/>
          <p:cNvSpPr txBox="1"/>
          <p:nvPr/>
        </p:nvSpPr>
        <p:spPr>
          <a:xfrm>
            <a:off x="8922715" y="31363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bg1"/>
                </a:solidFill>
              </a:rPr>
              <a:t>Dart</a:t>
            </a:r>
            <a:endParaRPr lang="en-US" sz="1100" dirty="0"/>
          </a:p>
        </p:txBody>
      </p:sp>
      <p:sp>
        <p:nvSpPr>
          <p:cNvPr id="11" name="fx1|card"/>
          <p:cNvSpPr/>
          <p:nvPr/>
        </p:nvSpPr>
        <p:spPr>
          <a:xfrm>
            <a:off x="4336999" y="1600200"/>
            <a:ext cx="3520440" cy="2103120"/>
          </a:xfrm>
          <a:prstGeom prst="roundRect">
            <a:avLst>
              <a:gd name="adj" fmla="val 6087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2" name="fx1|ar"/>
          <p:cNvSpPr txBox="1"/>
          <p:nvPr/>
        </p:nvSpPr>
        <p:spPr>
          <a:xfrm>
            <a:off x="4519879" y="17373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الذكاء الاصطناعي والرؤية</a:t>
            </a:r>
            <a:endParaRPr lang="ar-SA" sz="1600" dirty="0"/>
          </a:p>
        </p:txBody>
      </p:sp>
      <p:sp>
        <p:nvSpPr>
          <p:cNvPr id="13" name="fx1|en"/>
          <p:cNvSpPr txBox="1"/>
          <p:nvPr/>
        </p:nvSpPr>
        <p:spPr>
          <a:xfrm>
            <a:off x="4519879" y="21031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accent1"/>
                </a:solidFill>
              </a:rPr>
              <a:t>AI &amp; Computer Vision</a:t>
            </a:r>
            <a:endParaRPr lang="en-US" sz="1100" dirty="0"/>
          </a:p>
        </p:txBody>
      </p:sp>
      <p:pic>
        <p:nvPicPr>
          <p:cNvPr id="14" name="fx1|logo Pyth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019" y="2514600"/>
            <a:ext cx="548640" cy="548640"/>
          </a:xfrm>
          <a:prstGeom prst="rect">
            <a:avLst/>
          </a:prstGeom>
        </p:spPr>
      </p:pic>
      <p:sp>
        <p:nvSpPr>
          <p:cNvPr id="15" name="fx1|name Python"/>
          <p:cNvSpPr txBox="1"/>
          <p:nvPr/>
        </p:nvSpPr>
        <p:spPr>
          <a:xfrm>
            <a:off x="6577279" y="31363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bg1"/>
                </a:solidFill>
              </a:rPr>
              <a:t>Python</a:t>
            </a:r>
            <a:endParaRPr lang="en-US" sz="1100" dirty="0"/>
          </a:p>
        </p:txBody>
      </p:sp>
      <p:pic>
        <p:nvPicPr>
          <p:cNvPr id="16" name="fx1|logo OpenCV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899" y="2514600"/>
            <a:ext cx="548640" cy="548640"/>
          </a:xfrm>
          <a:prstGeom prst="rect">
            <a:avLst/>
          </a:prstGeom>
        </p:spPr>
      </p:pic>
      <p:sp>
        <p:nvSpPr>
          <p:cNvPr id="17" name="fx1|name OpenCV"/>
          <p:cNvSpPr txBox="1"/>
          <p:nvPr/>
        </p:nvSpPr>
        <p:spPr>
          <a:xfrm>
            <a:off x="5617159" y="31363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bg1"/>
                </a:solidFill>
              </a:rPr>
              <a:t>OpenCV</a:t>
            </a:r>
            <a:endParaRPr lang="en-US" sz="1100" dirty="0"/>
          </a:p>
        </p:txBody>
      </p:sp>
      <p:pic>
        <p:nvPicPr>
          <p:cNvPr id="18" name="fx1|logo PaddleOC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779" y="2514600"/>
            <a:ext cx="548640" cy="548640"/>
          </a:xfrm>
          <a:prstGeom prst="rect">
            <a:avLst/>
          </a:prstGeom>
        </p:spPr>
      </p:pic>
      <p:sp>
        <p:nvSpPr>
          <p:cNvPr id="19" name="fx1|name PaddleOCR"/>
          <p:cNvSpPr txBox="1"/>
          <p:nvPr/>
        </p:nvSpPr>
        <p:spPr>
          <a:xfrm>
            <a:off x="4657039" y="31363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bg1"/>
                </a:solidFill>
              </a:rPr>
              <a:t>PaddleOCR</a:t>
            </a:r>
            <a:endParaRPr lang="en-US" sz="1100" dirty="0"/>
          </a:p>
        </p:txBody>
      </p:sp>
      <p:sp>
        <p:nvSpPr>
          <p:cNvPr id="20" name="fx2|card"/>
          <p:cNvSpPr/>
          <p:nvPr/>
        </p:nvSpPr>
        <p:spPr>
          <a:xfrm>
            <a:off x="551383" y="1600200"/>
            <a:ext cx="3520440" cy="2103120"/>
          </a:xfrm>
          <a:prstGeom prst="roundRect">
            <a:avLst>
              <a:gd name="adj" fmla="val 6087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21" name="fx2|ar"/>
          <p:cNvSpPr txBox="1"/>
          <p:nvPr/>
        </p:nvSpPr>
        <p:spPr>
          <a:xfrm>
            <a:off x="734263" y="17373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خدمات الذكاء الاصطناعي</a:t>
            </a:r>
            <a:endParaRPr lang="ar-SA" sz="1600" dirty="0"/>
          </a:p>
        </p:txBody>
      </p:sp>
      <p:sp>
        <p:nvSpPr>
          <p:cNvPr id="22" name="fx2|en"/>
          <p:cNvSpPr txBox="1"/>
          <p:nvPr/>
        </p:nvSpPr>
        <p:spPr>
          <a:xfrm>
            <a:off x="734263" y="21031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accent1"/>
                </a:solidFill>
              </a:rPr>
              <a:t>AI Services</a:t>
            </a:r>
            <a:endParaRPr lang="en-US" sz="1100" dirty="0"/>
          </a:p>
        </p:txBody>
      </p:sp>
      <p:pic>
        <p:nvPicPr>
          <p:cNvPr id="23" name="fx2|logo FastAP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7403" y="2514600"/>
            <a:ext cx="548640" cy="548640"/>
          </a:xfrm>
          <a:prstGeom prst="rect">
            <a:avLst/>
          </a:prstGeom>
        </p:spPr>
      </p:pic>
      <p:sp>
        <p:nvSpPr>
          <p:cNvPr id="24" name="fx2|name FastAPI"/>
          <p:cNvSpPr txBox="1"/>
          <p:nvPr/>
        </p:nvSpPr>
        <p:spPr>
          <a:xfrm>
            <a:off x="2791663" y="31363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bg1"/>
                </a:solidFill>
              </a:rPr>
              <a:t>FastAPI</a:t>
            </a:r>
            <a:endParaRPr lang="en-US" sz="1100" dirty="0"/>
          </a:p>
        </p:txBody>
      </p:sp>
      <p:pic>
        <p:nvPicPr>
          <p:cNvPr id="25" name="fx2|logo YOL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7283" y="2514600"/>
            <a:ext cx="548640" cy="548640"/>
          </a:xfrm>
          <a:prstGeom prst="rect">
            <a:avLst/>
          </a:prstGeom>
        </p:spPr>
      </p:pic>
      <p:sp>
        <p:nvSpPr>
          <p:cNvPr id="26" name="fx2|name YOLO"/>
          <p:cNvSpPr txBox="1"/>
          <p:nvPr/>
        </p:nvSpPr>
        <p:spPr>
          <a:xfrm>
            <a:off x="1831543" y="31363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bg1"/>
                </a:solidFill>
              </a:rPr>
              <a:t>YOLO</a:t>
            </a:r>
            <a:endParaRPr lang="en-US" sz="1100" dirty="0"/>
          </a:p>
        </p:txBody>
      </p:sp>
      <p:pic>
        <p:nvPicPr>
          <p:cNvPr id="27" name="fx2|logo ByteTrack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163" y="2514600"/>
            <a:ext cx="548640" cy="548640"/>
          </a:xfrm>
          <a:prstGeom prst="rect">
            <a:avLst/>
          </a:prstGeom>
        </p:spPr>
      </p:pic>
      <p:sp>
        <p:nvSpPr>
          <p:cNvPr id="28" name="fx2|name ByteTrack"/>
          <p:cNvSpPr txBox="1"/>
          <p:nvPr/>
        </p:nvSpPr>
        <p:spPr>
          <a:xfrm>
            <a:off x="871423" y="31363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bg1"/>
                </a:solidFill>
              </a:rPr>
              <a:t>ByteTrack</a:t>
            </a:r>
            <a:endParaRPr lang="en-US" sz="1100" dirty="0"/>
          </a:p>
        </p:txBody>
      </p:sp>
      <p:sp>
        <p:nvSpPr>
          <p:cNvPr id="29" name="fx3|card"/>
          <p:cNvSpPr/>
          <p:nvPr/>
        </p:nvSpPr>
        <p:spPr>
          <a:xfrm>
            <a:off x="8122615" y="3931920"/>
            <a:ext cx="3520440" cy="2103120"/>
          </a:xfrm>
          <a:prstGeom prst="roundRect">
            <a:avLst>
              <a:gd name="adj" fmla="val 6087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30" name="fx3|ar"/>
          <p:cNvSpPr txBox="1"/>
          <p:nvPr/>
        </p:nvSpPr>
        <p:spPr>
          <a:xfrm>
            <a:off x="8305495" y="40690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الخادم ولوحة التحكم</a:t>
            </a:r>
            <a:endParaRPr lang="ar-SA" sz="1600" dirty="0"/>
          </a:p>
        </p:txBody>
      </p:sp>
      <p:sp>
        <p:nvSpPr>
          <p:cNvPr id="31" name="fx3|en"/>
          <p:cNvSpPr txBox="1"/>
          <p:nvPr/>
        </p:nvSpPr>
        <p:spPr>
          <a:xfrm>
            <a:off x="8305495" y="44348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accent1"/>
                </a:solidFill>
              </a:rPr>
              <a:t>Backend &amp; Dashboard</a:t>
            </a:r>
            <a:endParaRPr lang="en-US" sz="1100" dirty="0"/>
          </a:p>
        </p:txBody>
      </p:sp>
      <p:pic>
        <p:nvPicPr>
          <p:cNvPr id="32" name="fx3|logo Laravel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8575" y="4846320"/>
            <a:ext cx="548640" cy="548640"/>
          </a:xfrm>
          <a:prstGeom prst="rect">
            <a:avLst/>
          </a:prstGeom>
        </p:spPr>
      </p:pic>
      <p:sp>
        <p:nvSpPr>
          <p:cNvPr id="33" name="fx3|name Laravel"/>
          <p:cNvSpPr txBox="1"/>
          <p:nvPr/>
        </p:nvSpPr>
        <p:spPr>
          <a:xfrm>
            <a:off x="9882835" y="54681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bg1"/>
                </a:solidFill>
              </a:rPr>
              <a:t>Laravel</a:t>
            </a:r>
            <a:endParaRPr lang="en-US" sz="1100" dirty="0"/>
          </a:p>
        </p:txBody>
      </p:sp>
      <p:pic>
        <p:nvPicPr>
          <p:cNvPr id="34" name="fx3|logo MySQL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4846320"/>
            <a:ext cx="548640" cy="548640"/>
          </a:xfrm>
          <a:prstGeom prst="rect">
            <a:avLst/>
          </a:prstGeom>
        </p:spPr>
      </p:pic>
      <p:sp>
        <p:nvSpPr>
          <p:cNvPr id="35" name="fx3|name MySQL"/>
          <p:cNvSpPr txBox="1"/>
          <p:nvPr/>
        </p:nvSpPr>
        <p:spPr>
          <a:xfrm>
            <a:off x="8922715" y="54681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bg1"/>
                </a:solidFill>
              </a:rPr>
              <a:t>MySQL</a:t>
            </a:r>
            <a:endParaRPr lang="en-US" sz="1100" dirty="0"/>
          </a:p>
        </p:txBody>
      </p:sp>
      <p:sp>
        <p:nvSpPr>
          <p:cNvPr id="36" name="fx4|card"/>
          <p:cNvSpPr/>
          <p:nvPr/>
        </p:nvSpPr>
        <p:spPr>
          <a:xfrm>
            <a:off x="4336999" y="3931920"/>
            <a:ext cx="3520440" cy="2103120"/>
          </a:xfrm>
          <a:prstGeom prst="roundRect">
            <a:avLst>
              <a:gd name="adj" fmla="val 6087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37" name="fx4|ar"/>
          <p:cNvSpPr txBox="1"/>
          <p:nvPr/>
        </p:nvSpPr>
        <p:spPr>
          <a:xfrm>
            <a:off x="4519879" y="40690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المصادقة والإشعارات</a:t>
            </a:r>
            <a:endParaRPr lang="ar-SA" sz="1600" dirty="0"/>
          </a:p>
        </p:txBody>
      </p:sp>
      <p:sp>
        <p:nvSpPr>
          <p:cNvPr id="38" name="fx4|en"/>
          <p:cNvSpPr txBox="1"/>
          <p:nvPr/>
        </p:nvSpPr>
        <p:spPr>
          <a:xfrm>
            <a:off x="4519879" y="44348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accent1"/>
                </a:solidFill>
              </a:rPr>
              <a:t>Auth &amp; Notifications</a:t>
            </a:r>
            <a:endParaRPr lang="en-US" sz="1100" dirty="0"/>
          </a:p>
        </p:txBody>
      </p:sp>
      <p:pic>
        <p:nvPicPr>
          <p:cNvPr id="39" name="fx4|logo Firebase Auth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2959" y="4846320"/>
            <a:ext cx="548640" cy="548640"/>
          </a:xfrm>
          <a:prstGeom prst="rect">
            <a:avLst/>
          </a:prstGeom>
        </p:spPr>
      </p:pic>
      <p:sp>
        <p:nvSpPr>
          <p:cNvPr id="40" name="fx4|name Firebase Auth"/>
          <p:cNvSpPr txBox="1"/>
          <p:nvPr/>
        </p:nvSpPr>
        <p:spPr>
          <a:xfrm>
            <a:off x="6097219" y="54681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bg1"/>
                </a:solidFill>
              </a:rPr>
              <a:t>Firebase Auth</a:t>
            </a:r>
            <a:endParaRPr lang="en-US" sz="1100" dirty="0"/>
          </a:p>
        </p:txBody>
      </p:sp>
      <p:pic>
        <p:nvPicPr>
          <p:cNvPr id="41" name="fx4|logo FCM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42839" y="4846320"/>
            <a:ext cx="548640" cy="548640"/>
          </a:xfrm>
          <a:prstGeom prst="rect">
            <a:avLst/>
          </a:prstGeom>
        </p:spPr>
      </p:pic>
      <p:sp>
        <p:nvSpPr>
          <p:cNvPr id="42" name="fx4|name FCM"/>
          <p:cNvSpPr txBox="1"/>
          <p:nvPr/>
        </p:nvSpPr>
        <p:spPr>
          <a:xfrm>
            <a:off x="5137099" y="54681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bg1"/>
                </a:solidFill>
              </a:rPr>
              <a:t>FCM</a:t>
            </a:r>
            <a:endParaRPr lang="en-US" sz="1100" dirty="0"/>
          </a:p>
        </p:txBody>
      </p:sp>
      <p:sp>
        <p:nvSpPr>
          <p:cNvPr id="43" name="fx5|card"/>
          <p:cNvSpPr/>
          <p:nvPr/>
        </p:nvSpPr>
        <p:spPr>
          <a:xfrm>
            <a:off x="551383" y="3931920"/>
            <a:ext cx="3520440" cy="2103120"/>
          </a:xfrm>
          <a:prstGeom prst="roundRect">
            <a:avLst>
              <a:gd name="adj" fmla="val 6087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44" name="fx5|ar"/>
          <p:cNvSpPr txBox="1"/>
          <p:nvPr/>
        </p:nvSpPr>
        <p:spPr>
          <a:xfrm>
            <a:off x="734263" y="40690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الاتصال والإصدارات</a:t>
            </a:r>
            <a:endParaRPr lang="ar-SA" sz="1600" dirty="0"/>
          </a:p>
        </p:txBody>
      </p:sp>
      <p:sp>
        <p:nvSpPr>
          <p:cNvPr id="45" name="fx5|en"/>
          <p:cNvSpPr txBox="1"/>
          <p:nvPr/>
        </p:nvSpPr>
        <p:spPr>
          <a:xfrm>
            <a:off x="734263" y="44348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accent1"/>
                </a:solidFill>
              </a:rPr>
              <a:t>Integration &amp; VCS</a:t>
            </a:r>
            <a:endParaRPr lang="en-US" sz="1100" dirty="0"/>
          </a:p>
        </p:txBody>
      </p:sp>
      <p:pic>
        <p:nvPicPr>
          <p:cNvPr id="46" name="fx5|logo REST API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97403" y="4846320"/>
            <a:ext cx="548640" cy="548640"/>
          </a:xfrm>
          <a:prstGeom prst="rect">
            <a:avLst/>
          </a:prstGeom>
        </p:spPr>
      </p:pic>
      <p:sp>
        <p:nvSpPr>
          <p:cNvPr id="47" name="fx5|name REST API"/>
          <p:cNvSpPr txBox="1"/>
          <p:nvPr/>
        </p:nvSpPr>
        <p:spPr>
          <a:xfrm>
            <a:off x="2791663" y="54681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bg1"/>
                </a:solidFill>
              </a:rPr>
              <a:t>REST API</a:t>
            </a:r>
            <a:endParaRPr lang="en-US" sz="1100" dirty="0"/>
          </a:p>
        </p:txBody>
      </p:sp>
      <p:pic>
        <p:nvPicPr>
          <p:cNvPr id="48" name="fx5|logo Git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37283" y="4846320"/>
            <a:ext cx="548640" cy="548640"/>
          </a:xfrm>
          <a:prstGeom prst="rect">
            <a:avLst/>
          </a:prstGeom>
        </p:spPr>
      </p:pic>
      <p:sp>
        <p:nvSpPr>
          <p:cNvPr id="49" name="fx5|name Git"/>
          <p:cNvSpPr txBox="1"/>
          <p:nvPr/>
        </p:nvSpPr>
        <p:spPr>
          <a:xfrm>
            <a:off x="1831543" y="54681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bg1"/>
                </a:solidFill>
              </a:rPr>
              <a:t>Git</a:t>
            </a:r>
            <a:endParaRPr lang="en-US" sz="1100" dirty="0"/>
          </a:p>
        </p:txBody>
      </p:sp>
      <p:pic>
        <p:nvPicPr>
          <p:cNvPr id="50" name="fx5|logo GitHub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7163" y="4846320"/>
            <a:ext cx="548640" cy="548640"/>
          </a:xfrm>
          <a:prstGeom prst="rect">
            <a:avLst/>
          </a:prstGeom>
        </p:spPr>
      </p:pic>
      <p:sp>
        <p:nvSpPr>
          <p:cNvPr id="51" name="fx5|name GitHub"/>
          <p:cNvSpPr txBox="1"/>
          <p:nvPr/>
        </p:nvSpPr>
        <p:spPr>
          <a:xfrm>
            <a:off x="871423" y="54681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chemeClr val="bg1"/>
                </a:solidFill>
              </a:rPr>
              <a:t>GitHub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6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6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6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4" dur="6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6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6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6" dur="6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0" dur="6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6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8" dur="6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2" dur="6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6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7" grpId="0" animBg="1"/>
      <p:bldP spid="49" grpId="0" animBg="1"/>
      <p:bldP spid="5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مخرجات النظام: سجل المخالفة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System Output — Electronic Violation Record</a:t>
            </a:r>
            <a:endParaRPr lang="en-US" sz="1500" dirty="0"/>
          </a:p>
        </p:txBody>
      </p:sp>
      <p:sp>
        <p:nvSpPr>
          <p:cNvPr id="4" name="fx0|ticket#3d"/>
          <p:cNvSpPr/>
          <p:nvPr/>
        </p:nvSpPr>
        <p:spPr>
          <a:xfrm>
            <a:off x="4526280" y="1600200"/>
            <a:ext cx="7114032" cy="4572000"/>
          </a:xfrm>
          <a:prstGeom prst="roundRect">
            <a:avLst>
              <a:gd name="adj" fmla="val 2800"/>
            </a:avLst>
          </a:prstGeom>
          <a:solidFill>
            <a:srgbClr val="0F1B33">
              <a:alpha val="95000"/>
            </a:srgbClr>
          </a:solidFill>
          <a:ln w="12700">
            <a:solidFill>
              <a:schemeClr val="accent5">
                <a:alpha val="8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5" name="fx0|ticket head"/>
          <p:cNvSpPr txBox="1"/>
          <p:nvPr/>
        </p:nvSpPr>
        <p:spPr>
          <a:xfrm>
            <a:off x="4526280" y="1600200"/>
            <a:ext cx="7114032" cy="64008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  <p:txBody>
          <a:bodyPr wrap="square" lIns="0" tIns="3810" rIns="3810" bIns="0" rtlCol="0" anchor="ctr"/>
          <a:lstStyle/>
          <a:p>
            <a:pPr algn="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مخالفة تجاوز سرعة</a:t>
            </a:r>
            <a:pPr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#1024</a:t>
            </a:r>
            <a:endParaRPr lang="ar-SA" sz="2000" dirty="0"/>
          </a:p>
        </p:txBody>
      </p:sp>
      <p:pic>
        <p:nvPicPr>
          <p:cNvPr id="6" name="fx1|evidence" descr="صورة المركبة المخالف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468880"/>
            <a:ext cx="3017520" cy="2267712"/>
          </a:xfrm>
          <a:prstGeom prst="rect">
            <a:avLst/>
          </a:prstGeom>
        </p:spPr>
      </p:pic>
      <p:sp>
        <p:nvSpPr>
          <p:cNvPr id="7" name="fx1|ev lab"/>
          <p:cNvSpPr txBox="1"/>
          <p:nvPr/>
        </p:nvSpPr>
        <p:spPr>
          <a:xfrm>
            <a:off x="4754880" y="4800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chemeClr val="bg2"/>
                </a:solidFill>
              </a:rPr>
              <a:t>الدليل المرئي  •  Evidence</a:t>
            </a:r>
            <a:endParaRPr lang="ar-SA" sz="1100" dirty="0"/>
          </a:p>
        </p:txBody>
      </p:sp>
      <p:sp>
        <p:nvSpPr>
          <p:cNvPr id="8" name="fx2|plate#3d"/>
          <p:cNvSpPr txBox="1"/>
          <p:nvPr/>
        </p:nvSpPr>
        <p:spPr>
          <a:xfrm>
            <a:off x="5120640" y="521208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F5F5F0"/>
          </a:solidFill>
          <a:ln w="25400">
            <a:solidFill>
              <a:srgbClr val="11111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 23-4587</a:t>
            </a:r>
            <a:endParaRPr lang="en-US" sz="2200" dirty="0"/>
          </a:p>
        </p:txBody>
      </p:sp>
      <p:sp>
        <p:nvSpPr>
          <p:cNvPr id="9" name="fx3|k"/>
          <p:cNvSpPr txBox="1"/>
          <p:nvPr/>
        </p:nvSpPr>
        <p:spPr>
          <a:xfrm>
            <a:off x="9720072" y="24688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رقم اللوحة</a:t>
            </a:r>
            <a:endParaRPr lang="ar-SA" sz="1300" dirty="0"/>
          </a:p>
        </p:txBody>
      </p:sp>
      <p:sp>
        <p:nvSpPr>
          <p:cNvPr id="10" name="fx3|v"/>
          <p:cNvSpPr txBox="1"/>
          <p:nvPr/>
        </p:nvSpPr>
        <p:spPr>
          <a:xfrm>
            <a:off x="7955280" y="24688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b="1" dirty="0">
                <a:solidFill>
                  <a:schemeClr val="bg1"/>
                </a:solidFill>
              </a:rPr>
              <a:t>IB 23-4587</a:t>
            </a:r>
            <a:endParaRPr lang="en-US" sz="1400" dirty="0"/>
          </a:p>
        </p:txBody>
      </p:sp>
      <p:sp>
        <p:nvSpPr>
          <p:cNvPr id="11" name="fx3|sep"/>
          <p:cNvSpPr/>
          <p:nvPr/>
        </p:nvSpPr>
        <p:spPr>
          <a:xfrm>
            <a:off x="7955280" y="2889504"/>
            <a:ext cx="3456432" cy="914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2" name="fx4|k"/>
          <p:cNvSpPr txBox="1"/>
          <p:nvPr/>
        </p:nvSpPr>
        <p:spPr>
          <a:xfrm>
            <a:off x="9720072" y="29169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مالك المركبة</a:t>
            </a:r>
            <a:endParaRPr lang="ar-SA" sz="1300" dirty="0"/>
          </a:p>
        </p:txBody>
      </p:sp>
      <p:sp>
        <p:nvSpPr>
          <p:cNvPr id="13" name="fx4|v"/>
          <p:cNvSpPr txBox="1"/>
          <p:nvPr/>
        </p:nvSpPr>
        <p:spPr>
          <a:xfrm>
            <a:off x="7955280" y="29169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[ اسم المالك ]</a:t>
            </a:r>
            <a:endParaRPr lang="ar-SA" sz="1400" dirty="0"/>
          </a:p>
        </p:txBody>
      </p:sp>
      <p:sp>
        <p:nvSpPr>
          <p:cNvPr id="14" name="fx4|sep"/>
          <p:cNvSpPr/>
          <p:nvPr/>
        </p:nvSpPr>
        <p:spPr>
          <a:xfrm>
            <a:off x="7955280" y="3337560"/>
            <a:ext cx="3456432" cy="914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5" name="fx5|k"/>
          <p:cNvSpPr txBox="1"/>
          <p:nvPr/>
        </p:nvSpPr>
        <p:spPr>
          <a:xfrm>
            <a:off x="9720072" y="33649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نوع المركبة</a:t>
            </a:r>
            <a:endParaRPr lang="ar-SA" sz="1300" dirty="0"/>
          </a:p>
        </p:txBody>
      </p:sp>
      <p:sp>
        <p:nvSpPr>
          <p:cNvPr id="16" name="fx5|v"/>
          <p:cNvSpPr txBox="1"/>
          <p:nvPr/>
        </p:nvSpPr>
        <p:spPr>
          <a:xfrm>
            <a:off x="7955280" y="3364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سيارة</a:t>
            </a:r>
            <a:endParaRPr lang="ar-SA" sz="1400" dirty="0"/>
          </a:p>
        </p:txBody>
      </p:sp>
      <p:sp>
        <p:nvSpPr>
          <p:cNvPr id="17" name="fx5|sep"/>
          <p:cNvSpPr/>
          <p:nvPr/>
        </p:nvSpPr>
        <p:spPr>
          <a:xfrm>
            <a:off x="7955280" y="3785616"/>
            <a:ext cx="3456432" cy="914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8" name="fx6|k"/>
          <p:cNvSpPr txBox="1"/>
          <p:nvPr/>
        </p:nvSpPr>
        <p:spPr>
          <a:xfrm>
            <a:off x="9720072" y="38130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السرعة الفعلية</a:t>
            </a:r>
            <a:endParaRPr lang="ar-SA" sz="1300" dirty="0"/>
          </a:p>
        </p:txBody>
      </p:sp>
      <p:sp>
        <p:nvSpPr>
          <p:cNvPr id="19" name="fx6|v"/>
          <p:cNvSpPr txBox="1"/>
          <p:nvPr/>
        </p:nvSpPr>
        <p:spPr>
          <a:xfrm>
            <a:off x="7955280" y="38130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b="1" dirty="0">
                <a:solidFill>
                  <a:schemeClr val="accent5"/>
                </a:solidFill>
              </a:rPr>
              <a:t>92 km/h</a:t>
            </a:r>
            <a:endParaRPr lang="en-US" sz="1400" dirty="0"/>
          </a:p>
        </p:txBody>
      </p:sp>
      <p:sp>
        <p:nvSpPr>
          <p:cNvPr id="20" name="fx6|sep"/>
          <p:cNvSpPr/>
          <p:nvPr/>
        </p:nvSpPr>
        <p:spPr>
          <a:xfrm>
            <a:off x="7955280" y="4233672"/>
            <a:ext cx="3456432" cy="914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21" name="fx7|k"/>
          <p:cNvSpPr txBox="1"/>
          <p:nvPr/>
        </p:nvSpPr>
        <p:spPr>
          <a:xfrm>
            <a:off x="9720072" y="426110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السرعة القانونية</a:t>
            </a:r>
            <a:endParaRPr lang="ar-SA" sz="1300" dirty="0"/>
          </a:p>
        </p:txBody>
      </p:sp>
      <p:sp>
        <p:nvSpPr>
          <p:cNvPr id="22" name="fx7|v"/>
          <p:cNvSpPr txBox="1"/>
          <p:nvPr/>
        </p:nvSpPr>
        <p:spPr>
          <a:xfrm>
            <a:off x="7955280" y="42611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b="1" dirty="0">
                <a:solidFill>
                  <a:schemeClr val="bg1"/>
                </a:solidFill>
              </a:rPr>
              <a:t>60 km/h</a:t>
            </a:r>
            <a:endParaRPr lang="en-US" sz="1400" dirty="0"/>
          </a:p>
        </p:txBody>
      </p:sp>
      <p:sp>
        <p:nvSpPr>
          <p:cNvPr id="23" name="fx7|sep"/>
          <p:cNvSpPr/>
          <p:nvPr/>
        </p:nvSpPr>
        <p:spPr>
          <a:xfrm>
            <a:off x="7955280" y="4681728"/>
            <a:ext cx="3456432" cy="914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24" name="fx8|k"/>
          <p:cNvSpPr txBox="1"/>
          <p:nvPr/>
        </p:nvSpPr>
        <p:spPr>
          <a:xfrm>
            <a:off x="9720072" y="47091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مقدار التجاوز</a:t>
            </a:r>
            <a:endParaRPr lang="ar-SA" sz="1300" dirty="0"/>
          </a:p>
        </p:txBody>
      </p:sp>
      <p:sp>
        <p:nvSpPr>
          <p:cNvPr id="25" name="fx8|v"/>
          <p:cNvSpPr txBox="1"/>
          <p:nvPr/>
        </p:nvSpPr>
        <p:spPr>
          <a:xfrm>
            <a:off x="7955280" y="4709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b="1" dirty="0">
                <a:solidFill>
                  <a:schemeClr val="accent5"/>
                </a:solidFill>
              </a:rPr>
              <a:t>+32 km/h</a:t>
            </a:r>
            <a:endParaRPr lang="en-US" sz="1400" dirty="0"/>
          </a:p>
        </p:txBody>
      </p:sp>
      <p:sp>
        <p:nvSpPr>
          <p:cNvPr id="26" name="fx8|sep"/>
          <p:cNvSpPr/>
          <p:nvPr/>
        </p:nvSpPr>
        <p:spPr>
          <a:xfrm>
            <a:off x="7955280" y="5129784"/>
            <a:ext cx="3456432" cy="914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27" name="fx9|k"/>
          <p:cNvSpPr txBox="1"/>
          <p:nvPr/>
        </p:nvSpPr>
        <p:spPr>
          <a:xfrm>
            <a:off x="9720072" y="515721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التاريخ والوقت</a:t>
            </a:r>
            <a:endParaRPr lang="ar-SA" sz="1300" dirty="0"/>
          </a:p>
        </p:txBody>
      </p:sp>
      <p:sp>
        <p:nvSpPr>
          <p:cNvPr id="28" name="fx9|v"/>
          <p:cNvSpPr txBox="1"/>
          <p:nvPr/>
        </p:nvSpPr>
        <p:spPr>
          <a:xfrm>
            <a:off x="7955280" y="51572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b="1" dirty="0">
                <a:solidFill>
                  <a:schemeClr val="bg1"/>
                </a:solidFill>
              </a:rPr>
              <a:t>08:42  2026-10-15</a:t>
            </a:r>
            <a:endParaRPr lang="en-US" sz="1400" dirty="0"/>
          </a:p>
        </p:txBody>
      </p:sp>
      <p:sp>
        <p:nvSpPr>
          <p:cNvPr id="29" name="fx9|sep"/>
          <p:cNvSpPr/>
          <p:nvPr/>
        </p:nvSpPr>
        <p:spPr>
          <a:xfrm>
            <a:off x="7955280" y="5577840"/>
            <a:ext cx="3456432" cy="914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30" name="fx10|k"/>
          <p:cNvSpPr txBox="1"/>
          <p:nvPr/>
        </p:nvSpPr>
        <p:spPr>
          <a:xfrm>
            <a:off x="9720072" y="56052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bg2"/>
                </a:solidFill>
              </a:rPr>
              <a:t>الموقع</a:t>
            </a:r>
            <a:endParaRPr lang="ar-SA" sz="1300" dirty="0"/>
          </a:p>
        </p:txBody>
      </p:sp>
      <p:sp>
        <p:nvSpPr>
          <p:cNvPr id="31" name="fx10|v"/>
          <p:cNvSpPr txBox="1"/>
          <p:nvPr/>
        </p:nvSpPr>
        <p:spPr>
          <a:xfrm>
            <a:off x="7955280" y="5605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موقع A</a:t>
            </a:r>
            <a:endParaRPr lang="ar-SA" sz="1400" dirty="0"/>
          </a:p>
        </p:txBody>
      </p:sp>
      <p:sp>
        <p:nvSpPr>
          <p:cNvPr id="32" name="fx0|outputs"/>
          <p:cNvSpPr/>
          <p:nvPr/>
        </p:nvSpPr>
        <p:spPr>
          <a:xfrm>
            <a:off x="548640" y="1600200"/>
            <a:ext cx="3749040" cy="4572000"/>
          </a:xfrm>
          <a:prstGeom prst="roundRect">
            <a:avLst>
              <a:gd name="adj" fmla="val 3415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33" name="fx1|out t"/>
          <p:cNvSpPr txBox="1"/>
          <p:nvPr/>
        </p:nvSpPr>
        <p:spPr>
          <a:xfrm>
            <a:off x="731520" y="1737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accent1"/>
                </a:solidFill>
              </a:rPr>
              <a:t>ما يحفظه النظام لكل مخالفة</a:t>
            </a:r>
            <a:endParaRPr lang="ar-SA" sz="1600" dirty="0"/>
          </a:p>
        </p:txBody>
      </p:sp>
      <p:pic>
        <p:nvPicPr>
          <p:cNvPr id="34" name="fx2|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331720"/>
            <a:ext cx="274320" cy="274320"/>
          </a:xfrm>
          <a:prstGeom prst="rect">
            <a:avLst/>
          </a:prstGeom>
        </p:spPr>
      </p:pic>
      <p:sp>
        <p:nvSpPr>
          <p:cNvPr id="35" name="fx2|o"/>
          <p:cNvSpPr txBox="1"/>
          <p:nvPr/>
        </p:nvSpPr>
        <p:spPr>
          <a:xfrm>
            <a:off x="73152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سجل إلكتروني للمخالفة</a:t>
            </a:r>
            <a:endParaRPr lang="ar-SA" sz="1400" dirty="0"/>
          </a:p>
        </p:txBody>
      </p:sp>
      <p:pic>
        <p:nvPicPr>
          <p:cNvPr id="36" name="fx3|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926080"/>
            <a:ext cx="274320" cy="274320"/>
          </a:xfrm>
          <a:prstGeom prst="rect">
            <a:avLst/>
          </a:prstGeom>
        </p:spPr>
      </p:pic>
      <p:sp>
        <p:nvSpPr>
          <p:cNvPr id="37" name="fx3|o"/>
          <p:cNvSpPr txBox="1"/>
          <p:nvPr/>
        </p:nvSpPr>
        <p:spPr>
          <a:xfrm>
            <a:off x="73152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رقم اللوحة وبيانات المالك</a:t>
            </a:r>
            <a:endParaRPr lang="ar-SA" sz="1400" dirty="0"/>
          </a:p>
        </p:txBody>
      </p:sp>
      <p:pic>
        <p:nvPicPr>
          <p:cNvPr id="38" name="fx4|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3520440"/>
            <a:ext cx="274320" cy="274320"/>
          </a:xfrm>
          <a:prstGeom prst="rect">
            <a:avLst/>
          </a:prstGeom>
        </p:spPr>
      </p:pic>
      <p:sp>
        <p:nvSpPr>
          <p:cNvPr id="39" name="fx4|o"/>
          <p:cNvSpPr txBox="1"/>
          <p:nvPr/>
        </p:nvSpPr>
        <p:spPr>
          <a:xfrm>
            <a:off x="73152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السرعة الفعلية والقانونية والتجاوز</a:t>
            </a:r>
            <a:endParaRPr lang="ar-SA" sz="1400" dirty="0"/>
          </a:p>
        </p:txBody>
      </p:sp>
      <p:pic>
        <p:nvPicPr>
          <p:cNvPr id="40" name="fx5|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4114800"/>
            <a:ext cx="274320" cy="274320"/>
          </a:xfrm>
          <a:prstGeom prst="rect">
            <a:avLst/>
          </a:prstGeom>
        </p:spPr>
      </p:pic>
      <p:sp>
        <p:nvSpPr>
          <p:cNvPr id="41" name="fx5|o"/>
          <p:cNvSpPr txBox="1"/>
          <p:nvPr/>
        </p:nvSpPr>
        <p:spPr>
          <a:xfrm>
            <a:off x="731520" y="4069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وقت وموقع المخالفة</a:t>
            </a:r>
            <a:endParaRPr lang="ar-SA" sz="1400" dirty="0"/>
          </a:p>
        </p:txBody>
      </p:sp>
      <p:pic>
        <p:nvPicPr>
          <p:cNvPr id="42" name="fx6|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4709160"/>
            <a:ext cx="274320" cy="274320"/>
          </a:xfrm>
          <a:prstGeom prst="rect">
            <a:avLst/>
          </a:prstGeom>
        </p:spPr>
      </p:pic>
      <p:sp>
        <p:nvSpPr>
          <p:cNvPr id="43" name="fx6|o"/>
          <p:cNvSpPr txBox="1"/>
          <p:nvPr/>
        </p:nvSpPr>
        <p:spPr>
          <a:xfrm>
            <a:off x="731520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الصور والأدلة المرئية</a:t>
            </a:r>
            <a:endParaRPr lang="ar-SA" sz="1400" dirty="0"/>
          </a:p>
        </p:txBody>
      </p:sp>
      <p:pic>
        <p:nvPicPr>
          <p:cNvPr id="44" name="fx7|ck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5303520"/>
            <a:ext cx="274320" cy="274320"/>
          </a:xfrm>
          <a:prstGeom prst="rect">
            <a:avLst/>
          </a:prstGeom>
        </p:spPr>
      </p:pic>
      <p:sp>
        <p:nvSpPr>
          <p:cNvPr id="45" name="fx7|o"/>
          <p:cNvSpPr txBox="1"/>
          <p:nvPr/>
        </p:nvSpPr>
        <p:spPr>
          <a:xfrm>
            <a:off x="731520" y="5257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إحصائيات وتقارير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6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6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6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4" dur="6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6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6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7" grpId="0" animBg="1"/>
      <p:bldP spid="39" grpId="0" animBg="1"/>
      <p:bldP spid="41" grpId="0" animBg="1"/>
      <p:bldP spid="43" grpId="0" animBg="1"/>
      <p:bldP spid="4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واجهات تطبيق الهاتف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Mobile App Screens — Flutter</a:t>
            </a:r>
            <a:endParaRPr lang="en-US" sz="1500" dirty="0"/>
          </a:p>
        </p:txBody>
      </p:sp>
      <p:pic>
        <p:nvPicPr>
          <p:cNvPr id="4" name="fx0|pedestal" descr="img/pedestal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4526280"/>
            <a:ext cx="3200400" cy="1115568"/>
          </a:xfrm>
          <a:prstGeom prst="rect">
            <a:avLst/>
          </a:prstGeom>
        </p:spPr>
      </p:pic>
      <p:sp>
        <p:nvSpPr>
          <p:cNvPr id="5" name="fx0|phone#tiltR"/>
          <p:cNvSpPr/>
          <p:nvPr/>
        </p:nvSpPr>
        <p:spPr>
          <a:xfrm>
            <a:off x="8321040" y="1481328"/>
            <a:ext cx="1828800" cy="3840480"/>
          </a:xfrm>
          <a:prstGeom prst="roundRect">
            <a:avLst>
              <a:gd name="adj" fmla="val 13000"/>
            </a:avLst>
          </a:prstGeom>
          <a:solidFill>
            <a:srgbClr val="0B0F1A"/>
          </a:solidFill>
          <a:ln w="25400">
            <a:solidFill>
              <a:srgbClr val="5B6B8C"/>
            </a:solidFill>
            <a:prstDash val="solid"/>
          </a:ln>
          <a:effectLst>
            <a:outerShdw sx="100000" sy="100000" kx="0" ky="0" algn="bl" rotWithShape="0" blurRad="279400" dist="50800" dir="16200000">
              <a:srgbClr val="22D3EE">
                <a:alpha val="55000"/>
              </a:srgbClr>
            </a:outerShdw>
          </a:effectLst>
          <a:scene3d>
            <a:camera prst="perspectiveContrastingRightFacing"/>
            <a:lightRig rig="threePt" dir="t"/>
          </a:scene3d>
        </p:spPr>
      </p:sp>
      <p:pic>
        <p:nvPicPr>
          <p:cNvPr id="6" name="fx0|screen#tiltR" descr="لقطة شاشة — بدّلها بلقطة حقيقية من تطبيقك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336" y="1563624"/>
            <a:ext cx="1664208" cy="3675888"/>
          </a:xfrm>
          <a:prstGeom prst="rect">
            <a:avLst/>
          </a:prstGeom>
          <a:scene3d>
            <a:camera prst="perspectiveContrastingRightFacing"/>
            <a:lightRig rig="threePt" dir="t"/>
          </a:scene3d>
        </p:spPr>
      </p:pic>
      <p:sp>
        <p:nvSpPr>
          <p:cNvPr id="7" name="fx0|ar"/>
          <p:cNvSpPr txBox="1"/>
          <p:nvPr/>
        </p:nvSpPr>
        <p:spPr>
          <a:xfrm>
            <a:off x="7772400" y="5596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تسجيل الدخول</a:t>
            </a:r>
            <a:endParaRPr lang="ar-SA" sz="1800" dirty="0"/>
          </a:p>
        </p:txBody>
      </p:sp>
      <p:sp>
        <p:nvSpPr>
          <p:cNvPr id="8" name="fx0|en"/>
          <p:cNvSpPr txBox="1"/>
          <p:nvPr/>
        </p:nvSpPr>
        <p:spPr>
          <a:xfrm>
            <a:off x="7772400" y="5961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Login</a:t>
            </a:r>
            <a:endParaRPr lang="en-US" sz="1200" dirty="0"/>
          </a:p>
        </p:txBody>
      </p:sp>
      <p:pic>
        <p:nvPicPr>
          <p:cNvPr id="9" name="fx1|pedestal" descr="img/pedestal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105" y="4526280"/>
            <a:ext cx="3200400" cy="1115568"/>
          </a:xfrm>
          <a:prstGeom prst="rect">
            <a:avLst/>
          </a:prstGeom>
        </p:spPr>
      </p:pic>
      <p:sp>
        <p:nvSpPr>
          <p:cNvPr id="10" name="fx1|phone#tiltF"/>
          <p:cNvSpPr/>
          <p:nvPr/>
        </p:nvSpPr>
        <p:spPr>
          <a:xfrm>
            <a:off x="5181905" y="1481328"/>
            <a:ext cx="1828800" cy="3840480"/>
          </a:xfrm>
          <a:prstGeom prst="roundRect">
            <a:avLst>
              <a:gd name="adj" fmla="val 13000"/>
            </a:avLst>
          </a:prstGeom>
          <a:solidFill>
            <a:srgbClr val="0B0F1A"/>
          </a:solidFill>
          <a:ln w="25400">
            <a:solidFill>
              <a:srgbClr val="5B6B8C"/>
            </a:solidFill>
            <a:prstDash val="solid"/>
          </a:ln>
          <a:effectLst>
            <a:outerShdw sx="100000" sy="100000" kx="0" ky="0" algn="bl" rotWithShape="0" blurRad="279400" dist="50800" dir="16200000">
              <a:srgbClr val="22D3EE">
                <a:alpha val="55000"/>
              </a:srgbClr>
            </a:outerShdw>
          </a:effectLst>
          <a:scene3d>
            <a:camera prst="perspectiveRelaxedModerately"/>
            <a:lightRig rig="threePt" dir="t"/>
          </a:scene3d>
        </p:spPr>
      </p:sp>
      <p:pic>
        <p:nvPicPr>
          <p:cNvPr id="11" name="fx1|screen#tiltF" descr="لقطة شاشة — بدّلها بلقطة حقيقية من تطبيقك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201" y="1563624"/>
            <a:ext cx="1664208" cy="3675888"/>
          </a:xfrm>
          <a:prstGeom prst="rect">
            <a:avLst/>
          </a:prstGeom>
          <a:scene3d>
            <a:camera prst="perspectiveRelaxedModerately"/>
            <a:lightRig rig="threePt" dir="t"/>
          </a:scene3d>
        </p:spPr>
      </p:pic>
      <p:sp>
        <p:nvSpPr>
          <p:cNvPr id="12" name="fx1|ar"/>
          <p:cNvSpPr txBox="1"/>
          <p:nvPr/>
        </p:nvSpPr>
        <p:spPr>
          <a:xfrm>
            <a:off x="4633265" y="5596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المراقبة الحية</a:t>
            </a:r>
            <a:endParaRPr lang="ar-SA" sz="1800" dirty="0"/>
          </a:p>
        </p:txBody>
      </p:sp>
      <p:sp>
        <p:nvSpPr>
          <p:cNvPr id="13" name="fx1|en"/>
          <p:cNvSpPr txBox="1"/>
          <p:nvPr/>
        </p:nvSpPr>
        <p:spPr>
          <a:xfrm>
            <a:off x="4633265" y="5961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Live Monitoring</a:t>
            </a:r>
            <a:endParaRPr lang="en-US" sz="1200" dirty="0"/>
          </a:p>
        </p:txBody>
      </p:sp>
      <p:pic>
        <p:nvPicPr>
          <p:cNvPr id="14" name="fx2|pedestal" descr="img/pedestal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2" y="4526280"/>
            <a:ext cx="3200400" cy="1115568"/>
          </a:xfrm>
          <a:prstGeom prst="rect">
            <a:avLst/>
          </a:prstGeom>
        </p:spPr>
      </p:pic>
      <p:sp>
        <p:nvSpPr>
          <p:cNvPr id="15" name="fx2|phone#tiltL"/>
          <p:cNvSpPr/>
          <p:nvPr/>
        </p:nvSpPr>
        <p:spPr>
          <a:xfrm>
            <a:off x="2039112" y="1481328"/>
            <a:ext cx="1828800" cy="3840480"/>
          </a:xfrm>
          <a:prstGeom prst="roundRect">
            <a:avLst>
              <a:gd name="adj" fmla="val 13000"/>
            </a:avLst>
          </a:prstGeom>
          <a:solidFill>
            <a:srgbClr val="0B0F1A"/>
          </a:solidFill>
          <a:ln w="25400">
            <a:solidFill>
              <a:srgbClr val="5B6B8C"/>
            </a:solidFill>
            <a:prstDash val="solid"/>
          </a:ln>
          <a:effectLst>
            <a:outerShdw sx="100000" sy="100000" kx="0" ky="0" algn="bl" rotWithShape="0" blurRad="279400" dist="50800" dir="16200000">
              <a:srgbClr val="22D3EE">
                <a:alpha val="55000"/>
              </a:srgbClr>
            </a:outerShdw>
          </a:effectLst>
          <a:scene3d>
            <a:camera prst="perspectiveContrastingLeftFacing"/>
            <a:lightRig rig="threePt" dir="t"/>
          </a:scene3d>
        </p:spPr>
      </p:sp>
      <p:pic>
        <p:nvPicPr>
          <p:cNvPr id="16" name="fx2|screen#tiltL" descr="لقطة شاشة — بدّلها بلقطة حقيقية من تطبيقكم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1408" y="1563624"/>
            <a:ext cx="1664208" cy="3675888"/>
          </a:xfrm>
          <a:prstGeom prst="rect">
            <a:avLst/>
          </a:prstGeom>
          <a:scene3d>
            <a:camera prst="perspectiveContrastingLeftFacing"/>
            <a:lightRig rig="threePt" dir="t"/>
          </a:scene3d>
        </p:spPr>
      </p:pic>
      <p:sp>
        <p:nvSpPr>
          <p:cNvPr id="17" name="fx2|ar"/>
          <p:cNvSpPr txBox="1"/>
          <p:nvPr/>
        </p:nvSpPr>
        <p:spPr>
          <a:xfrm>
            <a:off x="1490472" y="5596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تفاصيل المخالفة</a:t>
            </a:r>
            <a:endParaRPr lang="ar-SA" sz="1800" dirty="0"/>
          </a:p>
        </p:txBody>
      </p:sp>
      <p:sp>
        <p:nvSpPr>
          <p:cNvPr id="18" name="fx2|en"/>
          <p:cNvSpPr txBox="1"/>
          <p:nvPr/>
        </p:nvSpPr>
        <p:spPr>
          <a:xfrm>
            <a:off x="1490472" y="5961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Violation Details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2" grpId="0" animBg="1"/>
      <p:bldP spid="13" grpId="0" animBg="1"/>
      <p:bldP spid="15" grpId="0" animBg="1"/>
      <p:bldP spid="17" grpId="0" animBg="1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لوحة التحكم الإلكترونية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Web Dashboard — Laravel</a:t>
            </a:r>
            <a:endParaRPr lang="en-US" sz="1500" dirty="0"/>
          </a:p>
        </p:txBody>
      </p:sp>
      <p:sp>
        <p:nvSpPr>
          <p:cNvPr id="4" name="Laptop screen body"/>
          <p:cNvSpPr/>
          <p:nvPr/>
        </p:nvSpPr>
        <p:spPr>
          <a:xfrm>
            <a:off x="548640" y="1600200"/>
            <a:ext cx="7315200" cy="4206240"/>
          </a:xfrm>
          <a:prstGeom prst="roundRect">
            <a:avLst>
              <a:gd name="adj" fmla="val 3043"/>
            </a:avLst>
          </a:prstGeom>
          <a:solidFill>
            <a:srgbClr val="0B0F1A"/>
          </a:solidFill>
          <a:ln w="25400">
            <a:solidFill>
              <a:srgbClr val="5B6B8C"/>
            </a:solidFill>
            <a:prstDash val="solid"/>
          </a:ln>
          <a:effectLst>
            <a:outerShdw sx="100000" sy="100000" kx="0" ky="0" algn="bl" rotWithShape="0" blurRad="330200" dist="50800" dir="16200000">
              <a:srgbClr val="22D3EE">
                <a:alpha val="50000"/>
              </a:srgbClr>
            </a:outerShdw>
          </a:effectLst>
        </p:spPr>
      </p:sp>
      <p:pic>
        <p:nvPicPr>
          <p:cNvPr id="5" name="Dashboard screenshot" descr="لقطة لوحة التحكم — بدّلها بلقطة حقيق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37360"/>
            <a:ext cx="7040880" cy="3931920"/>
          </a:xfrm>
          <a:prstGeom prst="rect">
            <a:avLst/>
          </a:prstGeom>
        </p:spPr>
      </p:pic>
      <p:sp>
        <p:nvSpPr>
          <p:cNvPr id="6" name="Laptop base"/>
          <p:cNvSpPr/>
          <p:nvPr/>
        </p:nvSpPr>
        <p:spPr>
          <a:xfrm>
            <a:off x="182880" y="5806440"/>
            <a:ext cx="8046720" cy="292608"/>
          </a:xfrm>
          <a:prstGeom prst="trapezoid">
            <a:avLst/>
          </a:prstGeom>
          <a:solidFill>
            <a:srgbClr val="2A3550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7" name="fx0|row"/>
          <p:cNvSpPr/>
          <p:nvPr/>
        </p:nvSpPr>
        <p:spPr>
          <a:xfrm>
            <a:off x="8183880" y="1600200"/>
            <a:ext cx="3456432" cy="603504"/>
          </a:xfrm>
          <a:prstGeom prst="roundRect">
            <a:avLst>
              <a:gd name="adj" fmla="val 21212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8" name="fx0|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1746504"/>
            <a:ext cx="310896" cy="310896"/>
          </a:xfrm>
          <a:prstGeom prst="rect">
            <a:avLst/>
          </a:prstGeom>
        </p:spPr>
      </p:pic>
      <p:sp>
        <p:nvSpPr>
          <p:cNvPr id="9" name="fx0|t"/>
          <p:cNvSpPr txBox="1"/>
          <p:nvPr/>
        </p:nvSpPr>
        <p:spPr>
          <a:xfrm>
            <a:off x="8321040" y="16733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إدارة المستخدمين والصلاحيات</a:t>
            </a:r>
            <a:endParaRPr lang="ar-SA" sz="1400" dirty="0"/>
          </a:p>
        </p:txBody>
      </p:sp>
      <p:sp>
        <p:nvSpPr>
          <p:cNvPr id="10" name="fx1|row"/>
          <p:cNvSpPr/>
          <p:nvPr/>
        </p:nvSpPr>
        <p:spPr>
          <a:xfrm>
            <a:off x="8183880" y="2331720"/>
            <a:ext cx="3456432" cy="603504"/>
          </a:xfrm>
          <a:prstGeom prst="roundRect">
            <a:avLst>
              <a:gd name="adj" fmla="val 21212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1" name="fx1|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2478024"/>
            <a:ext cx="310896" cy="310896"/>
          </a:xfrm>
          <a:prstGeom prst="rect">
            <a:avLst/>
          </a:prstGeom>
        </p:spPr>
      </p:pic>
      <p:sp>
        <p:nvSpPr>
          <p:cNvPr id="12" name="fx1|t"/>
          <p:cNvSpPr txBox="1"/>
          <p:nvPr/>
        </p:nvSpPr>
        <p:spPr>
          <a:xfrm>
            <a:off x="8321040" y="24048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إدارة الأجهزة والمواقع</a:t>
            </a:r>
            <a:endParaRPr lang="ar-SA" sz="1400" dirty="0"/>
          </a:p>
        </p:txBody>
      </p:sp>
      <p:sp>
        <p:nvSpPr>
          <p:cNvPr id="13" name="fx2|row"/>
          <p:cNvSpPr/>
          <p:nvPr/>
        </p:nvSpPr>
        <p:spPr>
          <a:xfrm>
            <a:off x="8183880" y="3063240"/>
            <a:ext cx="3456432" cy="603504"/>
          </a:xfrm>
          <a:prstGeom prst="roundRect">
            <a:avLst>
              <a:gd name="adj" fmla="val 21212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4" name="fx2|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2" y="3209544"/>
            <a:ext cx="310896" cy="310896"/>
          </a:xfrm>
          <a:prstGeom prst="rect">
            <a:avLst/>
          </a:prstGeom>
        </p:spPr>
      </p:pic>
      <p:sp>
        <p:nvSpPr>
          <p:cNvPr id="15" name="fx2|t"/>
          <p:cNvSpPr txBox="1"/>
          <p:nvPr/>
        </p:nvSpPr>
        <p:spPr>
          <a:xfrm>
            <a:off x="8321040" y="31363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تحديد السرعات القانونية</a:t>
            </a:r>
            <a:endParaRPr lang="ar-SA" sz="1400" dirty="0"/>
          </a:p>
        </p:txBody>
      </p:sp>
      <p:sp>
        <p:nvSpPr>
          <p:cNvPr id="16" name="fx3|row"/>
          <p:cNvSpPr/>
          <p:nvPr/>
        </p:nvSpPr>
        <p:spPr>
          <a:xfrm>
            <a:off x="8183880" y="3794760"/>
            <a:ext cx="3456432" cy="603504"/>
          </a:xfrm>
          <a:prstGeom prst="roundRect">
            <a:avLst>
              <a:gd name="adj" fmla="val 21212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17" name="fx3|ic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392" y="3941064"/>
            <a:ext cx="310896" cy="310896"/>
          </a:xfrm>
          <a:prstGeom prst="rect">
            <a:avLst/>
          </a:prstGeom>
        </p:spPr>
      </p:pic>
      <p:sp>
        <p:nvSpPr>
          <p:cNvPr id="18" name="fx3|t"/>
          <p:cNvSpPr txBox="1"/>
          <p:nvPr/>
        </p:nvSpPr>
        <p:spPr>
          <a:xfrm>
            <a:off x="8321040" y="38679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المركبات ومالكوها</a:t>
            </a:r>
            <a:endParaRPr lang="ar-SA" sz="1400" dirty="0"/>
          </a:p>
        </p:txBody>
      </p:sp>
      <p:sp>
        <p:nvSpPr>
          <p:cNvPr id="19" name="fx4|row"/>
          <p:cNvSpPr/>
          <p:nvPr/>
        </p:nvSpPr>
        <p:spPr>
          <a:xfrm>
            <a:off x="8183880" y="4526280"/>
            <a:ext cx="3456432" cy="603504"/>
          </a:xfrm>
          <a:prstGeom prst="roundRect">
            <a:avLst>
              <a:gd name="adj" fmla="val 21212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0" name="fx4|ic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392" y="4672584"/>
            <a:ext cx="310896" cy="310896"/>
          </a:xfrm>
          <a:prstGeom prst="rect">
            <a:avLst/>
          </a:prstGeom>
        </p:spPr>
      </p:pic>
      <p:sp>
        <p:nvSpPr>
          <p:cNvPr id="21" name="fx4|t"/>
          <p:cNvSpPr txBox="1"/>
          <p:nvPr/>
        </p:nvSpPr>
        <p:spPr>
          <a:xfrm>
            <a:off x="8321040" y="45994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مراجعة واعتماد المخالفات</a:t>
            </a:r>
            <a:endParaRPr lang="ar-SA" sz="1400" dirty="0"/>
          </a:p>
        </p:txBody>
      </p:sp>
      <p:sp>
        <p:nvSpPr>
          <p:cNvPr id="22" name="fx5|row"/>
          <p:cNvSpPr/>
          <p:nvPr/>
        </p:nvSpPr>
        <p:spPr>
          <a:xfrm>
            <a:off x="8183880" y="5257800"/>
            <a:ext cx="3456432" cy="603504"/>
          </a:xfrm>
          <a:prstGeom prst="roundRect">
            <a:avLst>
              <a:gd name="adj" fmla="val 21212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pic>
        <p:nvPicPr>
          <p:cNvPr id="23" name="fx5|ic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7392" y="5404104"/>
            <a:ext cx="310896" cy="310896"/>
          </a:xfrm>
          <a:prstGeom prst="rect">
            <a:avLst/>
          </a:prstGeom>
        </p:spPr>
      </p:pic>
      <p:sp>
        <p:nvSpPr>
          <p:cNvPr id="24" name="fx5|t"/>
          <p:cNvSpPr txBox="1"/>
          <p:nvPr/>
        </p:nvSpPr>
        <p:spPr>
          <a:xfrm>
            <a:off x="8321040" y="53309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التقارير والإحصائيات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العرض التجريبي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Live Demo</a:t>
            </a:r>
            <a:endParaRPr lang="en-US" sz="1500" dirty="0"/>
          </a:p>
        </p:txBody>
      </p:sp>
      <p:sp>
        <p:nvSpPr>
          <p:cNvPr id="4" name="Video frame"/>
          <p:cNvSpPr/>
          <p:nvPr/>
        </p:nvSpPr>
        <p:spPr>
          <a:xfrm>
            <a:off x="548640" y="1600200"/>
            <a:ext cx="6949440" cy="4526280"/>
          </a:xfrm>
          <a:prstGeom prst="roundRect">
            <a:avLst>
              <a:gd name="adj" fmla="val 3232"/>
            </a:avLst>
          </a:prstGeom>
          <a:solidFill>
            <a:schemeClr val="tx1">
              <a:alpha val="90000"/>
            </a:schemeClr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304800" dist="50800" dir="16200000">
              <a:srgbClr val="22D3EE">
                <a:alpha val="50000"/>
              </a:srgbClr>
            </a:outerShdw>
          </a:effectLst>
        </p:spPr>
      </p:sp>
      <p:pic>
        <p:nvPicPr>
          <p:cNvPr id="5" name="Video poster" descr="img/scene_detect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640080" y="1691640"/>
            <a:ext cx="6766560" cy="4343400"/>
          </a:xfrm>
          <a:prstGeom prst="rect">
            <a:avLst/>
          </a:prstGeom>
        </p:spPr>
      </p:pic>
      <p:sp>
        <p:nvSpPr>
          <p:cNvPr id="6" name="Play button#3d"/>
          <p:cNvSpPr/>
          <p:nvPr/>
        </p:nvSpPr>
        <p:spPr>
          <a:xfrm>
            <a:off x="3429000" y="3291840"/>
            <a:ext cx="1188720" cy="11887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7" name="Pla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3630168"/>
            <a:ext cx="502920" cy="502920"/>
          </a:xfrm>
          <a:prstGeom prst="rect">
            <a:avLst/>
          </a:prstGeom>
        </p:spPr>
      </p:pic>
      <p:sp>
        <p:nvSpPr>
          <p:cNvPr id="8" name="Video hint"/>
          <p:cNvSpPr txBox="1"/>
          <p:nvPr/>
        </p:nvSpPr>
        <p:spPr>
          <a:xfrm>
            <a:off x="914400" y="47548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chemeClr val="bg1"/>
                </a:solidFill>
              </a:rPr>
              <a:t>أدرج فيديو العرض هنا: إدراج ← فيديو  •  Insert ▸ Video</a:t>
            </a:r>
            <a:endParaRPr lang="ar-SA" sz="1300" dirty="0"/>
          </a:p>
        </p:txBody>
      </p:sp>
      <p:sp>
        <p:nvSpPr>
          <p:cNvPr id="9" name="fx0|step"/>
          <p:cNvSpPr/>
          <p:nvPr/>
        </p:nvSpPr>
        <p:spPr>
          <a:xfrm>
            <a:off x="7818120" y="1600200"/>
            <a:ext cx="3822192" cy="786384"/>
          </a:xfrm>
          <a:prstGeom prst="roundRect">
            <a:avLst>
              <a:gd name="adj" fmla="val 16279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0" name="fx0|num#3d"/>
          <p:cNvSpPr txBox="1"/>
          <p:nvPr/>
        </p:nvSpPr>
        <p:spPr>
          <a:xfrm>
            <a:off x="11018520" y="1764792"/>
            <a:ext cx="457200" cy="457200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fx0|ar"/>
          <p:cNvSpPr txBox="1"/>
          <p:nvPr/>
        </p:nvSpPr>
        <p:spPr>
          <a:xfrm>
            <a:off x="7955280" y="16733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تسجيل دخول مشغّل الجهاز</a:t>
            </a:r>
            <a:endParaRPr lang="ar-SA" sz="1500" dirty="0"/>
          </a:p>
        </p:txBody>
      </p:sp>
      <p:sp>
        <p:nvSpPr>
          <p:cNvPr id="12" name="fx0|en"/>
          <p:cNvSpPr txBox="1"/>
          <p:nvPr/>
        </p:nvSpPr>
        <p:spPr>
          <a:xfrm>
            <a:off x="7955280" y="20574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Operator login</a:t>
            </a:r>
            <a:endParaRPr lang="en-US" sz="1100" dirty="0"/>
          </a:p>
        </p:txBody>
      </p:sp>
      <p:sp>
        <p:nvSpPr>
          <p:cNvPr id="13" name="fx1|step"/>
          <p:cNvSpPr/>
          <p:nvPr/>
        </p:nvSpPr>
        <p:spPr>
          <a:xfrm>
            <a:off x="7818120" y="2514600"/>
            <a:ext cx="3822192" cy="786384"/>
          </a:xfrm>
          <a:prstGeom prst="roundRect">
            <a:avLst>
              <a:gd name="adj" fmla="val 16279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4" name="fx1|num#3d"/>
          <p:cNvSpPr txBox="1"/>
          <p:nvPr/>
        </p:nvSpPr>
        <p:spPr>
          <a:xfrm>
            <a:off x="11018520" y="2679192"/>
            <a:ext cx="457200" cy="457200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fx1|ar"/>
          <p:cNvSpPr txBox="1"/>
          <p:nvPr/>
        </p:nvSpPr>
        <p:spPr>
          <a:xfrm>
            <a:off x="7955280" y="25877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بدء المراقبة وتصوير الطريق</a:t>
            </a:r>
            <a:endParaRPr lang="ar-SA" sz="1500" dirty="0"/>
          </a:p>
        </p:txBody>
      </p:sp>
      <p:sp>
        <p:nvSpPr>
          <p:cNvPr id="16" name="fx1|en"/>
          <p:cNvSpPr txBox="1"/>
          <p:nvPr/>
        </p:nvSpPr>
        <p:spPr>
          <a:xfrm>
            <a:off x="7955280" y="29718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Start monitoring</a:t>
            </a:r>
            <a:endParaRPr lang="en-US" sz="1100" dirty="0"/>
          </a:p>
        </p:txBody>
      </p:sp>
      <p:sp>
        <p:nvSpPr>
          <p:cNvPr id="17" name="fx2|step"/>
          <p:cNvSpPr/>
          <p:nvPr/>
        </p:nvSpPr>
        <p:spPr>
          <a:xfrm>
            <a:off x="7818120" y="3429000"/>
            <a:ext cx="3822192" cy="786384"/>
          </a:xfrm>
          <a:prstGeom prst="roundRect">
            <a:avLst>
              <a:gd name="adj" fmla="val 16279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8" name="fx2|num#3d"/>
          <p:cNvSpPr txBox="1"/>
          <p:nvPr/>
        </p:nvSpPr>
        <p:spPr>
          <a:xfrm>
            <a:off x="11018520" y="3593592"/>
            <a:ext cx="457200" cy="457200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fx2|ar"/>
          <p:cNvSpPr txBox="1"/>
          <p:nvPr/>
        </p:nvSpPr>
        <p:spPr>
          <a:xfrm>
            <a:off x="7955280" y="35021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اكتشاف المركبات وحساب السرعة</a:t>
            </a:r>
            <a:endParaRPr lang="ar-SA" sz="1500" dirty="0"/>
          </a:p>
        </p:txBody>
      </p:sp>
      <p:sp>
        <p:nvSpPr>
          <p:cNvPr id="20" name="fx2|en"/>
          <p:cNvSpPr txBox="1"/>
          <p:nvPr/>
        </p:nvSpPr>
        <p:spPr>
          <a:xfrm>
            <a:off x="7955280" y="38862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Detect &amp; measure speed</a:t>
            </a:r>
            <a:endParaRPr lang="en-US" sz="1100" dirty="0"/>
          </a:p>
        </p:txBody>
      </p:sp>
      <p:sp>
        <p:nvSpPr>
          <p:cNvPr id="21" name="fx3|step"/>
          <p:cNvSpPr/>
          <p:nvPr/>
        </p:nvSpPr>
        <p:spPr>
          <a:xfrm>
            <a:off x="7818120" y="4343400"/>
            <a:ext cx="3822192" cy="786384"/>
          </a:xfrm>
          <a:prstGeom prst="roundRect">
            <a:avLst>
              <a:gd name="adj" fmla="val 16279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22" name="fx3|num#3d"/>
          <p:cNvSpPr txBox="1"/>
          <p:nvPr/>
        </p:nvSpPr>
        <p:spPr>
          <a:xfrm>
            <a:off x="11018520" y="4507992"/>
            <a:ext cx="457200" cy="457200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fx3|ar"/>
          <p:cNvSpPr txBox="1"/>
          <p:nvPr/>
        </p:nvSpPr>
        <p:spPr>
          <a:xfrm>
            <a:off x="7955280" y="44165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رصد مخالفة وقراءة اللوحة</a:t>
            </a:r>
            <a:endParaRPr lang="ar-SA" sz="1500" dirty="0"/>
          </a:p>
        </p:txBody>
      </p:sp>
      <p:sp>
        <p:nvSpPr>
          <p:cNvPr id="24" name="fx3|en"/>
          <p:cNvSpPr txBox="1"/>
          <p:nvPr/>
        </p:nvSpPr>
        <p:spPr>
          <a:xfrm>
            <a:off x="7955280" y="48006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Violation + plate OCR</a:t>
            </a:r>
            <a:endParaRPr lang="en-US" sz="1100" dirty="0"/>
          </a:p>
        </p:txBody>
      </p:sp>
      <p:sp>
        <p:nvSpPr>
          <p:cNvPr id="25" name="fx4|step"/>
          <p:cNvSpPr/>
          <p:nvPr/>
        </p:nvSpPr>
        <p:spPr>
          <a:xfrm>
            <a:off x="7818120" y="5257800"/>
            <a:ext cx="3822192" cy="786384"/>
          </a:xfrm>
          <a:prstGeom prst="roundRect">
            <a:avLst>
              <a:gd name="adj" fmla="val 16279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26" name="fx4|num#3d"/>
          <p:cNvSpPr txBox="1"/>
          <p:nvPr/>
        </p:nvSpPr>
        <p:spPr>
          <a:xfrm>
            <a:off x="11018520" y="5422392"/>
            <a:ext cx="457200" cy="457200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fx4|ar"/>
          <p:cNvSpPr txBox="1"/>
          <p:nvPr/>
        </p:nvSpPr>
        <p:spPr>
          <a:xfrm>
            <a:off x="7955280" y="53309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ظهور المخالفة في لوحة التحكم</a:t>
            </a:r>
            <a:endParaRPr lang="ar-SA" sz="1500" dirty="0"/>
          </a:p>
        </p:txBody>
      </p:sp>
      <p:sp>
        <p:nvSpPr>
          <p:cNvPr id="28" name="fx4|en"/>
          <p:cNvSpPr txBox="1"/>
          <p:nvPr/>
        </p:nvSpPr>
        <p:spPr>
          <a:xfrm>
            <a:off x="7955280" y="57150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Violation on dashboard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اختبار النظام وتقييم الأداء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System Testing &amp; Evaluation</a:t>
            </a:r>
            <a:endParaRPr lang="en-US" sz="1500" dirty="0"/>
          </a:p>
        </p:txBody>
      </p:sp>
      <p:sp>
        <p:nvSpPr>
          <p:cNvPr id="4" name="fx0|card#3d"/>
          <p:cNvSpPr/>
          <p:nvPr/>
        </p:nvSpPr>
        <p:spPr>
          <a:xfrm>
            <a:off x="9037015" y="1645920"/>
            <a:ext cx="2606040" cy="3566160"/>
          </a:xfrm>
          <a:prstGeom prst="roundRect">
            <a:avLst>
              <a:gd name="adj" fmla="val 4912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5" name="fx0|ic bg#3d"/>
          <p:cNvSpPr/>
          <p:nvPr/>
        </p:nvSpPr>
        <p:spPr>
          <a:xfrm>
            <a:off x="9837115" y="1920240"/>
            <a:ext cx="1005840" cy="100584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6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8575" y="2171700"/>
            <a:ext cx="502920" cy="502920"/>
          </a:xfrm>
          <a:prstGeom prst="rect">
            <a:avLst/>
          </a:prstGeom>
        </p:spPr>
      </p:pic>
      <p:sp>
        <p:nvSpPr>
          <p:cNvPr id="7" name="fx0|num"/>
          <p:cNvSpPr txBox="1"/>
          <p:nvPr/>
        </p:nvSpPr>
        <p:spPr>
          <a:xfrm>
            <a:off x="9174175" y="1783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fx0|ar"/>
          <p:cNvSpPr txBox="1"/>
          <p:nvPr/>
        </p:nvSpPr>
        <p:spPr>
          <a:xfrm>
            <a:off x="9146743" y="310896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اكتشاف المركبات وتتبعها</a:t>
            </a:r>
            <a:endParaRPr lang="ar-SA" sz="1600" dirty="0"/>
          </a:p>
        </p:txBody>
      </p:sp>
      <p:sp>
        <p:nvSpPr>
          <p:cNvPr id="9" name="fx0|en"/>
          <p:cNvSpPr txBox="1"/>
          <p:nvPr/>
        </p:nvSpPr>
        <p:spPr>
          <a:xfrm>
            <a:off x="9146743" y="379476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1"/>
                </a:solidFill>
              </a:rPr>
              <a:t>Detection &amp; tracking accuracy</a:t>
            </a:r>
            <a:endParaRPr lang="en-US" sz="1100" dirty="0"/>
          </a:p>
        </p:txBody>
      </p:sp>
      <p:sp>
        <p:nvSpPr>
          <p:cNvPr id="10" name="fx0|result"/>
          <p:cNvSpPr txBox="1"/>
          <p:nvPr/>
        </p:nvSpPr>
        <p:spPr>
          <a:xfrm>
            <a:off x="9402775" y="4297680"/>
            <a:ext cx="1874520" cy="640080"/>
          </a:xfrm>
          <a:prstGeom prst="roundRect">
            <a:avLst>
              <a:gd name="adj" fmla="val 14286"/>
            </a:avLst>
          </a:prstGeom>
          <a:solidFill>
            <a:schemeClr val="accent4">
              <a:alpha val="25000"/>
            </a:schemeClr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[ النتيجة ]</a:t>
            </a:r>
            <a:endParaRPr lang="ar-SA" sz="2000" dirty="0"/>
          </a:p>
        </p:txBody>
      </p:sp>
      <p:sp>
        <p:nvSpPr>
          <p:cNvPr id="11" name="fx1|card#3d"/>
          <p:cNvSpPr/>
          <p:nvPr/>
        </p:nvSpPr>
        <p:spPr>
          <a:xfrm>
            <a:off x="6211519" y="1645920"/>
            <a:ext cx="2606040" cy="3566160"/>
          </a:xfrm>
          <a:prstGeom prst="roundRect">
            <a:avLst>
              <a:gd name="adj" fmla="val 4912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2" name="fx1|ic bg#3d"/>
          <p:cNvSpPr/>
          <p:nvPr/>
        </p:nvSpPr>
        <p:spPr>
          <a:xfrm>
            <a:off x="7011619" y="1920240"/>
            <a:ext cx="1005840" cy="100584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3" name="fx1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079" y="2171700"/>
            <a:ext cx="502920" cy="502920"/>
          </a:xfrm>
          <a:prstGeom prst="rect">
            <a:avLst/>
          </a:prstGeom>
        </p:spPr>
      </p:pic>
      <p:sp>
        <p:nvSpPr>
          <p:cNvPr id="14" name="fx1|num"/>
          <p:cNvSpPr txBox="1"/>
          <p:nvPr/>
        </p:nvSpPr>
        <p:spPr>
          <a:xfrm>
            <a:off x="6348679" y="1783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fx1|ar"/>
          <p:cNvSpPr txBox="1"/>
          <p:nvPr/>
        </p:nvSpPr>
        <p:spPr>
          <a:xfrm>
            <a:off x="6321247" y="310896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دقة حساب السرعة</a:t>
            </a:r>
            <a:endParaRPr lang="ar-SA" sz="1600" dirty="0"/>
          </a:p>
        </p:txBody>
      </p:sp>
      <p:sp>
        <p:nvSpPr>
          <p:cNvPr id="16" name="fx1|en"/>
          <p:cNvSpPr txBox="1"/>
          <p:nvPr/>
        </p:nvSpPr>
        <p:spPr>
          <a:xfrm>
            <a:off x="6321247" y="379476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1"/>
                </a:solidFill>
              </a:rPr>
              <a:t>Speed estimation accuracy</a:t>
            </a:r>
            <a:endParaRPr lang="en-US" sz="1100" dirty="0"/>
          </a:p>
        </p:txBody>
      </p:sp>
      <p:sp>
        <p:nvSpPr>
          <p:cNvPr id="17" name="fx1|result"/>
          <p:cNvSpPr txBox="1"/>
          <p:nvPr/>
        </p:nvSpPr>
        <p:spPr>
          <a:xfrm>
            <a:off x="6577279" y="4297680"/>
            <a:ext cx="1874520" cy="640080"/>
          </a:xfrm>
          <a:prstGeom prst="roundRect">
            <a:avLst>
              <a:gd name="adj" fmla="val 14286"/>
            </a:avLst>
          </a:prstGeom>
          <a:solidFill>
            <a:schemeClr val="accent4">
              <a:alpha val="25000"/>
            </a:schemeClr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[ النتيجة ]</a:t>
            </a:r>
            <a:endParaRPr lang="ar-SA" sz="2000" dirty="0"/>
          </a:p>
        </p:txBody>
      </p:sp>
      <p:sp>
        <p:nvSpPr>
          <p:cNvPr id="18" name="fx2|card#3d"/>
          <p:cNvSpPr/>
          <p:nvPr/>
        </p:nvSpPr>
        <p:spPr>
          <a:xfrm>
            <a:off x="3386023" y="1645920"/>
            <a:ext cx="2606040" cy="3566160"/>
          </a:xfrm>
          <a:prstGeom prst="roundRect">
            <a:avLst>
              <a:gd name="adj" fmla="val 4912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9" name="fx2|ic bg#3d"/>
          <p:cNvSpPr/>
          <p:nvPr/>
        </p:nvSpPr>
        <p:spPr>
          <a:xfrm>
            <a:off x="4186123" y="1920240"/>
            <a:ext cx="1005840" cy="100584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0" name="fx2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583" y="2171700"/>
            <a:ext cx="502920" cy="502920"/>
          </a:xfrm>
          <a:prstGeom prst="rect">
            <a:avLst/>
          </a:prstGeom>
        </p:spPr>
      </p:pic>
      <p:sp>
        <p:nvSpPr>
          <p:cNvPr id="21" name="fx2|num"/>
          <p:cNvSpPr txBox="1"/>
          <p:nvPr/>
        </p:nvSpPr>
        <p:spPr>
          <a:xfrm>
            <a:off x="3523183" y="1783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fx2|ar"/>
          <p:cNvSpPr txBox="1"/>
          <p:nvPr/>
        </p:nvSpPr>
        <p:spPr>
          <a:xfrm>
            <a:off x="3495751" y="310896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التعرف على أرقام اللوحات</a:t>
            </a:r>
            <a:endParaRPr lang="ar-SA" sz="1600" dirty="0"/>
          </a:p>
        </p:txBody>
      </p:sp>
      <p:sp>
        <p:nvSpPr>
          <p:cNvPr id="23" name="fx2|en"/>
          <p:cNvSpPr txBox="1"/>
          <p:nvPr/>
        </p:nvSpPr>
        <p:spPr>
          <a:xfrm>
            <a:off x="3495751" y="379476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1"/>
                </a:solidFill>
              </a:rPr>
              <a:t>Plate recognition (OCR)</a:t>
            </a:r>
            <a:endParaRPr lang="en-US" sz="1100" dirty="0"/>
          </a:p>
        </p:txBody>
      </p:sp>
      <p:sp>
        <p:nvSpPr>
          <p:cNvPr id="24" name="fx2|result"/>
          <p:cNvSpPr txBox="1"/>
          <p:nvPr/>
        </p:nvSpPr>
        <p:spPr>
          <a:xfrm>
            <a:off x="3751783" y="4297680"/>
            <a:ext cx="1874520" cy="640080"/>
          </a:xfrm>
          <a:prstGeom prst="roundRect">
            <a:avLst>
              <a:gd name="adj" fmla="val 14286"/>
            </a:avLst>
          </a:prstGeom>
          <a:solidFill>
            <a:schemeClr val="accent4">
              <a:alpha val="25000"/>
            </a:schemeClr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[ النتيجة ]</a:t>
            </a:r>
            <a:endParaRPr lang="ar-SA" sz="2000" dirty="0"/>
          </a:p>
        </p:txBody>
      </p:sp>
      <p:sp>
        <p:nvSpPr>
          <p:cNvPr id="25" name="fx3|card#3d"/>
          <p:cNvSpPr/>
          <p:nvPr/>
        </p:nvSpPr>
        <p:spPr>
          <a:xfrm>
            <a:off x="560527" y="1645920"/>
            <a:ext cx="2606040" cy="3566160"/>
          </a:xfrm>
          <a:prstGeom prst="roundRect">
            <a:avLst>
              <a:gd name="adj" fmla="val 4912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6" name="fx3|ic bg#3d"/>
          <p:cNvSpPr/>
          <p:nvPr/>
        </p:nvSpPr>
        <p:spPr>
          <a:xfrm>
            <a:off x="1360627" y="1920240"/>
            <a:ext cx="1005840" cy="100584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7" name="fx3|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087" y="2171700"/>
            <a:ext cx="502920" cy="502920"/>
          </a:xfrm>
          <a:prstGeom prst="rect">
            <a:avLst/>
          </a:prstGeom>
        </p:spPr>
      </p:pic>
      <p:sp>
        <p:nvSpPr>
          <p:cNvPr id="28" name="fx3|num"/>
          <p:cNvSpPr txBox="1"/>
          <p:nvPr/>
        </p:nvSpPr>
        <p:spPr>
          <a:xfrm>
            <a:off x="697687" y="1783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fx3|ar"/>
          <p:cNvSpPr txBox="1"/>
          <p:nvPr/>
        </p:nvSpPr>
        <p:spPr>
          <a:xfrm>
            <a:off x="670255" y="310896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ربط المخالفة بالمالك</a:t>
            </a:r>
            <a:endParaRPr lang="ar-SA" sz="1600" dirty="0"/>
          </a:p>
        </p:txBody>
      </p:sp>
      <p:sp>
        <p:nvSpPr>
          <p:cNvPr id="30" name="fx3|en"/>
          <p:cNvSpPr txBox="1"/>
          <p:nvPr/>
        </p:nvSpPr>
        <p:spPr>
          <a:xfrm>
            <a:off x="670255" y="379476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accent1"/>
                </a:solidFill>
              </a:rPr>
              <a:t>Database matching</a:t>
            </a:r>
            <a:endParaRPr lang="en-US" sz="1100" dirty="0"/>
          </a:p>
        </p:txBody>
      </p:sp>
      <p:sp>
        <p:nvSpPr>
          <p:cNvPr id="31" name="fx3|result"/>
          <p:cNvSpPr txBox="1"/>
          <p:nvPr/>
        </p:nvSpPr>
        <p:spPr>
          <a:xfrm>
            <a:off x="926287" y="4297680"/>
            <a:ext cx="1874520" cy="640080"/>
          </a:xfrm>
          <a:prstGeom prst="roundRect">
            <a:avLst>
              <a:gd name="adj" fmla="val 14286"/>
            </a:avLst>
          </a:prstGeom>
          <a:solidFill>
            <a:schemeClr val="accent4">
              <a:alpha val="25000"/>
            </a:schemeClr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[ النتيجة ]</a:t>
            </a:r>
            <a:endParaRPr lang="ar-SA" sz="2000" dirty="0"/>
          </a:p>
        </p:txBody>
      </p:sp>
      <p:sp>
        <p:nvSpPr>
          <p:cNvPr id="32" name="fx4|hint"/>
          <p:cNvSpPr txBox="1"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i="1" dirty="0">
                <a:solidFill>
                  <a:schemeClr val="bg2"/>
                </a:solidFill>
              </a:rPr>
              <a:t>أدخلوا نتائج اختباراتكم الفعلية في المربعات الخضراء (مثل: نسبة الدقة أو هامش الخطأ بالـ km/h)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الأعمال المستقبلية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Future Work</a:t>
            </a:r>
            <a:endParaRPr lang="en-US" sz="1500" dirty="0"/>
          </a:p>
        </p:txBody>
      </p:sp>
      <p:sp>
        <p:nvSpPr>
          <p:cNvPr id="4" name="fx0|card"/>
          <p:cNvSpPr/>
          <p:nvPr/>
        </p:nvSpPr>
        <p:spPr>
          <a:xfrm>
            <a:off x="8122615" y="1645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5" name="fx0|ic bg#3d"/>
          <p:cNvSpPr/>
          <p:nvPr/>
        </p:nvSpPr>
        <p:spPr>
          <a:xfrm>
            <a:off x="9443923" y="1874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6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3379" y="2093976"/>
            <a:ext cx="438912" cy="438912"/>
          </a:xfrm>
          <a:prstGeom prst="rect">
            <a:avLst/>
          </a:prstGeom>
        </p:spPr>
      </p:pic>
      <p:sp>
        <p:nvSpPr>
          <p:cNvPr id="7" name="fx0|ar"/>
          <p:cNvSpPr txBox="1"/>
          <p:nvPr/>
        </p:nvSpPr>
        <p:spPr>
          <a:xfrm>
            <a:off x="8259775" y="283464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رصد مخالفات أخرى</a:t>
            </a:r>
            <a:endParaRPr lang="ar-SA" sz="1600" dirty="0"/>
          </a:p>
        </p:txBody>
      </p:sp>
      <p:sp>
        <p:nvSpPr>
          <p:cNvPr id="8" name="fx0|en"/>
          <p:cNvSpPr txBox="1"/>
          <p:nvPr/>
        </p:nvSpPr>
        <p:spPr>
          <a:xfrm>
            <a:off x="8259775" y="32735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Red light, seatbelt, wrong lane</a:t>
            </a:r>
            <a:endParaRPr lang="en-US" sz="1100" dirty="0"/>
          </a:p>
        </p:txBody>
      </p:sp>
      <p:sp>
        <p:nvSpPr>
          <p:cNvPr id="9" name="fx1|card"/>
          <p:cNvSpPr/>
          <p:nvPr/>
        </p:nvSpPr>
        <p:spPr>
          <a:xfrm>
            <a:off x="4336999" y="1645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0" name="fx1|ic bg#3d"/>
          <p:cNvSpPr/>
          <p:nvPr/>
        </p:nvSpPr>
        <p:spPr>
          <a:xfrm>
            <a:off x="5658307" y="1874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1" name="fx1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763" y="2093976"/>
            <a:ext cx="438912" cy="438912"/>
          </a:xfrm>
          <a:prstGeom prst="rect">
            <a:avLst/>
          </a:prstGeom>
        </p:spPr>
      </p:pic>
      <p:sp>
        <p:nvSpPr>
          <p:cNvPr id="12" name="fx1|ar"/>
          <p:cNvSpPr txBox="1"/>
          <p:nvPr/>
        </p:nvSpPr>
        <p:spPr>
          <a:xfrm>
            <a:off x="4474159" y="283464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التكامل مع الأنظمة الحكومية</a:t>
            </a:r>
            <a:endParaRPr lang="ar-SA" sz="1600" dirty="0"/>
          </a:p>
        </p:txBody>
      </p:sp>
      <p:sp>
        <p:nvSpPr>
          <p:cNvPr id="13" name="fx1|en"/>
          <p:cNvSpPr txBox="1"/>
          <p:nvPr/>
        </p:nvSpPr>
        <p:spPr>
          <a:xfrm>
            <a:off x="4474159" y="32735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Official ticket issuing</a:t>
            </a:r>
            <a:endParaRPr lang="en-US" sz="1100" dirty="0"/>
          </a:p>
        </p:txBody>
      </p:sp>
      <p:sp>
        <p:nvSpPr>
          <p:cNvPr id="14" name="fx2|card"/>
          <p:cNvSpPr/>
          <p:nvPr/>
        </p:nvSpPr>
        <p:spPr>
          <a:xfrm>
            <a:off x="551383" y="1645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15" name="fx2|ic bg#3d"/>
          <p:cNvSpPr/>
          <p:nvPr/>
        </p:nvSpPr>
        <p:spPr>
          <a:xfrm>
            <a:off x="1872691" y="1874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6" name="fx2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147" y="2093976"/>
            <a:ext cx="438912" cy="438912"/>
          </a:xfrm>
          <a:prstGeom prst="rect">
            <a:avLst/>
          </a:prstGeom>
        </p:spPr>
      </p:pic>
      <p:sp>
        <p:nvSpPr>
          <p:cNvPr id="17" name="fx2|ar"/>
          <p:cNvSpPr txBox="1"/>
          <p:nvPr/>
        </p:nvSpPr>
        <p:spPr>
          <a:xfrm>
            <a:off x="688543" y="283464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إشعارات للمخالفين</a:t>
            </a:r>
            <a:endParaRPr lang="ar-SA" sz="1600" dirty="0"/>
          </a:p>
        </p:txBody>
      </p:sp>
      <p:sp>
        <p:nvSpPr>
          <p:cNvPr id="18" name="fx2|en"/>
          <p:cNvSpPr txBox="1"/>
          <p:nvPr/>
        </p:nvSpPr>
        <p:spPr>
          <a:xfrm>
            <a:off x="688543" y="32735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SMS / push notifications</a:t>
            </a:r>
            <a:endParaRPr lang="en-US" sz="1100" dirty="0"/>
          </a:p>
        </p:txBody>
      </p:sp>
      <p:sp>
        <p:nvSpPr>
          <p:cNvPr id="19" name="fx3|card"/>
          <p:cNvSpPr/>
          <p:nvPr/>
        </p:nvSpPr>
        <p:spPr>
          <a:xfrm>
            <a:off x="8122615" y="3931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20" name="fx3|ic bg#3d"/>
          <p:cNvSpPr/>
          <p:nvPr/>
        </p:nvSpPr>
        <p:spPr>
          <a:xfrm>
            <a:off x="9443923" y="4160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1" name="fx3|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3379" y="4379976"/>
            <a:ext cx="438912" cy="438912"/>
          </a:xfrm>
          <a:prstGeom prst="rect">
            <a:avLst/>
          </a:prstGeom>
        </p:spPr>
      </p:pic>
      <p:sp>
        <p:nvSpPr>
          <p:cNvPr id="22" name="fx3|ar"/>
          <p:cNvSpPr txBox="1"/>
          <p:nvPr/>
        </p:nvSpPr>
        <p:spPr>
          <a:xfrm>
            <a:off x="8259775" y="512064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تحسين الأداء ليلاً وفي الطقس السيئ</a:t>
            </a:r>
            <a:endParaRPr lang="ar-SA" sz="1600" dirty="0"/>
          </a:p>
        </p:txBody>
      </p:sp>
      <p:sp>
        <p:nvSpPr>
          <p:cNvPr id="23" name="fx3|en"/>
          <p:cNvSpPr txBox="1"/>
          <p:nvPr/>
        </p:nvSpPr>
        <p:spPr>
          <a:xfrm>
            <a:off x="8259775" y="55595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Night &amp; weather robustness</a:t>
            </a:r>
            <a:endParaRPr lang="en-US" sz="1100" dirty="0"/>
          </a:p>
        </p:txBody>
      </p:sp>
      <p:sp>
        <p:nvSpPr>
          <p:cNvPr id="24" name="fx4|card"/>
          <p:cNvSpPr/>
          <p:nvPr/>
        </p:nvSpPr>
        <p:spPr>
          <a:xfrm>
            <a:off x="4336999" y="3931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25" name="fx4|ic bg#3d"/>
          <p:cNvSpPr/>
          <p:nvPr/>
        </p:nvSpPr>
        <p:spPr>
          <a:xfrm>
            <a:off x="5658307" y="4160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6" name="fx4|ic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763" y="4379976"/>
            <a:ext cx="438912" cy="438912"/>
          </a:xfrm>
          <a:prstGeom prst="rect">
            <a:avLst/>
          </a:prstGeom>
        </p:spPr>
      </p:pic>
      <p:sp>
        <p:nvSpPr>
          <p:cNvPr id="27" name="fx4|ar"/>
          <p:cNvSpPr txBox="1"/>
          <p:nvPr/>
        </p:nvSpPr>
        <p:spPr>
          <a:xfrm>
            <a:off x="4474159" y="512064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معالجة على الهاتف مباشرة</a:t>
            </a:r>
            <a:endParaRPr lang="ar-SA" sz="1600" dirty="0"/>
          </a:p>
        </p:txBody>
      </p:sp>
      <p:sp>
        <p:nvSpPr>
          <p:cNvPr id="28" name="fx4|en"/>
          <p:cNvSpPr txBox="1"/>
          <p:nvPr/>
        </p:nvSpPr>
        <p:spPr>
          <a:xfrm>
            <a:off x="4474159" y="55595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On-device Edge AI</a:t>
            </a:r>
            <a:endParaRPr lang="en-US" sz="1100" dirty="0"/>
          </a:p>
        </p:txBody>
      </p:sp>
      <p:sp>
        <p:nvSpPr>
          <p:cNvPr id="29" name="fx5|card"/>
          <p:cNvSpPr/>
          <p:nvPr/>
        </p:nvSpPr>
        <p:spPr>
          <a:xfrm>
            <a:off x="551383" y="3931920"/>
            <a:ext cx="3520440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30" name="fx5|ic bg#3d"/>
          <p:cNvSpPr/>
          <p:nvPr/>
        </p:nvSpPr>
        <p:spPr>
          <a:xfrm>
            <a:off x="1872691" y="4160520"/>
            <a:ext cx="877824" cy="87782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31" name="fx5|ic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147" y="4379976"/>
            <a:ext cx="438912" cy="438912"/>
          </a:xfrm>
          <a:prstGeom prst="rect">
            <a:avLst/>
          </a:prstGeom>
        </p:spPr>
      </p:pic>
      <p:sp>
        <p:nvSpPr>
          <p:cNvPr id="32" name="fx5|ar"/>
          <p:cNvSpPr txBox="1"/>
          <p:nvPr/>
        </p:nvSpPr>
        <p:spPr>
          <a:xfrm>
            <a:off x="688543" y="512064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خرائط حرارية للطرق الأخطر</a:t>
            </a:r>
            <a:endParaRPr lang="ar-SA" sz="1600" dirty="0"/>
          </a:p>
        </p:txBody>
      </p:sp>
      <p:sp>
        <p:nvSpPr>
          <p:cNvPr id="33" name="fx5|en"/>
          <p:cNvSpPr txBox="1"/>
          <p:nvPr/>
        </p:nvSpPr>
        <p:spPr>
          <a:xfrm>
            <a:off x="688543" y="55595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Accident hotspot analytics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/>
          <p:nvPr>
            <p:ph idx="109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الخاتمة</a:t>
            </a:r>
            <a:endParaRPr lang="en-US" sz="3200" dirty="0"/>
          </a:p>
        </p:txBody>
      </p:sp>
      <p:sp>
        <p:nvSpPr>
          <p:cNvPr id="3" name="Text 9"/>
          <p:cNvSpPr/>
          <p:nvPr>
            <p:ph idx="110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4" name="fx0|statement"/>
          <p:cNvSpPr/>
          <p:nvPr/>
        </p:nvSpPr>
        <p:spPr>
          <a:xfrm>
            <a:off x="548640" y="1600200"/>
            <a:ext cx="11091672" cy="1783080"/>
          </a:xfrm>
          <a:prstGeom prst="roundRect">
            <a:avLst>
              <a:gd name="adj" fmla="val 7179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5" name="fx1|statement text"/>
          <p:cNvSpPr txBox="1"/>
          <p:nvPr/>
        </p:nvSpPr>
        <p:spPr>
          <a:xfrm>
            <a:off x="822960" y="1691640"/>
            <a:ext cx="105430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900" b="1" dirty="0">
                <a:solidFill>
                  <a:schemeClr val="bg1"/>
                </a:solidFill>
              </a:rPr>
              <a:t>قدّمنا نظاماً ذكياً يحوّل الهاتف الذكي إلى كاميرا مرورية تكتشف المركبات وتحسب سرعتها وتوثّق المخالفات وتربطها بمالكيها آلياً.</a:t>
            </a:r>
            <a:endParaRPr lang="ar-SA" sz="1900" dirty="0"/>
          </a:p>
          <a:p>
            <a:pPr algn="r" indent="0" marL="0">
              <a:buNone/>
            </a:pPr>
            <a:r>
              <a:rPr lang="ar-SA" altLang="en-US" sz="1300" i="1" dirty="0">
                <a:solidFill>
                  <a:schemeClr val="bg2"/>
                </a:solidFill>
              </a:rPr>
              <a:t>A smart system that turns a smartphone into a traffic camera: detecting vehicles, estimating speed and recording violations automatically.</a:t>
            </a:r>
            <a:endParaRPr lang="ar-SA" sz="1900" dirty="0"/>
          </a:p>
        </p:txBody>
      </p:sp>
      <p:sp>
        <p:nvSpPr>
          <p:cNvPr id="6" name="fx2|card#3d"/>
          <p:cNvSpPr/>
          <p:nvPr/>
        </p:nvSpPr>
        <p:spPr>
          <a:xfrm>
            <a:off x="8122615" y="3657600"/>
            <a:ext cx="3520440" cy="2468880"/>
          </a:xfrm>
          <a:prstGeom prst="roundRect">
            <a:avLst>
              <a:gd name="adj" fmla="val 518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7" name="fx2|ic bg#3d"/>
          <p:cNvSpPr/>
          <p:nvPr/>
        </p:nvSpPr>
        <p:spPr>
          <a:xfrm>
            <a:off x="9379915" y="3977640"/>
            <a:ext cx="1005840" cy="100584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8" name="fx2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1375" y="4229100"/>
            <a:ext cx="502920" cy="502920"/>
          </a:xfrm>
          <a:prstGeom prst="rect">
            <a:avLst/>
          </a:prstGeom>
        </p:spPr>
      </p:pic>
      <p:sp>
        <p:nvSpPr>
          <p:cNvPr id="9" name="fx2|ar"/>
          <p:cNvSpPr txBox="1"/>
          <p:nvPr/>
        </p:nvSpPr>
        <p:spPr>
          <a:xfrm>
            <a:off x="8122615" y="5166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منخفض التكلفة</a:t>
            </a:r>
            <a:endParaRPr lang="ar-SA" sz="2000" dirty="0"/>
          </a:p>
        </p:txBody>
      </p:sp>
      <p:sp>
        <p:nvSpPr>
          <p:cNvPr id="10" name="fx2|en"/>
          <p:cNvSpPr txBox="1"/>
          <p:nvPr/>
        </p:nvSpPr>
        <p:spPr>
          <a:xfrm>
            <a:off x="8122615" y="56052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accent1"/>
                </a:solidFill>
              </a:rPr>
              <a:t>Low cost</a:t>
            </a:r>
            <a:endParaRPr lang="en-US" sz="1300" dirty="0"/>
          </a:p>
        </p:txBody>
      </p:sp>
      <p:sp>
        <p:nvSpPr>
          <p:cNvPr id="11" name="fx3|card#3d"/>
          <p:cNvSpPr/>
          <p:nvPr/>
        </p:nvSpPr>
        <p:spPr>
          <a:xfrm>
            <a:off x="4336999" y="3657600"/>
            <a:ext cx="3520440" cy="2468880"/>
          </a:xfrm>
          <a:prstGeom prst="roundRect">
            <a:avLst>
              <a:gd name="adj" fmla="val 518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2" name="fx3|ic bg#3d"/>
          <p:cNvSpPr/>
          <p:nvPr/>
        </p:nvSpPr>
        <p:spPr>
          <a:xfrm>
            <a:off x="5594299" y="3977640"/>
            <a:ext cx="1005840" cy="100584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3" name="fx3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759" y="4229100"/>
            <a:ext cx="502920" cy="502920"/>
          </a:xfrm>
          <a:prstGeom prst="rect">
            <a:avLst/>
          </a:prstGeom>
        </p:spPr>
      </p:pic>
      <p:sp>
        <p:nvSpPr>
          <p:cNvPr id="14" name="fx3|ar"/>
          <p:cNvSpPr txBox="1"/>
          <p:nvPr/>
        </p:nvSpPr>
        <p:spPr>
          <a:xfrm>
            <a:off x="4336999" y="5166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آلي وشفاف وعادل</a:t>
            </a:r>
            <a:endParaRPr lang="ar-SA" sz="2000" dirty="0"/>
          </a:p>
        </p:txBody>
      </p:sp>
      <p:sp>
        <p:nvSpPr>
          <p:cNvPr id="15" name="fx3|en"/>
          <p:cNvSpPr txBox="1"/>
          <p:nvPr/>
        </p:nvSpPr>
        <p:spPr>
          <a:xfrm>
            <a:off x="4336999" y="56052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accent1"/>
                </a:solidFill>
              </a:rPr>
              <a:t>Automatic &amp; transparent</a:t>
            </a:r>
            <a:endParaRPr lang="en-US" sz="1300" dirty="0"/>
          </a:p>
        </p:txBody>
      </p:sp>
      <p:sp>
        <p:nvSpPr>
          <p:cNvPr id="16" name="fx4|card#3d"/>
          <p:cNvSpPr/>
          <p:nvPr/>
        </p:nvSpPr>
        <p:spPr>
          <a:xfrm>
            <a:off x="551383" y="3657600"/>
            <a:ext cx="3520440" cy="2468880"/>
          </a:xfrm>
          <a:prstGeom prst="roundRect">
            <a:avLst>
              <a:gd name="adj" fmla="val 5185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7" name="fx4|ic bg#3d"/>
          <p:cNvSpPr/>
          <p:nvPr/>
        </p:nvSpPr>
        <p:spPr>
          <a:xfrm>
            <a:off x="1808683" y="3977640"/>
            <a:ext cx="1005840" cy="100584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8" name="fx4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143" y="4229100"/>
            <a:ext cx="502920" cy="502920"/>
          </a:xfrm>
          <a:prstGeom prst="rect">
            <a:avLst/>
          </a:prstGeom>
        </p:spPr>
      </p:pic>
      <p:sp>
        <p:nvSpPr>
          <p:cNvPr id="19" name="fx4|ar"/>
          <p:cNvSpPr txBox="1"/>
          <p:nvPr/>
        </p:nvSpPr>
        <p:spPr>
          <a:xfrm>
            <a:off x="551383" y="5166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قابل للتوسع</a:t>
            </a:r>
            <a:endParaRPr lang="ar-SA" sz="2000" dirty="0"/>
          </a:p>
        </p:txBody>
      </p:sp>
      <p:sp>
        <p:nvSpPr>
          <p:cNvPr id="20" name="fx4|en"/>
          <p:cNvSpPr txBox="1"/>
          <p:nvPr/>
        </p:nvSpPr>
        <p:spPr>
          <a:xfrm>
            <a:off x="551383" y="56052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accent1"/>
                </a:solidFill>
              </a:rPr>
              <a:t>Scalable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rojtitle"/>
          <p:cNvSpPr txBox="1"/>
          <p:nvPr/>
        </p:nvSpPr>
        <p:spPr>
          <a:xfrm>
            <a:off x="5760720" y="1280160"/>
            <a:ext cx="5897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600" b="1" dirty="0">
                <a:solidFill>
                  <a:schemeClr val="bg1"/>
                </a:solidFill>
              </a:rPr>
              <a:t>شكراً لحسن استماعكم</a:t>
            </a:r>
            <a:endParaRPr lang="ar-SA" sz="4600" dirty="0"/>
          </a:p>
        </p:txBody>
      </p:sp>
      <p:sp>
        <p:nvSpPr>
          <p:cNvPr id="3" name="!!projsub"/>
          <p:cNvSpPr txBox="1"/>
          <p:nvPr/>
        </p:nvSpPr>
        <p:spPr>
          <a:xfrm>
            <a:off x="5760720" y="2880360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3200" b="1" dirty="0">
                <a:solidFill>
                  <a:schemeClr val="accent2"/>
                </a:solidFill>
              </a:rPr>
              <a:t>Thank You</a:t>
            </a:r>
            <a:endParaRPr lang="en-US" sz="3200" dirty="0"/>
          </a:p>
        </p:txBody>
      </p:sp>
      <p:sp>
        <p:nvSpPr>
          <p:cNvPr id="4" name="fx0|q"/>
          <p:cNvSpPr txBox="1"/>
          <p:nvPr/>
        </p:nvSpPr>
        <p:spPr>
          <a:xfrm>
            <a:off x="5760720" y="3611880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dirty="0">
                <a:solidFill>
                  <a:schemeClr val="accent1"/>
                </a:solidFill>
              </a:rPr>
              <a:t>نسعد بأسئلتكم وملاحظاتكم  •  Questions?</a:t>
            </a:r>
            <a:endParaRPr lang="ar-SA" sz="1900" dirty="0"/>
          </a:p>
        </p:txBody>
      </p:sp>
      <p:sp>
        <p:nvSpPr>
          <p:cNvPr id="5" name="fx1|ring"/>
          <p:cNvSpPr/>
          <p:nvPr/>
        </p:nvSpPr>
        <p:spPr>
          <a:xfrm>
            <a:off x="10844784" y="4672584"/>
            <a:ext cx="850392" cy="85039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6" name="fx1|photo" descr="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709160"/>
            <a:ext cx="777240" cy="777240"/>
          </a:xfrm>
          <a:prstGeom prst="ellipse">
            <a:avLst/>
          </a:prstGeom>
        </p:spPr>
      </p:pic>
      <p:sp>
        <p:nvSpPr>
          <p:cNvPr id="7" name="fx1|name"/>
          <p:cNvSpPr txBox="1"/>
          <p:nvPr/>
        </p:nvSpPr>
        <p:spPr>
          <a:xfrm>
            <a:off x="10808208" y="5559552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عيسى شايع</a:t>
            </a:r>
            <a:endParaRPr lang="ar-SA" sz="1000" dirty="0"/>
          </a:p>
        </p:txBody>
      </p:sp>
      <p:sp>
        <p:nvSpPr>
          <p:cNvPr id="8" name="fx2|ring"/>
          <p:cNvSpPr/>
          <p:nvPr/>
        </p:nvSpPr>
        <p:spPr>
          <a:xfrm>
            <a:off x="9912096" y="4672584"/>
            <a:ext cx="850392" cy="85039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9" name="fx2|photo" descr="محمد قري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709160"/>
            <a:ext cx="777240" cy="777240"/>
          </a:xfrm>
          <a:prstGeom prst="ellipse">
            <a:avLst/>
          </a:prstGeom>
        </p:spPr>
      </p:pic>
      <p:sp>
        <p:nvSpPr>
          <p:cNvPr id="10" name="fx2|name"/>
          <p:cNvSpPr txBox="1"/>
          <p:nvPr/>
        </p:nvSpPr>
        <p:spPr>
          <a:xfrm>
            <a:off x="9875520" y="5559552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قريع</a:t>
            </a:r>
            <a:endParaRPr lang="ar-SA" sz="1000" dirty="0"/>
          </a:p>
        </p:txBody>
      </p:sp>
      <p:sp>
        <p:nvSpPr>
          <p:cNvPr id="11" name="fx3|ring"/>
          <p:cNvSpPr/>
          <p:nvPr/>
        </p:nvSpPr>
        <p:spPr>
          <a:xfrm>
            <a:off x="8979408" y="4672584"/>
            <a:ext cx="850392" cy="85039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12" name="fx3|photo" descr="مازن عبد المعز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4" y="4709160"/>
            <a:ext cx="777240" cy="777240"/>
          </a:xfrm>
          <a:prstGeom prst="ellipse">
            <a:avLst/>
          </a:prstGeom>
        </p:spPr>
      </p:pic>
      <p:sp>
        <p:nvSpPr>
          <p:cNvPr id="13" name="fx3|name"/>
          <p:cNvSpPr txBox="1"/>
          <p:nvPr/>
        </p:nvSpPr>
        <p:spPr>
          <a:xfrm>
            <a:off x="8942832" y="5559552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مازن عبد المعز</a:t>
            </a:r>
            <a:endParaRPr lang="ar-SA" sz="1000" dirty="0"/>
          </a:p>
        </p:txBody>
      </p:sp>
      <p:sp>
        <p:nvSpPr>
          <p:cNvPr id="14" name="fx4|ring"/>
          <p:cNvSpPr/>
          <p:nvPr/>
        </p:nvSpPr>
        <p:spPr>
          <a:xfrm>
            <a:off x="8046720" y="4672584"/>
            <a:ext cx="850392" cy="85039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15" name="fx4|photo" descr="برهان الزمر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4709160"/>
            <a:ext cx="777240" cy="777240"/>
          </a:xfrm>
          <a:prstGeom prst="ellipse">
            <a:avLst/>
          </a:prstGeom>
        </p:spPr>
      </p:pic>
      <p:sp>
        <p:nvSpPr>
          <p:cNvPr id="16" name="fx4|name"/>
          <p:cNvSpPr txBox="1"/>
          <p:nvPr/>
        </p:nvSpPr>
        <p:spPr>
          <a:xfrm>
            <a:off x="8010144" y="5559552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برهان الزمر</a:t>
            </a:r>
            <a:endParaRPr lang="ar-SA" sz="1000" dirty="0"/>
          </a:p>
        </p:txBody>
      </p:sp>
      <p:sp>
        <p:nvSpPr>
          <p:cNvPr id="17" name="fx5|ring"/>
          <p:cNvSpPr/>
          <p:nvPr/>
        </p:nvSpPr>
        <p:spPr>
          <a:xfrm>
            <a:off x="7114032" y="4672584"/>
            <a:ext cx="850392" cy="85039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18" name="fx5|photo" descr="محمد عادل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4709160"/>
            <a:ext cx="777240" cy="777240"/>
          </a:xfrm>
          <a:prstGeom prst="ellipse">
            <a:avLst/>
          </a:prstGeom>
        </p:spPr>
      </p:pic>
      <p:sp>
        <p:nvSpPr>
          <p:cNvPr id="19" name="fx5|name"/>
          <p:cNvSpPr txBox="1"/>
          <p:nvPr/>
        </p:nvSpPr>
        <p:spPr>
          <a:xfrm>
            <a:off x="7077456" y="5559552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عادل</a:t>
            </a:r>
            <a:endParaRPr lang="ar-SA" sz="1000" dirty="0"/>
          </a:p>
        </p:txBody>
      </p:sp>
      <p:sp>
        <p:nvSpPr>
          <p:cNvPr id="20" name="fx6|ring"/>
          <p:cNvSpPr/>
          <p:nvPr/>
        </p:nvSpPr>
        <p:spPr>
          <a:xfrm>
            <a:off x="6181344" y="4672584"/>
            <a:ext cx="850392" cy="85039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21" name="fx6|photo" descr="د. مطيع الجعفري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709160"/>
            <a:ext cx="777240" cy="777240"/>
          </a:xfrm>
          <a:prstGeom prst="ellipse">
            <a:avLst/>
          </a:prstGeom>
        </p:spPr>
      </p:pic>
      <p:sp>
        <p:nvSpPr>
          <p:cNvPr id="22" name="fx6|name"/>
          <p:cNvSpPr txBox="1"/>
          <p:nvPr/>
        </p:nvSpPr>
        <p:spPr>
          <a:xfrm>
            <a:off x="6144768" y="5559552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مطيع الجعفري</a:t>
            </a:r>
            <a:endParaRPr lang="ar-SA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</p:bldLst>
  </p:timing>
</p:sld>
</file>

<file path=ppt/theme/theme1.xml><?xml version="1.0" encoding="utf-8"?>
<a:theme xmlns:a="http://schemas.openxmlformats.org/drawingml/2006/main" name="Night Road AI">
  <a:themeElements>
    <a:clrScheme name="Night Road AI">
      <a:dk1>
        <a:srgbClr val="0A1628"/>
      </a:dk1>
      <a:lt1>
        <a:srgbClr val="FFFFFF"/>
      </a:lt1>
      <a:dk2>
        <a:srgbClr val="13233F"/>
      </a:dk2>
      <a:lt2>
        <a:srgbClr val="B8C7E0"/>
      </a:lt2>
      <a:accent1>
        <a:srgbClr val="22D3EE"/>
      </a:accent1>
      <a:accent2>
        <a:srgbClr val="E2BA52"/>
      </a:accent2>
      <a:accent3>
        <a:srgbClr val="6366F1"/>
      </a:accent3>
      <a:accent4>
        <a:srgbClr val="10B981"/>
      </a:accent4>
      <a:accent5>
        <a:srgbClr val="F43F5E"/>
      </a:accent5>
      <a:accent6>
        <a:srgbClr val="A7F3D0"/>
      </a:accent6>
      <a:hlink>
        <a:srgbClr val="22D3EE"/>
      </a:hlink>
      <a:folHlink>
        <a:srgbClr val="E2BA52"/>
      </a:folHlink>
    </a:clrScheme>
    <a:fontScheme name="Night Road 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نظام ذكي لرصد وحساب سرعة المركبات وتسجيل المخالفات المرورية</dc:title>
  <dc:subject>PptxGenJS Presentation</dc:subject>
  <dc:creator>فريق مشروع التخرج</dc:creator>
  <cp:lastModifiedBy>فريق مشروع التخرج</cp:lastModifiedBy>
  <cp:revision>1</cp:revision>
  <dcterms:created xsi:type="dcterms:W3CDTF">2026-10-17T00:08:04Z</dcterms:created>
  <dcterms:modified xsi:type="dcterms:W3CDTF">2026-10-17T00:08:04Z</dcterms:modified>
</cp:coreProperties>
</file>