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عرض النهائي" id="{8df9c8cb-b087-df5a-63dd-fd2daa406da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عيسى شايع ⏱ 0:20 — بسم الله الرحمن الرحيم. السلام عليكم. نرحّب بلجنة المناقشة: د. رضوان الديلمي، د. رضوان شداد، ومشرفنا د. مطيع الجعفري. نقدّم مشروعنا: نظام ذكي لرصد وحساب سرعة المركبات وتسجيل المخالفات باستخدام كاميرا الهاتف والذكاء الاصطناعي.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عيسى شايع ⏱ 0:15 — تعريف سريع بالفريق وترتيب العرض: كل عضو يعرض الجزء المكتوب تحت صورته.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عيسى شايع ⏱ 0:50 — الواقع: السرعة سبب رئيسي للحوادث، والرقابة البشرية لا تغطي كل الطرق. الحل: الهاتف يصبح كاميرا مرور ذكية منخفضة التكلفة.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عيسى شايع ⏱ 0:50 — النظام: تطبيق هاتف + خادم مركزي + لوحة تحكم. وعند تجاوز السرعة: صور، قراءة لوحة، سرعات، وقت وموقع، ثم الإرسال للخادم.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محمد قريع ⏱ 0:40 — اذكر المشكلات باختصار، وأكّد على: غياب الرقابة المستمرة، الأخطاء البشرية، وتكلفة الرادارات.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محمد قريع ⏱ 0:40 — كل هدف يقابل مشكلة من الشريحة السابقة.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محمد قريع ⏱ 0:40 — المنهج التطبيقي وخطوات الاختبار الأربع، ثم حدود المشروع، وأنه نموذج أولي.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برهان الزمر ⏱ 1:00 — دورة العمل كما في التقرير: لا تُسجَّل جميع المركبات، بل ينتقل النظام للتوثيق وقراءة اللوحة فقط عند التجاوز. مثال التقرير: 72 كم/س في موقع حدّه 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برهان الزمر ⏱ 1:00 — لا تقرأ الجدول كاملاً: اذكر دراسات الهاتف (Obaidat، Salahat) ودراسات المخالفات، ثم الإضافة في مشروعنا.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مازن عبد المعز ⏱ 1:00 — YOLO يجيب: ما المركبات وأين؟ ثم ByteTrack يجيب: أين تحركت المركبة نفسها؟ ويوفّر بيانات حساب السرعة.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مازن عبد المعز ⏱ 1:00 — Agile على ست مراحل، ثم تسلسل الخوارزميات السبع. أكّد أن PaddleOCR يعمل فقط عند المخالفة.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محمد عادل ⏱ 1:00 — خمسة مكونات، ثم V = D/T (مثال التقرير: 20 م/ث = 72 كم/س)، والعدّاد يتحرك، ثم شرط المخالفة.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محمد عادل ⏱ 0:45 — سبعة جداول والعلاقة الأساسية، ثلاث صلاحيات، والتقنيات المستخدمة. ثم يختم: «وبهذا نكون انتهينا من عرض مشروعنا».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يعرض: محمد عادل — شكر اللجنة والمشرف وفتح باب الأسئلة. (كل الطلاب مستعدون للإجابة عن أي جزء)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P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AMP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CONCEPT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SPEED-image-1.jpe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CAR-image-1.jpe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THANKS-image-1.jpe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CITY-image-1.jpe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NEURAL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P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MP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B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EP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E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Y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URA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5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png"/><Relationship Id="rId4" Type="http://schemas.openxmlformats.org/officeDocument/2006/relationships/image" Target="../media/image-2-4.jpg"/><Relationship Id="rId5" Type="http://schemas.openxmlformats.org/officeDocument/2006/relationships/image" Target="../media/image-2-3.png"/><Relationship Id="rId6" Type="http://schemas.openxmlformats.org/officeDocument/2006/relationships/image" Target="../media/image-2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slideLayout" Target="../slideLayouts/slideLayout7.xml"/><Relationship Id="rId1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png"/><Relationship Id="rId5" Type="http://schemas.openxmlformats.org/officeDocument/2006/relationships/image" Target="../media/image-14-5.jpg"/><Relationship Id="rId6" Type="http://schemas.openxmlformats.org/officeDocument/2006/relationships/image" Target="../media/image-14-4.png"/><Relationship Id="rId7" Type="http://schemas.openxmlformats.org/officeDocument/2006/relationships/image" Target="../media/image-14-7.jp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x0@move(1.5,0,2400)|car" descr="img/car_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0" y="4754880"/>
            <a:ext cx="3931920" cy="914400"/>
          </a:xfrm>
          <a:prstGeom prst="rect">
            <a:avLst/>
          </a:prstGeom>
        </p:spPr>
      </p:pic>
      <p:sp>
        <p:nvSpPr>
          <p:cNvPr id="3" name="fx1@pop|live"/>
          <p:cNvSpPr txBox="1"/>
          <p:nvPr/>
        </p:nvSpPr>
        <p:spPr>
          <a:xfrm>
            <a:off x="457200" y="411480"/>
            <a:ext cx="3291840" cy="36576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 •  AI SPEED DETECTION</a:t>
            </a:r>
            <a:endParaRPr lang="en-US" sz="1200" dirty="0"/>
          </a:p>
        </p:txBody>
      </p:sp>
      <p:pic>
        <p:nvPicPr>
          <p:cNvPr id="4" name="fx1@zoom|logo" descr="شعار الجامعة — بدّله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65760"/>
            <a:ext cx="1051560" cy="1051560"/>
          </a:xfrm>
          <a:prstGeom prst="rect">
            <a:avLst/>
          </a:prstGeom>
        </p:spPr>
      </p:pic>
      <p:sp>
        <p:nvSpPr>
          <p:cNvPr id="5" name="fx2|uni"/>
          <p:cNvSpPr txBox="1"/>
          <p:nvPr/>
        </p:nvSpPr>
        <p:spPr>
          <a:xfrm>
            <a:off x="5120640" y="365760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الجمهورية اليمنية</a:t>
            </a:r>
            <a:endParaRPr lang="ar-SA" sz="1200" dirty="0"/>
          </a:p>
          <a:p>
            <a:pPr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جامعة العلوم والتكنولوجيا — فرع إب</a:t>
            </a:r>
            <a:endParaRPr lang="ar-SA" sz="1200" dirty="0"/>
          </a:p>
          <a:p>
            <a:pPr algn="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كلية الحاسبات وتكنولوجيا المعلومات  •  قسم تقنية المعلومات</a:t>
            </a:r>
            <a:endParaRPr lang="ar-SA" sz="1200" dirty="0"/>
          </a:p>
        </p:txBody>
      </p:sp>
      <p:sp>
        <p:nvSpPr>
          <p:cNvPr id="6" name="fx3|title"/>
          <p:cNvSpPr txBox="1"/>
          <p:nvPr/>
        </p:nvSpPr>
        <p:spPr>
          <a:xfrm>
            <a:off x="5760720" y="1691640"/>
            <a:ext cx="5897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100" b="1" dirty="0">
                <a:solidFill>
                  <a:schemeClr val="bg1"/>
                </a:solidFill>
              </a:rPr>
              <a:t>نظام ذكي لرصد وحساب سرعة المركبات وتسجيل المخالفات المرورية</a:t>
            </a:r>
            <a:endParaRPr lang="ar-SA" sz="3100" dirty="0"/>
          </a:p>
        </p:txBody>
      </p:sp>
      <p:sp>
        <p:nvSpPr>
          <p:cNvPr id="7" name="fx4|sub"/>
          <p:cNvSpPr txBox="1"/>
          <p:nvPr/>
        </p:nvSpPr>
        <p:spPr>
          <a:xfrm>
            <a:off x="5760720" y="3429000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accent2"/>
                </a:solidFill>
              </a:rPr>
              <a:t>باستخدام كاميرا الهاتف وتقنيات الذكاء الاصطناعي والرؤية الحاسوبية</a:t>
            </a:r>
            <a:endParaRPr lang="ar-SA" sz="1600" dirty="0"/>
          </a:p>
        </p:txBody>
      </p:sp>
      <p:sp>
        <p:nvSpPr>
          <p:cNvPr id="8" name="fx5|en"/>
          <p:cNvSpPr txBox="1"/>
          <p:nvPr/>
        </p:nvSpPr>
        <p:spPr>
          <a:xfrm>
            <a:off x="5760720" y="4114800"/>
            <a:ext cx="5897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i="1" dirty="0">
                <a:solidFill>
                  <a:schemeClr val="bg2"/>
                </a:solidFill>
              </a:rPr>
              <a:t>Smart Mobile-Based Vehicle Speed Estimation and Traffic Violation Detection System Using Artificial Intelligence and Computer Vision</a:t>
            </a:r>
            <a:endParaRPr lang="en-US" sz="1100" dirty="0"/>
          </a:p>
        </p:txBody>
      </p:sp>
      <p:sp>
        <p:nvSpPr>
          <p:cNvPr id="9" name="fx6|names card"/>
          <p:cNvSpPr/>
          <p:nvPr/>
        </p:nvSpPr>
        <p:spPr>
          <a:xfrm>
            <a:off x="5760720" y="4800600"/>
            <a:ext cx="5897880" cy="1600200"/>
          </a:xfrm>
          <a:prstGeom prst="roundRect">
            <a:avLst>
              <a:gd name="adj" fmla="val 8000"/>
            </a:avLst>
          </a:prstGeom>
          <a:solidFill>
            <a:schemeClr val="tx2">
              <a:alpha val="65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0" name="fx6|names"/>
          <p:cNvSpPr txBox="1"/>
          <p:nvPr/>
        </p:nvSpPr>
        <p:spPr>
          <a:xfrm>
            <a:off x="5943600" y="4864608"/>
            <a:ext cx="5532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ar-SA" altLang="en-US" sz="1300" b="1" dirty="0">
                <a:solidFill>
                  <a:srgbClr val="E2BA52"/>
                </a:solidFill>
              </a:rPr>
              <a:t>إعداد الطلاب:</a:t>
            </a:r>
            <a:endParaRPr lang="ar-SA" sz="13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SA" altLang="en-US" sz="1300" dirty="0">
                <a:solidFill>
                  <a:srgbClr val="FFFFFF"/>
                </a:solidFill>
              </a:rPr>
              <a:t>عيسى إبراهيم شايع  •  محمد عادل قاسم قائد  •  برهان الزمر  •  محمد عبدالإله قريع  •  مازن عبد المعز</a:t>
            </a:r>
            <a:endParaRPr lang="ar-SA" sz="13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SA" altLang="en-US" sz="1300" b="1" dirty="0">
                <a:solidFill>
                  <a:srgbClr val="E2BA52"/>
                </a:solidFill>
              </a:rPr>
              <a:t>إشراف:  </a:t>
            </a:r>
            <a:pPr algn="r" indent="0" marL="0">
              <a:spcAft>
                <a:spcPts val="400"/>
              </a:spcAft>
              <a:buNone/>
            </a:pPr>
            <a:r>
              <a:rPr lang="ar-SA" altLang="en-US" sz="1300" b="1" dirty="0">
                <a:solidFill>
                  <a:srgbClr val="FFFFFF"/>
                </a:solidFill>
              </a:rPr>
              <a:t>د. مطيع الجعفري</a:t>
            </a:r>
            <a:endParaRPr lang="ar-SA" sz="13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1.5 0 E" pathEditMode="relative" ptsTypes="AA">
                                      <p:cBhvr>
                                        <p:cTn id="6" dur="2400" accel="20000" decel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3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3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فريق العمل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Project Team</a:t>
            </a:r>
            <a:endParaRPr lang="en-US" sz="1500" dirty="0"/>
          </a:p>
        </p:txBody>
      </p:sp>
      <p:sp>
        <p:nvSpPr>
          <p:cNvPr id="4" name="fx0@zoom|tile"/>
          <p:cNvSpPr/>
          <p:nvPr/>
        </p:nvSpPr>
        <p:spPr>
          <a:xfrm>
            <a:off x="8002372" y="1517904"/>
            <a:ext cx="3502152" cy="2221992"/>
          </a:xfrm>
          <a:prstGeom prst="rect">
            <a:avLst/>
          </a:prstGeom>
          <a:solidFill>
            <a:srgbClr val="05070C"/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5" name="fx0|photo 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38948" y="1554480"/>
            <a:ext cx="3429000" cy="2148840"/>
          </a:xfrm>
          <a:prstGeom prst="rect">
            <a:avLst/>
          </a:prstGeom>
        </p:spPr>
      </p:pic>
      <p:sp>
        <p:nvSpPr>
          <p:cNvPr id="6" name="fx0|cam"/>
          <p:cNvSpPr txBox="1"/>
          <p:nvPr/>
        </p:nvSpPr>
        <p:spPr>
          <a:xfrm>
            <a:off x="8130388" y="16093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01</a:t>
            </a:r>
            <a:endParaRPr lang="en-US" sz="1000" dirty="0"/>
          </a:p>
        </p:txBody>
      </p:sp>
      <p:sp>
        <p:nvSpPr>
          <p:cNvPr id="7" name="fx0|rec"/>
          <p:cNvSpPr txBox="1"/>
          <p:nvPr/>
        </p:nvSpPr>
        <p:spPr>
          <a:xfrm>
            <a:off x="10736428" y="16093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8" name="fx6@zoom|box"/>
          <p:cNvSpPr/>
          <p:nvPr/>
        </p:nvSpPr>
        <p:spPr>
          <a:xfrm>
            <a:off x="9067648" y="1769364"/>
            <a:ext cx="1371600" cy="1289304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fx6@pop|tag"/>
          <p:cNvSpPr txBox="1"/>
          <p:nvPr/>
        </p:nvSpPr>
        <p:spPr>
          <a:xfrm>
            <a:off x="9067648" y="1568196"/>
            <a:ext cx="11506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 01</a:t>
            </a:r>
            <a:endParaRPr lang="en-US" sz="900" dirty="0"/>
          </a:p>
        </p:txBody>
      </p:sp>
      <p:sp>
        <p:nvSpPr>
          <p:cNvPr id="10" name="fx0|bar"/>
          <p:cNvSpPr/>
          <p:nvPr/>
        </p:nvSpPr>
        <p:spPr>
          <a:xfrm>
            <a:off x="8038948" y="3118104"/>
            <a:ext cx="3429000" cy="585216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fx0|name"/>
          <p:cNvSpPr txBox="1"/>
          <p:nvPr/>
        </p:nvSpPr>
        <p:spPr>
          <a:xfrm>
            <a:off x="8148676" y="31363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</a:rPr>
              <a:t>عيسى إبراهيم شايع</a:t>
            </a:r>
            <a:endParaRPr lang="ar-SA" sz="14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المقدمة ووصف المشروع</a:t>
            </a:r>
            <a:endParaRPr lang="ar-SA" sz="1400" dirty="0"/>
          </a:p>
        </p:txBody>
      </p:sp>
      <p:sp>
        <p:nvSpPr>
          <p:cNvPr id="12" name="fx1@zoom|tile"/>
          <p:cNvSpPr/>
          <p:nvPr/>
        </p:nvSpPr>
        <p:spPr>
          <a:xfrm>
            <a:off x="4344772" y="1517904"/>
            <a:ext cx="3502152" cy="2221992"/>
          </a:xfrm>
          <a:prstGeom prst="rect">
            <a:avLst/>
          </a:prstGeom>
          <a:solidFill>
            <a:srgbClr val="05070C"/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13" name="fx1|photo 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1348" y="1554480"/>
            <a:ext cx="3429000" cy="2148840"/>
          </a:xfrm>
          <a:prstGeom prst="rect">
            <a:avLst/>
          </a:prstGeom>
        </p:spPr>
      </p:pic>
      <p:sp>
        <p:nvSpPr>
          <p:cNvPr id="14" name="fx1|cam"/>
          <p:cNvSpPr txBox="1"/>
          <p:nvPr/>
        </p:nvSpPr>
        <p:spPr>
          <a:xfrm>
            <a:off x="4472788" y="16093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02</a:t>
            </a:r>
            <a:endParaRPr lang="en-US" sz="1000" dirty="0"/>
          </a:p>
        </p:txBody>
      </p:sp>
      <p:sp>
        <p:nvSpPr>
          <p:cNvPr id="15" name="fx1|rec"/>
          <p:cNvSpPr txBox="1"/>
          <p:nvPr/>
        </p:nvSpPr>
        <p:spPr>
          <a:xfrm>
            <a:off x="7078828" y="16093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16" name="fx7@zoom|box"/>
          <p:cNvSpPr/>
          <p:nvPr/>
        </p:nvSpPr>
        <p:spPr>
          <a:xfrm>
            <a:off x="5410048" y="1769364"/>
            <a:ext cx="1371600" cy="1289304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fx7@pop|tag"/>
          <p:cNvSpPr txBox="1"/>
          <p:nvPr/>
        </p:nvSpPr>
        <p:spPr>
          <a:xfrm>
            <a:off x="5410048" y="1568196"/>
            <a:ext cx="11506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 02</a:t>
            </a:r>
            <a:endParaRPr lang="en-US" sz="900" dirty="0"/>
          </a:p>
        </p:txBody>
      </p:sp>
      <p:sp>
        <p:nvSpPr>
          <p:cNvPr id="18" name="fx1|bar"/>
          <p:cNvSpPr/>
          <p:nvPr/>
        </p:nvSpPr>
        <p:spPr>
          <a:xfrm>
            <a:off x="4381348" y="3118104"/>
            <a:ext cx="3429000" cy="585216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fx1|name"/>
          <p:cNvSpPr txBox="1"/>
          <p:nvPr/>
        </p:nvSpPr>
        <p:spPr>
          <a:xfrm>
            <a:off x="4491076" y="31363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</a:rPr>
              <a:t>محمد عبدالإله قريع</a:t>
            </a:r>
            <a:endParaRPr lang="ar-SA" sz="14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المشكلات والأهداف والنطاق</a:t>
            </a:r>
            <a:endParaRPr lang="ar-SA" sz="1400" dirty="0"/>
          </a:p>
        </p:txBody>
      </p:sp>
      <p:sp>
        <p:nvSpPr>
          <p:cNvPr id="20" name="fx2@zoom|tile"/>
          <p:cNvSpPr/>
          <p:nvPr/>
        </p:nvSpPr>
        <p:spPr>
          <a:xfrm>
            <a:off x="687172" y="1517904"/>
            <a:ext cx="3502152" cy="2221992"/>
          </a:xfrm>
          <a:prstGeom prst="rect">
            <a:avLst/>
          </a:prstGeom>
          <a:solidFill>
            <a:srgbClr val="05070C"/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21" name="fx2|photo p4" descr="صورة برهان الزمر — بدّلها من: تغيير الصورة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23748" y="1554480"/>
            <a:ext cx="3429000" cy="2148840"/>
          </a:xfrm>
          <a:prstGeom prst="rect">
            <a:avLst/>
          </a:prstGeom>
        </p:spPr>
      </p:pic>
      <p:sp>
        <p:nvSpPr>
          <p:cNvPr id="22" name="fx2|cam"/>
          <p:cNvSpPr txBox="1"/>
          <p:nvPr/>
        </p:nvSpPr>
        <p:spPr>
          <a:xfrm>
            <a:off x="815188" y="16093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03</a:t>
            </a:r>
            <a:endParaRPr lang="en-US" sz="1000" dirty="0"/>
          </a:p>
        </p:txBody>
      </p:sp>
      <p:sp>
        <p:nvSpPr>
          <p:cNvPr id="23" name="fx2|rec"/>
          <p:cNvSpPr txBox="1"/>
          <p:nvPr/>
        </p:nvSpPr>
        <p:spPr>
          <a:xfrm>
            <a:off x="3421228" y="16093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24" name="fx8@zoom|box"/>
          <p:cNvSpPr/>
          <p:nvPr/>
        </p:nvSpPr>
        <p:spPr>
          <a:xfrm>
            <a:off x="1752448" y="1769364"/>
            <a:ext cx="1371600" cy="1289304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5" name="fx8@pop|tag"/>
          <p:cNvSpPr txBox="1"/>
          <p:nvPr/>
        </p:nvSpPr>
        <p:spPr>
          <a:xfrm>
            <a:off x="1752448" y="1568196"/>
            <a:ext cx="11506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 03</a:t>
            </a:r>
            <a:endParaRPr lang="en-US" sz="900" dirty="0"/>
          </a:p>
        </p:txBody>
      </p:sp>
      <p:sp>
        <p:nvSpPr>
          <p:cNvPr id="26" name="fx2|bar"/>
          <p:cNvSpPr/>
          <p:nvPr/>
        </p:nvSpPr>
        <p:spPr>
          <a:xfrm>
            <a:off x="723748" y="3118104"/>
            <a:ext cx="3429000" cy="585216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x2|name"/>
          <p:cNvSpPr txBox="1"/>
          <p:nvPr/>
        </p:nvSpPr>
        <p:spPr>
          <a:xfrm>
            <a:off x="833476" y="313639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</a:rPr>
              <a:t>برهان الزمر</a:t>
            </a:r>
            <a:endParaRPr lang="ar-SA" sz="14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آلية العمل والدراسات السابقة</a:t>
            </a:r>
            <a:endParaRPr lang="ar-SA" sz="1400" dirty="0"/>
          </a:p>
        </p:txBody>
      </p:sp>
      <p:sp>
        <p:nvSpPr>
          <p:cNvPr id="28" name="fx3@zoom|tile"/>
          <p:cNvSpPr/>
          <p:nvPr/>
        </p:nvSpPr>
        <p:spPr>
          <a:xfrm>
            <a:off x="8002372" y="3895344"/>
            <a:ext cx="3502152" cy="2221992"/>
          </a:xfrm>
          <a:prstGeom prst="rect">
            <a:avLst/>
          </a:prstGeom>
          <a:solidFill>
            <a:srgbClr val="05070C"/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29" name="fx3|photo 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38948" y="3931920"/>
            <a:ext cx="3429000" cy="2148840"/>
          </a:xfrm>
          <a:prstGeom prst="rect">
            <a:avLst/>
          </a:prstGeom>
        </p:spPr>
      </p:pic>
      <p:sp>
        <p:nvSpPr>
          <p:cNvPr id="30" name="fx3|cam"/>
          <p:cNvSpPr txBox="1"/>
          <p:nvPr/>
        </p:nvSpPr>
        <p:spPr>
          <a:xfrm>
            <a:off x="8130388" y="3986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04</a:t>
            </a:r>
            <a:endParaRPr lang="en-US" sz="1000" dirty="0"/>
          </a:p>
        </p:txBody>
      </p:sp>
      <p:sp>
        <p:nvSpPr>
          <p:cNvPr id="31" name="fx3|rec"/>
          <p:cNvSpPr txBox="1"/>
          <p:nvPr/>
        </p:nvSpPr>
        <p:spPr>
          <a:xfrm>
            <a:off x="10736428" y="39867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32" name="fx9@zoom|box"/>
          <p:cNvSpPr/>
          <p:nvPr/>
        </p:nvSpPr>
        <p:spPr>
          <a:xfrm>
            <a:off x="9067648" y="4146804"/>
            <a:ext cx="1371600" cy="1289304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3" name="fx9@pop|tag"/>
          <p:cNvSpPr txBox="1"/>
          <p:nvPr/>
        </p:nvSpPr>
        <p:spPr>
          <a:xfrm>
            <a:off x="9067648" y="3945636"/>
            <a:ext cx="11506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 04</a:t>
            </a:r>
            <a:endParaRPr lang="en-US" sz="900" dirty="0"/>
          </a:p>
        </p:txBody>
      </p:sp>
      <p:sp>
        <p:nvSpPr>
          <p:cNvPr id="34" name="fx3|bar"/>
          <p:cNvSpPr/>
          <p:nvPr/>
        </p:nvSpPr>
        <p:spPr>
          <a:xfrm>
            <a:off x="8038948" y="5495544"/>
            <a:ext cx="3429000" cy="585216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fx3|name"/>
          <p:cNvSpPr txBox="1"/>
          <p:nvPr/>
        </p:nvSpPr>
        <p:spPr>
          <a:xfrm>
            <a:off x="8148676" y="551383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</a:rPr>
              <a:t>مازن عبد المعز</a:t>
            </a:r>
            <a:endParaRPr lang="ar-SA" sz="14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الخوارزميات ومنهجية التطوير</a:t>
            </a:r>
            <a:endParaRPr lang="ar-SA" sz="1400" dirty="0"/>
          </a:p>
        </p:txBody>
      </p:sp>
      <p:sp>
        <p:nvSpPr>
          <p:cNvPr id="36" name="fx4@zoom|tile"/>
          <p:cNvSpPr/>
          <p:nvPr/>
        </p:nvSpPr>
        <p:spPr>
          <a:xfrm>
            <a:off x="4344772" y="3895344"/>
            <a:ext cx="3502152" cy="2221992"/>
          </a:xfrm>
          <a:prstGeom prst="rect">
            <a:avLst/>
          </a:prstGeom>
          <a:solidFill>
            <a:srgbClr val="05070C"/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37" name="fx4|photo p5" descr="صورة محمد عادل — بدّلها من: تغيير الصورة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1348" y="3931920"/>
            <a:ext cx="3429000" cy="2148840"/>
          </a:xfrm>
          <a:prstGeom prst="rect">
            <a:avLst/>
          </a:prstGeom>
        </p:spPr>
      </p:pic>
      <p:sp>
        <p:nvSpPr>
          <p:cNvPr id="38" name="fx4|cam"/>
          <p:cNvSpPr txBox="1"/>
          <p:nvPr/>
        </p:nvSpPr>
        <p:spPr>
          <a:xfrm>
            <a:off x="4472788" y="3986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05</a:t>
            </a:r>
            <a:endParaRPr lang="en-US" sz="1000" dirty="0"/>
          </a:p>
        </p:txBody>
      </p:sp>
      <p:sp>
        <p:nvSpPr>
          <p:cNvPr id="39" name="fx4|rec"/>
          <p:cNvSpPr txBox="1"/>
          <p:nvPr/>
        </p:nvSpPr>
        <p:spPr>
          <a:xfrm>
            <a:off x="7078828" y="39867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40" name="fx10@zoom|box"/>
          <p:cNvSpPr/>
          <p:nvPr/>
        </p:nvSpPr>
        <p:spPr>
          <a:xfrm>
            <a:off x="5410048" y="4146804"/>
            <a:ext cx="1371600" cy="1289304"/>
          </a:xfrm>
          <a:prstGeom prst="rect">
            <a:avLst/>
          </a:prstGeom>
          <a:solidFill>
            <a:srgbClr val="10B981">
              <a:alpha val="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1" name="fx10@pop|tag"/>
          <p:cNvSpPr txBox="1"/>
          <p:nvPr/>
        </p:nvSpPr>
        <p:spPr>
          <a:xfrm>
            <a:off x="5410048" y="3945636"/>
            <a:ext cx="1150681" cy="28712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PRESENTER 05</a:t>
            </a:r>
            <a:endParaRPr lang="en-US" sz="900" dirty="0"/>
          </a:p>
        </p:txBody>
      </p:sp>
      <p:sp>
        <p:nvSpPr>
          <p:cNvPr id="42" name="fx4|bar"/>
          <p:cNvSpPr/>
          <p:nvPr/>
        </p:nvSpPr>
        <p:spPr>
          <a:xfrm>
            <a:off x="4381348" y="5495544"/>
            <a:ext cx="3429000" cy="585216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fx4|name"/>
          <p:cNvSpPr txBox="1"/>
          <p:nvPr/>
        </p:nvSpPr>
        <p:spPr>
          <a:xfrm>
            <a:off x="4491076" y="551383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</a:rPr>
              <a:t>محمد عادل قاسم قائد</a:t>
            </a:r>
            <a:endParaRPr lang="ar-SA" sz="14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22D3EE"/>
                </a:solidFill>
              </a:rPr>
              <a:t>المعمارية وقاعدة البيانات</a:t>
            </a:r>
            <a:endParaRPr lang="ar-SA" sz="1400" dirty="0"/>
          </a:p>
        </p:txBody>
      </p:sp>
      <p:sp>
        <p:nvSpPr>
          <p:cNvPr id="44" name="fx5@zoom|tile"/>
          <p:cNvSpPr/>
          <p:nvPr/>
        </p:nvSpPr>
        <p:spPr>
          <a:xfrm>
            <a:off x="687172" y="3895344"/>
            <a:ext cx="3502152" cy="2221992"/>
          </a:xfrm>
          <a:prstGeom prst="rect">
            <a:avLst/>
          </a:prstGeom>
          <a:solidFill>
            <a:srgbClr val="05070C"/>
          </a:solidFill>
          <a:ln w="12700">
            <a:solidFill>
              <a:srgbClr val="22D3EE">
                <a:alpha val="6000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60000"/>
              </a:srgbClr>
            </a:outerShdw>
          </a:effectLst>
        </p:spPr>
      </p:sp>
      <p:pic>
        <p:nvPicPr>
          <p:cNvPr id="45" name="fx5|photo sv" descr="صورة د. مطيع الجعفري — بدّلها من: تغيير الصورة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23748" y="3931920"/>
            <a:ext cx="3429000" cy="2148840"/>
          </a:xfrm>
          <a:prstGeom prst="rect">
            <a:avLst/>
          </a:prstGeom>
        </p:spPr>
      </p:pic>
      <p:sp>
        <p:nvSpPr>
          <p:cNvPr id="46" name="fx5|cam"/>
          <p:cNvSpPr txBox="1"/>
          <p:nvPr/>
        </p:nvSpPr>
        <p:spPr>
          <a:xfrm>
            <a:off x="815188" y="3986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 06</a:t>
            </a:r>
            <a:endParaRPr lang="en-US" sz="1000" dirty="0"/>
          </a:p>
        </p:txBody>
      </p:sp>
      <p:sp>
        <p:nvSpPr>
          <p:cNvPr id="47" name="fx5|rec"/>
          <p:cNvSpPr txBox="1"/>
          <p:nvPr/>
        </p:nvSpPr>
        <p:spPr>
          <a:xfrm>
            <a:off x="3421228" y="39867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</a:t>
            </a:r>
            <a:endParaRPr lang="en-US" sz="1000" dirty="0"/>
          </a:p>
        </p:txBody>
      </p:sp>
      <p:sp>
        <p:nvSpPr>
          <p:cNvPr id="48" name="fx11@zoom|box"/>
          <p:cNvSpPr/>
          <p:nvPr/>
        </p:nvSpPr>
        <p:spPr>
          <a:xfrm>
            <a:off x="1752448" y="4146804"/>
            <a:ext cx="1371600" cy="1289304"/>
          </a:xfrm>
          <a:prstGeom prst="rect">
            <a:avLst/>
          </a:prstGeom>
          <a:solidFill>
            <a:srgbClr val="E2BA52">
              <a:alpha val="0"/>
            </a:srgbClr>
          </a:solidFill>
          <a:ln w="25400">
            <a:solidFill>
              <a:srgbClr val="E2BA52"/>
            </a:solidFill>
            <a:prstDash val="solid"/>
          </a:ln>
        </p:spPr>
      </p:sp>
      <p:sp>
        <p:nvSpPr>
          <p:cNvPr id="49" name="fx11@pop|tag"/>
          <p:cNvSpPr txBox="1"/>
          <p:nvPr/>
        </p:nvSpPr>
        <p:spPr>
          <a:xfrm>
            <a:off x="1752448" y="3945636"/>
            <a:ext cx="989381" cy="287122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9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SUPERVISOR</a:t>
            </a:r>
            <a:endParaRPr lang="en-US" sz="900" dirty="0"/>
          </a:p>
        </p:txBody>
      </p:sp>
      <p:sp>
        <p:nvSpPr>
          <p:cNvPr id="50" name="fx5|bar"/>
          <p:cNvSpPr/>
          <p:nvPr/>
        </p:nvSpPr>
        <p:spPr>
          <a:xfrm>
            <a:off x="723748" y="5495544"/>
            <a:ext cx="3429000" cy="585216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fx5|name"/>
          <p:cNvSpPr txBox="1"/>
          <p:nvPr/>
        </p:nvSpPr>
        <p:spPr>
          <a:xfrm>
            <a:off x="833476" y="5513832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</a:rPr>
              <a:t>د. مطيع محمد عبده الجعفري</a:t>
            </a:r>
            <a:endParaRPr lang="ar-SA" sz="14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E2BA52"/>
                </a:solidFill>
              </a:rPr>
              <a:t>المشرف على المشروع</a:t>
            </a:r>
            <a:endParaRPr lang="ar-SA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3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3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3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3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3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65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3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35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6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65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53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6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65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3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35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5" dur="6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9" dur="6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65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65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6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8" dur="6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2" dur="6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6" dur="6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53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65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65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6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53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35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35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6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0" dur="6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4" dur="6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kicker"/>
          <p:cNvSpPr txBox="1"/>
          <p:nvPr/>
        </p:nvSpPr>
        <p:spPr>
          <a:xfrm>
            <a:off x="548640" y="457200"/>
            <a:ext cx="3840480" cy="32918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الفصل الأول  •  المقدمة  (1 من 5)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المقدمة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Introduction</a:t>
            </a:r>
            <a:endParaRPr lang="en-US" sz="1500" dirty="0"/>
          </a:p>
        </p:txBody>
      </p:sp>
      <p:sp>
        <p:nvSpPr>
          <p:cNvPr id="5" name="Intro frame"/>
          <p:cNvSpPr/>
          <p:nvPr/>
        </p:nvSpPr>
        <p:spPr>
          <a:xfrm>
            <a:off x="502920" y="1554480"/>
            <a:ext cx="4846320" cy="2724912"/>
          </a:xfrm>
          <a:prstGeom prst="rect">
            <a:avLst/>
          </a:prstGeom>
          <a:solidFill>
            <a:srgbClr val="05070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279400" dist="50800" dir="16200000">
              <a:srgbClr val="22D3EE">
                <a:alpha val="40000"/>
              </a:srgbClr>
            </a:outerShdw>
          </a:effectLst>
        </p:spPr>
      </p:sp>
      <p:pic>
        <p:nvPicPr>
          <p:cNvPr id="6" name="fx0@zoom|intro photo" descr="img/p_detec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4754880" cy="2633472"/>
          </a:xfrm>
          <a:prstGeom prst="rect">
            <a:avLst/>
          </a:prstGeom>
        </p:spPr>
      </p:pic>
      <p:sp>
        <p:nvSpPr>
          <p:cNvPr id="7" name="fx1|row"/>
          <p:cNvSpPr/>
          <p:nvPr/>
        </p:nvSpPr>
        <p:spPr>
          <a:xfrm>
            <a:off x="5669280" y="1554480"/>
            <a:ext cx="5971032" cy="822960"/>
          </a:xfrm>
          <a:prstGeom prst="roundRect">
            <a:avLst>
              <a:gd name="adj" fmla="val 15556"/>
            </a:avLst>
          </a:prstGeom>
          <a:solidFill>
            <a:schemeClr val="tx2">
              <a:alpha val="80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8" name="fx1|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3384" y="1773936"/>
            <a:ext cx="384048" cy="384048"/>
          </a:xfrm>
          <a:prstGeom prst="rect">
            <a:avLst/>
          </a:prstGeom>
        </p:spPr>
      </p:pic>
      <p:sp>
        <p:nvSpPr>
          <p:cNvPr id="9" name="fx1|t"/>
          <p:cNvSpPr txBox="1"/>
          <p:nvPr/>
        </p:nvSpPr>
        <p:spPr>
          <a:xfrm>
            <a:off x="5852160" y="1600200"/>
            <a:ext cx="5102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</a:rPr>
              <a:t>السرعة الزائدة وعدم الالتزام بالسرعات المحددة</a:t>
            </a:r>
            <a:endParaRPr lang="ar-SA" sz="16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B8C7E0"/>
                </a:solidFill>
              </a:rPr>
              <a:t>من أبرز أسباب الحوادث المرورية في اليمن وخسائرها البشرية والمادية</a:t>
            </a:r>
            <a:endParaRPr lang="ar-SA" sz="1600" dirty="0"/>
          </a:p>
        </p:txBody>
      </p:sp>
      <p:sp>
        <p:nvSpPr>
          <p:cNvPr id="10" name="fx2|row"/>
          <p:cNvSpPr/>
          <p:nvPr/>
        </p:nvSpPr>
        <p:spPr>
          <a:xfrm>
            <a:off x="5669280" y="2514600"/>
            <a:ext cx="5971032" cy="822960"/>
          </a:xfrm>
          <a:prstGeom prst="roundRect">
            <a:avLst>
              <a:gd name="adj" fmla="val 15556"/>
            </a:avLst>
          </a:prstGeom>
          <a:solidFill>
            <a:schemeClr val="tx2">
              <a:alpha val="80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11" name="fx2|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3384" y="2734056"/>
            <a:ext cx="384048" cy="384048"/>
          </a:xfrm>
          <a:prstGeom prst="rect">
            <a:avLst/>
          </a:prstGeom>
        </p:spPr>
      </p:pic>
      <p:sp>
        <p:nvSpPr>
          <p:cNvPr id="12" name="fx2|t"/>
          <p:cNvSpPr txBox="1"/>
          <p:nvPr/>
        </p:nvSpPr>
        <p:spPr>
          <a:xfrm>
            <a:off x="5852160" y="2560320"/>
            <a:ext cx="5102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</a:rPr>
              <a:t>صعوبة توفير رقابة مرورية مستمرة</a:t>
            </a:r>
            <a:endParaRPr lang="ar-SA" sz="16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B8C7E0"/>
                </a:solidFill>
              </a:rPr>
              <a:t>على جميع الطرق والمناطق، مما يزيد انتشار المخالفات</a:t>
            </a:r>
            <a:endParaRPr lang="ar-SA" sz="1600" dirty="0"/>
          </a:p>
        </p:txBody>
      </p:sp>
      <p:sp>
        <p:nvSpPr>
          <p:cNvPr id="13" name="fx3|row"/>
          <p:cNvSpPr/>
          <p:nvPr/>
        </p:nvSpPr>
        <p:spPr>
          <a:xfrm>
            <a:off x="5669280" y="3474720"/>
            <a:ext cx="5971032" cy="822960"/>
          </a:xfrm>
          <a:prstGeom prst="roundRect">
            <a:avLst>
              <a:gd name="adj" fmla="val 15556"/>
            </a:avLst>
          </a:prstGeom>
          <a:solidFill>
            <a:schemeClr val="tx2">
              <a:alpha val="80000"/>
            </a:schemeClr>
          </a:solidFill>
          <a:ln w="12700">
            <a:solidFill>
              <a:schemeClr val="accent3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14" name="fx3|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3384" y="3694176"/>
            <a:ext cx="384048" cy="384048"/>
          </a:xfrm>
          <a:prstGeom prst="rect">
            <a:avLst/>
          </a:prstGeom>
        </p:spPr>
      </p:pic>
      <p:sp>
        <p:nvSpPr>
          <p:cNvPr id="15" name="fx3|t"/>
          <p:cNvSpPr txBox="1"/>
          <p:nvPr/>
        </p:nvSpPr>
        <p:spPr>
          <a:xfrm>
            <a:off x="5852160" y="3520440"/>
            <a:ext cx="5102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</a:rPr>
              <a:t>تطور الذكاء الاصطناعي والرؤية الحاسوبية</a:t>
            </a:r>
            <a:endParaRPr lang="ar-SA" sz="16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B8C7E0"/>
                </a:solidFill>
              </a:rPr>
              <a:t>أتاح حلولاً ذكية تقلل الاعتماد على الأساليب التقليدية</a:t>
            </a:r>
            <a:endParaRPr lang="ar-SA" sz="1600" dirty="0"/>
          </a:p>
        </p:txBody>
      </p:sp>
      <p:sp>
        <p:nvSpPr>
          <p:cNvPr id="16" name="fx4|solution"/>
          <p:cNvSpPr/>
          <p:nvPr/>
        </p:nvSpPr>
        <p:spPr>
          <a:xfrm>
            <a:off x="502920" y="4526280"/>
            <a:ext cx="11137392" cy="1645920"/>
          </a:xfrm>
          <a:prstGeom prst="roundRect">
            <a:avLst>
              <a:gd name="adj" fmla="val 7778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7" name="fx5|solution text"/>
          <p:cNvSpPr txBox="1"/>
          <p:nvPr/>
        </p:nvSpPr>
        <p:spPr>
          <a:xfrm>
            <a:off x="777240" y="461772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600"/>
              </a:spcAft>
              <a:buNone/>
            </a:pPr>
            <a:r>
              <a:rPr lang="ar-SA" altLang="en-US" sz="1600" b="1" dirty="0">
                <a:solidFill>
                  <a:srgbClr val="FFFFFF"/>
                </a:solidFill>
              </a:rPr>
              <a:t>يقدّم هذا المشروع نظاماً ذكياً يحوّل الهاتف الذكي إلى كاميرا مرورية </a:t>
            </a:r>
            <a:pPr algn="r" indent="0" marL="0">
              <a:spcAft>
                <a:spcPts val="600"/>
              </a:spcAft>
              <a:buNone/>
            </a:pPr>
            <a:r>
              <a:rPr lang="ar-SA" altLang="en-US" sz="1600" dirty="0">
                <a:solidFill>
                  <a:srgbClr val="FFFFFF"/>
                </a:solidFill>
              </a:rPr>
              <a:t>تكتشف المركبات، وتحسب سرعتها، وترصد المخالفات وتوثّقها آلياً، مع التعرف على اللوحات وربط المخالفات ببيانات مالكيها.</a:t>
            </a:r>
            <a:endParaRPr lang="ar-SA" sz="1600" dirty="0"/>
          </a:p>
          <a:p>
            <a:pPr algn="r" indent="0" marL="0">
              <a:spcAft>
                <a:spcPts val="600"/>
              </a:spcAft>
              <a:buNone/>
            </a:pPr>
            <a:r>
              <a:rPr lang="ar-SA" altLang="en-US" sz="1400" dirty="0">
                <a:solidFill>
                  <a:srgbClr val="E2BA52"/>
                </a:solidFill>
              </a:rPr>
              <a:t>حل تقني منخفض التكلفة يناسب البيئة اليمنية، ويعزز السلامة المرورية والدقة والشفافية في تسجيل المخالفات.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kicker"/>
          <p:cNvSpPr txBox="1"/>
          <p:nvPr/>
        </p:nvSpPr>
        <p:spPr>
          <a:xfrm>
            <a:off x="548640" y="457200"/>
            <a:ext cx="3840480" cy="32918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الفصل الأول  •  المقدمة  (2 من 5)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وصف المشروع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Project Description</a:t>
            </a:r>
            <a:endParaRPr lang="en-US" sz="1500" dirty="0"/>
          </a:p>
        </p:txBody>
      </p:sp>
      <p:sp>
        <p:nvSpPr>
          <p:cNvPr id="5" name="fx0|card#3d"/>
          <p:cNvSpPr/>
          <p:nvPr/>
        </p:nvSpPr>
        <p:spPr>
          <a:xfrm>
            <a:off x="8122615" y="1554480"/>
            <a:ext cx="3520440" cy="2880360"/>
          </a:xfrm>
          <a:prstGeom prst="roundRect">
            <a:avLst>
              <a:gd name="adj" fmla="val 444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6" name="fx0|ic bg#3d"/>
          <p:cNvSpPr/>
          <p:nvPr/>
        </p:nvSpPr>
        <p:spPr>
          <a:xfrm>
            <a:off x="10728655" y="1737360"/>
            <a:ext cx="713232" cy="713232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7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6963" y="1915668"/>
            <a:ext cx="356616" cy="356616"/>
          </a:xfrm>
          <a:prstGeom prst="rect">
            <a:avLst/>
          </a:prstGeom>
        </p:spPr>
      </p:pic>
      <p:sp>
        <p:nvSpPr>
          <p:cNvPr id="8" name="fx0|head"/>
          <p:cNvSpPr txBox="1"/>
          <p:nvPr/>
        </p:nvSpPr>
        <p:spPr>
          <a:xfrm>
            <a:off x="8305495" y="1737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900" b="1" dirty="0">
                <a:solidFill>
                  <a:srgbClr val="FFFFFF"/>
                </a:solidFill>
              </a:rPr>
              <a:t>تطبيق الهاتف</a:t>
            </a:r>
            <a:endParaRPr lang="ar-SA" sz="19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chemeClr val="accent1"/>
                </a:solidFill>
              </a:rPr>
              <a:t>Mobile App</a:t>
            </a:r>
            <a:endParaRPr lang="ar-SA" sz="1900" dirty="0"/>
          </a:p>
        </p:txBody>
      </p:sp>
      <p:sp>
        <p:nvSpPr>
          <p:cNvPr id="9" name="fx1|items"/>
          <p:cNvSpPr txBox="1"/>
          <p:nvPr/>
        </p:nvSpPr>
        <p:spPr>
          <a:xfrm>
            <a:off x="8305495" y="265176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ar-SA" altLang="en-US" sz="1400" dirty="0">
                <a:solidFill>
                  <a:srgbClr val="B8C7E0"/>
                </a:solidFill>
              </a:rPr>
              <a:t>دخول المستخدمين المصرّح لهم</a:t>
            </a:r>
            <a:endParaRPr lang="ar-SA" sz="14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SA" altLang="en-US" sz="1400" dirty="0">
                <a:solidFill>
                  <a:srgbClr val="B8C7E0"/>
                </a:solidFill>
              </a:rPr>
              <a:t>تشغيل عدة هواتف في مواقع مختلفة</a:t>
            </a:r>
            <a:endParaRPr lang="ar-SA" sz="14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SA" altLang="en-US" sz="1400" dirty="0">
                <a:solidFill>
                  <a:srgbClr val="B8C7E0"/>
                </a:solidFill>
              </a:rPr>
              <a:t>تصوير وتحليل الطريق باستمرار</a:t>
            </a:r>
            <a:endParaRPr lang="ar-SA" sz="1400" dirty="0"/>
          </a:p>
        </p:txBody>
      </p:sp>
      <p:sp>
        <p:nvSpPr>
          <p:cNvPr id="10" name="fx1|arrow"/>
          <p:cNvSpPr/>
          <p:nvPr/>
        </p:nvSpPr>
        <p:spPr>
          <a:xfrm>
            <a:off x="7884871" y="2834640"/>
            <a:ext cx="219456" cy="310896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x2|card#3d"/>
          <p:cNvSpPr/>
          <p:nvPr/>
        </p:nvSpPr>
        <p:spPr>
          <a:xfrm>
            <a:off x="4336999" y="1554480"/>
            <a:ext cx="3520440" cy="2880360"/>
          </a:xfrm>
          <a:prstGeom prst="roundRect">
            <a:avLst>
              <a:gd name="adj" fmla="val 444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2" name="fx2|ic bg#3d"/>
          <p:cNvSpPr/>
          <p:nvPr/>
        </p:nvSpPr>
        <p:spPr>
          <a:xfrm>
            <a:off x="6943039" y="1737360"/>
            <a:ext cx="713232" cy="713232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3" name="fx2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347" y="1915668"/>
            <a:ext cx="356616" cy="356616"/>
          </a:xfrm>
          <a:prstGeom prst="rect">
            <a:avLst/>
          </a:prstGeom>
        </p:spPr>
      </p:pic>
      <p:sp>
        <p:nvSpPr>
          <p:cNvPr id="14" name="fx2|head"/>
          <p:cNvSpPr txBox="1"/>
          <p:nvPr/>
        </p:nvSpPr>
        <p:spPr>
          <a:xfrm>
            <a:off x="4519879" y="1737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900" b="1" dirty="0">
                <a:solidFill>
                  <a:srgbClr val="FFFFFF"/>
                </a:solidFill>
              </a:rPr>
              <a:t>الخادم المركزي</a:t>
            </a:r>
            <a:endParaRPr lang="ar-SA" sz="19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chemeClr val="accent2"/>
                </a:solidFill>
              </a:rPr>
              <a:t>Central Server</a:t>
            </a:r>
            <a:endParaRPr lang="ar-SA" sz="1900" dirty="0"/>
          </a:p>
        </p:txBody>
      </p:sp>
      <p:sp>
        <p:nvSpPr>
          <p:cNvPr id="15" name="fx3|items"/>
          <p:cNvSpPr txBox="1"/>
          <p:nvPr/>
        </p:nvSpPr>
        <p:spPr>
          <a:xfrm>
            <a:off x="4519879" y="265176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ar-SA" altLang="en-US" sz="1400" dirty="0">
                <a:solidFill>
                  <a:srgbClr val="B8C7E0"/>
                </a:solidFill>
              </a:rPr>
              <a:t>استقبال المخالفات وإدارتها</a:t>
            </a:r>
            <a:endParaRPr lang="ar-SA" sz="14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SA" altLang="en-US" sz="1400" dirty="0">
                <a:solidFill>
                  <a:srgbClr val="B8C7E0"/>
                </a:solidFill>
              </a:rPr>
              <a:t>مراجعتها واعتمادها</a:t>
            </a:r>
            <a:endParaRPr lang="ar-SA" sz="14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SA" altLang="en-US" sz="1400" dirty="0">
                <a:solidFill>
                  <a:srgbClr val="B8C7E0"/>
                </a:solidFill>
              </a:rPr>
              <a:t>قاعدة بيانات المركبات ومالكيها</a:t>
            </a:r>
            <a:endParaRPr lang="ar-SA" sz="1400" dirty="0"/>
          </a:p>
        </p:txBody>
      </p:sp>
      <p:sp>
        <p:nvSpPr>
          <p:cNvPr id="16" name="fx3|arrow"/>
          <p:cNvSpPr/>
          <p:nvPr/>
        </p:nvSpPr>
        <p:spPr>
          <a:xfrm>
            <a:off x="4099255" y="2834640"/>
            <a:ext cx="219456" cy="310896"/>
          </a:xfrm>
          <a:prstGeom prst="lef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fx4|card#3d"/>
          <p:cNvSpPr/>
          <p:nvPr/>
        </p:nvSpPr>
        <p:spPr>
          <a:xfrm>
            <a:off x="551383" y="1554480"/>
            <a:ext cx="3520440" cy="2880360"/>
          </a:xfrm>
          <a:prstGeom prst="roundRect">
            <a:avLst>
              <a:gd name="adj" fmla="val 444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8" name="fx4|ic bg#3d"/>
          <p:cNvSpPr/>
          <p:nvPr/>
        </p:nvSpPr>
        <p:spPr>
          <a:xfrm>
            <a:off x="3157423" y="1737360"/>
            <a:ext cx="713232" cy="713232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4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9" name="fx4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731" y="1915668"/>
            <a:ext cx="356616" cy="356616"/>
          </a:xfrm>
          <a:prstGeom prst="rect">
            <a:avLst/>
          </a:prstGeom>
        </p:spPr>
      </p:pic>
      <p:sp>
        <p:nvSpPr>
          <p:cNvPr id="20" name="fx4|head"/>
          <p:cNvSpPr txBox="1"/>
          <p:nvPr/>
        </p:nvSpPr>
        <p:spPr>
          <a:xfrm>
            <a:off x="734263" y="1737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900" b="1" dirty="0">
                <a:solidFill>
                  <a:srgbClr val="FFFFFF"/>
                </a:solidFill>
              </a:rPr>
              <a:t>لوحة التحكم</a:t>
            </a:r>
            <a:endParaRPr lang="ar-SA" sz="19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chemeClr val="accent4"/>
                </a:solidFill>
              </a:rPr>
              <a:t>Control Panel</a:t>
            </a:r>
            <a:endParaRPr lang="ar-SA" sz="1900" dirty="0"/>
          </a:p>
        </p:txBody>
      </p:sp>
      <p:sp>
        <p:nvSpPr>
          <p:cNvPr id="21" name="fx5|items"/>
          <p:cNvSpPr txBox="1"/>
          <p:nvPr/>
        </p:nvSpPr>
        <p:spPr>
          <a:xfrm>
            <a:off x="734263" y="265176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ar-SA" altLang="en-US" sz="1400" dirty="0">
                <a:solidFill>
                  <a:srgbClr val="B8C7E0"/>
                </a:solidFill>
              </a:rPr>
              <a:t>إضافة المستخدمين وصلاحياتهم</a:t>
            </a:r>
            <a:endParaRPr lang="ar-SA" sz="14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SA" altLang="en-US" sz="1400" dirty="0">
                <a:solidFill>
                  <a:srgbClr val="B8C7E0"/>
                </a:solidFill>
              </a:rPr>
              <a:t>تحديد موقع كل جهاز</a:t>
            </a:r>
            <a:endParaRPr lang="ar-SA" sz="14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SA" altLang="en-US" sz="1400" dirty="0">
                <a:solidFill>
                  <a:srgbClr val="B8C7E0"/>
                </a:solidFill>
              </a:rPr>
              <a:t>الحد الأقصى للسرعة لكل موقع</a:t>
            </a:r>
            <a:endParaRPr lang="ar-SA" sz="1400" dirty="0"/>
          </a:p>
        </p:txBody>
      </p:sp>
      <p:sp>
        <p:nvSpPr>
          <p:cNvPr id="22" name="fx6|when"/>
          <p:cNvSpPr txBox="1"/>
          <p:nvPr/>
        </p:nvSpPr>
        <p:spPr>
          <a:xfrm>
            <a:off x="548640" y="4617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5"/>
                </a:solidFill>
              </a:rPr>
              <a:t>عند تجاوز السرعة القانونية:</a:t>
            </a:r>
            <a:endParaRPr lang="ar-SA" sz="1500" dirty="0"/>
          </a:p>
        </p:txBody>
      </p:sp>
      <p:sp>
        <p:nvSpPr>
          <p:cNvPr id="23" name="fx7@pop|chip#3d"/>
          <p:cNvSpPr txBox="1"/>
          <p:nvPr/>
        </p:nvSpPr>
        <p:spPr>
          <a:xfrm>
            <a:off x="9585655" y="5074920"/>
            <a:ext cx="2057400" cy="868680"/>
          </a:xfrm>
          <a:prstGeom prst="roundRect">
            <a:avLst>
              <a:gd name="adj" fmla="val 12632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5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</a:rPr>
              <a:t>التقاط صور واضحة</a:t>
            </a:r>
            <a:endParaRPr lang="ar-SA" sz="1300" dirty="0"/>
          </a:p>
        </p:txBody>
      </p:sp>
      <p:sp>
        <p:nvSpPr>
          <p:cNvPr id="24" name="fx7|a"/>
          <p:cNvSpPr/>
          <p:nvPr/>
        </p:nvSpPr>
        <p:spPr>
          <a:xfrm>
            <a:off x="9402775" y="5394960"/>
            <a:ext cx="164592" cy="237744"/>
          </a:xfrm>
          <a:prstGeom prst="lef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fx8@pop|chip#3d"/>
          <p:cNvSpPr txBox="1"/>
          <p:nvPr/>
        </p:nvSpPr>
        <p:spPr>
          <a:xfrm>
            <a:off x="7327087" y="5074920"/>
            <a:ext cx="2057400" cy="868680"/>
          </a:xfrm>
          <a:prstGeom prst="roundRect">
            <a:avLst>
              <a:gd name="adj" fmla="val 12632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5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</a:rPr>
              <a:t>قراءة اللوحة OCR</a:t>
            </a:r>
            <a:endParaRPr lang="ar-SA" sz="1300" dirty="0"/>
          </a:p>
        </p:txBody>
      </p:sp>
      <p:sp>
        <p:nvSpPr>
          <p:cNvPr id="26" name="fx8|a"/>
          <p:cNvSpPr/>
          <p:nvPr/>
        </p:nvSpPr>
        <p:spPr>
          <a:xfrm>
            <a:off x="7144207" y="5394960"/>
            <a:ext cx="164592" cy="237744"/>
          </a:xfrm>
          <a:prstGeom prst="lef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fx9@pop|chip#3d"/>
          <p:cNvSpPr txBox="1"/>
          <p:nvPr/>
        </p:nvSpPr>
        <p:spPr>
          <a:xfrm>
            <a:off x="5068519" y="5074920"/>
            <a:ext cx="2057400" cy="868680"/>
          </a:xfrm>
          <a:prstGeom prst="roundRect">
            <a:avLst>
              <a:gd name="adj" fmla="val 12632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5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</a:rPr>
              <a:t>السرعة الفعلية والقانونية والتجاوز</a:t>
            </a:r>
            <a:endParaRPr lang="ar-SA" sz="1300" dirty="0"/>
          </a:p>
        </p:txBody>
      </p:sp>
      <p:sp>
        <p:nvSpPr>
          <p:cNvPr id="28" name="fx9|a"/>
          <p:cNvSpPr/>
          <p:nvPr/>
        </p:nvSpPr>
        <p:spPr>
          <a:xfrm>
            <a:off x="4885639" y="5394960"/>
            <a:ext cx="164592" cy="237744"/>
          </a:xfrm>
          <a:prstGeom prst="lef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fx10@pop|chip#3d"/>
          <p:cNvSpPr txBox="1"/>
          <p:nvPr/>
        </p:nvSpPr>
        <p:spPr>
          <a:xfrm>
            <a:off x="2809951" y="5074920"/>
            <a:ext cx="2057400" cy="868680"/>
          </a:xfrm>
          <a:prstGeom prst="roundRect">
            <a:avLst>
              <a:gd name="adj" fmla="val 12632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5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</a:rPr>
              <a:t>وقت وموقع المخالفة</a:t>
            </a:r>
            <a:endParaRPr lang="ar-SA" sz="1300" dirty="0"/>
          </a:p>
        </p:txBody>
      </p:sp>
      <p:sp>
        <p:nvSpPr>
          <p:cNvPr id="30" name="fx10|a"/>
          <p:cNvSpPr/>
          <p:nvPr/>
        </p:nvSpPr>
        <p:spPr>
          <a:xfrm>
            <a:off x="2627071" y="5394960"/>
            <a:ext cx="164592" cy="237744"/>
          </a:xfrm>
          <a:prstGeom prst="lef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fx11@pop|chip#3d"/>
          <p:cNvSpPr txBox="1"/>
          <p:nvPr/>
        </p:nvSpPr>
        <p:spPr>
          <a:xfrm>
            <a:off x="551383" y="5074920"/>
            <a:ext cx="2057400" cy="868680"/>
          </a:xfrm>
          <a:prstGeom prst="roundRect">
            <a:avLst>
              <a:gd name="adj" fmla="val 12632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5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</a:rPr>
              <a:t>الإرسال للخادم المركزي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3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3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3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3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3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53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3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3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2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53" presetClass="entr" presetSubtype="0" fill="hold" grpId="0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3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35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x0|police photo" descr="الرقابة المرورية التقليدي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17720" cy="6858000"/>
          </a:xfrm>
          <a:prstGeom prst="rect">
            <a:avLst/>
          </a:prstGeom>
        </p:spPr>
      </p:pic>
      <p:sp>
        <p:nvSpPr>
          <p:cNvPr id="3" name="fx1|caption"/>
          <p:cNvSpPr txBox="1"/>
          <p:nvPr/>
        </p:nvSpPr>
        <p:spPr>
          <a:xfrm>
            <a:off x="365760" y="56235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rgbClr val="FFFFFF"/>
                </a:solidFill>
              </a:rPr>
              <a:t>الرقابة التقليدية</a:t>
            </a:r>
            <a:endParaRPr lang="ar-SA" sz="2200" dirty="0"/>
          </a:p>
          <a:p>
            <a:pPr algn="r" indent="0" marL="0">
              <a:buNone/>
            </a:pPr>
            <a:r>
              <a:rPr lang="ar-SA" altLang="en-US" sz="1200" dirty="0">
                <a:solidFill>
                  <a:srgbClr val="F43F5E"/>
                </a:solidFill>
              </a:rPr>
              <a:t>Traditional enforcement</a:t>
            </a:r>
            <a:endParaRPr lang="ar-SA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5120640" y="457200"/>
            <a:ext cx="3566160" cy="329184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الفصل الأول  •  المقدمة  (3 من 5)</a:t>
            </a:r>
            <a:endParaRPr lang="ar-SA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8778240" y="365760"/>
            <a:ext cx="2862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bg1"/>
                </a:solidFill>
              </a:rPr>
              <a:t>مشكلة البحث</a:t>
            </a:r>
            <a:endParaRPr lang="ar-SA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1005840"/>
            <a:ext cx="6519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500" b="1" dirty="0">
                <a:solidFill>
                  <a:schemeClr val="accent5"/>
                </a:solidFill>
              </a:rPr>
              <a:t>Problem Statement</a:t>
            </a:r>
            <a:endParaRPr lang="en-US" sz="1500" dirty="0"/>
          </a:p>
        </p:txBody>
      </p:sp>
      <p:sp>
        <p:nvSpPr>
          <p:cNvPr id="7" name="fx2|row"/>
          <p:cNvSpPr/>
          <p:nvPr/>
        </p:nvSpPr>
        <p:spPr>
          <a:xfrm>
            <a:off x="5120640" y="1600200"/>
            <a:ext cx="6519672" cy="658368"/>
          </a:xfrm>
          <a:prstGeom prst="roundRect">
            <a:avLst>
              <a:gd name="adj" fmla="val 19444"/>
            </a:avLst>
          </a:prstGeom>
          <a:solidFill>
            <a:schemeClr val="tx2">
              <a:alpha val="80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8" name="fx2|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3384" y="1737360"/>
            <a:ext cx="384048" cy="384048"/>
          </a:xfrm>
          <a:prstGeom prst="rect">
            <a:avLst/>
          </a:prstGeom>
        </p:spPr>
      </p:pic>
      <p:sp>
        <p:nvSpPr>
          <p:cNvPr id="9" name="fx2|t"/>
          <p:cNvSpPr txBox="1"/>
          <p:nvPr/>
        </p:nvSpPr>
        <p:spPr>
          <a:xfrm>
            <a:off x="5303520" y="1645920"/>
            <a:ext cx="5650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ارتفاع الحوادث الناتجة عن تجاوز السرعة القانونية</a:t>
            </a:r>
            <a:endParaRPr lang="ar-SA" sz="1500" dirty="0"/>
          </a:p>
        </p:txBody>
      </p:sp>
      <p:sp>
        <p:nvSpPr>
          <p:cNvPr id="10" name="fx3|row"/>
          <p:cNvSpPr/>
          <p:nvPr/>
        </p:nvSpPr>
        <p:spPr>
          <a:xfrm>
            <a:off x="5120640" y="2386584"/>
            <a:ext cx="6519672" cy="658368"/>
          </a:xfrm>
          <a:prstGeom prst="roundRect">
            <a:avLst>
              <a:gd name="adj" fmla="val 19444"/>
            </a:avLst>
          </a:prstGeom>
          <a:solidFill>
            <a:schemeClr val="tx2">
              <a:alpha val="80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11" name="fx3|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3384" y="2523744"/>
            <a:ext cx="384048" cy="384048"/>
          </a:xfrm>
          <a:prstGeom prst="rect">
            <a:avLst/>
          </a:prstGeom>
        </p:spPr>
      </p:pic>
      <p:sp>
        <p:nvSpPr>
          <p:cNvPr id="12" name="fx3|t"/>
          <p:cNvSpPr txBox="1"/>
          <p:nvPr/>
        </p:nvSpPr>
        <p:spPr>
          <a:xfrm>
            <a:off x="5303520" y="2432304"/>
            <a:ext cx="5650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عدم وجود رقابة مرورية مستمرة في كثير من الطرق</a:t>
            </a:r>
            <a:endParaRPr lang="ar-SA" sz="1500" dirty="0"/>
          </a:p>
        </p:txBody>
      </p:sp>
      <p:sp>
        <p:nvSpPr>
          <p:cNvPr id="13" name="fx4|row"/>
          <p:cNvSpPr/>
          <p:nvPr/>
        </p:nvSpPr>
        <p:spPr>
          <a:xfrm>
            <a:off x="5120640" y="3172968"/>
            <a:ext cx="6519672" cy="658368"/>
          </a:xfrm>
          <a:prstGeom prst="roundRect">
            <a:avLst>
              <a:gd name="adj" fmla="val 19444"/>
            </a:avLst>
          </a:prstGeom>
          <a:solidFill>
            <a:schemeClr val="tx2">
              <a:alpha val="80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14" name="fx4|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3384" y="3310128"/>
            <a:ext cx="384048" cy="384048"/>
          </a:xfrm>
          <a:prstGeom prst="rect">
            <a:avLst/>
          </a:prstGeom>
        </p:spPr>
      </p:pic>
      <p:sp>
        <p:nvSpPr>
          <p:cNvPr id="15" name="fx4|t"/>
          <p:cNvSpPr txBox="1"/>
          <p:nvPr/>
        </p:nvSpPr>
        <p:spPr>
          <a:xfrm>
            <a:off x="5303520" y="3218688"/>
            <a:ext cx="5650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الاعتماد على الرقابة البشرية والتفاوت والأخطاء البشرية</a:t>
            </a:r>
            <a:endParaRPr lang="ar-SA" sz="1500" dirty="0"/>
          </a:p>
        </p:txBody>
      </p:sp>
      <p:sp>
        <p:nvSpPr>
          <p:cNvPr id="16" name="fx5|row"/>
          <p:cNvSpPr/>
          <p:nvPr/>
        </p:nvSpPr>
        <p:spPr>
          <a:xfrm>
            <a:off x="5120640" y="3959352"/>
            <a:ext cx="6519672" cy="658368"/>
          </a:xfrm>
          <a:prstGeom prst="roundRect">
            <a:avLst>
              <a:gd name="adj" fmla="val 19444"/>
            </a:avLst>
          </a:prstGeom>
          <a:solidFill>
            <a:schemeClr val="tx2">
              <a:alpha val="80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17" name="fx5|ic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3384" y="4096512"/>
            <a:ext cx="384048" cy="384048"/>
          </a:xfrm>
          <a:prstGeom prst="rect">
            <a:avLst/>
          </a:prstGeom>
        </p:spPr>
      </p:pic>
      <p:sp>
        <p:nvSpPr>
          <p:cNvPr id="18" name="fx5|t"/>
          <p:cNvSpPr txBox="1"/>
          <p:nvPr/>
        </p:nvSpPr>
        <p:spPr>
          <a:xfrm>
            <a:off x="5303520" y="4005072"/>
            <a:ext cx="5650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تأخر اكتشاف بعض مخالفات السرعة</a:t>
            </a:r>
            <a:endParaRPr lang="ar-SA" sz="1500" dirty="0"/>
          </a:p>
        </p:txBody>
      </p:sp>
      <p:sp>
        <p:nvSpPr>
          <p:cNvPr id="19" name="fx6|row"/>
          <p:cNvSpPr/>
          <p:nvPr/>
        </p:nvSpPr>
        <p:spPr>
          <a:xfrm>
            <a:off x="5120640" y="4745736"/>
            <a:ext cx="6519672" cy="658368"/>
          </a:xfrm>
          <a:prstGeom prst="roundRect">
            <a:avLst>
              <a:gd name="adj" fmla="val 19444"/>
            </a:avLst>
          </a:prstGeom>
          <a:solidFill>
            <a:schemeClr val="tx2">
              <a:alpha val="80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20" name="fx6|ic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3384" y="4882896"/>
            <a:ext cx="384048" cy="384048"/>
          </a:xfrm>
          <a:prstGeom prst="rect">
            <a:avLst/>
          </a:prstGeom>
        </p:spPr>
      </p:pic>
      <p:sp>
        <p:nvSpPr>
          <p:cNvPr id="21" name="fx6|t"/>
          <p:cNvSpPr txBox="1"/>
          <p:nvPr/>
        </p:nvSpPr>
        <p:spPr>
          <a:xfrm>
            <a:off x="5303520" y="4791456"/>
            <a:ext cx="5650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ارتفاع تكلفة الرادارات وكاميرات السرعة التقليدية</a:t>
            </a:r>
            <a:endParaRPr lang="ar-SA" sz="1500" dirty="0"/>
          </a:p>
        </p:txBody>
      </p:sp>
      <p:sp>
        <p:nvSpPr>
          <p:cNvPr id="22" name="fx7|row"/>
          <p:cNvSpPr/>
          <p:nvPr/>
        </p:nvSpPr>
        <p:spPr>
          <a:xfrm>
            <a:off x="5120640" y="5532120"/>
            <a:ext cx="6519672" cy="658368"/>
          </a:xfrm>
          <a:prstGeom prst="roundRect">
            <a:avLst>
              <a:gd name="adj" fmla="val 19444"/>
            </a:avLst>
          </a:prstGeom>
          <a:solidFill>
            <a:schemeClr val="tx2">
              <a:alpha val="80000"/>
            </a:schemeClr>
          </a:solidFill>
          <a:ln w="12700">
            <a:solidFill>
              <a:schemeClr val="accent5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23" name="fx7|ic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73384" y="5669280"/>
            <a:ext cx="384048" cy="384048"/>
          </a:xfrm>
          <a:prstGeom prst="rect">
            <a:avLst/>
          </a:prstGeom>
        </p:spPr>
      </p:pic>
      <p:sp>
        <p:nvSpPr>
          <p:cNvPr id="24" name="fx7|t"/>
          <p:cNvSpPr txBox="1"/>
          <p:nvPr/>
        </p:nvSpPr>
        <p:spPr>
          <a:xfrm>
            <a:off x="5303520" y="5577840"/>
            <a:ext cx="5650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الحاجة للتعرف التلقائي على اللوحات وربطها بالمالك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kicker"/>
          <p:cNvSpPr txBox="1"/>
          <p:nvPr/>
        </p:nvSpPr>
        <p:spPr>
          <a:xfrm>
            <a:off x="548640" y="457200"/>
            <a:ext cx="3840480" cy="32918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الفصل الأول  •  المقدمة  (4 من 5)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أهداف المشروع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Project Objectives</a:t>
            </a:r>
            <a:endParaRPr lang="en-US" sz="1500" dirty="0"/>
          </a:p>
        </p:txBody>
      </p:sp>
      <p:sp>
        <p:nvSpPr>
          <p:cNvPr id="5" name="halo"/>
          <p:cNvSpPr/>
          <p:nvPr/>
        </p:nvSpPr>
        <p:spPr>
          <a:xfrm>
            <a:off x="685800" y="2103120"/>
            <a:ext cx="3017520" cy="3017520"/>
          </a:xfrm>
          <a:prstGeom prst="ellipse">
            <a:avLst/>
          </a:prstGeom>
          <a:solidFill>
            <a:schemeClr val="accent2">
              <a:alpha val="10000"/>
            </a:schemeClr>
          </a:solidFill>
          <a:ln w="19050">
            <a:solidFill>
              <a:schemeClr val="accent2">
                <a:alpha val="45000"/>
              </a:schemeClr>
            </a:solidFill>
            <a:prstDash val="solid"/>
          </a:ln>
        </p:spPr>
      </p:sp>
      <p:pic>
        <p:nvPicPr>
          <p:cNvPr id="6" name="fx0@zoom|targ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23160"/>
            <a:ext cx="2377440" cy="2377440"/>
          </a:xfrm>
          <a:prstGeom prst="rect">
            <a:avLst/>
          </a:prstGeom>
        </p:spPr>
      </p:pic>
      <p:sp>
        <p:nvSpPr>
          <p:cNvPr id="7" name="fx1|row"/>
          <p:cNvSpPr/>
          <p:nvPr/>
        </p:nvSpPr>
        <p:spPr>
          <a:xfrm>
            <a:off x="4160520" y="1572768"/>
            <a:ext cx="7479792" cy="676656"/>
          </a:xfrm>
          <a:prstGeom prst="roundRect">
            <a:avLst>
              <a:gd name="adj" fmla="val 18919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8" name="fx1|n#3d"/>
          <p:cNvSpPr txBox="1"/>
          <p:nvPr/>
        </p:nvSpPr>
        <p:spPr>
          <a:xfrm>
            <a:off x="11073384" y="1691640"/>
            <a:ext cx="438912" cy="438912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fx1|t"/>
          <p:cNvSpPr txBox="1"/>
          <p:nvPr/>
        </p:nvSpPr>
        <p:spPr>
          <a:xfrm>
            <a:off x="4343400" y="1572768"/>
            <a:ext cx="6629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</a:rPr>
              <a:t>الحد من الحوادث الناتجة عن تجاوز السرعة برصد المخالفات آلياً</a:t>
            </a:r>
            <a:endParaRPr lang="ar-SA" sz="1600" dirty="0"/>
          </a:p>
        </p:txBody>
      </p:sp>
      <p:sp>
        <p:nvSpPr>
          <p:cNvPr id="10" name="fx2|row"/>
          <p:cNvSpPr/>
          <p:nvPr/>
        </p:nvSpPr>
        <p:spPr>
          <a:xfrm>
            <a:off x="4160520" y="2359152"/>
            <a:ext cx="7479792" cy="676656"/>
          </a:xfrm>
          <a:prstGeom prst="roundRect">
            <a:avLst>
              <a:gd name="adj" fmla="val 18919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1" name="fx2|n#3d"/>
          <p:cNvSpPr txBox="1"/>
          <p:nvPr/>
        </p:nvSpPr>
        <p:spPr>
          <a:xfrm>
            <a:off x="11073384" y="2478024"/>
            <a:ext cx="438912" cy="438912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fx2|t"/>
          <p:cNvSpPr txBox="1"/>
          <p:nvPr/>
        </p:nvSpPr>
        <p:spPr>
          <a:xfrm>
            <a:off x="4343400" y="2359152"/>
            <a:ext cx="6629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</a:rPr>
              <a:t>رقابة مستمرة في مختلف الطرق باستخدام الهواتف الذكية والذكاء الاصطناعي</a:t>
            </a:r>
            <a:endParaRPr lang="ar-SA" sz="1600" dirty="0"/>
          </a:p>
        </p:txBody>
      </p:sp>
      <p:sp>
        <p:nvSpPr>
          <p:cNvPr id="13" name="fx3|row"/>
          <p:cNvSpPr/>
          <p:nvPr/>
        </p:nvSpPr>
        <p:spPr>
          <a:xfrm>
            <a:off x="4160520" y="3145536"/>
            <a:ext cx="7479792" cy="676656"/>
          </a:xfrm>
          <a:prstGeom prst="roundRect">
            <a:avLst>
              <a:gd name="adj" fmla="val 18919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4" name="fx3|n#3d"/>
          <p:cNvSpPr txBox="1"/>
          <p:nvPr/>
        </p:nvSpPr>
        <p:spPr>
          <a:xfrm>
            <a:off x="11073384" y="3264408"/>
            <a:ext cx="438912" cy="438912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fx3|t"/>
          <p:cNvSpPr txBox="1"/>
          <p:nvPr/>
        </p:nvSpPr>
        <p:spPr>
          <a:xfrm>
            <a:off x="4343400" y="3145536"/>
            <a:ext cx="6629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</a:rPr>
              <a:t>تقليل الاعتماد على الرقابة البشرية وتعزيز الشفافية والعدالة</a:t>
            </a:r>
            <a:endParaRPr lang="ar-SA" sz="1600" dirty="0"/>
          </a:p>
        </p:txBody>
      </p:sp>
      <p:sp>
        <p:nvSpPr>
          <p:cNvPr id="16" name="fx4|row"/>
          <p:cNvSpPr/>
          <p:nvPr/>
        </p:nvSpPr>
        <p:spPr>
          <a:xfrm>
            <a:off x="4160520" y="3931920"/>
            <a:ext cx="7479792" cy="676656"/>
          </a:xfrm>
          <a:prstGeom prst="roundRect">
            <a:avLst>
              <a:gd name="adj" fmla="val 18919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17" name="fx4|n#3d"/>
          <p:cNvSpPr txBox="1"/>
          <p:nvPr/>
        </p:nvSpPr>
        <p:spPr>
          <a:xfrm>
            <a:off x="11073384" y="4050792"/>
            <a:ext cx="438912" cy="438912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fx4|t"/>
          <p:cNvSpPr txBox="1"/>
          <p:nvPr/>
        </p:nvSpPr>
        <p:spPr>
          <a:xfrm>
            <a:off x="4343400" y="3931920"/>
            <a:ext cx="6629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</a:rPr>
              <a:t>حساب سرعة المركبات بدقة واكتشاف المخالفة بالرؤية الحاسوبية</a:t>
            </a:r>
            <a:endParaRPr lang="ar-SA" sz="1600" dirty="0"/>
          </a:p>
        </p:txBody>
      </p:sp>
      <p:sp>
        <p:nvSpPr>
          <p:cNvPr id="19" name="fx5|row"/>
          <p:cNvSpPr/>
          <p:nvPr/>
        </p:nvSpPr>
        <p:spPr>
          <a:xfrm>
            <a:off x="4160520" y="4718304"/>
            <a:ext cx="7479792" cy="676656"/>
          </a:xfrm>
          <a:prstGeom prst="roundRect">
            <a:avLst>
              <a:gd name="adj" fmla="val 18919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20" name="fx5|n#3d"/>
          <p:cNvSpPr txBox="1"/>
          <p:nvPr/>
        </p:nvSpPr>
        <p:spPr>
          <a:xfrm>
            <a:off x="11073384" y="4837176"/>
            <a:ext cx="438912" cy="438912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fx5|t"/>
          <p:cNvSpPr txBox="1"/>
          <p:nvPr/>
        </p:nvSpPr>
        <p:spPr>
          <a:xfrm>
            <a:off x="4343400" y="4718304"/>
            <a:ext cx="6629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</a:rPr>
              <a:t>التعرف التلقائي على اللوحات وربط المخالفات ببيانات المالكين</a:t>
            </a:r>
            <a:endParaRPr lang="ar-SA" sz="1600" dirty="0"/>
          </a:p>
        </p:txBody>
      </p:sp>
      <p:sp>
        <p:nvSpPr>
          <p:cNvPr id="22" name="fx6|row"/>
          <p:cNvSpPr/>
          <p:nvPr/>
        </p:nvSpPr>
        <p:spPr>
          <a:xfrm>
            <a:off x="4160520" y="5504688"/>
            <a:ext cx="7479792" cy="676656"/>
          </a:xfrm>
          <a:prstGeom prst="roundRect">
            <a:avLst>
              <a:gd name="adj" fmla="val 18919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23" name="fx6|n#3d"/>
          <p:cNvSpPr txBox="1"/>
          <p:nvPr/>
        </p:nvSpPr>
        <p:spPr>
          <a:xfrm>
            <a:off x="11073384" y="5623560"/>
            <a:ext cx="438912" cy="438912"/>
          </a:xfrm>
          <a:prstGeom prst="ellipse">
            <a:avLst/>
          </a:prstGeom>
          <a:solidFill>
            <a:schemeClr val="accent2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6</a:t>
            </a:r>
            <a:endParaRPr lang="en-US" sz="1500" dirty="0"/>
          </a:p>
        </p:txBody>
      </p:sp>
      <p:sp>
        <p:nvSpPr>
          <p:cNvPr id="24" name="fx6|t"/>
          <p:cNvSpPr txBox="1"/>
          <p:nvPr/>
        </p:nvSpPr>
        <p:spPr>
          <a:xfrm>
            <a:off x="4343400" y="5504688"/>
            <a:ext cx="6629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</a:rPr>
              <a:t>تطبيق ولوحة تحكم وتقارير وإحصائيات تدعم اتخاذ القرار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kicker"/>
          <p:cNvSpPr txBox="1"/>
          <p:nvPr/>
        </p:nvSpPr>
        <p:spPr>
          <a:xfrm>
            <a:off x="548640" y="457200"/>
            <a:ext cx="3840480" cy="32918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الفصل الأول  •  المقدمة  (5 من 5)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المنهجية البحثية ونطاق المشروع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Research Methodology &amp; Scope</a:t>
            </a:r>
            <a:endParaRPr lang="en-US" sz="1500" dirty="0"/>
          </a:p>
        </p:txBody>
      </p:sp>
      <p:sp>
        <p:nvSpPr>
          <p:cNvPr id="5" name="fx0|method card"/>
          <p:cNvSpPr/>
          <p:nvPr/>
        </p:nvSpPr>
        <p:spPr>
          <a:xfrm>
            <a:off x="6263640" y="1554480"/>
            <a:ext cx="5376672" cy="4617720"/>
          </a:xfrm>
          <a:prstGeom prst="roundRect">
            <a:avLst>
              <a:gd name="adj" fmla="val 2772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6" name="fx0|m head"/>
          <p:cNvSpPr txBox="1"/>
          <p:nvPr/>
        </p:nvSpPr>
        <p:spPr>
          <a:xfrm>
            <a:off x="6446520" y="1691640"/>
            <a:ext cx="5010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rgbClr val="FFFFFF"/>
                </a:solidFill>
              </a:rPr>
              <a:t>المنهجية البحثية: التحليل التطبيقي</a:t>
            </a:r>
            <a:endParaRPr lang="ar-SA" sz="1800" dirty="0"/>
          </a:p>
          <a:p>
            <a:pPr algn="r" indent="0" marL="0">
              <a:buNone/>
            </a:pPr>
            <a:r>
              <a:rPr lang="ar-SA" altLang="en-US" sz="1300" dirty="0">
                <a:solidFill>
                  <a:srgbClr val="B8C7E0"/>
                </a:solidFill>
              </a:rPr>
              <a:t>دراسة المشكلة ← تحليل المتطلبات ← تصميم وتطوير الحل بالذكاء الاصطناعي ← الاختبار</a:t>
            </a:r>
            <a:endParaRPr lang="ar-SA" sz="1800" dirty="0"/>
          </a:p>
        </p:txBody>
      </p:sp>
      <p:sp>
        <p:nvSpPr>
          <p:cNvPr id="7" name="fx1|steps head"/>
          <p:cNvSpPr txBox="1"/>
          <p:nvPr/>
        </p:nvSpPr>
        <p:spPr>
          <a:xfrm>
            <a:off x="6446520" y="2834640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خطوات اختبار النظام:</a:t>
            </a:r>
            <a:endParaRPr lang="ar-SA" sz="1500" dirty="0"/>
          </a:p>
        </p:txBody>
      </p:sp>
      <p:sp>
        <p:nvSpPr>
          <p:cNvPr id="8" name="fx2|n#3d"/>
          <p:cNvSpPr txBox="1"/>
          <p:nvPr/>
        </p:nvSpPr>
        <p:spPr>
          <a:xfrm>
            <a:off x="11045952" y="3364992"/>
            <a:ext cx="411480" cy="411480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fx2|t"/>
          <p:cNvSpPr txBox="1"/>
          <p:nvPr/>
        </p:nvSpPr>
        <p:spPr>
          <a:xfrm>
            <a:off x="6446520" y="32918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FFFFFF"/>
                </a:solidFill>
              </a:rPr>
              <a:t>دقة اكتشاف المركبات وتتبعها</a:t>
            </a:r>
            <a:endParaRPr lang="ar-SA" sz="1500" dirty="0"/>
          </a:p>
        </p:txBody>
      </p:sp>
      <p:sp>
        <p:nvSpPr>
          <p:cNvPr id="10" name="fx3|n#3d"/>
          <p:cNvSpPr txBox="1"/>
          <p:nvPr/>
        </p:nvSpPr>
        <p:spPr>
          <a:xfrm>
            <a:off x="11045952" y="4059936"/>
            <a:ext cx="411480" cy="411480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fx3|t"/>
          <p:cNvSpPr txBox="1"/>
          <p:nvPr/>
        </p:nvSpPr>
        <p:spPr>
          <a:xfrm>
            <a:off x="6446520" y="398678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FFFFFF"/>
                </a:solidFill>
              </a:rPr>
              <a:t>حساب سرعة المركبات</a:t>
            </a:r>
            <a:endParaRPr lang="ar-SA" sz="1500" dirty="0"/>
          </a:p>
        </p:txBody>
      </p:sp>
      <p:sp>
        <p:nvSpPr>
          <p:cNvPr id="12" name="fx4|n#3d"/>
          <p:cNvSpPr txBox="1"/>
          <p:nvPr/>
        </p:nvSpPr>
        <p:spPr>
          <a:xfrm>
            <a:off x="11045952" y="4754880"/>
            <a:ext cx="411480" cy="411480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fx4|t"/>
          <p:cNvSpPr txBox="1"/>
          <p:nvPr/>
        </p:nvSpPr>
        <p:spPr>
          <a:xfrm>
            <a:off x="6446520" y="468172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FFFFFF"/>
                </a:solidFill>
              </a:rPr>
              <a:t>التعرف على أرقام اللوحات</a:t>
            </a:r>
            <a:endParaRPr lang="ar-SA" sz="1500" dirty="0"/>
          </a:p>
        </p:txBody>
      </p:sp>
      <p:sp>
        <p:nvSpPr>
          <p:cNvPr id="14" name="fx5|n#3d"/>
          <p:cNvSpPr txBox="1"/>
          <p:nvPr/>
        </p:nvSpPr>
        <p:spPr>
          <a:xfrm>
            <a:off x="11045952" y="5449824"/>
            <a:ext cx="411480" cy="411480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fx5|t"/>
          <p:cNvSpPr txBox="1"/>
          <p:nvPr/>
        </p:nvSpPr>
        <p:spPr>
          <a:xfrm>
            <a:off x="6446520" y="537667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FFFFFF"/>
                </a:solidFill>
              </a:rPr>
              <a:t>ربط المخالفات بقاعدة بيانات المركبات ومالكيها</a:t>
            </a:r>
            <a:endParaRPr lang="ar-SA" sz="1500" dirty="0"/>
          </a:p>
        </p:txBody>
      </p:sp>
      <p:sp>
        <p:nvSpPr>
          <p:cNvPr id="16" name="fx6|scope"/>
          <p:cNvSpPr/>
          <p:nvPr/>
        </p:nvSpPr>
        <p:spPr>
          <a:xfrm>
            <a:off x="548640" y="1554480"/>
            <a:ext cx="5486400" cy="1078992"/>
          </a:xfrm>
          <a:prstGeom prst="roundRect">
            <a:avLst>
              <a:gd name="adj" fmla="val 1186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17" name="fx6|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1536" y="1883664"/>
            <a:ext cx="420624" cy="420624"/>
          </a:xfrm>
          <a:prstGeom prst="rect">
            <a:avLst/>
          </a:prstGeom>
        </p:spPr>
      </p:pic>
      <p:sp>
        <p:nvSpPr>
          <p:cNvPr id="18" name="fx6|t"/>
          <p:cNvSpPr txBox="1"/>
          <p:nvPr/>
        </p:nvSpPr>
        <p:spPr>
          <a:xfrm>
            <a:off x="731520" y="1627632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E2BA52"/>
                </a:solidFill>
              </a:rPr>
              <a:t>الحدود المكانية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200" dirty="0">
                <a:solidFill>
                  <a:srgbClr val="FFFFFF"/>
                </a:solidFill>
              </a:rPr>
              <a:t>الطرق والمواقع التي تُثبَّت فيها الهواتف مسبقاً، مع موقع كل جهاز وسرعته القانونية</a:t>
            </a:r>
            <a:endParaRPr lang="ar-SA" sz="1500" dirty="0"/>
          </a:p>
        </p:txBody>
      </p:sp>
      <p:sp>
        <p:nvSpPr>
          <p:cNvPr id="19" name="fx7|scope"/>
          <p:cNvSpPr/>
          <p:nvPr/>
        </p:nvSpPr>
        <p:spPr>
          <a:xfrm>
            <a:off x="548640" y="2770632"/>
            <a:ext cx="5486400" cy="1078992"/>
          </a:xfrm>
          <a:prstGeom prst="roundRect">
            <a:avLst>
              <a:gd name="adj" fmla="val 1186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20" name="fx7|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536" y="3099816"/>
            <a:ext cx="420624" cy="420624"/>
          </a:xfrm>
          <a:prstGeom prst="rect">
            <a:avLst/>
          </a:prstGeom>
        </p:spPr>
      </p:pic>
      <p:sp>
        <p:nvSpPr>
          <p:cNvPr id="21" name="fx7|t"/>
          <p:cNvSpPr txBox="1"/>
          <p:nvPr/>
        </p:nvSpPr>
        <p:spPr>
          <a:xfrm>
            <a:off x="731520" y="2843784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E2BA52"/>
                </a:solidFill>
              </a:rPr>
              <a:t>الحدود الزمانية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200" dirty="0">
                <a:solidFill>
                  <a:srgbClr val="FFFFFF"/>
                </a:solidFill>
              </a:rPr>
              <a:t>يُنفَّذ المشروع خلال عام 2026: التحليل، التصميم، التطوير، الربط، الاختبار والتقييم</a:t>
            </a:r>
            <a:endParaRPr lang="ar-SA" sz="1500" dirty="0"/>
          </a:p>
        </p:txBody>
      </p:sp>
      <p:sp>
        <p:nvSpPr>
          <p:cNvPr id="22" name="fx8|scope"/>
          <p:cNvSpPr/>
          <p:nvPr/>
        </p:nvSpPr>
        <p:spPr>
          <a:xfrm>
            <a:off x="548640" y="3986784"/>
            <a:ext cx="5486400" cy="1078992"/>
          </a:xfrm>
          <a:prstGeom prst="roundRect">
            <a:avLst>
              <a:gd name="adj" fmla="val 11864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23" name="fx8|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4315968"/>
            <a:ext cx="420624" cy="420624"/>
          </a:xfrm>
          <a:prstGeom prst="rect">
            <a:avLst/>
          </a:prstGeom>
        </p:spPr>
      </p:pic>
      <p:sp>
        <p:nvSpPr>
          <p:cNvPr id="24" name="fx8|t"/>
          <p:cNvSpPr txBox="1"/>
          <p:nvPr/>
        </p:nvSpPr>
        <p:spPr>
          <a:xfrm>
            <a:off x="731520" y="4059936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E2BA52"/>
                </a:solidFill>
              </a:rPr>
              <a:t>الحدود الإجرائية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200" dirty="0">
                <a:solidFill>
                  <a:srgbClr val="FFFFFF"/>
                </a:solidFill>
              </a:rPr>
              <a:t>تطبيق، نموذج ذكاء اصطناعي، OCR، قاعدة بيانات، لوحة تحكم، أدلة رقمية وتقارير</a:t>
            </a:r>
            <a:endParaRPr lang="ar-SA" sz="1500" dirty="0"/>
          </a:p>
        </p:txBody>
      </p:sp>
      <p:sp>
        <p:nvSpPr>
          <p:cNvPr id="25" name="fx9@pop|not included"/>
          <p:cNvSpPr txBox="1"/>
          <p:nvPr/>
        </p:nvSpPr>
        <p:spPr>
          <a:xfrm>
            <a:off x="548640" y="525780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5"/>
            </a:solidFill>
          </a:ln>
        </p:spPr>
        <p:txBody>
          <a:bodyPr wrap="square" lIns="0" tIns="2540" rIns="2540" bIns="0" rtlCol="0" anchor="ctr"/>
          <a:lstStyle/>
          <a:p>
            <a:pPr algn="r" indent="0" marL="0">
              <a:buNone/>
            </a:pPr>
            <a:r>
              <a:rPr lang="ar-SA" altLang="en-US" sz="1300" b="1" dirty="0">
                <a:solidFill>
                  <a:srgbClr val="F43F5E"/>
                </a:solidFill>
              </a:rPr>
              <a:t>لا يشمل: </a:t>
            </a:r>
            <a:pPr algn="r" indent="0" marL="0">
              <a:buNone/>
            </a:pPr>
            <a:r>
              <a:rPr lang="ar-SA" altLang="en-US" sz="1300" dirty="0">
                <a:solidFill>
                  <a:srgbClr val="FFFFFF"/>
                </a:solidFill>
              </a:rPr>
              <a:t>إصدار المخالفات الرسمية أو التكامل مع الأنظمة الحكومية، فهو نموذج أولي يثبت إمكانية الفكرة.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3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3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kicker"/>
          <p:cNvSpPr txBox="1"/>
          <p:nvPr/>
        </p:nvSpPr>
        <p:spPr>
          <a:xfrm>
            <a:off x="548640" y="457200"/>
            <a:ext cx="3840480" cy="329184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الفصل الثاني  •  الخلفية النظرية  (1 من 3)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آلية عمل النظام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How the System Works</a:t>
            </a:r>
            <a:endParaRPr lang="en-US" sz="1500" dirty="0"/>
          </a:p>
        </p:txBody>
      </p:sp>
      <p:sp>
        <p:nvSpPr>
          <p:cNvPr id="5" name="Scene frame"/>
          <p:cNvSpPr/>
          <p:nvPr/>
        </p:nvSpPr>
        <p:spPr>
          <a:xfrm>
            <a:off x="457200" y="1417320"/>
            <a:ext cx="7040880" cy="4000500"/>
          </a:xfrm>
          <a:prstGeom prst="rect">
            <a:avLst/>
          </a:prstGeom>
          <a:solidFill>
            <a:srgbClr val="05070C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330200" dist="50800" dir="16200000">
              <a:srgbClr val="22D3EE">
                <a:alpha val="50000"/>
              </a:srgbClr>
            </a:outerShdw>
          </a:effectLst>
        </p:spPr>
      </p:sp>
      <p:pic>
        <p:nvPicPr>
          <p:cNvPr id="6" name="Traffic photo" descr="طريق مزدحم ليلا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6949440" cy="3909060"/>
          </a:xfrm>
          <a:prstGeom prst="rect">
            <a:avLst/>
          </a:prstGeom>
        </p:spPr>
      </p:pic>
      <p:sp>
        <p:nvSpPr>
          <p:cNvPr id="7" name="fx1@zoom|box car4"/>
          <p:cNvSpPr/>
          <p:nvPr/>
        </p:nvSpPr>
        <p:spPr>
          <a:xfrm>
            <a:off x="2285451" y="3877970"/>
            <a:ext cx="448239" cy="364846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fx1@pop|lab car4"/>
          <p:cNvSpPr txBox="1"/>
          <p:nvPr/>
        </p:nvSpPr>
        <p:spPr>
          <a:xfrm>
            <a:off x="2285451" y="3695090"/>
            <a:ext cx="684703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1 CAR</a:t>
            </a:r>
            <a:endParaRPr lang="en-US" sz="700" dirty="0"/>
          </a:p>
        </p:txBody>
      </p:sp>
      <p:sp>
        <p:nvSpPr>
          <p:cNvPr id="9" name="fx1@zoom|box truck"/>
          <p:cNvSpPr/>
          <p:nvPr/>
        </p:nvSpPr>
        <p:spPr>
          <a:xfrm>
            <a:off x="3067263" y="3860597"/>
            <a:ext cx="465612" cy="535107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fx1@pop|lab truck"/>
          <p:cNvSpPr txBox="1"/>
          <p:nvPr/>
        </p:nvSpPr>
        <p:spPr>
          <a:xfrm>
            <a:off x="3067263" y="3677717"/>
            <a:ext cx="810158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2 TRUCK</a:t>
            </a:r>
            <a:endParaRPr lang="en-US" sz="700" dirty="0"/>
          </a:p>
        </p:txBody>
      </p:sp>
      <p:sp>
        <p:nvSpPr>
          <p:cNvPr id="11" name="fx2@zoom|box suv"/>
          <p:cNvSpPr/>
          <p:nvPr/>
        </p:nvSpPr>
        <p:spPr>
          <a:xfrm>
            <a:off x="6138916" y="4225442"/>
            <a:ext cx="729691" cy="545531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fx2@pop|lab suv"/>
          <p:cNvSpPr txBox="1"/>
          <p:nvPr/>
        </p:nvSpPr>
        <p:spPr>
          <a:xfrm>
            <a:off x="6138916" y="4042562"/>
            <a:ext cx="684703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3 CAR</a:t>
            </a:r>
            <a:endParaRPr lang="en-US" sz="700" dirty="0"/>
          </a:p>
        </p:txBody>
      </p:sp>
      <p:sp>
        <p:nvSpPr>
          <p:cNvPr id="13" name="fx2@zoom|box white"/>
          <p:cNvSpPr/>
          <p:nvPr/>
        </p:nvSpPr>
        <p:spPr>
          <a:xfrm>
            <a:off x="2837932" y="4520794"/>
            <a:ext cx="667146" cy="569854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fx2@pop|lab white"/>
          <p:cNvSpPr txBox="1"/>
          <p:nvPr/>
        </p:nvSpPr>
        <p:spPr>
          <a:xfrm>
            <a:off x="2837932" y="4337914"/>
            <a:ext cx="684703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4 CAR</a:t>
            </a:r>
            <a:endParaRPr lang="en-US" sz="700" dirty="0"/>
          </a:p>
        </p:txBody>
      </p:sp>
      <p:sp>
        <p:nvSpPr>
          <p:cNvPr id="15" name="fx3@zoom|box dark"/>
          <p:cNvSpPr/>
          <p:nvPr/>
        </p:nvSpPr>
        <p:spPr>
          <a:xfrm>
            <a:off x="4092306" y="4336633"/>
            <a:ext cx="552480" cy="608076"/>
          </a:xfrm>
          <a:prstGeom prst="rect">
            <a:avLst/>
          </a:prstGeom>
          <a:solidFill>
            <a:srgbClr val="22D3EE">
              <a:alpha val="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fx3@pop|lab dark"/>
          <p:cNvSpPr txBox="1"/>
          <p:nvPr/>
        </p:nvSpPr>
        <p:spPr>
          <a:xfrm>
            <a:off x="4092306" y="4153753"/>
            <a:ext cx="684703" cy="239573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5 CAR</a:t>
            </a:r>
            <a:endParaRPr lang="en-US" sz="700" dirty="0"/>
          </a:p>
        </p:txBody>
      </p:sp>
      <p:sp>
        <p:nvSpPr>
          <p:cNvPr id="17" name="fx3@zoom|box van"/>
          <p:cNvSpPr/>
          <p:nvPr/>
        </p:nvSpPr>
        <p:spPr>
          <a:xfrm>
            <a:off x="5037430" y="4291462"/>
            <a:ext cx="788761" cy="722742"/>
          </a:xfrm>
          <a:prstGeom prst="rect">
            <a:avLst/>
          </a:prstGeom>
          <a:solidFill>
            <a:srgbClr val="F43F5E">
              <a:alpha val="15000"/>
            </a:srgbClr>
          </a:solidFill>
          <a:ln w="31750">
            <a:solidFill>
              <a:srgbClr val="F43F5E"/>
            </a:solidFill>
            <a:prstDash val="solid"/>
          </a:ln>
        </p:spPr>
      </p:sp>
      <p:sp>
        <p:nvSpPr>
          <p:cNvPr id="18" name="fx3@pop|lab van"/>
          <p:cNvSpPr txBox="1"/>
          <p:nvPr/>
        </p:nvSpPr>
        <p:spPr>
          <a:xfrm>
            <a:off x="5037430" y="4108582"/>
            <a:ext cx="684703" cy="239573"/>
          </a:xfrm>
          <a:prstGeom prst="rect">
            <a:avLst/>
          </a:prstGeom>
          <a:solidFill>
            <a:srgbClr val="F43F5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rgbClr val="0A0E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6 VAN</a:t>
            </a:r>
            <a:endParaRPr lang="en-US" sz="700" dirty="0"/>
          </a:p>
        </p:txBody>
      </p:sp>
      <p:sp>
        <p:nvSpPr>
          <p:cNvPr id="19" name="fx5@pop|violation#3d"/>
          <p:cNvSpPr txBox="1"/>
          <p:nvPr/>
        </p:nvSpPr>
        <p:spPr>
          <a:xfrm>
            <a:off x="4425970" y="5059924"/>
            <a:ext cx="2011680" cy="274320"/>
          </a:xfrm>
          <a:prstGeom prst="rect">
            <a:avLst/>
          </a:prstGeom>
          <a:solidFill>
            <a:schemeClr val="accent5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</a:rPr>
              <a:t>VIOLATION   72 km/h &gt; 60</a:t>
            </a:r>
            <a:endParaRPr lang="en-US" sz="1000" dirty="0"/>
          </a:p>
        </p:txBody>
      </p:sp>
      <p:sp>
        <p:nvSpPr>
          <p:cNvPr id="20" name="fx1|class"/>
          <p:cNvSpPr txBox="1"/>
          <p:nvPr/>
        </p:nvSpPr>
        <p:spPr>
          <a:xfrm>
            <a:off x="5852160" y="5554980"/>
            <a:ext cx="1600200" cy="365760"/>
          </a:xfrm>
          <a:prstGeom prst="roundRect">
            <a:avLst>
              <a:gd name="adj" fmla="val 25000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</a:rPr>
              <a:t>السيارات</a:t>
            </a:r>
            <a:endParaRPr lang="ar-SA" sz="1200" dirty="0"/>
          </a:p>
        </p:txBody>
      </p:sp>
      <p:sp>
        <p:nvSpPr>
          <p:cNvPr id="21" name="fx1|class"/>
          <p:cNvSpPr txBox="1"/>
          <p:nvPr/>
        </p:nvSpPr>
        <p:spPr>
          <a:xfrm>
            <a:off x="4069080" y="5554980"/>
            <a:ext cx="1600200" cy="365760"/>
          </a:xfrm>
          <a:prstGeom prst="roundRect">
            <a:avLst>
              <a:gd name="adj" fmla="val 25000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</a:rPr>
              <a:t>الحافلات</a:t>
            </a:r>
            <a:endParaRPr lang="ar-SA" sz="1200" dirty="0"/>
          </a:p>
        </p:txBody>
      </p:sp>
      <p:sp>
        <p:nvSpPr>
          <p:cNvPr id="22" name="fx1|class"/>
          <p:cNvSpPr txBox="1"/>
          <p:nvPr/>
        </p:nvSpPr>
        <p:spPr>
          <a:xfrm>
            <a:off x="2286000" y="5554980"/>
            <a:ext cx="1600200" cy="365760"/>
          </a:xfrm>
          <a:prstGeom prst="roundRect">
            <a:avLst>
              <a:gd name="adj" fmla="val 25000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</a:rPr>
              <a:t>الشاحنات</a:t>
            </a:r>
            <a:endParaRPr lang="ar-SA" sz="1200" dirty="0"/>
          </a:p>
        </p:txBody>
      </p:sp>
      <p:sp>
        <p:nvSpPr>
          <p:cNvPr id="23" name="fx1|class"/>
          <p:cNvSpPr txBox="1"/>
          <p:nvPr/>
        </p:nvSpPr>
        <p:spPr>
          <a:xfrm>
            <a:off x="502920" y="5554980"/>
            <a:ext cx="1600200" cy="365760"/>
          </a:xfrm>
          <a:prstGeom prst="roundRect">
            <a:avLst>
              <a:gd name="adj" fmla="val 25000"/>
            </a:avLst>
          </a:prstGeom>
          <a:solidFill>
            <a:schemeClr val="tx2">
              <a:alpha val="90000"/>
            </a:schemeClr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FFFFFF"/>
                </a:solidFill>
              </a:rPr>
              <a:t>الدراجات النارية</a:t>
            </a:r>
            <a:endParaRPr lang="ar-SA" sz="1200" dirty="0"/>
          </a:p>
        </p:txBody>
      </p:sp>
      <p:sp>
        <p:nvSpPr>
          <p:cNvPr id="24" name="fx0|n#3d"/>
          <p:cNvSpPr txBox="1"/>
          <p:nvPr/>
        </p:nvSpPr>
        <p:spPr>
          <a:xfrm>
            <a:off x="11201400" y="1527048"/>
            <a:ext cx="402336" cy="402336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25" name="fx0|step"/>
          <p:cNvSpPr txBox="1"/>
          <p:nvPr/>
        </p:nvSpPr>
        <p:spPr>
          <a:xfrm>
            <a:off x="7772400" y="1463040"/>
            <a:ext cx="3337560" cy="530352"/>
          </a:xfrm>
          <a:prstGeom prst="roundRect">
            <a:avLst>
              <a:gd name="adj" fmla="val 17241"/>
            </a:avLst>
          </a:prstGeom>
          <a:solidFill>
            <a:schemeClr val="tx2">
              <a:alpha val="85000"/>
            </a:schemeClr>
          </a:solidFill>
          <a:ln w="9525">
            <a:solidFill>
              <a:schemeClr val="accent1"/>
            </a:solidFill>
          </a:ln>
        </p:spPr>
        <p:txBody>
          <a:bodyPr wrap="square" lIns="0" tIns="1905" rIns="1905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</a:rPr>
              <a:t>تصوير الطريق</a:t>
            </a:r>
            <a:endParaRPr lang="ar-SA" sz="1400" dirty="0"/>
          </a:p>
        </p:txBody>
      </p:sp>
      <p:sp>
        <p:nvSpPr>
          <p:cNvPr id="26" name="fx1|n#3d"/>
          <p:cNvSpPr txBox="1"/>
          <p:nvPr/>
        </p:nvSpPr>
        <p:spPr>
          <a:xfrm>
            <a:off x="11201400" y="2185416"/>
            <a:ext cx="402336" cy="402336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27" name="fx1|step"/>
          <p:cNvSpPr txBox="1"/>
          <p:nvPr/>
        </p:nvSpPr>
        <p:spPr>
          <a:xfrm>
            <a:off x="7772400" y="2121408"/>
            <a:ext cx="3337560" cy="530352"/>
          </a:xfrm>
          <a:prstGeom prst="roundRect">
            <a:avLst>
              <a:gd name="adj" fmla="val 17241"/>
            </a:avLst>
          </a:prstGeom>
          <a:solidFill>
            <a:schemeClr val="tx2">
              <a:alpha val="85000"/>
            </a:schemeClr>
          </a:solidFill>
          <a:ln w="9525">
            <a:solidFill>
              <a:schemeClr val="accent1"/>
            </a:solidFill>
          </a:ln>
        </p:spPr>
        <p:txBody>
          <a:bodyPr wrap="square" lIns="0" tIns="1905" rIns="1905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</a:rPr>
              <a:t>اكتشاف المركبات</a:t>
            </a:r>
            <a:endParaRPr lang="ar-SA" sz="1400" dirty="0"/>
          </a:p>
        </p:txBody>
      </p:sp>
      <p:sp>
        <p:nvSpPr>
          <p:cNvPr id="28" name="fx2|n#3d"/>
          <p:cNvSpPr txBox="1"/>
          <p:nvPr/>
        </p:nvSpPr>
        <p:spPr>
          <a:xfrm>
            <a:off x="11201400" y="2843784"/>
            <a:ext cx="402336" cy="402336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fx2|step"/>
          <p:cNvSpPr txBox="1"/>
          <p:nvPr/>
        </p:nvSpPr>
        <p:spPr>
          <a:xfrm>
            <a:off x="7772400" y="2779776"/>
            <a:ext cx="3337560" cy="530352"/>
          </a:xfrm>
          <a:prstGeom prst="roundRect">
            <a:avLst>
              <a:gd name="adj" fmla="val 17241"/>
            </a:avLst>
          </a:prstGeom>
          <a:solidFill>
            <a:schemeClr val="tx2">
              <a:alpha val="85000"/>
            </a:schemeClr>
          </a:solidFill>
          <a:ln w="9525">
            <a:solidFill>
              <a:schemeClr val="accent1"/>
            </a:solidFill>
          </a:ln>
        </p:spPr>
        <p:txBody>
          <a:bodyPr wrap="square" lIns="0" tIns="1905" rIns="1905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</a:rPr>
              <a:t>تتبع المركبات</a:t>
            </a:r>
            <a:endParaRPr lang="ar-SA" sz="1400" dirty="0"/>
          </a:p>
        </p:txBody>
      </p:sp>
      <p:sp>
        <p:nvSpPr>
          <p:cNvPr id="30" name="fx3|n#3d"/>
          <p:cNvSpPr txBox="1"/>
          <p:nvPr/>
        </p:nvSpPr>
        <p:spPr>
          <a:xfrm>
            <a:off x="11201400" y="3502152"/>
            <a:ext cx="402336" cy="402336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31" name="fx3|step"/>
          <p:cNvSpPr txBox="1"/>
          <p:nvPr/>
        </p:nvSpPr>
        <p:spPr>
          <a:xfrm>
            <a:off x="7772400" y="3438144"/>
            <a:ext cx="3337560" cy="530352"/>
          </a:xfrm>
          <a:prstGeom prst="roundRect">
            <a:avLst>
              <a:gd name="adj" fmla="val 17241"/>
            </a:avLst>
          </a:prstGeom>
          <a:solidFill>
            <a:schemeClr val="tx2">
              <a:alpha val="85000"/>
            </a:schemeClr>
          </a:solidFill>
          <a:ln w="9525">
            <a:solidFill>
              <a:schemeClr val="accent1"/>
            </a:solidFill>
          </a:ln>
        </p:spPr>
        <p:txBody>
          <a:bodyPr wrap="square" lIns="0" tIns="1905" rIns="1905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</a:rPr>
              <a:t>حساب المسافة والزمن</a:t>
            </a:r>
            <a:endParaRPr lang="ar-SA" sz="1400" dirty="0"/>
          </a:p>
        </p:txBody>
      </p:sp>
      <p:sp>
        <p:nvSpPr>
          <p:cNvPr id="32" name="fx4|n#3d"/>
          <p:cNvSpPr txBox="1"/>
          <p:nvPr/>
        </p:nvSpPr>
        <p:spPr>
          <a:xfrm>
            <a:off x="11201400" y="4160520"/>
            <a:ext cx="402336" cy="402336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33" name="fx4|step"/>
          <p:cNvSpPr txBox="1"/>
          <p:nvPr/>
        </p:nvSpPr>
        <p:spPr>
          <a:xfrm>
            <a:off x="7772400" y="4096512"/>
            <a:ext cx="3337560" cy="530352"/>
          </a:xfrm>
          <a:prstGeom prst="roundRect">
            <a:avLst>
              <a:gd name="adj" fmla="val 17241"/>
            </a:avLst>
          </a:prstGeom>
          <a:solidFill>
            <a:schemeClr val="tx2">
              <a:alpha val="85000"/>
            </a:schemeClr>
          </a:solidFill>
          <a:ln w="9525">
            <a:solidFill>
              <a:schemeClr val="accent1"/>
            </a:solidFill>
          </a:ln>
        </p:spPr>
        <p:txBody>
          <a:bodyPr wrap="square" lIns="0" tIns="1905" rIns="1905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</a:rPr>
              <a:t>حساب السرعة</a:t>
            </a:r>
            <a:endParaRPr lang="ar-SA" sz="1400" dirty="0"/>
          </a:p>
        </p:txBody>
      </p:sp>
      <p:sp>
        <p:nvSpPr>
          <p:cNvPr id="34" name="fx5|n#3d"/>
          <p:cNvSpPr txBox="1"/>
          <p:nvPr/>
        </p:nvSpPr>
        <p:spPr>
          <a:xfrm>
            <a:off x="11201400" y="4818888"/>
            <a:ext cx="402336" cy="402336"/>
          </a:xfrm>
          <a:prstGeom prst="ellipse">
            <a:avLst/>
          </a:prstGeom>
          <a:solidFill>
            <a:schemeClr val="accent1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fx5|step"/>
          <p:cNvSpPr txBox="1"/>
          <p:nvPr/>
        </p:nvSpPr>
        <p:spPr>
          <a:xfrm>
            <a:off x="7772400" y="4754880"/>
            <a:ext cx="3337560" cy="530352"/>
          </a:xfrm>
          <a:prstGeom prst="roundRect">
            <a:avLst>
              <a:gd name="adj" fmla="val 17241"/>
            </a:avLst>
          </a:prstGeom>
          <a:solidFill>
            <a:schemeClr val="tx2">
              <a:alpha val="85000"/>
            </a:schemeClr>
          </a:solidFill>
          <a:ln w="9525">
            <a:solidFill>
              <a:schemeClr val="accent1"/>
            </a:solidFill>
          </a:ln>
        </p:spPr>
        <p:txBody>
          <a:bodyPr wrap="square" lIns="0" tIns="1905" rIns="1905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</a:rPr>
              <a:t>التحقق من المخالفة</a:t>
            </a:r>
            <a:endParaRPr lang="ar-SA" sz="1400" dirty="0"/>
          </a:p>
        </p:txBody>
      </p:sp>
      <p:sp>
        <p:nvSpPr>
          <p:cNvPr id="36" name="fx6|n#3d"/>
          <p:cNvSpPr txBox="1"/>
          <p:nvPr/>
        </p:nvSpPr>
        <p:spPr>
          <a:xfrm>
            <a:off x="11201400" y="5477256"/>
            <a:ext cx="402336" cy="402336"/>
          </a:xfrm>
          <a:prstGeom prst="ellipse">
            <a:avLst/>
          </a:prstGeom>
          <a:solidFill>
            <a:schemeClr val="accent5"/>
          </a:solidFill>
          <a:ln/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tx1"/>
                </a:solidFill>
              </a:rPr>
              <a:t>7</a:t>
            </a:r>
            <a:endParaRPr lang="en-US" sz="1200" dirty="0"/>
          </a:p>
        </p:txBody>
      </p:sp>
      <p:sp>
        <p:nvSpPr>
          <p:cNvPr id="37" name="fx6|step"/>
          <p:cNvSpPr txBox="1"/>
          <p:nvPr/>
        </p:nvSpPr>
        <p:spPr>
          <a:xfrm>
            <a:off x="7772400" y="5413248"/>
            <a:ext cx="3337560" cy="530352"/>
          </a:xfrm>
          <a:prstGeom prst="roundRect">
            <a:avLst>
              <a:gd name="adj" fmla="val 17241"/>
            </a:avLst>
          </a:prstGeom>
          <a:solidFill>
            <a:schemeClr val="tx2">
              <a:alpha val="85000"/>
            </a:schemeClr>
          </a:solidFill>
          <a:ln w="9525">
            <a:solidFill>
              <a:schemeClr val="accent5"/>
            </a:solidFill>
          </a:ln>
        </p:spPr>
        <p:txBody>
          <a:bodyPr wrap="square" lIns="0" tIns="1905" rIns="1905" bIns="0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FFFFFF"/>
                </a:solidFill>
              </a:rPr>
              <a:t>توثيق المخالفة عند وجودها</a:t>
            </a:r>
            <a:endParaRPr lang="ar-SA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3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3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3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3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3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3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3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kicker"/>
          <p:cNvSpPr txBox="1"/>
          <p:nvPr/>
        </p:nvSpPr>
        <p:spPr>
          <a:xfrm>
            <a:off x="548640" y="457200"/>
            <a:ext cx="3840480" cy="329184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الفصل الثاني  •  الخلفية النظرية  (2 من 3)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الدراسات السابقة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Related Work — Comparison</a:t>
            </a:r>
            <a:endParaRPr lang="en-US" sz="1500" dirty="0"/>
          </a:p>
        </p:txBody>
      </p:sp>
      <p:graphicFrame>
        <p:nvGraphicFramePr>
          <p:cNvPr id="10" name="fx0|studi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3017520"/>
                <a:gridCol w="1600200"/>
                <a:gridCol w="731520"/>
                <a:gridCol w="2496312"/>
              </a:tblGrid>
              <a:tr h="374904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E1A"/>
                          </a:solidFill>
                        </a:rPr>
                        <a:t>العلاقة بالمشروع الحالي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A5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E1A"/>
                          </a:solidFill>
                        </a:rPr>
                        <a:t>المنهجية / الأسلوب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A5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E1A"/>
                          </a:solidFill>
                        </a:rPr>
                        <a:t>المجال الرئيسي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A5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E1A"/>
                          </a:solidFill>
                        </a:rPr>
                        <a:t>السنة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A5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A0E1A"/>
                          </a:solidFill>
                        </a:rPr>
                        <a:t>الدراسة</a:t>
                      </a:r>
                      <a:endParaRPr lang="en-US" sz="12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A5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اكتشاف وتتبع المركبات وتقدير السرعة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</a:rPr>
                        <a:t>YOLOv5 + DeepSORT + Digital Twin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7E0"/>
                          </a:solidFill>
                        </a:rPr>
                        <a:t>إدارة المرور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BA52"/>
                          </a:solidFill>
                        </a:rPr>
                        <a:t>2024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Kan et al.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تقدير السرعة وقراءة اللوحات وربط بيانات المركبة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</a:rPr>
                        <a:t>YOLOv8 + CNN/Transformer + OCR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7E0"/>
                          </a:solidFill>
                        </a:rPr>
                        <a:t>المراقبة المرورية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BA52"/>
                          </a:solidFill>
                        </a:rPr>
                        <a:t>2026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Katumba et al.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كشف مخالفات السرعة والتعرف على اللوحات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</a:rPr>
                        <a:t>PP-YOLO + OpenALPR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7E0"/>
                          </a:solidFill>
                        </a:rPr>
                        <a:t>مخالفات السرعة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BA52"/>
                          </a:solidFill>
                        </a:rPr>
                        <a:t>2022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Cypto &amp; Karthikeyan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استخدام الهاتف وتقدير سرعة المركبات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</a:rPr>
                        <a:t>هاتف ذكي + Computer Vision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7E0"/>
                          </a:solidFill>
                        </a:rPr>
                        <a:t>معايير المرور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BA52"/>
                          </a:solidFill>
                        </a:rPr>
                        <a:t>2022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Obaidat &amp; Kwaylih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يدعم استخدام الهاتف وتقدير السرعة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</a:rPr>
                        <a:t>كاميرا هاتف + تتبع المركبات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7E0"/>
                          </a:solidFill>
                        </a:rPr>
                        <a:t>تقدير السرعة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BA52"/>
                          </a:solidFill>
                        </a:rPr>
                        <a:t>2017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Salahat et al.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اكتشاف وتتبع المركبات وتقدير السرعة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</a:rPr>
                        <a:t>YOLO + Kalman Filter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7E0"/>
                          </a:solidFill>
                        </a:rPr>
                        <a:t>تقدير السرعة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BA52"/>
                          </a:solidFill>
                        </a:rPr>
                        <a:t>2022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Peralta-Peñuñuri et al.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إنشاء مخالفات السرعة وقراءة اللوحات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</a:rPr>
                        <a:t>YOLOv9 + DeepSORT + OpenALPR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7E0"/>
                          </a:solidFill>
                        </a:rPr>
                        <a:t>المخالفات المرورية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BA52"/>
                          </a:solidFill>
                        </a:rPr>
                        <a:t>2024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Rambarki Sai Akshit et al.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كشف المخالفات والتعرف على اللوحات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</a:rPr>
                        <a:t>YOLO + CRNN + OCR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7E0"/>
                          </a:solidFill>
                        </a:rPr>
                        <a:t>المخالفات المتعددة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BA52"/>
                          </a:solidFill>
                        </a:rPr>
                        <a:t>2024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Ali Q. Abd Ali et al.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تقدير السرعة من الفيديو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</a:rPr>
                        <a:t>YOLOv4 + DeepSORT + IPP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7E0"/>
                          </a:solidFill>
                        </a:rPr>
                        <a:t>تقدير السرعة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BA52"/>
                          </a:solidFill>
                        </a:rPr>
                        <a:t>2022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Wang et al.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</a:tbl>
          </a:graphicData>
        </a:graphic>
      </p:graphicFrame>
      <p:sp>
        <p:nvSpPr>
          <p:cNvPr id="6" name="fx1@pop|gap"/>
          <p:cNvSpPr txBox="1"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2"/>
            </a:solidFill>
          </a:ln>
        </p:spPr>
        <p:txBody>
          <a:bodyPr wrap="square" lIns="0" tIns="3175" rIns="3175" bIns="0" rtlCol="0" anchor="ctr"/>
          <a:lstStyle/>
          <a:p>
            <a:pPr algn="r" indent="0" marL="0">
              <a:buNone/>
            </a:pPr>
            <a:r>
              <a:rPr lang="ar-SA" altLang="en-US" sz="1400" b="1" dirty="0">
                <a:solidFill>
                  <a:srgbClr val="E2BA52"/>
                </a:solidFill>
              </a:rPr>
              <a:t>الإضافة في مشروعنا:  </a:t>
            </a:r>
            <a:pPr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</a:rPr>
              <a:t>معظم الدراسات تركز على تقدير السرعة، بينما يضيف مشروعنا اكتشاف المخالفة وتوثيقها وقراءة اللوحة وتسجيل بيانات المركبة ومالكها باستخدام الهاتف الذكي.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kicker"/>
          <p:cNvSpPr txBox="1"/>
          <p:nvPr/>
        </p:nvSpPr>
        <p:spPr>
          <a:xfrm>
            <a:off x="548640" y="457200"/>
            <a:ext cx="3840480" cy="329184"/>
          </a:xfrm>
          <a:prstGeom prst="rect">
            <a:avLst/>
          </a:prstGeom>
          <a:solidFill>
            <a:srgbClr val="E2BA5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الفصل الثاني  •  الخلفية النظرية  (3 من 3)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أهم الخوارزميات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YOLO  •  ByteTrack</a:t>
            </a:r>
            <a:endParaRPr lang="en-US" sz="1500" dirty="0"/>
          </a:p>
        </p:txBody>
      </p:sp>
      <p:sp>
        <p:nvSpPr>
          <p:cNvPr id="5" name="fx0|card#3d"/>
          <p:cNvSpPr/>
          <p:nvPr/>
        </p:nvSpPr>
        <p:spPr>
          <a:xfrm>
            <a:off x="6263640" y="1554480"/>
            <a:ext cx="5376672" cy="4617720"/>
          </a:xfrm>
          <a:prstGeom prst="roundRect">
            <a:avLst>
              <a:gd name="adj" fmla="val 2772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6" name="fx0|ic bg#3d"/>
          <p:cNvSpPr/>
          <p:nvPr/>
        </p:nvSpPr>
        <p:spPr>
          <a:xfrm>
            <a:off x="10634472" y="1737360"/>
            <a:ext cx="804672" cy="804672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1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7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1938528"/>
            <a:ext cx="402336" cy="402336"/>
          </a:xfrm>
          <a:prstGeom prst="rect">
            <a:avLst/>
          </a:prstGeom>
        </p:spPr>
      </p:pic>
      <p:sp>
        <p:nvSpPr>
          <p:cNvPr id="8" name="fx0|head"/>
          <p:cNvSpPr txBox="1"/>
          <p:nvPr/>
        </p:nvSpPr>
        <p:spPr>
          <a:xfrm>
            <a:off x="6492240" y="16916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</a:t>
            </a:r>
            <a:endParaRPr lang="ar-SA" sz="3000" dirty="0"/>
          </a:p>
          <a:p>
            <a:pPr algn="r" indent="0" marL="0">
              <a:buNone/>
            </a:pPr>
            <a:r>
              <a:rPr lang="ar-SA" altLang="en-US" sz="1200" dirty="0">
                <a:solidFill>
                  <a:srgbClr val="22D3EE"/>
                </a:solidFill>
              </a:rPr>
              <a:t>You Only Look Once — اكتشاف المركبات</a:t>
            </a:r>
            <a:endParaRPr lang="ar-SA" sz="3000" dirty="0"/>
          </a:p>
        </p:txBody>
      </p:sp>
      <p:sp>
        <p:nvSpPr>
          <p:cNvPr id="9" name="fx1|q"/>
          <p:cNvSpPr txBox="1"/>
          <p:nvPr/>
        </p:nvSpPr>
        <p:spPr>
          <a:xfrm>
            <a:off x="6492240" y="2743200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22D3EE"/>
                </a:solidFill>
              </a:rPr>
              <a:t>«ما المركبات الموجودة في الصورة وأين توجد؟»</a:t>
            </a:r>
            <a:endParaRPr lang="ar-SA" sz="1500" dirty="0"/>
          </a:p>
        </p:txBody>
      </p:sp>
      <p:sp>
        <p:nvSpPr>
          <p:cNvPr id="10" name="fx2|en#3d"/>
          <p:cNvSpPr txBox="1"/>
          <p:nvPr/>
        </p:nvSpPr>
        <p:spPr>
          <a:xfrm>
            <a:off x="9829800" y="342900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Bounding Box</a:t>
            </a:r>
            <a:endParaRPr lang="en-US" sz="1200" dirty="0"/>
          </a:p>
        </p:txBody>
      </p:sp>
      <p:sp>
        <p:nvSpPr>
          <p:cNvPr id="11" name="fx2|ar"/>
          <p:cNvSpPr txBox="1"/>
          <p:nvPr/>
        </p:nvSpPr>
        <p:spPr>
          <a:xfrm>
            <a:off x="6492240" y="3429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</a:rPr>
              <a:t>مربع الإحاطة: موقع المركبة</a:t>
            </a:r>
            <a:endParaRPr lang="ar-SA" sz="1400" dirty="0"/>
          </a:p>
        </p:txBody>
      </p:sp>
      <p:sp>
        <p:nvSpPr>
          <p:cNvPr id="12" name="fx3|en#3d"/>
          <p:cNvSpPr txBox="1"/>
          <p:nvPr/>
        </p:nvSpPr>
        <p:spPr>
          <a:xfrm>
            <a:off x="9829800" y="429768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200" dirty="0"/>
          </a:p>
        </p:txBody>
      </p:sp>
      <p:sp>
        <p:nvSpPr>
          <p:cNvPr id="13" name="fx3|ar"/>
          <p:cNvSpPr txBox="1"/>
          <p:nvPr/>
        </p:nvSpPr>
        <p:spPr>
          <a:xfrm>
            <a:off x="6492240" y="4297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</a:rPr>
              <a:t>نوع المركبة: Car • Bus • Truck • Motorcycle</a:t>
            </a:r>
            <a:endParaRPr lang="ar-SA" sz="1400" dirty="0"/>
          </a:p>
        </p:txBody>
      </p:sp>
      <p:sp>
        <p:nvSpPr>
          <p:cNvPr id="14" name="fx4|en#3d"/>
          <p:cNvSpPr txBox="1"/>
          <p:nvPr/>
        </p:nvSpPr>
        <p:spPr>
          <a:xfrm>
            <a:off x="9829800" y="516636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15" name="fx4|ar"/>
          <p:cNvSpPr txBox="1"/>
          <p:nvPr/>
        </p:nvSpPr>
        <p:spPr>
          <a:xfrm>
            <a:off x="6492240" y="5166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</a:rPr>
              <a:t>درجة الثقة في صحة الاكتشاف</a:t>
            </a:r>
            <a:endParaRPr lang="ar-SA" sz="1400" dirty="0"/>
          </a:p>
        </p:txBody>
      </p:sp>
      <p:sp>
        <p:nvSpPr>
          <p:cNvPr id="16" name="fx5|card#3d"/>
          <p:cNvSpPr/>
          <p:nvPr/>
        </p:nvSpPr>
        <p:spPr>
          <a:xfrm>
            <a:off x="548640" y="1554480"/>
            <a:ext cx="5376672" cy="4617720"/>
          </a:xfrm>
          <a:prstGeom prst="roundRect">
            <a:avLst>
              <a:gd name="adj" fmla="val 2772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sp>
        <p:nvSpPr>
          <p:cNvPr id="17" name="fx5|ic bg#3d"/>
          <p:cNvSpPr/>
          <p:nvPr/>
        </p:nvSpPr>
        <p:spPr>
          <a:xfrm>
            <a:off x="4919472" y="1737360"/>
            <a:ext cx="804672" cy="804672"/>
          </a:xfrm>
          <a:prstGeom prst="ellipse">
            <a:avLst/>
          </a:prstGeom>
          <a:solidFill>
            <a:schemeClr val="tx1"/>
          </a:solidFill>
          <a:ln w="22225">
            <a:solidFill>
              <a:schemeClr val="accent2"/>
            </a:solidFill>
            <a:prstDash val="solid"/>
          </a:ln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8" name="fx5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938528"/>
            <a:ext cx="402336" cy="402336"/>
          </a:xfrm>
          <a:prstGeom prst="rect">
            <a:avLst/>
          </a:prstGeom>
        </p:spPr>
      </p:pic>
      <p:sp>
        <p:nvSpPr>
          <p:cNvPr id="19" name="fx5|head"/>
          <p:cNvSpPr txBox="1"/>
          <p:nvPr/>
        </p:nvSpPr>
        <p:spPr>
          <a:xfrm>
            <a:off x="777240" y="16916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ByteTrack</a:t>
            </a:r>
            <a:endParaRPr lang="ar-SA" sz="3000" dirty="0"/>
          </a:p>
          <a:p>
            <a:pPr algn="r" indent="0" marL="0">
              <a:buNone/>
            </a:pPr>
            <a:r>
              <a:rPr lang="ar-SA" altLang="en-US" sz="1200" dirty="0">
                <a:solidFill>
                  <a:srgbClr val="E2BA52"/>
                </a:solidFill>
              </a:rPr>
              <a:t>تتبع المركبات بين الإطارات</a:t>
            </a:r>
            <a:endParaRPr lang="ar-SA" sz="3000" dirty="0"/>
          </a:p>
        </p:txBody>
      </p:sp>
      <p:sp>
        <p:nvSpPr>
          <p:cNvPr id="20" name="fx6|q"/>
          <p:cNvSpPr txBox="1"/>
          <p:nvPr/>
        </p:nvSpPr>
        <p:spPr>
          <a:xfrm>
            <a:off x="777240" y="2743200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E2BA52"/>
                </a:solidFill>
              </a:rPr>
              <a:t>«أين تحركت المركبة نفسها خلال فترة زمنية محددة؟»</a:t>
            </a:r>
            <a:endParaRPr lang="ar-SA" sz="1500" dirty="0"/>
          </a:p>
        </p:txBody>
      </p:sp>
      <p:sp>
        <p:nvSpPr>
          <p:cNvPr id="21" name="fx7|en#3d"/>
          <p:cNvSpPr txBox="1"/>
          <p:nvPr/>
        </p:nvSpPr>
        <p:spPr>
          <a:xfrm>
            <a:off x="4114800" y="342900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E2BA52">
              <a:alpha val="20000"/>
            </a:srgbClr>
          </a:solidFill>
          <a:ln w="12700">
            <a:solidFill>
              <a:srgbClr val="E2BA52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ID</a:t>
            </a:r>
            <a:endParaRPr lang="en-US" sz="1200" dirty="0"/>
          </a:p>
        </p:txBody>
      </p:sp>
      <p:sp>
        <p:nvSpPr>
          <p:cNvPr id="22" name="fx7|ar"/>
          <p:cNvSpPr txBox="1"/>
          <p:nvPr/>
        </p:nvSpPr>
        <p:spPr>
          <a:xfrm>
            <a:off x="777240" y="34290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</a:rPr>
              <a:t>معرّف خاص ثابت لكل مركبة</a:t>
            </a:r>
            <a:endParaRPr lang="ar-SA" sz="1400" dirty="0"/>
          </a:p>
        </p:txBody>
      </p:sp>
      <p:sp>
        <p:nvSpPr>
          <p:cNvPr id="23" name="fx8|en#3d"/>
          <p:cNvSpPr txBox="1"/>
          <p:nvPr/>
        </p:nvSpPr>
        <p:spPr>
          <a:xfrm>
            <a:off x="4114800" y="429768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E2BA52">
              <a:alpha val="20000"/>
            </a:srgbClr>
          </a:solidFill>
          <a:ln w="12700">
            <a:solidFill>
              <a:srgbClr val="E2BA52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Trajectory</a:t>
            </a:r>
            <a:endParaRPr lang="en-US" sz="1200" dirty="0"/>
          </a:p>
        </p:txBody>
      </p:sp>
      <p:sp>
        <p:nvSpPr>
          <p:cNvPr id="24" name="fx8|ar"/>
          <p:cNvSpPr txBox="1"/>
          <p:nvPr/>
        </p:nvSpPr>
        <p:spPr>
          <a:xfrm>
            <a:off x="777240" y="4297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</a:rPr>
              <a:t>مسار حركة المركبة عبر الإطارات</a:t>
            </a:r>
            <a:endParaRPr lang="ar-SA" sz="1400" dirty="0"/>
          </a:p>
        </p:txBody>
      </p:sp>
      <p:sp>
        <p:nvSpPr>
          <p:cNvPr id="25" name="fx9|en#3d"/>
          <p:cNvSpPr txBox="1"/>
          <p:nvPr/>
        </p:nvSpPr>
        <p:spPr>
          <a:xfrm>
            <a:off x="4114800" y="516636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E2BA52">
              <a:alpha val="20000"/>
            </a:srgbClr>
          </a:solidFill>
          <a:ln w="12700">
            <a:solidFill>
              <a:srgbClr val="E2BA52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Multi-object</a:t>
            </a:r>
            <a:endParaRPr lang="en-US" sz="1200" dirty="0"/>
          </a:p>
        </p:txBody>
      </p:sp>
      <p:sp>
        <p:nvSpPr>
          <p:cNvPr id="26" name="fx9|ar"/>
          <p:cNvSpPr txBox="1"/>
          <p:nvPr/>
        </p:nvSpPr>
        <p:spPr>
          <a:xfrm>
            <a:off x="777240" y="51663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</a:rPr>
              <a:t>تتبع عدة مركبات دون خلط بينها</a:t>
            </a:r>
            <a:endParaRPr lang="ar-SA" sz="1400" dirty="0"/>
          </a:p>
        </p:txBody>
      </p:sp>
      <p:sp>
        <p:nvSpPr>
          <p:cNvPr id="27" name="fx5|arrow"/>
          <p:cNvSpPr/>
          <p:nvPr/>
        </p:nvSpPr>
        <p:spPr>
          <a:xfrm>
            <a:off x="5943600" y="3566160"/>
            <a:ext cx="301752" cy="411480"/>
          </a:xfrm>
          <a:prstGeom prst="lef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kicker"/>
          <p:cNvSpPr txBox="1"/>
          <p:nvPr/>
        </p:nvSpPr>
        <p:spPr>
          <a:xfrm>
            <a:off x="548640" y="457200"/>
            <a:ext cx="3840480" cy="329184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الفصل الثالث  •  المنهجية والتصميم  (1 من 3)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منهجية التطوير والخوارزميات المعتمدة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Agile Development  •  Algorithms Pipeline</a:t>
            </a:r>
            <a:endParaRPr lang="en-US" sz="1500" dirty="0"/>
          </a:p>
        </p:txBody>
      </p:sp>
      <p:sp>
        <p:nvSpPr>
          <p:cNvPr id="5" name="fx0@zoom|agile#3d"/>
          <p:cNvSpPr/>
          <p:nvPr/>
        </p:nvSpPr>
        <p:spPr>
          <a:xfrm>
            <a:off x="9933127" y="1508760"/>
            <a:ext cx="1709928" cy="1234440"/>
          </a:xfrm>
          <a:prstGeom prst="roundRect">
            <a:avLst>
              <a:gd name="adj" fmla="val 10370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6" name="fx0|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6923" y="1645920"/>
            <a:ext cx="402336" cy="402336"/>
          </a:xfrm>
          <a:prstGeom prst="rect">
            <a:avLst/>
          </a:prstGeom>
        </p:spPr>
      </p:pic>
      <p:sp>
        <p:nvSpPr>
          <p:cNvPr id="7" name="fx0|t"/>
          <p:cNvSpPr txBox="1"/>
          <p:nvPr/>
        </p:nvSpPr>
        <p:spPr>
          <a:xfrm>
            <a:off x="9978847" y="2130552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</a:rPr>
              <a:t>تحليل المتطلبات</a:t>
            </a:r>
            <a:endParaRPr lang="ar-SA" sz="1300" dirty="0"/>
          </a:p>
        </p:txBody>
      </p:sp>
      <p:sp>
        <p:nvSpPr>
          <p:cNvPr id="8" name="fx0|a"/>
          <p:cNvSpPr/>
          <p:nvPr/>
        </p:nvSpPr>
        <p:spPr>
          <a:xfrm>
            <a:off x="9777679" y="2011680"/>
            <a:ext cx="137160" cy="219456"/>
          </a:xfrm>
          <a:prstGeom prst="lef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fx1@zoom|agile#3d"/>
          <p:cNvSpPr/>
          <p:nvPr/>
        </p:nvSpPr>
        <p:spPr>
          <a:xfrm>
            <a:off x="8056778" y="1508760"/>
            <a:ext cx="1709928" cy="1234440"/>
          </a:xfrm>
          <a:prstGeom prst="roundRect">
            <a:avLst>
              <a:gd name="adj" fmla="val 10370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0" name="fx1|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0574" y="1645920"/>
            <a:ext cx="402336" cy="402336"/>
          </a:xfrm>
          <a:prstGeom prst="rect">
            <a:avLst/>
          </a:prstGeom>
        </p:spPr>
      </p:pic>
      <p:sp>
        <p:nvSpPr>
          <p:cNvPr id="11" name="fx1|t"/>
          <p:cNvSpPr txBox="1"/>
          <p:nvPr/>
        </p:nvSpPr>
        <p:spPr>
          <a:xfrm>
            <a:off x="8102498" y="2130552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</a:rPr>
              <a:t>تصميم النظام</a:t>
            </a:r>
            <a:endParaRPr lang="ar-SA" sz="1300" dirty="0"/>
          </a:p>
        </p:txBody>
      </p:sp>
      <p:sp>
        <p:nvSpPr>
          <p:cNvPr id="12" name="fx1|a"/>
          <p:cNvSpPr/>
          <p:nvPr/>
        </p:nvSpPr>
        <p:spPr>
          <a:xfrm>
            <a:off x="7901330" y="2011680"/>
            <a:ext cx="137160" cy="219456"/>
          </a:xfrm>
          <a:prstGeom prst="lef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fx2@zoom|agile#3d"/>
          <p:cNvSpPr/>
          <p:nvPr/>
        </p:nvSpPr>
        <p:spPr>
          <a:xfrm>
            <a:off x="6180430" y="1508760"/>
            <a:ext cx="1709928" cy="1234440"/>
          </a:xfrm>
          <a:prstGeom prst="roundRect">
            <a:avLst>
              <a:gd name="adj" fmla="val 10370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4" name="fx2|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226" y="1645920"/>
            <a:ext cx="402336" cy="402336"/>
          </a:xfrm>
          <a:prstGeom prst="rect">
            <a:avLst/>
          </a:prstGeom>
        </p:spPr>
      </p:pic>
      <p:sp>
        <p:nvSpPr>
          <p:cNvPr id="15" name="fx2|t"/>
          <p:cNvSpPr txBox="1"/>
          <p:nvPr/>
        </p:nvSpPr>
        <p:spPr>
          <a:xfrm>
            <a:off x="6226150" y="2130552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</a:rPr>
              <a:t>تطوير المكونات</a:t>
            </a:r>
            <a:endParaRPr lang="ar-SA" sz="1300" dirty="0"/>
          </a:p>
        </p:txBody>
      </p:sp>
      <p:sp>
        <p:nvSpPr>
          <p:cNvPr id="16" name="fx2|a"/>
          <p:cNvSpPr/>
          <p:nvPr/>
        </p:nvSpPr>
        <p:spPr>
          <a:xfrm>
            <a:off x="6024982" y="2011680"/>
            <a:ext cx="137160" cy="219456"/>
          </a:xfrm>
          <a:prstGeom prst="lef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fx3@zoom|agile#3d"/>
          <p:cNvSpPr/>
          <p:nvPr/>
        </p:nvSpPr>
        <p:spPr>
          <a:xfrm>
            <a:off x="4304081" y="1508760"/>
            <a:ext cx="1709928" cy="1234440"/>
          </a:xfrm>
          <a:prstGeom prst="roundRect">
            <a:avLst>
              <a:gd name="adj" fmla="val 10370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18" name="fx3|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877" y="1645920"/>
            <a:ext cx="402336" cy="402336"/>
          </a:xfrm>
          <a:prstGeom prst="rect">
            <a:avLst/>
          </a:prstGeom>
        </p:spPr>
      </p:pic>
      <p:sp>
        <p:nvSpPr>
          <p:cNvPr id="19" name="fx3|t"/>
          <p:cNvSpPr txBox="1"/>
          <p:nvPr/>
        </p:nvSpPr>
        <p:spPr>
          <a:xfrm>
            <a:off x="4349801" y="2130552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</a:rPr>
              <a:t>دمج المكونات</a:t>
            </a:r>
            <a:endParaRPr lang="ar-SA" sz="1300" dirty="0"/>
          </a:p>
        </p:txBody>
      </p:sp>
      <p:sp>
        <p:nvSpPr>
          <p:cNvPr id="20" name="fx3|a"/>
          <p:cNvSpPr/>
          <p:nvPr/>
        </p:nvSpPr>
        <p:spPr>
          <a:xfrm>
            <a:off x="4148633" y="2011680"/>
            <a:ext cx="137160" cy="219456"/>
          </a:xfrm>
          <a:prstGeom prst="lef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fx4@zoom|agile#3d"/>
          <p:cNvSpPr/>
          <p:nvPr/>
        </p:nvSpPr>
        <p:spPr>
          <a:xfrm>
            <a:off x="2427732" y="1508760"/>
            <a:ext cx="1709928" cy="1234440"/>
          </a:xfrm>
          <a:prstGeom prst="roundRect">
            <a:avLst>
              <a:gd name="adj" fmla="val 10370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2" name="fx4|ic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528" y="1645920"/>
            <a:ext cx="402336" cy="402336"/>
          </a:xfrm>
          <a:prstGeom prst="rect">
            <a:avLst/>
          </a:prstGeom>
        </p:spPr>
      </p:pic>
      <p:sp>
        <p:nvSpPr>
          <p:cNvPr id="23" name="fx4|t"/>
          <p:cNvSpPr txBox="1"/>
          <p:nvPr/>
        </p:nvSpPr>
        <p:spPr>
          <a:xfrm>
            <a:off x="2473452" y="2130552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</a:rPr>
              <a:t>الاختبار</a:t>
            </a:r>
            <a:endParaRPr lang="ar-SA" sz="1300" dirty="0"/>
          </a:p>
        </p:txBody>
      </p:sp>
      <p:sp>
        <p:nvSpPr>
          <p:cNvPr id="24" name="fx4|a"/>
          <p:cNvSpPr/>
          <p:nvPr/>
        </p:nvSpPr>
        <p:spPr>
          <a:xfrm>
            <a:off x="2272284" y="2011680"/>
            <a:ext cx="137160" cy="219456"/>
          </a:xfrm>
          <a:prstGeom prst="lef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fx5@zoom|agile#3d"/>
          <p:cNvSpPr/>
          <p:nvPr/>
        </p:nvSpPr>
        <p:spPr>
          <a:xfrm>
            <a:off x="551383" y="1508760"/>
            <a:ext cx="1709928" cy="1234440"/>
          </a:xfrm>
          <a:prstGeom prst="roundRect">
            <a:avLst>
              <a:gd name="adj" fmla="val 10370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  <a:scene3d>
            <a:camera prst="orthographicFront"/>
            <a:lightRig rig="threePt" dir="t"/>
          </a:scene3d>
          <a:sp3d>
            <a:bevelT w="38100" h="25400"/>
          </a:sp3d>
        </p:spPr>
      </p:sp>
      <p:pic>
        <p:nvPicPr>
          <p:cNvPr id="26" name="fx5|ic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5179" y="1645920"/>
            <a:ext cx="402336" cy="402336"/>
          </a:xfrm>
          <a:prstGeom prst="rect">
            <a:avLst/>
          </a:prstGeom>
        </p:spPr>
      </p:pic>
      <p:sp>
        <p:nvSpPr>
          <p:cNvPr id="27" name="fx5|t"/>
          <p:cNvSpPr txBox="1"/>
          <p:nvPr/>
        </p:nvSpPr>
        <p:spPr>
          <a:xfrm>
            <a:off x="597103" y="2130552"/>
            <a:ext cx="161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FFFFFF"/>
                </a:solidFill>
              </a:rPr>
              <a:t>التحسين والتطوير</a:t>
            </a:r>
            <a:endParaRPr lang="ar-SA" sz="1300" dirty="0"/>
          </a:p>
        </p:txBody>
      </p:sp>
      <p:graphicFrame>
        <p:nvGraphicFramePr>
          <p:cNvPr id="12" name="fx6|algo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91672" cy="914400"/>
        </p:xfrm>
        <a:graphic>
          <a:graphicData uri="http://schemas.openxmlformats.org/drawingml/2006/table">
            <a:tbl>
              <a:tblPr/>
              <a:tblGrid>
                <a:gridCol w="8074152"/>
                <a:gridCol w="3017520"/>
              </a:tblGrid>
              <a:tr h="347472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0E1A"/>
                          </a:solidFill>
                        </a:rPr>
                        <a:t>الاستخدام في النظام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A0E1A"/>
                          </a:solidFill>
                        </a:rPr>
                        <a:t>الخوارزمية / التقنية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اكتشاف المركبات وتحديد نوع كل مركبة وموقعها في الإطار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YOLO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تتبع المركبات بين الإطارات والحفاظ على هوية كل مركبة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ByteTrack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تحويل إحداثيات الصورة إلى مستوى الطريق لتقدير المسافة الفعلية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Homography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حساب سرعة المركبة اعتماداً على المسافة والزمن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Speed Estimation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مقارنة السرعة المحسوبة بالحد القانوني وتحديد المخالفة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Speed Threshold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قراءة رقم اللوحة عند اكتشاف تجاوز السرعة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2BA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PaddleOCR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1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مطابقة رقم اللوحة مع بيانات المركبة ومالكها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Database Matching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44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F"/>
                    </a:solidFill>
                  </a:tcPr>
                </a:tc>
              </a:tr>
            </a:tbl>
          </a:graphicData>
        </a:graphic>
      </p:graphicFrame>
      <p:sp>
        <p:nvSpPr>
          <p:cNvPr id="29" name="fx7@pop|note"/>
          <p:cNvSpPr txBox="1"/>
          <p:nvPr/>
        </p:nvSpPr>
        <p:spPr>
          <a:xfrm>
            <a:off x="548640" y="585216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accent2"/>
                </a:solidFill>
              </a:rPr>
              <a:t>ملاحظة مهمة: PaddleOCR لا يعمل لجميع المركبات، بل بعد اكتشاف تجاوز السرعة فقط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8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3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3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12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kicker"/>
          <p:cNvSpPr txBox="1"/>
          <p:nvPr/>
        </p:nvSpPr>
        <p:spPr>
          <a:xfrm>
            <a:off x="548640" y="457200"/>
            <a:ext cx="3840480" cy="329184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الفصل الثالث  •  المنهجية والتصميم  (2 من 3)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معمارية النظام ونموذج حساب السرعة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System Architecture  •  V = D / T</a:t>
            </a:r>
            <a:endParaRPr lang="en-US" sz="1500" dirty="0"/>
          </a:p>
        </p:txBody>
      </p:sp>
      <p:sp>
        <p:nvSpPr>
          <p:cNvPr id="5" name="fx0|row"/>
          <p:cNvSpPr/>
          <p:nvPr/>
        </p:nvSpPr>
        <p:spPr>
          <a:xfrm>
            <a:off x="548640" y="1508760"/>
            <a:ext cx="6035040" cy="804672"/>
          </a:xfrm>
          <a:prstGeom prst="roundRect">
            <a:avLst>
              <a:gd name="adj" fmla="val 15909"/>
            </a:avLst>
          </a:prstGeom>
          <a:solidFill>
            <a:schemeClr val="tx2">
              <a:alpha val="80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6" name="fx0|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6752" y="1719072"/>
            <a:ext cx="384048" cy="384048"/>
          </a:xfrm>
          <a:prstGeom prst="rect">
            <a:avLst/>
          </a:prstGeom>
        </p:spPr>
      </p:pic>
      <p:sp>
        <p:nvSpPr>
          <p:cNvPr id="7" name="fx0|t"/>
          <p:cNvSpPr txBox="1"/>
          <p:nvPr/>
        </p:nvSpPr>
        <p:spPr>
          <a:xfrm>
            <a:off x="731520" y="1554480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تطبيق الهاتف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B8C7E0"/>
                </a:solidFill>
              </a:rPr>
              <a:t>الدخول، الكاميرا، تصوير الطريق، الموقع، الإرسال</a:t>
            </a:r>
            <a:endParaRPr lang="ar-SA" sz="1500" dirty="0"/>
          </a:p>
        </p:txBody>
      </p:sp>
      <p:sp>
        <p:nvSpPr>
          <p:cNvPr id="8" name="fx1|row"/>
          <p:cNvSpPr/>
          <p:nvPr/>
        </p:nvSpPr>
        <p:spPr>
          <a:xfrm>
            <a:off x="548640" y="2441448"/>
            <a:ext cx="6035040" cy="804672"/>
          </a:xfrm>
          <a:prstGeom prst="roundRect">
            <a:avLst>
              <a:gd name="adj" fmla="val 15909"/>
            </a:avLst>
          </a:prstGeom>
          <a:solidFill>
            <a:schemeClr val="tx2">
              <a:alpha val="80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9" name="fx1|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2651760"/>
            <a:ext cx="384048" cy="384048"/>
          </a:xfrm>
          <a:prstGeom prst="rect">
            <a:avLst/>
          </a:prstGeom>
        </p:spPr>
      </p:pic>
      <p:sp>
        <p:nvSpPr>
          <p:cNvPr id="10" name="fx1|t"/>
          <p:cNvSpPr txBox="1"/>
          <p:nvPr/>
        </p:nvSpPr>
        <p:spPr>
          <a:xfrm>
            <a:off x="731520" y="2487168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خادم الذكاء الاصطناعي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B8C7E0"/>
                </a:solidFill>
              </a:rPr>
              <a:t>الفيديو، الاكتشاف والتتبع، السرعة، المخالفات، اللوحات</a:t>
            </a:r>
            <a:endParaRPr lang="ar-SA" sz="1500" dirty="0"/>
          </a:p>
        </p:txBody>
      </p:sp>
      <p:sp>
        <p:nvSpPr>
          <p:cNvPr id="11" name="fx2|row"/>
          <p:cNvSpPr/>
          <p:nvPr/>
        </p:nvSpPr>
        <p:spPr>
          <a:xfrm>
            <a:off x="548640" y="3374136"/>
            <a:ext cx="6035040" cy="804672"/>
          </a:xfrm>
          <a:prstGeom prst="roundRect">
            <a:avLst>
              <a:gd name="adj" fmla="val 15909"/>
            </a:avLst>
          </a:prstGeom>
          <a:solidFill>
            <a:schemeClr val="tx2">
              <a:alpha val="80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12" name="fx2|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3584448"/>
            <a:ext cx="384048" cy="384048"/>
          </a:xfrm>
          <a:prstGeom prst="rect">
            <a:avLst/>
          </a:prstGeom>
        </p:spPr>
      </p:pic>
      <p:sp>
        <p:nvSpPr>
          <p:cNvPr id="13" name="fx2|t"/>
          <p:cNvSpPr txBox="1"/>
          <p:nvPr/>
        </p:nvSpPr>
        <p:spPr>
          <a:xfrm>
            <a:off x="731520" y="3419856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الخادم المركزي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B8C7E0"/>
                </a:solidFill>
              </a:rPr>
              <a:t>المستخدمون، الأجهزة، المواقع والسرعات، المركبات، المخالفات</a:t>
            </a:r>
            <a:endParaRPr lang="ar-SA" sz="1500" dirty="0"/>
          </a:p>
        </p:txBody>
      </p:sp>
      <p:sp>
        <p:nvSpPr>
          <p:cNvPr id="14" name="fx3|row"/>
          <p:cNvSpPr/>
          <p:nvPr/>
        </p:nvSpPr>
        <p:spPr>
          <a:xfrm>
            <a:off x="548640" y="4306824"/>
            <a:ext cx="6035040" cy="804672"/>
          </a:xfrm>
          <a:prstGeom prst="roundRect">
            <a:avLst>
              <a:gd name="adj" fmla="val 15909"/>
            </a:avLst>
          </a:prstGeom>
          <a:solidFill>
            <a:schemeClr val="tx2">
              <a:alpha val="80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15" name="fx3|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4517136"/>
            <a:ext cx="384048" cy="384048"/>
          </a:xfrm>
          <a:prstGeom prst="rect">
            <a:avLst/>
          </a:prstGeom>
        </p:spPr>
      </p:pic>
      <p:sp>
        <p:nvSpPr>
          <p:cNvPr id="16" name="fx3|t"/>
          <p:cNvSpPr txBox="1"/>
          <p:nvPr/>
        </p:nvSpPr>
        <p:spPr>
          <a:xfrm>
            <a:off x="731520" y="4352544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قاعدة البيانات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B8C7E0"/>
                </a:solidFill>
              </a:rPr>
              <a:t>المستخدمون، المركبات، المالكون، المخالفات، الأدلة والصور</a:t>
            </a:r>
            <a:endParaRPr lang="ar-SA" sz="1500" dirty="0"/>
          </a:p>
        </p:txBody>
      </p:sp>
      <p:sp>
        <p:nvSpPr>
          <p:cNvPr id="17" name="fx4|row"/>
          <p:cNvSpPr/>
          <p:nvPr/>
        </p:nvSpPr>
        <p:spPr>
          <a:xfrm>
            <a:off x="548640" y="5239512"/>
            <a:ext cx="6035040" cy="804672"/>
          </a:xfrm>
          <a:prstGeom prst="roundRect">
            <a:avLst>
              <a:gd name="adj" fmla="val 15909"/>
            </a:avLst>
          </a:prstGeom>
          <a:solidFill>
            <a:schemeClr val="tx2">
              <a:alpha val="80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pic>
        <p:nvPicPr>
          <p:cNvPr id="18" name="fx4|ic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752" y="5449824"/>
            <a:ext cx="384048" cy="384048"/>
          </a:xfrm>
          <a:prstGeom prst="rect">
            <a:avLst/>
          </a:prstGeom>
        </p:spPr>
      </p:pic>
      <p:sp>
        <p:nvSpPr>
          <p:cNvPr id="19" name="fx4|t"/>
          <p:cNvSpPr txBox="1"/>
          <p:nvPr/>
        </p:nvSpPr>
        <p:spPr>
          <a:xfrm>
            <a:off x="731520" y="5285232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لوحة التحكم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100" dirty="0">
                <a:solidFill>
                  <a:srgbClr val="B8C7E0"/>
                </a:solidFill>
              </a:rPr>
              <a:t>مراجعة المستخدمين والأجهزة والمخالفات والتقارير</a:t>
            </a:r>
            <a:endParaRPr lang="ar-SA" sz="1500" dirty="0"/>
          </a:p>
        </p:txBody>
      </p:sp>
      <p:pic>
        <p:nvPicPr>
          <p:cNvPr id="20" name="fx5@zoom|gauge" descr="img/gauge_fa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463040"/>
            <a:ext cx="3017520" cy="3017520"/>
          </a:xfrm>
          <a:prstGeom prst="rect">
            <a:avLst/>
          </a:prstGeom>
        </p:spPr>
      </p:pic>
      <p:pic>
        <p:nvPicPr>
          <p:cNvPr id="21" name="fx6@spin(108,2000)|needle" descr="img/gauge_need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1463040"/>
            <a:ext cx="3017520" cy="3017520"/>
          </a:xfrm>
          <a:prstGeom prst="rect">
            <a:avLst/>
          </a:prstGeom>
        </p:spPr>
      </p:pic>
      <p:sp>
        <p:nvSpPr>
          <p:cNvPr id="22" name="fx15@pop|readout"/>
          <p:cNvSpPr txBox="1"/>
          <p:nvPr/>
        </p:nvSpPr>
        <p:spPr>
          <a:xfrm>
            <a:off x="7680960" y="351495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 km/h</a:t>
            </a:r>
            <a:endParaRPr lang="en-US" sz="2200" dirty="0"/>
          </a:p>
        </p:txBody>
      </p:sp>
      <p:sp>
        <p:nvSpPr>
          <p:cNvPr id="23" name="fx5|formula#3d"/>
          <p:cNvSpPr txBox="1"/>
          <p:nvPr/>
        </p:nvSpPr>
        <p:spPr>
          <a:xfrm>
            <a:off x="10149840" y="1600200"/>
            <a:ext cx="1600200" cy="1188720"/>
          </a:xfrm>
          <a:prstGeom prst="roundRect">
            <a:avLst>
              <a:gd name="adj" fmla="val 9231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2"/>
            </a:solidFill>
          </a:ln>
          <a:scene3d>
            <a:camera prst="orthographicFront"/>
            <a:lightRig rig="threePt" dir="t"/>
          </a:scene3d>
          <a:sp3d>
            <a:bevelT w="38100" h="25400"/>
          </a:sp3d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D / T</a:t>
            </a:r>
            <a:endParaRPr lang="en-US" sz="1500" dirty="0"/>
          </a:p>
        </p:txBody>
      </p:sp>
      <p:sp>
        <p:nvSpPr>
          <p:cNvPr id="24" name="fx15|example"/>
          <p:cNvSpPr txBox="1"/>
          <p:nvPr/>
        </p:nvSpPr>
        <p:spPr>
          <a:xfrm>
            <a:off x="10149840" y="2926080"/>
            <a:ext cx="1600200" cy="914400"/>
          </a:xfrm>
          <a:prstGeom prst="roundRect">
            <a:avLst>
              <a:gd name="adj" fmla="val 12000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100" b="1" dirty="0">
                <a:solidFill>
                  <a:srgbClr val="E2BA52"/>
                </a:solidFill>
              </a:rPr>
              <a:t>مثال التقرير</a:t>
            </a:r>
            <a:endParaRPr lang="ar-SA" sz="1300" dirty="0"/>
          </a:p>
          <a:p>
            <a:pPr algn="ctr" indent="0" marL="0">
              <a:buNone/>
            </a:pPr>
            <a:r>
              <a:rPr lang="ar-SA" alt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m/s = 72 km/h</a:t>
            </a:r>
            <a:endParaRPr lang="ar-SA" sz="1300" dirty="0"/>
          </a:p>
        </p:txBody>
      </p:sp>
      <p:sp>
        <p:nvSpPr>
          <p:cNvPr id="25" name="fx16|violation"/>
          <p:cNvSpPr txBox="1"/>
          <p:nvPr/>
        </p:nvSpPr>
        <p:spPr>
          <a:xfrm>
            <a:off x="6949440" y="4663440"/>
            <a:ext cx="4690872" cy="777240"/>
          </a:xfrm>
          <a:prstGeom prst="roundRect">
            <a:avLst>
              <a:gd name="adj" fmla="val 11765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5"/>
            </a:solidFill>
          </a:ln>
        </p:spPr>
        <p:txBody>
          <a:bodyPr wrap="square" lIns="0" tIns="1905" rIns="1905" bIns="0" rtlCol="0" anchor="ctr"/>
          <a:lstStyle/>
          <a:p>
            <a:pPr algn="r" indent="0" marL="0">
              <a:buNone/>
            </a:pPr>
            <a:r>
              <a:rPr lang="ar-SA" altLang="en-US" sz="1300" b="1" dirty="0">
                <a:solidFill>
                  <a:srgbClr val="F43F5E"/>
                </a:solidFill>
              </a:rPr>
              <a:t>سرعة المركبة &gt; السرعة القانونية</a:t>
            </a:r>
            <a:endParaRPr lang="ar-SA" sz="1300" dirty="0"/>
          </a:p>
          <a:p>
            <a:pPr algn="r" indent="0" marL="0">
              <a:buNone/>
            </a:pPr>
            <a:r>
              <a:rPr lang="ar-SA" altLang="en-US" sz="1300" dirty="0">
                <a:solidFill>
                  <a:srgbClr val="FFFFFF"/>
                </a:solidFill>
              </a:rPr>
              <a:t>مخالفة ← توثيق ← قراءة اللوحة ← تسجيل المخالفة</a:t>
            </a:r>
            <a:endParaRPr lang="ar-SA" sz="1300" dirty="0"/>
          </a:p>
        </p:txBody>
      </p:sp>
      <p:sp>
        <p:nvSpPr>
          <p:cNvPr id="26" name="fx17|ok"/>
          <p:cNvSpPr txBox="1"/>
          <p:nvPr/>
        </p:nvSpPr>
        <p:spPr>
          <a:xfrm>
            <a:off x="6949440" y="5532120"/>
            <a:ext cx="4690872" cy="685800"/>
          </a:xfrm>
          <a:prstGeom prst="roundRect">
            <a:avLst>
              <a:gd name="adj" fmla="val 13333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4"/>
            </a:solidFill>
          </a:ln>
        </p:spPr>
        <p:txBody>
          <a:bodyPr wrap="square" lIns="0" tIns="1905" rIns="1905" bIns="0" rtlCol="0" anchor="ctr"/>
          <a:lstStyle/>
          <a:p>
            <a:pPr algn="r" indent="0" marL="0">
              <a:buNone/>
            </a:pPr>
            <a:r>
              <a:rPr lang="ar-SA" altLang="en-US" sz="1300" b="1" dirty="0">
                <a:solidFill>
                  <a:srgbClr val="10B981"/>
                </a:solidFill>
              </a:rPr>
              <a:t>سرعة المركبة ≤ السرعة القانونية</a:t>
            </a:r>
            <a:endParaRPr lang="ar-SA" sz="1300" dirty="0"/>
          </a:p>
          <a:p>
            <a:pPr algn="r" indent="0" marL="0">
              <a:buNone/>
            </a:pPr>
            <a:r>
              <a:rPr lang="ar-SA" altLang="en-US" sz="1300" dirty="0">
                <a:solidFill>
                  <a:srgbClr val="FFFFFF"/>
                </a:solidFill>
              </a:rPr>
              <a:t>لا مخالفة ← استمرار المراقبة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8" presetClass="emph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animRot by="6480000">
                                      <p:cBhvr>
                                        <p:cTn id="71" dur="2000" decel="6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" presetID="53" presetClass="entr" presetSubtype="0" fill="hold" grpId="0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3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3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39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41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kicker"/>
          <p:cNvSpPr txBox="1"/>
          <p:nvPr/>
        </p:nvSpPr>
        <p:spPr>
          <a:xfrm>
            <a:off x="548640" y="457200"/>
            <a:ext cx="3840480" cy="329184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" b="1" dirty="0">
                <a:solidFill>
                  <a:srgbClr val="0A0E1A"/>
                </a:solidFill>
              </a:rPr>
              <a:t>الفصل الثالث  •  المنهجية والتصميم  (3 من 3)</a:t>
            </a:r>
            <a:endParaRPr lang="ar-SA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قاعدة البيانات والمستخدمون والتقنيات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Database  •  Users &amp; Permissions  •  Technologies</a:t>
            </a:r>
            <a:endParaRPr lang="en-US" sz="1500" dirty="0"/>
          </a:p>
        </p:txBody>
      </p:sp>
      <p:sp>
        <p:nvSpPr>
          <p:cNvPr id="5" name="fx0|db card"/>
          <p:cNvSpPr/>
          <p:nvPr/>
        </p:nvSpPr>
        <p:spPr>
          <a:xfrm>
            <a:off x="8001000" y="1508760"/>
            <a:ext cx="3639312" cy="4663440"/>
          </a:xfrm>
          <a:prstGeom prst="roundRect">
            <a:avLst>
              <a:gd name="adj" fmla="val 3518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1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6" name="fx0|db head"/>
          <p:cNvSpPr txBox="1"/>
          <p:nvPr/>
        </p:nvSpPr>
        <p:spPr>
          <a:xfrm>
            <a:off x="8138160" y="160020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1"/>
                </a:solidFill>
              </a:rPr>
              <a:t>جداول قاعدة البيانات</a:t>
            </a:r>
            <a:endParaRPr lang="ar-SA" sz="1500" dirty="0"/>
          </a:p>
        </p:txBody>
      </p:sp>
      <p:sp>
        <p:nvSpPr>
          <p:cNvPr id="7" name="fx1|tbl"/>
          <p:cNvSpPr txBox="1"/>
          <p:nvPr/>
        </p:nvSpPr>
        <p:spPr>
          <a:xfrm>
            <a:off x="8183880" y="2057400"/>
            <a:ext cx="3273552" cy="402336"/>
          </a:xfrm>
          <a:prstGeom prst="roundRect">
            <a:avLst>
              <a:gd name="adj" fmla="val 18182"/>
            </a:avLst>
          </a:prstGeom>
          <a:solidFill>
            <a:srgbClr val="0B1426"/>
          </a:solidFill>
          <a:ln w="9525">
            <a:solidFill>
              <a:srgbClr val="24406B"/>
            </a:solidFill>
          </a:ln>
        </p:spPr>
        <p:txBody>
          <a:bodyPr wrap="square" lIns="0" tIns="1524" rIns="1524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100" dirty="0"/>
          </a:p>
        </p:txBody>
      </p:sp>
      <p:sp>
        <p:nvSpPr>
          <p:cNvPr id="8" name="fx1|tbl ar"/>
          <p:cNvSpPr txBox="1"/>
          <p:nvPr/>
        </p:nvSpPr>
        <p:spPr>
          <a:xfrm>
            <a:off x="9966960" y="205740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FFFFFF"/>
                </a:solidFill>
              </a:rPr>
              <a:t>المستخدمون</a:t>
            </a:r>
            <a:endParaRPr lang="ar-SA" sz="1100" dirty="0"/>
          </a:p>
        </p:txBody>
      </p:sp>
      <p:sp>
        <p:nvSpPr>
          <p:cNvPr id="9" name="fx1|tbl"/>
          <p:cNvSpPr txBox="1"/>
          <p:nvPr/>
        </p:nvSpPr>
        <p:spPr>
          <a:xfrm>
            <a:off x="8183880" y="2532888"/>
            <a:ext cx="3273552" cy="402336"/>
          </a:xfrm>
          <a:prstGeom prst="roundRect">
            <a:avLst>
              <a:gd name="adj" fmla="val 18182"/>
            </a:avLst>
          </a:prstGeom>
          <a:solidFill>
            <a:srgbClr val="0B1426"/>
          </a:solidFill>
          <a:ln w="9525">
            <a:solidFill>
              <a:srgbClr val="24406B"/>
            </a:solidFill>
          </a:ln>
        </p:spPr>
        <p:txBody>
          <a:bodyPr wrap="square" lIns="0" tIns="1524" rIns="1524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Monitoring_Devices</a:t>
            </a:r>
            <a:endParaRPr lang="en-US" sz="1100" dirty="0"/>
          </a:p>
        </p:txBody>
      </p:sp>
      <p:sp>
        <p:nvSpPr>
          <p:cNvPr id="10" name="fx1|tbl ar"/>
          <p:cNvSpPr txBox="1"/>
          <p:nvPr/>
        </p:nvSpPr>
        <p:spPr>
          <a:xfrm>
            <a:off x="9966960" y="253288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FFFFFF"/>
                </a:solidFill>
              </a:rPr>
              <a:t>أجهزة المراقبة</a:t>
            </a:r>
            <a:endParaRPr lang="ar-SA" sz="1100" dirty="0"/>
          </a:p>
        </p:txBody>
      </p:sp>
      <p:sp>
        <p:nvSpPr>
          <p:cNvPr id="11" name="fx2|tbl"/>
          <p:cNvSpPr txBox="1"/>
          <p:nvPr/>
        </p:nvSpPr>
        <p:spPr>
          <a:xfrm>
            <a:off x="8183880" y="3008376"/>
            <a:ext cx="3273552" cy="402336"/>
          </a:xfrm>
          <a:prstGeom prst="roundRect">
            <a:avLst>
              <a:gd name="adj" fmla="val 18182"/>
            </a:avLst>
          </a:prstGeom>
          <a:solidFill>
            <a:srgbClr val="0B1426"/>
          </a:solidFill>
          <a:ln w="9525">
            <a:solidFill>
              <a:srgbClr val="24406B"/>
            </a:solidFill>
          </a:ln>
        </p:spPr>
        <p:txBody>
          <a:bodyPr wrap="square" lIns="0" tIns="1524" rIns="1524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Locations</a:t>
            </a:r>
            <a:endParaRPr lang="en-US" sz="1100" dirty="0"/>
          </a:p>
        </p:txBody>
      </p:sp>
      <p:sp>
        <p:nvSpPr>
          <p:cNvPr id="12" name="fx2|tbl ar"/>
          <p:cNvSpPr txBox="1"/>
          <p:nvPr/>
        </p:nvSpPr>
        <p:spPr>
          <a:xfrm>
            <a:off x="9966960" y="300837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FFFFFF"/>
                </a:solidFill>
              </a:rPr>
              <a:t>المواقع</a:t>
            </a:r>
            <a:endParaRPr lang="ar-SA" sz="1100" dirty="0"/>
          </a:p>
        </p:txBody>
      </p:sp>
      <p:sp>
        <p:nvSpPr>
          <p:cNvPr id="13" name="fx2|tbl"/>
          <p:cNvSpPr txBox="1"/>
          <p:nvPr/>
        </p:nvSpPr>
        <p:spPr>
          <a:xfrm>
            <a:off x="8183880" y="3483864"/>
            <a:ext cx="3273552" cy="402336"/>
          </a:xfrm>
          <a:prstGeom prst="roundRect">
            <a:avLst>
              <a:gd name="adj" fmla="val 18182"/>
            </a:avLst>
          </a:prstGeom>
          <a:solidFill>
            <a:srgbClr val="0B1426"/>
          </a:solidFill>
          <a:ln w="9525">
            <a:solidFill>
              <a:srgbClr val="24406B"/>
            </a:solidFill>
          </a:ln>
        </p:spPr>
        <p:txBody>
          <a:bodyPr wrap="square" lIns="0" tIns="1524" rIns="1524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Vehicles</a:t>
            </a:r>
            <a:endParaRPr lang="en-US" sz="1100" dirty="0"/>
          </a:p>
        </p:txBody>
      </p:sp>
      <p:sp>
        <p:nvSpPr>
          <p:cNvPr id="14" name="fx2|tbl ar"/>
          <p:cNvSpPr txBox="1"/>
          <p:nvPr/>
        </p:nvSpPr>
        <p:spPr>
          <a:xfrm>
            <a:off x="9966960" y="348386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FFFFFF"/>
                </a:solidFill>
              </a:rPr>
              <a:t>المركبات</a:t>
            </a:r>
            <a:endParaRPr lang="ar-SA" sz="1100" dirty="0"/>
          </a:p>
        </p:txBody>
      </p:sp>
      <p:sp>
        <p:nvSpPr>
          <p:cNvPr id="15" name="fx3|tbl"/>
          <p:cNvSpPr txBox="1"/>
          <p:nvPr/>
        </p:nvSpPr>
        <p:spPr>
          <a:xfrm>
            <a:off x="8183880" y="3959352"/>
            <a:ext cx="3273552" cy="402336"/>
          </a:xfrm>
          <a:prstGeom prst="roundRect">
            <a:avLst>
              <a:gd name="adj" fmla="val 18182"/>
            </a:avLst>
          </a:prstGeom>
          <a:solidFill>
            <a:srgbClr val="0B1426"/>
          </a:solidFill>
          <a:ln w="9525">
            <a:solidFill>
              <a:srgbClr val="24406B"/>
            </a:solidFill>
          </a:ln>
        </p:spPr>
        <p:txBody>
          <a:bodyPr wrap="square" lIns="0" tIns="1524" rIns="1524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Vehicle_Owners</a:t>
            </a:r>
            <a:endParaRPr lang="en-US" sz="1100" dirty="0"/>
          </a:p>
        </p:txBody>
      </p:sp>
      <p:sp>
        <p:nvSpPr>
          <p:cNvPr id="16" name="fx3|tbl ar"/>
          <p:cNvSpPr txBox="1"/>
          <p:nvPr/>
        </p:nvSpPr>
        <p:spPr>
          <a:xfrm>
            <a:off x="9966960" y="395935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FFFFFF"/>
                </a:solidFill>
              </a:rPr>
              <a:t>مالكو المركبات</a:t>
            </a:r>
            <a:endParaRPr lang="ar-SA" sz="1100" dirty="0"/>
          </a:p>
        </p:txBody>
      </p:sp>
      <p:sp>
        <p:nvSpPr>
          <p:cNvPr id="17" name="fx3|tbl"/>
          <p:cNvSpPr txBox="1"/>
          <p:nvPr/>
        </p:nvSpPr>
        <p:spPr>
          <a:xfrm>
            <a:off x="8183880" y="4434840"/>
            <a:ext cx="3273552" cy="402336"/>
          </a:xfrm>
          <a:prstGeom prst="roundRect">
            <a:avLst>
              <a:gd name="adj" fmla="val 18182"/>
            </a:avLst>
          </a:prstGeom>
          <a:solidFill>
            <a:srgbClr val="0B1426"/>
          </a:solidFill>
          <a:ln w="9525">
            <a:solidFill>
              <a:srgbClr val="24406B"/>
            </a:solidFill>
          </a:ln>
        </p:spPr>
        <p:txBody>
          <a:bodyPr wrap="square" lIns="0" tIns="1524" rIns="1524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Violations</a:t>
            </a:r>
            <a:endParaRPr lang="en-US" sz="1100" dirty="0"/>
          </a:p>
        </p:txBody>
      </p:sp>
      <p:sp>
        <p:nvSpPr>
          <p:cNvPr id="18" name="fx3|tbl ar"/>
          <p:cNvSpPr txBox="1"/>
          <p:nvPr/>
        </p:nvSpPr>
        <p:spPr>
          <a:xfrm>
            <a:off x="9966960" y="443484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FFFFFF"/>
                </a:solidFill>
              </a:rPr>
              <a:t>المخالفات</a:t>
            </a:r>
            <a:endParaRPr lang="ar-SA" sz="1100" dirty="0"/>
          </a:p>
        </p:txBody>
      </p:sp>
      <p:sp>
        <p:nvSpPr>
          <p:cNvPr id="19" name="fx4|tbl"/>
          <p:cNvSpPr txBox="1"/>
          <p:nvPr/>
        </p:nvSpPr>
        <p:spPr>
          <a:xfrm>
            <a:off x="8183880" y="4910328"/>
            <a:ext cx="3273552" cy="402336"/>
          </a:xfrm>
          <a:prstGeom prst="roundRect">
            <a:avLst>
              <a:gd name="adj" fmla="val 18182"/>
            </a:avLst>
          </a:prstGeom>
          <a:solidFill>
            <a:srgbClr val="0B1426"/>
          </a:solidFill>
          <a:ln w="9525">
            <a:solidFill>
              <a:srgbClr val="24406B"/>
            </a:solidFill>
          </a:ln>
        </p:spPr>
        <p:txBody>
          <a:bodyPr wrap="square" lIns="0" tIns="1524" rIns="1524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1100" dirty="0"/>
          </a:p>
        </p:txBody>
      </p:sp>
      <p:sp>
        <p:nvSpPr>
          <p:cNvPr id="20" name="fx4|tbl ar"/>
          <p:cNvSpPr txBox="1"/>
          <p:nvPr/>
        </p:nvSpPr>
        <p:spPr>
          <a:xfrm>
            <a:off x="9966960" y="491032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FFFFFF"/>
                </a:solidFill>
              </a:rPr>
              <a:t>الأدلة والصور</a:t>
            </a:r>
            <a:endParaRPr lang="ar-SA" sz="1100" dirty="0"/>
          </a:p>
        </p:txBody>
      </p:sp>
      <p:sp>
        <p:nvSpPr>
          <p:cNvPr id="21" name="fx5@pop|rel"/>
          <p:cNvSpPr txBox="1"/>
          <p:nvPr/>
        </p:nvSpPr>
        <p:spPr>
          <a:xfrm>
            <a:off x="8183880" y="544068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 → Owner → Violations</a:t>
            </a:r>
            <a:endParaRPr lang="en-US" sz="1200" dirty="0"/>
          </a:p>
        </p:txBody>
      </p:sp>
      <p:sp>
        <p:nvSpPr>
          <p:cNvPr id="22" name="fx0|users card"/>
          <p:cNvSpPr/>
          <p:nvPr/>
        </p:nvSpPr>
        <p:spPr>
          <a:xfrm>
            <a:off x="4343400" y="1508760"/>
            <a:ext cx="3456432" cy="4663440"/>
          </a:xfrm>
          <a:prstGeom prst="roundRect">
            <a:avLst>
              <a:gd name="adj" fmla="val 3704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2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23" name="fx0|users head"/>
          <p:cNvSpPr txBox="1"/>
          <p:nvPr/>
        </p:nvSpPr>
        <p:spPr>
          <a:xfrm>
            <a:off x="4480560" y="160020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2"/>
                </a:solidFill>
              </a:rPr>
              <a:t>المستخدمون والصلاحيات</a:t>
            </a:r>
            <a:endParaRPr lang="ar-SA" sz="1500" dirty="0"/>
          </a:p>
        </p:txBody>
      </p:sp>
      <p:pic>
        <p:nvPicPr>
          <p:cNvPr id="24" name="fx2|u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4" y="2176272"/>
            <a:ext cx="384048" cy="384048"/>
          </a:xfrm>
          <a:prstGeom prst="rect">
            <a:avLst/>
          </a:prstGeom>
        </p:spPr>
      </p:pic>
      <p:sp>
        <p:nvSpPr>
          <p:cNvPr id="25" name="fx2|u"/>
          <p:cNvSpPr txBox="1"/>
          <p:nvPr/>
        </p:nvSpPr>
        <p:spPr>
          <a:xfrm>
            <a:off x="4480560" y="21031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مدير النظام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200" dirty="0">
                <a:solidFill>
                  <a:srgbClr val="B8C7E0"/>
                </a:solidFill>
              </a:rPr>
              <a:t>المستخدمون، الأجهزة، المواقع، السرعات، المركبات، المخالفات، التقارير</a:t>
            </a:r>
            <a:endParaRPr lang="ar-SA" sz="1500" dirty="0"/>
          </a:p>
        </p:txBody>
      </p:sp>
      <p:pic>
        <p:nvPicPr>
          <p:cNvPr id="26" name="fx3|u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904" y="3502152"/>
            <a:ext cx="384048" cy="384048"/>
          </a:xfrm>
          <a:prstGeom prst="rect">
            <a:avLst/>
          </a:prstGeom>
        </p:spPr>
      </p:pic>
      <p:sp>
        <p:nvSpPr>
          <p:cNvPr id="27" name="fx3|u"/>
          <p:cNvSpPr txBox="1"/>
          <p:nvPr/>
        </p:nvSpPr>
        <p:spPr>
          <a:xfrm>
            <a:off x="4480560" y="34290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مستخدم جهاز المراقبة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200" dirty="0">
                <a:solidFill>
                  <a:srgbClr val="B8C7E0"/>
                </a:solidFill>
              </a:rPr>
              <a:t>الدخول، تشغيل الكاميرا، بدء وإيقاف المراقبة، حالة الجهاز</a:t>
            </a:r>
            <a:endParaRPr lang="ar-SA" sz="1500" dirty="0"/>
          </a:p>
        </p:txBody>
      </p:sp>
      <p:pic>
        <p:nvPicPr>
          <p:cNvPr id="28" name="fx4|u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4828032"/>
            <a:ext cx="384048" cy="384048"/>
          </a:xfrm>
          <a:prstGeom prst="rect">
            <a:avLst/>
          </a:prstGeom>
        </p:spPr>
      </p:pic>
      <p:sp>
        <p:nvSpPr>
          <p:cNvPr id="29" name="fx4|u"/>
          <p:cNvSpPr txBox="1"/>
          <p:nvPr/>
        </p:nvSpPr>
        <p:spPr>
          <a:xfrm>
            <a:off x="4480560" y="47548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1500" b="1" dirty="0">
                <a:solidFill>
                  <a:srgbClr val="FFFFFF"/>
                </a:solidFill>
              </a:rPr>
              <a:t>مراجع المخالفات</a:t>
            </a:r>
            <a:endParaRPr lang="ar-SA" sz="1500" dirty="0"/>
          </a:p>
          <a:p>
            <a:pPr algn="r" indent="0" marL="0">
              <a:buNone/>
            </a:pPr>
            <a:r>
              <a:rPr lang="ar-SA" altLang="en-US" sz="1200" dirty="0">
                <a:solidFill>
                  <a:srgbClr val="B8C7E0"/>
                </a:solidFill>
              </a:rPr>
              <a:t>مراجعة المخالفات، مشاهدة الأدلة، التحقق من بيانات المركبة</a:t>
            </a:r>
            <a:endParaRPr lang="ar-SA" sz="1500" dirty="0"/>
          </a:p>
        </p:txBody>
      </p:sp>
      <p:sp>
        <p:nvSpPr>
          <p:cNvPr id="30" name="fx0|tech card"/>
          <p:cNvSpPr/>
          <p:nvPr/>
        </p:nvSpPr>
        <p:spPr>
          <a:xfrm>
            <a:off x="548640" y="1508760"/>
            <a:ext cx="3611880" cy="4663440"/>
          </a:xfrm>
          <a:prstGeom prst="roundRect">
            <a:avLst>
              <a:gd name="adj" fmla="val 3544"/>
            </a:avLst>
          </a:prstGeom>
          <a:solidFill>
            <a:schemeClr val="tx2">
              <a:alpha val="88000"/>
            </a:schemeClr>
          </a:solidFill>
          <a:ln w="12700">
            <a:solidFill>
              <a:schemeClr val="accent4">
                <a:alpha val="55000"/>
              </a:schemeClr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55000"/>
              </a:srgbClr>
            </a:outerShdw>
          </a:effectLst>
        </p:spPr>
      </p:sp>
      <p:sp>
        <p:nvSpPr>
          <p:cNvPr id="31" name="fx0|tech head"/>
          <p:cNvSpPr txBox="1"/>
          <p:nvPr/>
        </p:nvSpPr>
        <p:spPr>
          <a:xfrm>
            <a:off x="685800" y="16002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4"/>
                </a:solidFill>
              </a:rPr>
              <a:t>التقنيات المقترحة للتنفيذ</a:t>
            </a:r>
            <a:endParaRPr lang="ar-SA" sz="1500" dirty="0"/>
          </a:p>
        </p:txBody>
      </p:sp>
      <p:sp>
        <p:nvSpPr>
          <p:cNvPr id="32" name="fx2|cat"/>
          <p:cNvSpPr txBox="1"/>
          <p:nvPr/>
        </p:nvSpPr>
        <p:spPr>
          <a:xfrm>
            <a:off x="685800" y="20574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B8C7E0"/>
                </a:solidFill>
              </a:rPr>
              <a:t>تطبيق الهاتف</a:t>
            </a:r>
            <a:endParaRPr lang="ar-SA" sz="1100" dirty="0"/>
          </a:p>
        </p:txBody>
      </p:sp>
      <p:pic>
        <p:nvPicPr>
          <p:cNvPr id="33" name="fx2|logo Flutte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2350008"/>
            <a:ext cx="329184" cy="329184"/>
          </a:xfrm>
          <a:prstGeom prst="rect">
            <a:avLst/>
          </a:prstGeom>
        </p:spPr>
      </p:pic>
      <p:sp>
        <p:nvSpPr>
          <p:cNvPr id="34" name="fx2|n Flutter"/>
          <p:cNvSpPr txBox="1"/>
          <p:nvPr/>
        </p:nvSpPr>
        <p:spPr>
          <a:xfrm>
            <a:off x="2926080" y="26974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</a:rPr>
              <a:t>Flutter</a:t>
            </a:r>
            <a:endParaRPr lang="en-US" sz="1000" dirty="0"/>
          </a:p>
        </p:txBody>
      </p:sp>
      <p:pic>
        <p:nvPicPr>
          <p:cNvPr id="35" name="fx2|logo Dar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848" y="2350008"/>
            <a:ext cx="329184" cy="329184"/>
          </a:xfrm>
          <a:prstGeom prst="rect">
            <a:avLst/>
          </a:prstGeom>
        </p:spPr>
      </p:pic>
      <p:sp>
        <p:nvSpPr>
          <p:cNvPr id="36" name="fx2|n Dart"/>
          <p:cNvSpPr txBox="1"/>
          <p:nvPr/>
        </p:nvSpPr>
        <p:spPr>
          <a:xfrm>
            <a:off x="1828800" y="26974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</a:rPr>
              <a:t>Dart</a:t>
            </a:r>
            <a:endParaRPr lang="en-US" sz="1000" dirty="0"/>
          </a:p>
        </p:txBody>
      </p:sp>
      <p:sp>
        <p:nvSpPr>
          <p:cNvPr id="37" name="fx3|cat"/>
          <p:cNvSpPr txBox="1"/>
          <p:nvPr/>
        </p:nvSpPr>
        <p:spPr>
          <a:xfrm>
            <a:off x="685800" y="30632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B8C7E0"/>
                </a:solidFill>
              </a:rPr>
              <a:t>الذكاء الاصطناعي</a:t>
            </a:r>
            <a:endParaRPr lang="ar-SA" sz="1100" dirty="0"/>
          </a:p>
        </p:txBody>
      </p:sp>
      <p:pic>
        <p:nvPicPr>
          <p:cNvPr id="38" name="fx3|logo Pyth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8" y="3355848"/>
            <a:ext cx="329184" cy="329184"/>
          </a:xfrm>
          <a:prstGeom prst="rect">
            <a:avLst/>
          </a:prstGeom>
        </p:spPr>
      </p:pic>
      <p:sp>
        <p:nvSpPr>
          <p:cNvPr id="39" name="fx3|n Python"/>
          <p:cNvSpPr txBox="1"/>
          <p:nvPr/>
        </p:nvSpPr>
        <p:spPr>
          <a:xfrm>
            <a:off x="2926080" y="3703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pic>
        <p:nvPicPr>
          <p:cNvPr id="40" name="fx3|logo OpenCV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2848" y="3355848"/>
            <a:ext cx="329184" cy="329184"/>
          </a:xfrm>
          <a:prstGeom prst="rect">
            <a:avLst/>
          </a:prstGeom>
        </p:spPr>
      </p:pic>
      <p:sp>
        <p:nvSpPr>
          <p:cNvPr id="41" name="fx3|n OpenCV"/>
          <p:cNvSpPr txBox="1"/>
          <p:nvPr/>
        </p:nvSpPr>
        <p:spPr>
          <a:xfrm>
            <a:off x="1828800" y="3703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</a:rPr>
              <a:t>OpenCV</a:t>
            </a:r>
            <a:endParaRPr lang="en-US" sz="1000" dirty="0"/>
          </a:p>
        </p:txBody>
      </p:sp>
      <p:pic>
        <p:nvPicPr>
          <p:cNvPr id="42" name="fx3|logo PaddleOCR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8" y="3355848"/>
            <a:ext cx="329184" cy="329184"/>
          </a:xfrm>
          <a:prstGeom prst="rect">
            <a:avLst/>
          </a:prstGeom>
        </p:spPr>
      </p:pic>
      <p:sp>
        <p:nvSpPr>
          <p:cNvPr id="43" name="fx3|n PaddleOCR"/>
          <p:cNvSpPr txBox="1"/>
          <p:nvPr/>
        </p:nvSpPr>
        <p:spPr>
          <a:xfrm>
            <a:off x="731520" y="3703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</a:rPr>
              <a:t>PaddleOCR</a:t>
            </a:r>
            <a:endParaRPr lang="en-US" sz="1000" dirty="0"/>
          </a:p>
        </p:txBody>
      </p:sp>
      <p:sp>
        <p:nvSpPr>
          <p:cNvPr id="44" name="fx4|cat"/>
          <p:cNvSpPr txBox="1"/>
          <p:nvPr/>
        </p:nvSpPr>
        <p:spPr>
          <a:xfrm>
            <a:off x="685800" y="40690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B8C7E0"/>
                </a:solidFill>
              </a:rPr>
              <a:t>الخدمات والخادم</a:t>
            </a:r>
            <a:endParaRPr lang="ar-SA" sz="1100" dirty="0"/>
          </a:p>
        </p:txBody>
      </p:sp>
      <p:pic>
        <p:nvPicPr>
          <p:cNvPr id="45" name="fx4|logo FastAPI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0128" y="4361688"/>
            <a:ext cx="329184" cy="329184"/>
          </a:xfrm>
          <a:prstGeom prst="rect">
            <a:avLst/>
          </a:prstGeom>
        </p:spPr>
      </p:pic>
      <p:sp>
        <p:nvSpPr>
          <p:cNvPr id="46" name="fx4|n FastAPI"/>
          <p:cNvSpPr txBox="1"/>
          <p:nvPr/>
        </p:nvSpPr>
        <p:spPr>
          <a:xfrm>
            <a:off x="2926080" y="4709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</a:rPr>
              <a:t>FastAPI</a:t>
            </a:r>
            <a:endParaRPr lang="en-US" sz="1000" dirty="0"/>
          </a:p>
        </p:txBody>
      </p:sp>
      <p:pic>
        <p:nvPicPr>
          <p:cNvPr id="47" name="fx4|logo Laravel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12848" y="4361688"/>
            <a:ext cx="329184" cy="329184"/>
          </a:xfrm>
          <a:prstGeom prst="rect">
            <a:avLst/>
          </a:prstGeom>
        </p:spPr>
      </p:pic>
      <p:sp>
        <p:nvSpPr>
          <p:cNvPr id="48" name="fx4|n Laravel"/>
          <p:cNvSpPr txBox="1"/>
          <p:nvPr/>
        </p:nvSpPr>
        <p:spPr>
          <a:xfrm>
            <a:off x="1828800" y="4709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</a:rPr>
              <a:t>Laravel</a:t>
            </a:r>
            <a:endParaRPr lang="en-US" sz="1000" dirty="0"/>
          </a:p>
        </p:txBody>
      </p:sp>
      <p:pic>
        <p:nvPicPr>
          <p:cNvPr id="49" name="fx4|logo MySQL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5568" y="4361688"/>
            <a:ext cx="329184" cy="329184"/>
          </a:xfrm>
          <a:prstGeom prst="rect">
            <a:avLst/>
          </a:prstGeom>
        </p:spPr>
      </p:pic>
      <p:sp>
        <p:nvSpPr>
          <p:cNvPr id="50" name="fx4|n MySQL"/>
          <p:cNvSpPr txBox="1"/>
          <p:nvPr/>
        </p:nvSpPr>
        <p:spPr>
          <a:xfrm>
            <a:off x="731520" y="4709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</a:rPr>
              <a:t>MySQL</a:t>
            </a:r>
            <a:endParaRPr lang="en-US" sz="1000" dirty="0"/>
          </a:p>
        </p:txBody>
      </p:sp>
      <p:sp>
        <p:nvSpPr>
          <p:cNvPr id="51" name="fx5|cat"/>
          <p:cNvSpPr txBox="1"/>
          <p:nvPr/>
        </p:nvSpPr>
        <p:spPr>
          <a:xfrm>
            <a:off x="685800" y="50749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B8C7E0"/>
                </a:solidFill>
              </a:rPr>
              <a:t>الإشعارات والإصدارات</a:t>
            </a:r>
            <a:endParaRPr lang="ar-SA" sz="1100" dirty="0"/>
          </a:p>
        </p:txBody>
      </p:sp>
      <p:pic>
        <p:nvPicPr>
          <p:cNvPr id="52" name="fx5|logo Firebase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10128" y="5367528"/>
            <a:ext cx="329184" cy="329184"/>
          </a:xfrm>
          <a:prstGeom prst="rect">
            <a:avLst/>
          </a:prstGeom>
        </p:spPr>
      </p:pic>
      <p:sp>
        <p:nvSpPr>
          <p:cNvPr id="53" name="fx5|n Firebase"/>
          <p:cNvSpPr txBox="1"/>
          <p:nvPr/>
        </p:nvSpPr>
        <p:spPr>
          <a:xfrm>
            <a:off x="2926080" y="5715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</a:rPr>
              <a:t>Firebase</a:t>
            </a:r>
            <a:endParaRPr lang="en-US" sz="1000" dirty="0"/>
          </a:p>
        </p:txBody>
      </p:sp>
      <p:pic>
        <p:nvPicPr>
          <p:cNvPr id="54" name="fx5|logo REST API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12848" y="5367528"/>
            <a:ext cx="329184" cy="329184"/>
          </a:xfrm>
          <a:prstGeom prst="rect">
            <a:avLst/>
          </a:prstGeom>
        </p:spPr>
      </p:pic>
      <p:sp>
        <p:nvSpPr>
          <p:cNvPr id="55" name="fx5|n REST API"/>
          <p:cNvSpPr txBox="1"/>
          <p:nvPr/>
        </p:nvSpPr>
        <p:spPr>
          <a:xfrm>
            <a:off x="1828800" y="5715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</a:rPr>
              <a:t>REST API</a:t>
            </a:r>
            <a:endParaRPr lang="en-US" sz="1000" dirty="0"/>
          </a:p>
        </p:txBody>
      </p:sp>
      <p:pic>
        <p:nvPicPr>
          <p:cNvPr id="56" name="fx5|logo GitHub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5568" y="5367528"/>
            <a:ext cx="329184" cy="329184"/>
          </a:xfrm>
          <a:prstGeom prst="rect">
            <a:avLst/>
          </a:prstGeom>
        </p:spPr>
      </p:pic>
      <p:sp>
        <p:nvSpPr>
          <p:cNvPr id="57" name="fx5|n GitHub"/>
          <p:cNvSpPr txBox="1"/>
          <p:nvPr/>
        </p:nvSpPr>
        <p:spPr>
          <a:xfrm>
            <a:off x="731520" y="57150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000" b="1" dirty="0">
                <a:solidFill>
                  <a:srgbClr val="FFFFFF"/>
                </a:solidFill>
              </a:rPr>
              <a:t>GitHub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3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3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6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6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6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6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6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9" dur="6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3" dur="6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7" dur="6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1" dur="6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5" dur="6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9" dur="6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3" dur="6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7" dur="6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1" dur="6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5" dur="6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9" dur="6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3" dur="6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7" dur="6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6" grpId="0" animBg="1"/>
      <p:bldP spid="37" grpId="0" animBg="1"/>
      <p:bldP spid="39" grpId="0" animBg="1"/>
      <p:bldP spid="41" grpId="0" animBg="1"/>
      <p:bldP spid="43" grpId="0" animBg="1"/>
      <p:bldP spid="44" grpId="0" animBg="1"/>
      <p:bldP spid="46" grpId="0" animBg="1"/>
      <p:bldP spid="48" grpId="0" animBg="1"/>
      <p:bldP spid="50" grpId="0" animBg="1"/>
      <p:bldP spid="51" grpId="0" animBg="1"/>
      <p:bldP spid="53" grpId="0" animBg="1"/>
      <p:bldP spid="55" grpId="0" animBg="1"/>
      <p:bldP spid="5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x0@move(1.5,0,2400)|car" descr="img/car_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0" y="5806440"/>
            <a:ext cx="3931920" cy="914400"/>
          </a:xfrm>
          <a:prstGeom prst="rect">
            <a:avLst/>
          </a:prstGeom>
        </p:spPr>
      </p:pic>
      <p:sp>
        <p:nvSpPr>
          <p:cNvPr id="3" name="fx1@zoom|thanks"/>
          <p:cNvSpPr txBox="1"/>
          <p:nvPr/>
        </p:nvSpPr>
        <p:spPr>
          <a:xfrm>
            <a:off x="1371600" y="822960"/>
            <a:ext cx="9445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b="1" dirty="0">
                <a:solidFill>
                  <a:schemeClr val="bg1"/>
                </a:solidFill>
              </a:rPr>
              <a:t>شكراً لحسن استماعكم</a:t>
            </a:r>
            <a:endParaRPr lang="ar-SA" sz="5400" dirty="0"/>
          </a:p>
        </p:txBody>
      </p:sp>
      <p:sp>
        <p:nvSpPr>
          <p:cNvPr id="4" name="fx2|ty"/>
          <p:cNvSpPr txBox="1"/>
          <p:nvPr/>
        </p:nvSpPr>
        <p:spPr>
          <a:xfrm>
            <a:off x="1371600" y="192024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200" b="1" spc="600" kern="0" dirty="0">
                <a:solidFill>
                  <a:schemeClr val="accent2"/>
                </a:solidFill>
              </a:rPr>
              <a:t>Thank You</a:t>
            </a:r>
            <a:endParaRPr lang="en-US" sz="3200" dirty="0"/>
          </a:p>
        </p:txBody>
      </p:sp>
      <p:sp>
        <p:nvSpPr>
          <p:cNvPr id="5" name="fx3|q"/>
          <p:cNvSpPr txBox="1"/>
          <p:nvPr/>
        </p:nvSpPr>
        <p:spPr>
          <a:xfrm>
            <a:off x="1371600" y="26060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bg1"/>
                </a:solidFill>
              </a:rPr>
              <a:t>نسعد بأسئلتكم وملاحظاتكم  •  Questions?</a:t>
            </a:r>
            <a:endParaRPr lang="ar-SA" sz="1800" dirty="0"/>
          </a:p>
        </p:txBody>
      </p:sp>
      <p:sp>
        <p:nvSpPr>
          <p:cNvPr id="6" name="fx4@zoom|ring"/>
          <p:cNvSpPr/>
          <p:nvPr/>
        </p:nvSpPr>
        <p:spPr>
          <a:xfrm>
            <a:off x="9501988" y="342900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7" name="fx4@zoom|photo" descr="عيسى شاي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7708" y="3474720"/>
            <a:ext cx="1097280" cy="1097280"/>
          </a:xfrm>
          <a:prstGeom prst="ellipse">
            <a:avLst/>
          </a:prstGeom>
        </p:spPr>
      </p:pic>
      <p:sp>
        <p:nvSpPr>
          <p:cNvPr id="8" name="fx4|name"/>
          <p:cNvSpPr txBox="1"/>
          <p:nvPr/>
        </p:nvSpPr>
        <p:spPr>
          <a:xfrm>
            <a:off x="9319108" y="4681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عيسى شايع</a:t>
            </a:r>
            <a:endParaRPr lang="ar-SA" sz="1200" dirty="0"/>
          </a:p>
        </p:txBody>
      </p:sp>
      <p:sp>
        <p:nvSpPr>
          <p:cNvPr id="9" name="fx5@zoom|ring"/>
          <p:cNvSpPr/>
          <p:nvPr/>
        </p:nvSpPr>
        <p:spPr>
          <a:xfrm>
            <a:off x="7901788" y="342900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10" name="fx5@zoom|photo" descr="محمد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508" y="3474720"/>
            <a:ext cx="1097280" cy="1097280"/>
          </a:xfrm>
          <a:prstGeom prst="ellipse">
            <a:avLst/>
          </a:prstGeom>
        </p:spPr>
      </p:pic>
      <p:sp>
        <p:nvSpPr>
          <p:cNvPr id="11" name="fx5|name"/>
          <p:cNvSpPr txBox="1"/>
          <p:nvPr/>
        </p:nvSpPr>
        <p:spPr>
          <a:xfrm>
            <a:off x="7718908" y="4681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محمد قريع</a:t>
            </a:r>
            <a:endParaRPr lang="ar-SA" sz="1200" dirty="0"/>
          </a:p>
        </p:txBody>
      </p:sp>
      <p:sp>
        <p:nvSpPr>
          <p:cNvPr id="12" name="fx6@zoom|ring"/>
          <p:cNvSpPr/>
          <p:nvPr/>
        </p:nvSpPr>
        <p:spPr>
          <a:xfrm>
            <a:off x="6301588" y="342900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13" name="fx6@zoom|photo" descr="برهان الزمر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308" y="3474720"/>
            <a:ext cx="1097280" cy="1097280"/>
          </a:xfrm>
          <a:prstGeom prst="ellipse">
            <a:avLst/>
          </a:prstGeom>
        </p:spPr>
      </p:pic>
      <p:sp>
        <p:nvSpPr>
          <p:cNvPr id="14" name="fx6|name"/>
          <p:cNvSpPr txBox="1"/>
          <p:nvPr/>
        </p:nvSpPr>
        <p:spPr>
          <a:xfrm>
            <a:off x="6118708" y="4681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برهان الزمر</a:t>
            </a:r>
            <a:endParaRPr lang="ar-SA" sz="1200" dirty="0"/>
          </a:p>
        </p:txBody>
      </p:sp>
      <p:sp>
        <p:nvSpPr>
          <p:cNvPr id="15" name="fx7@zoom|ring"/>
          <p:cNvSpPr/>
          <p:nvPr/>
        </p:nvSpPr>
        <p:spPr>
          <a:xfrm>
            <a:off x="4701388" y="342900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16" name="fx7@zoom|photo" descr="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7108" y="3474720"/>
            <a:ext cx="1097280" cy="1097280"/>
          </a:xfrm>
          <a:prstGeom prst="ellipse">
            <a:avLst/>
          </a:prstGeom>
        </p:spPr>
      </p:pic>
      <p:sp>
        <p:nvSpPr>
          <p:cNvPr id="17" name="fx7|name"/>
          <p:cNvSpPr txBox="1"/>
          <p:nvPr/>
        </p:nvSpPr>
        <p:spPr>
          <a:xfrm>
            <a:off x="4518508" y="4681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مازن عبد المعز</a:t>
            </a:r>
            <a:endParaRPr lang="ar-SA" sz="1200" dirty="0"/>
          </a:p>
        </p:txBody>
      </p:sp>
      <p:sp>
        <p:nvSpPr>
          <p:cNvPr id="18" name="fx8@zoom|ring"/>
          <p:cNvSpPr/>
          <p:nvPr/>
        </p:nvSpPr>
        <p:spPr>
          <a:xfrm>
            <a:off x="3101188" y="342900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19" name="fx8@zoom|photo" descr="محمد عادل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6908" y="3474720"/>
            <a:ext cx="1097280" cy="1097280"/>
          </a:xfrm>
          <a:prstGeom prst="ellipse">
            <a:avLst/>
          </a:prstGeom>
        </p:spPr>
      </p:pic>
      <p:sp>
        <p:nvSpPr>
          <p:cNvPr id="20" name="fx8|name"/>
          <p:cNvSpPr txBox="1"/>
          <p:nvPr/>
        </p:nvSpPr>
        <p:spPr>
          <a:xfrm>
            <a:off x="2918308" y="4681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محمد عادل</a:t>
            </a:r>
            <a:endParaRPr lang="ar-SA" sz="1200" dirty="0"/>
          </a:p>
        </p:txBody>
      </p:sp>
      <p:sp>
        <p:nvSpPr>
          <p:cNvPr id="21" name="fx9@zoom|ring"/>
          <p:cNvSpPr/>
          <p:nvPr/>
        </p:nvSpPr>
        <p:spPr>
          <a:xfrm>
            <a:off x="1500988" y="3429000"/>
            <a:ext cx="1188720" cy="118872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203200" dist="50800" dir="16200000">
              <a:srgbClr val="E2BA52">
                <a:alpha val="60000"/>
              </a:srgbClr>
            </a:outerShdw>
          </a:effectLst>
        </p:spPr>
      </p:sp>
      <p:pic>
        <p:nvPicPr>
          <p:cNvPr id="22" name="fx9@zoom|photo" descr="د. مطيع الجعفري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6708" y="3474720"/>
            <a:ext cx="1097280" cy="1097280"/>
          </a:xfrm>
          <a:prstGeom prst="ellipse">
            <a:avLst/>
          </a:prstGeom>
        </p:spPr>
      </p:pic>
      <p:sp>
        <p:nvSpPr>
          <p:cNvPr id="23" name="fx9|name"/>
          <p:cNvSpPr txBox="1"/>
          <p:nvPr/>
        </p:nvSpPr>
        <p:spPr>
          <a:xfrm>
            <a:off x="1318108" y="4681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د. مطيع الجعفري</a:t>
            </a:r>
            <a:endParaRPr lang="ar-SA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2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1.5 0 E" pathEditMode="relative" ptsTypes="AA">
                                      <p:cBhvr>
                                        <p:cTn id="6" dur="2400" accel="20000" decel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3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</p:bldLst>
  </p:timing>
</p:sld>
</file>

<file path=ppt/theme/theme1.xml><?xml version="1.0" encoding="utf-8"?>
<a:theme xmlns:a="http://schemas.openxmlformats.org/drawingml/2006/main" name="Night Enforcement">
  <a:themeElements>
    <a:clrScheme name="Night Enforcement">
      <a:dk1>
        <a:srgbClr val="0A0E1A"/>
      </a:dk1>
      <a:lt1>
        <a:srgbClr val="FFFFFF"/>
      </a:lt1>
      <a:dk2>
        <a:srgbClr val="121A2E"/>
      </a:dk2>
      <a:lt2>
        <a:srgbClr val="B8C7E0"/>
      </a:lt2>
      <a:accent1>
        <a:srgbClr val="22D3EE"/>
      </a:accent1>
      <a:accent2>
        <a:srgbClr val="E2BA52"/>
      </a:accent2>
      <a:accent3>
        <a:srgbClr val="6366F1"/>
      </a:accent3>
      <a:accent4>
        <a:srgbClr val="10B981"/>
      </a:accent4>
      <a:accent5>
        <a:srgbClr val="F43F5E"/>
      </a:accent5>
      <a:accent6>
        <a:srgbClr val="A7F3D0"/>
      </a:accent6>
      <a:hlink>
        <a:srgbClr val="22D3EE"/>
      </a:hlink>
      <a:folHlink>
        <a:srgbClr val="E2BA52"/>
      </a:folHlink>
    </a:clrScheme>
    <a:fontScheme name="Night Enforcem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نظام ذكي لرصد وحساب سرعة المركبات وتسجيل المخالفات المرورية</dc:title>
  <dc:subject>PptxGenJS Presentation</dc:subject>
  <dc:creator>PptxGenJS</dc:creator>
  <cp:lastModifiedBy>PptxGenJS</cp:lastModifiedBy>
  <cp:revision>1</cp:revision>
  <dcterms:created xsi:type="dcterms:W3CDTF">2026-10-17T22:29:50Z</dcterms:created>
  <dcterms:modified xsi:type="dcterms:W3CDTF">2026-10-17T22:29:50Z</dcterms:modified>
</cp:coreProperties>
</file>