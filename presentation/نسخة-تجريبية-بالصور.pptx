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نسخة تجريبية" id="{db7a9763-987e-e476-353e-d2844ae3562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خلفية: صورة الطريق الليلي. سيارة تعبر الشاشة ثم يظهر العنوان سطراً سطراً.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غرفة المراقبة: كل عضو في كاميرا، والذكاء الاصطناعي يتعرّف عليه.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عيسى إبراهيم شايع: يعرّف بنفسه ودوره.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عبدالإله قريع: يعرّف بنفسه ودوره.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صورة رجال المرور تمثّل الرقابة التقليدية، والمشكلات تظهر بالتتابع.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مقارنة قوية: الرقابة البشرية مقابل نظامنا. السهم يظهر ثم جانب «بعد».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الهاتف يظهر بمنظور ثلاثي الأبعاد، ثم الخطوات الأربع.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مربعات الاكتشاف تظهر على السيارات الحقيقية تدريجياً، ثم السرعات، ثم المخالفة على الفان.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مؤشر العدّاد يتحرك من 0 إلى 92، ثم تظهر القراءة والمقارنة.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 المسح يمر على السيارة، ثم تتحدد اللوحة، ثم تُكبّر، ثم يظهر ناتج OCR، ثم المالك من قاعدة البيانات.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ستارة، ثم صور الفريق، وسيارة تعبر.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P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MP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CEP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PEED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AR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THANKS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E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jp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png"/><Relationship Id="rId5" Type="http://schemas.openxmlformats.org/officeDocument/2006/relationships/image" Target="../media/image-11-4.png"/><Relationship Id="rId6" Type="http://schemas.openxmlformats.org/officeDocument/2006/relationships/image" Target="../media/image-11-6.jp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1@pop|live"/>
          <p:cNvSpPr txBox="1"/>
          <p:nvPr/>
        </p:nvSpPr>
        <p:spPr>
          <a:xfrm>
            <a:off x="457200" y="411480"/>
            <a:ext cx="3291840" cy="36576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•  AI SPEED DETECTION</a:t>
            </a:r>
            <a:endParaRPr lang="en-US" sz="1200" dirty="0"/>
          </a:p>
        </p:txBody>
      </p:sp>
      <p:pic>
        <p:nvPicPr>
          <p:cNvPr id="3" name="fx1@zoom|logo" descr="شعار الجامع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051560" cy="1051560"/>
          </a:xfrm>
          <a:prstGeom prst="rect">
            <a:avLst/>
          </a:prstGeom>
        </p:spPr>
      </p:pic>
      <p:sp>
        <p:nvSpPr>
          <p:cNvPr id="4" name="fx2|uni"/>
          <p:cNvSpPr txBox="1"/>
          <p:nvPr/>
        </p:nvSpPr>
        <p:spPr>
          <a:xfrm>
            <a:off x="5120640" y="365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الجمهورية اليمنية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جامعة العلوم والتكنولوجيا — فرع إب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كلية الحاسبات وتكنولوجيا المعلومات  •  قسم تقنية المعلومات</a:t>
            </a:r>
            <a:endParaRPr lang="ar-SA" sz="1200" dirty="0"/>
          </a:p>
        </p:txBody>
      </p:sp>
      <p:sp>
        <p:nvSpPr>
          <p:cNvPr id="5" name="fx3|kicker"/>
          <p:cNvSpPr txBox="1"/>
          <p:nvPr/>
        </p:nvSpPr>
        <p:spPr>
          <a:xfrm>
            <a:off x="6035040" y="17830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مشروع تخرج 2026  •  Graduation Project</a:t>
            </a:r>
            <a:endParaRPr lang="ar-SA" sz="1500" dirty="0"/>
          </a:p>
        </p:txBody>
      </p:sp>
      <p:sp>
        <p:nvSpPr>
          <p:cNvPr id="6" name="fx4|title"/>
          <p:cNvSpPr txBox="1"/>
          <p:nvPr/>
        </p:nvSpPr>
        <p:spPr>
          <a:xfrm>
            <a:off x="5760720" y="2148840"/>
            <a:ext cx="5897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نظام ذكي لرصد وحساب سرعة المركبات وتسجيل المخالفات المرورية</a:t>
            </a:r>
            <a:endParaRPr lang="ar-SA" sz="3200" dirty="0"/>
          </a:p>
        </p:txBody>
      </p:sp>
      <p:sp>
        <p:nvSpPr>
          <p:cNvPr id="7" name="fx5|sub"/>
          <p:cNvSpPr txBox="1"/>
          <p:nvPr/>
        </p:nvSpPr>
        <p:spPr>
          <a:xfrm>
            <a:off x="5760720" y="393192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accent2"/>
                </a:solidFill>
              </a:rPr>
              <a:t>باستخدام كاميرا الهاتف وتقنيات الذكاء الاصطناعي والرؤية الحاسوبية</a:t>
            </a:r>
            <a:endParaRPr lang="ar-SA" sz="1700" dirty="0"/>
          </a:p>
        </p:txBody>
      </p:sp>
      <p:sp>
        <p:nvSpPr>
          <p:cNvPr id="8" name="fx6|en"/>
          <p:cNvSpPr txBox="1"/>
          <p:nvPr/>
        </p:nvSpPr>
        <p:spPr>
          <a:xfrm>
            <a:off x="5760720" y="466344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i="1" dirty="0">
                <a:solidFill>
                  <a:schemeClr val="bg2"/>
                </a:solidFill>
              </a:rPr>
              <a:t>Smart Mobile-Based Vehicle Speed Estimation and Traffic Violation Detection System Using AI and Computer Vision</a:t>
            </a:r>
            <a:endParaRPr lang="en-US" sz="1200" dirty="0"/>
          </a:p>
        </p:txBody>
      </p:sp>
      <p:sp>
        <p:nvSpPr>
          <p:cNvPr id="9" name="fx7|sup"/>
          <p:cNvSpPr txBox="1"/>
          <p:nvPr/>
        </p:nvSpPr>
        <p:spPr>
          <a:xfrm>
            <a:off x="5760720" y="55321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إشراف: </a:t>
            </a:r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د. مطيع الجعفري</a:t>
            </a:r>
            <a:endParaRPr lang="ar-SA" sz="1700" dirty="0"/>
          </a:p>
        </p:txBody>
      </p:sp>
      <p:pic>
        <p:nvPicPr>
          <p:cNvPr id="10" name="fx0@move(1.5,0,2400)|car" descr="img/car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0" y="5943600"/>
            <a:ext cx="3931920" cy="9144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40" dur="2400" accel="20000" decel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غرفة المراقبة: فريق المشروع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Control Room — Team identified by AI</a:t>
            </a:r>
            <a:endParaRPr lang="en-US" sz="1500" dirty="0"/>
          </a:p>
        </p:txBody>
      </p:sp>
      <p:sp>
        <p:nvSpPr>
          <p:cNvPr id="4" name="fx0@zoom|tile"/>
          <p:cNvSpPr/>
          <p:nvPr/>
        </p:nvSpPr>
        <p:spPr>
          <a:xfrm>
            <a:off x="80023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5" name="!!photo_p1" descr="صورة عيسى شاي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38948" y="1554480"/>
            <a:ext cx="3429000" cy="2148840"/>
          </a:xfrm>
          <a:prstGeom prst="rect">
            <a:avLst/>
          </a:prstGeom>
        </p:spPr>
      </p:pic>
      <p:sp>
        <p:nvSpPr>
          <p:cNvPr id="6" name="fx0|cam"/>
          <p:cNvSpPr txBox="1"/>
          <p:nvPr/>
        </p:nvSpPr>
        <p:spPr>
          <a:xfrm>
            <a:off x="81303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01</a:t>
            </a:r>
            <a:endParaRPr lang="en-US" sz="1000" dirty="0"/>
          </a:p>
        </p:txBody>
      </p:sp>
      <p:sp>
        <p:nvSpPr>
          <p:cNvPr id="7" name="fx0|rec"/>
          <p:cNvSpPr txBox="1"/>
          <p:nvPr/>
        </p:nvSpPr>
        <p:spPr>
          <a:xfrm>
            <a:off x="107364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8" name="fx6@zoom|box"/>
          <p:cNvSpPr/>
          <p:nvPr/>
        </p:nvSpPr>
        <p:spPr>
          <a:xfrm>
            <a:off x="90676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fx6@pop|tag"/>
          <p:cNvSpPr txBox="1"/>
          <p:nvPr/>
        </p:nvSpPr>
        <p:spPr>
          <a:xfrm>
            <a:off x="90676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01 0.99</a:t>
            </a:r>
            <a:endParaRPr lang="en-US" sz="900" dirty="0"/>
          </a:p>
        </p:txBody>
      </p:sp>
      <p:sp>
        <p:nvSpPr>
          <p:cNvPr id="10" name="fx0|bar"/>
          <p:cNvSpPr/>
          <p:nvPr/>
        </p:nvSpPr>
        <p:spPr>
          <a:xfrm>
            <a:off x="80389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x0|name"/>
          <p:cNvSpPr txBox="1"/>
          <p:nvPr/>
        </p:nvSpPr>
        <p:spPr>
          <a:xfrm>
            <a:off x="81486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عيسى شايع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قائد الفريق ومدير المشروع</a:t>
            </a:r>
            <a:endParaRPr lang="ar-SA" sz="1500" dirty="0"/>
          </a:p>
        </p:txBody>
      </p:sp>
      <p:sp>
        <p:nvSpPr>
          <p:cNvPr id="12" name="fx1@zoom|tile"/>
          <p:cNvSpPr/>
          <p:nvPr/>
        </p:nvSpPr>
        <p:spPr>
          <a:xfrm>
            <a:off x="43447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13" name="!!photo_p2" descr="صورة محمد قريع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348" y="1554480"/>
            <a:ext cx="3429000" cy="2148840"/>
          </a:xfrm>
          <a:prstGeom prst="rect">
            <a:avLst/>
          </a:prstGeom>
        </p:spPr>
      </p:pic>
      <p:sp>
        <p:nvSpPr>
          <p:cNvPr id="14" name="fx1|cam"/>
          <p:cNvSpPr txBox="1"/>
          <p:nvPr/>
        </p:nvSpPr>
        <p:spPr>
          <a:xfrm>
            <a:off x="44727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02</a:t>
            </a:r>
            <a:endParaRPr lang="en-US" sz="1000" dirty="0"/>
          </a:p>
        </p:txBody>
      </p:sp>
      <p:sp>
        <p:nvSpPr>
          <p:cNvPr id="15" name="fx1|rec"/>
          <p:cNvSpPr txBox="1"/>
          <p:nvPr/>
        </p:nvSpPr>
        <p:spPr>
          <a:xfrm>
            <a:off x="70788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16" name="fx7@zoom|box"/>
          <p:cNvSpPr/>
          <p:nvPr/>
        </p:nvSpPr>
        <p:spPr>
          <a:xfrm>
            <a:off x="54100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fx7@pop|tag"/>
          <p:cNvSpPr txBox="1"/>
          <p:nvPr/>
        </p:nvSpPr>
        <p:spPr>
          <a:xfrm>
            <a:off x="54100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02 0.98</a:t>
            </a:r>
            <a:endParaRPr lang="en-US" sz="900" dirty="0"/>
          </a:p>
        </p:txBody>
      </p:sp>
      <p:sp>
        <p:nvSpPr>
          <p:cNvPr id="18" name="fx1|bar"/>
          <p:cNvSpPr/>
          <p:nvPr/>
        </p:nvSpPr>
        <p:spPr>
          <a:xfrm>
            <a:off x="43813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x1|name"/>
          <p:cNvSpPr txBox="1"/>
          <p:nvPr/>
        </p:nvSpPr>
        <p:spPr>
          <a:xfrm>
            <a:off x="44910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قريع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مطوّر تطبيق الهاتف</a:t>
            </a:r>
            <a:endParaRPr lang="ar-SA" sz="1500" dirty="0"/>
          </a:p>
        </p:txBody>
      </p:sp>
      <p:sp>
        <p:nvSpPr>
          <p:cNvPr id="20" name="fx2@zoom|tile"/>
          <p:cNvSpPr/>
          <p:nvPr/>
        </p:nvSpPr>
        <p:spPr>
          <a:xfrm>
            <a:off x="6871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1" name="!!photo_p3" descr="صورة مازن عبد المعز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3748" y="1554480"/>
            <a:ext cx="3429000" cy="2148840"/>
          </a:xfrm>
          <a:prstGeom prst="rect">
            <a:avLst/>
          </a:prstGeom>
        </p:spPr>
      </p:pic>
      <p:sp>
        <p:nvSpPr>
          <p:cNvPr id="22" name="fx2|cam"/>
          <p:cNvSpPr txBox="1"/>
          <p:nvPr/>
        </p:nvSpPr>
        <p:spPr>
          <a:xfrm>
            <a:off x="8151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03</a:t>
            </a:r>
            <a:endParaRPr lang="en-US" sz="1000" dirty="0"/>
          </a:p>
        </p:txBody>
      </p:sp>
      <p:sp>
        <p:nvSpPr>
          <p:cNvPr id="23" name="fx2|rec"/>
          <p:cNvSpPr txBox="1"/>
          <p:nvPr/>
        </p:nvSpPr>
        <p:spPr>
          <a:xfrm>
            <a:off x="34212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24" name="fx8@zoom|box"/>
          <p:cNvSpPr/>
          <p:nvPr/>
        </p:nvSpPr>
        <p:spPr>
          <a:xfrm>
            <a:off x="17524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fx8@pop|tag"/>
          <p:cNvSpPr txBox="1"/>
          <p:nvPr/>
        </p:nvSpPr>
        <p:spPr>
          <a:xfrm>
            <a:off x="17524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03 0.97</a:t>
            </a:r>
            <a:endParaRPr lang="en-US" sz="900" dirty="0"/>
          </a:p>
        </p:txBody>
      </p:sp>
      <p:sp>
        <p:nvSpPr>
          <p:cNvPr id="26" name="fx2|bar"/>
          <p:cNvSpPr/>
          <p:nvPr/>
        </p:nvSpPr>
        <p:spPr>
          <a:xfrm>
            <a:off x="7237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x2|name"/>
          <p:cNvSpPr txBox="1"/>
          <p:nvPr/>
        </p:nvSpPr>
        <p:spPr>
          <a:xfrm>
            <a:off x="8334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مازن عبد المعز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مهندس الذكاء الاصطناعي</a:t>
            </a:r>
            <a:endParaRPr lang="ar-SA" sz="1500" dirty="0"/>
          </a:p>
        </p:txBody>
      </p:sp>
      <p:sp>
        <p:nvSpPr>
          <p:cNvPr id="28" name="fx3@zoom|tile"/>
          <p:cNvSpPr/>
          <p:nvPr/>
        </p:nvSpPr>
        <p:spPr>
          <a:xfrm>
            <a:off x="80023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9" name="!!photo_p4" descr="صورة برهان الزمر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8948" y="3931920"/>
            <a:ext cx="3429000" cy="2148840"/>
          </a:xfrm>
          <a:prstGeom prst="rect">
            <a:avLst/>
          </a:prstGeom>
        </p:spPr>
      </p:pic>
      <p:sp>
        <p:nvSpPr>
          <p:cNvPr id="30" name="fx3|cam"/>
          <p:cNvSpPr txBox="1"/>
          <p:nvPr/>
        </p:nvSpPr>
        <p:spPr>
          <a:xfrm>
            <a:off x="81303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04</a:t>
            </a:r>
            <a:endParaRPr lang="en-US" sz="1000" dirty="0"/>
          </a:p>
        </p:txBody>
      </p:sp>
      <p:sp>
        <p:nvSpPr>
          <p:cNvPr id="31" name="fx3|rec"/>
          <p:cNvSpPr txBox="1"/>
          <p:nvPr/>
        </p:nvSpPr>
        <p:spPr>
          <a:xfrm>
            <a:off x="107364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32" name="fx9@zoom|box"/>
          <p:cNvSpPr/>
          <p:nvPr/>
        </p:nvSpPr>
        <p:spPr>
          <a:xfrm>
            <a:off x="9067648" y="414680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fx9@pop|tag"/>
          <p:cNvSpPr txBox="1"/>
          <p:nvPr/>
        </p:nvSpPr>
        <p:spPr>
          <a:xfrm>
            <a:off x="9067648" y="394563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04 0.98</a:t>
            </a:r>
            <a:endParaRPr lang="en-US" sz="900" dirty="0"/>
          </a:p>
        </p:txBody>
      </p:sp>
      <p:sp>
        <p:nvSpPr>
          <p:cNvPr id="34" name="fx3|bar"/>
          <p:cNvSpPr/>
          <p:nvPr/>
        </p:nvSpPr>
        <p:spPr>
          <a:xfrm>
            <a:off x="80389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x3|name"/>
          <p:cNvSpPr txBox="1"/>
          <p:nvPr/>
        </p:nvSpPr>
        <p:spPr>
          <a:xfrm>
            <a:off x="81486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برهان الزمر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مطوّر الخادم ولوحة التحكم</a:t>
            </a:r>
            <a:endParaRPr lang="ar-SA" sz="1500" dirty="0"/>
          </a:p>
        </p:txBody>
      </p:sp>
      <p:sp>
        <p:nvSpPr>
          <p:cNvPr id="36" name="fx4@zoom|tile"/>
          <p:cNvSpPr/>
          <p:nvPr/>
        </p:nvSpPr>
        <p:spPr>
          <a:xfrm>
            <a:off x="43447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37" name="!!photo_p5" descr="صورة محمد عادل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1348" y="3931920"/>
            <a:ext cx="3429000" cy="2148840"/>
          </a:xfrm>
          <a:prstGeom prst="rect">
            <a:avLst/>
          </a:prstGeom>
        </p:spPr>
      </p:pic>
      <p:sp>
        <p:nvSpPr>
          <p:cNvPr id="38" name="fx4|cam"/>
          <p:cNvSpPr txBox="1"/>
          <p:nvPr/>
        </p:nvSpPr>
        <p:spPr>
          <a:xfrm>
            <a:off x="44727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05</a:t>
            </a:r>
            <a:endParaRPr lang="en-US" sz="1000" dirty="0"/>
          </a:p>
        </p:txBody>
      </p:sp>
      <p:sp>
        <p:nvSpPr>
          <p:cNvPr id="39" name="fx4|rec"/>
          <p:cNvSpPr txBox="1"/>
          <p:nvPr/>
        </p:nvSpPr>
        <p:spPr>
          <a:xfrm>
            <a:off x="70788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0" name="fx10@zoom|box"/>
          <p:cNvSpPr/>
          <p:nvPr/>
        </p:nvSpPr>
        <p:spPr>
          <a:xfrm>
            <a:off x="5410048" y="414680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fx10@pop|tag"/>
          <p:cNvSpPr txBox="1"/>
          <p:nvPr/>
        </p:nvSpPr>
        <p:spPr>
          <a:xfrm>
            <a:off x="5410048" y="394563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05 0.99</a:t>
            </a:r>
            <a:endParaRPr lang="en-US" sz="900" dirty="0"/>
          </a:p>
        </p:txBody>
      </p:sp>
      <p:sp>
        <p:nvSpPr>
          <p:cNvPr id="42" name="fx4|bar"/>
          <p:cNvSpPr/>
          <p:nvPr/>
        </p:nvSpPr>
        <p:spPr>
          <a:xfrm>
            <a:off x="43813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x4|name"/>
          <p:cNvSpPr txBox="1"/>
          <p:nvPr/>
        </p:nvSpPr>
        <p:spPr>
          <a:xfrm>
            <a:off x="44910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عادل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قواعد البيانات وقراءة اللوحات</a:t>
            </a:r>
            <a:endParaRPr lang="ar-SA" sz="1500" dirty="0"/>
          </a:p>
        </p:txBody>
      </p:sp>
      <p:sp>
        <p:nvSpPr>
          <p:cNvPr id="44" name="fx5@zoom|tile"/>
          <p:cNvSpPr/>
          <p:nvPr/>
        </p:nvSpPr>
        <p:spPr>
          <a:xfrm>
            <a:off x="6871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45" name="!!photo_sv" descr="صورة د. مطيع الجعفري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3748" y="3931920"/>
            <a:ext cx="3429000" cy="2148840"/>
          </a:xfrm>
          <a:prstGeom prst="rect">
            <a:avLst/>
          </a:prstGeom>
        </p:spPr>
      </p:pic>
      <p:sp>
        <p:nvSpPr>
          <p:cNvPr id="46" name="fx5|cam"/>
          <p:cNvSpPr txBox="1"/>
          <p:nvPr/>
        </p:nvSpPr>
        <p:spPr>
          <a:xfrm>
            <a:off x="8151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06</a:t>
            </a:r>
            <a:endParaRPr lang="en-US" sz="1000" dirty="0"/>
          </a:p>
        </p:txBody>
      </p:sp>
      <p:sp>
        <p:nvSpPr>
          <p:cNvPr id="47" name="fx5|rec"/>
          <p:cNvSpPr txBox="1"/>
          <p:nvPr/>
        </p:nvSpPr>
        <p:spPr>
          <a:xfrm>
            <a:off x="34212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8" name="fx11@zoom|box"/>
          <p:cNvSpPr/>
          <p:nvPr/>
        </p:nvSpPr>
        <p:spPr>
          <a:xfrm>
            <a:off x="1752448" y="4146804"/>
            <a:ext cx="1371600" cy="1332281"/>
          </a:xfrm>
          <a:prstGeom prst="rect">
            <a:avLst/>
          </a:prstGeom>
          <a:solidFill>
            <a:srgbClr val="E2BA52">
              <a:alpha val="0"/>
            </a:srgbClr>
          </a:solidFill>
          <a:ln w="25400">
            <a:solidFill>
              <a:srgbClr val="E2BA52"/>
            </a:solidFill>
            <a:prstDash val="solid"/>
          </a:ln>
        </p:spPr>
      </p:sp>
      <p:sp>
        <p:nvSpPr>
          <p:cNvPr id="49" name="fx11@pop|tag"/>
          <p:cNvSpPr txBox="1"/>
          <p:nvPr/>
        </p:nvSpPr>
        <p:spPr>
          <a:xfrm>
            <a:off x="1752448" y="3945636"/>
            <a:ext cx="1392631" cy="287122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1.00</a:t>
            </a:r>
            <a:endParaRPr lang="en-US" sz="900" dirty="0"/>
          </a:p>
        </p:txBody>
      </p:sp>
      <p:sp>
        <p:nvSpPr>
          <p:cNvPr id="50" name="fx5|bar"/>
          <p:cNvSpPr/>
          <p:nvPr/>
        </p:nvSpPr>
        <p:spPr>
          <a:xfrm>
            <a:off x="7237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x5|name"/>
          <p:cNvSpPr txBox="1"/>
          <p:nvPr/>
        </p:nvSpPr>
        <p:spPr>
          <a:xfrm>
            <a:off x="8334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د. مطيع الجعفري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المشرف على المشروع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6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kicker"/>
          <p:cNvSpPr txBox="1"/>
          <p:nvPr/>
        </p:nvSpPr>
        <p:spPr>
          <a:xfrm>
            <a:off x="5760720" y="4114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3" name="Photo frame"/>
          <p:cNvSpPr/>
          <p:nvPr/>
        </p:nvSpPr>
        <p:spPr>
          <a:xfrm>
            <a:off x="768096" y="1088136"/>
            <a:ext cx="4453128" cy="4453128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45000"/>
              </a:srgbClr>
            </a:outerShdw>
          </a:effectLst>
        </p:spPr>
      </p:sp>
      <p:pic>
        <p:nvPicPr>
          <p:cNvPr id="4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343400" cy="4343400"/>
          </a:xfrm>
          <a:prstGeom prst="rect">
            <a:avLst/>
          </a:prstGeom>
        </p:spPr>
      </p:pic>
      <p:sp>
        <p:nvSpPr>
          <p:cNvPr id="5" name="fx1|brackets h0"/>
          <p:cNvSpPr/>
          <p:nvPr/>
        </p:nvSpPr>
        <p:spPr>
          <a:xfrm>
            <a:off x="59436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6" name="fx1|brackets v0"/>
          <p:cNvSpPr/>
          <p:nvPr/>
        </p:nvSpPr>
        <p:spPr>
          <a:xfrm>
            <a:off x="5943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7" name="fx1|brackets h1"/>
          <p:cNvSpPr/>
          <p:nvPr/>
        </p:nvSpPr>
        <p:spPr>
          <a:xfrm>
            <a:off x="507492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fx1|brackets v1"/>
          <p:cNvSpPr/>
          <p:nvPr/>
        </p:nvSpPr>
        <p:spPr>
          <a:xfrm>
            <a:off x="53949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9" name="fx1|brackets h2"/>
          <p:cNvSpPr/>
          <p:nvPr/>
        </p:nvSpPr>
        <p:spPr>
          <a:xfrm>
            <a:off x="59436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fx1|brackets v2"/>
          <p:cNvSpPr/>
          <p:nvPr/>
        </p:nvSpPr>
        <p:spPr>
          <a:xfrm>
            <a:off x="5943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fx1|brackets h3"/>
          <p:cNvSpPr/>
          <p:nvPr/>
        </p:nvSpPr>
        <p:spPr>
          <a:xfrm>
            <a:off x="507492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fx1|brackets v3"/>
          <p:cNvSpPr/>
          <p:nvPr/>
        </p:nvSpPr>
        <p:spPr>
          <a:xfrm>
            <a:off x="53949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pic>
        <p:nvPicPr>
          <p:cNvPr id="13" name="fx1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343400" cy="457200"/>
          </a:xfrm>
          <a:prstGeom prst="rect">
            <a:avLst/>
          </a:prstGeom>
        </p:spPr>
      </p:pic>
      <p:sp>
        <p:nvSpPr>
          <p:cNvPr id="14" name="fx3@zoom|face box"/>
          <p:cNvSpPr/>
          <p:nvPr/>
        </p:nvSpPr>
        <p:spPr>
          <a:xfrm>
            <a:off x="1778508" y="1403604"/>
            <a:ext cx="2432304" cy="2866644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5" name="fx4@pop|face tag"/>
          <p:cNvSpPr txBox="1"/>
          <p:nvPr/>
        </p:nvSpPr>
        <p:spPr>
          <a:xfrm>
            <a:off x="1778508" y="1129284"/>
            <a:ext cx="2118482" cy="35844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01  PERSON 0.99</a:t>
            </a:r>
            <a:endParaRPr lang="en-US" sz="1200" dirty="0"/>
          </a:p>
        </p:txBody>
      </p:sp>
      <p:sp>
        <p:nvSpPr>
          <p:cNvPr id="16" name="fx5@pop|ok#3d"/>
          <p:cNvSpPr txBox="1"/>
          <p:nvPr/>
        </p:nvSpPr>
        <p:spPr>
          <a:xfrm>
            <a:off x="1440180" y="5806440"/>
            <a:ext cx="31089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1"/>
                </a:solidFill>
              </a:rPr>
              <a:t>✓  تم التعرّف  •  IDENTIFIED</a:t>
            </a:r>
            <a:endParaRPr lang="ar-SA" sz="1500" dirty="0"/>
          </a:p>
        </p:txBody>
      </p:sp>
      <p:sp>
        <p:nvSpPr>
          <p:cNvPr id="17" name="fx2|card"/>
          <p:cNvSpPr/>
          <p:nvPr/>
        </p:nvSpPr>
        <p:spPr>
          <a:xfrm>
            <a:off x="5760720" y="1143000"/>
            <a:ext cx="5879592" cy="4846320"/>
          </a:xfrm>
          <a:prstGeom prst="roundRect">
            <a:avLst>
              <a:gd name="adj" fmla="val 264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fx2|card head"/>
          <p:cNvSpPr txBox="1"/>
          <p:nvPr/>
        </p:nvSpPr>
        <p:spPr>
          <a:xfrm>
            <a:off x="5760720" y="1143000"/>
            <a:ext cx="5879592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TEAM MEMBER ID</a:t>
            </a:r>
            <a:endParaRPr lang="ar-SA" sz="1700" dirty="0"/>
          </a:p>
        </p:txBody>
      </p:sp>
      <p:sp>
        <p:nvSpPr>
          <p:cNvPr id="19" name="fx6|lab"/>
          <p:cNvSpPr txBox="1"/>
          <p:nvPr/>
        </p:nvSpPr>
        <p:spPr>
          <a:xfrm>
            <a:off x="6035040" y="1920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0" name="fx6|v1"/>
          <p:cNvSpPr txBox="1"/>
          <p:nvPr/>
        </p:nvSpPr>
        <p:spPr>
          <a:xfrm>
            <a:off x="6035040" y="219456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عيسى إبراهيم شايع</a:t>
            </a:r>
            <a:endParaRPr lang="ar-SA" sz="2400" dirty="0"/>
          </a:p>
        </p:txBody>
      </p:sp>
      <p:sp>
        <p:nvSpPr>
          <p:cNvPr id="21" name="fx6|v2"/>
          <p:cNvSpPr txBox="1"/>
          <p:nvPr/>
        </p:nvSpPr>
        <p:spPr>
          <a:xfrm>
            <a:off x="6035040" y="26151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Eisa Ibrahim Shaye</a:t>
            </a:r>
            <a:endParaRPr lang="en-US" sz="1200" dirty="0"/>
          </a:p>
        </p:txBody>
      </p:sp>
      <p:sp>
        <p:nvSpPr>
          <p:cNvPr id="22" name="fx7|lab"/>
          <p:cNvSpPr txBox="1"/>
          <p:nvPr/>
        </p:nvSpPr>
        <p:spPr>
          <a:xfrm>
            <a:off x="6035040" y="29718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الدور  •  Role</a:t>
            </a:r>
            <a:endParaRPr lang="ar-SA" sz="1200" dirty="0"/>
          </a:p>
        </p:txBody>
      </p:sp>
      <p:sp>
        <p:nvSpPr>
          <p:cNvPr id="23" name="fx7|v1"/>
          <p:cNvSpPr txBox="1"/>
          <p:nvPr/>
        </p:nvSpPr>
        <p:spPr>
          <a:xfrm>
            <a:off x="6035040" y="324612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قائد الفريق ومدير المشروع</a:t>
            </a:r>
            <a:endParaRPr lang="ar-SA" sz="1800" dirty="0"/>
          </a:p>
        </p:txBody>
      </p:sp>
      <p:sp>
        <p:nvSpPr>
          <p:cNvPr id="24" name="fx7|v2"/>
          <p:cNvSpPr txBox="1"/>
          <p:nvPr/>
        </p:nvSpPr>
        <p:spPr>
          <a:xfrm>
            <a:off x="6035040" y="36667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Team Leader &amp; Project Manager</a:t>
            </a:r>
            <a:endParaRPr lang="en-US" sz="1200" dirty="0"/>
          </a:p>
        </p:txBody>
      </p:sp>
      <p:sp>
        <p:nvSpPr>
          <p:cNvPr id="25" name="fx8|lab"/>
          <p:cNvSpPr txBox="1"/>
          <p:nvPr/>
        </p:nvSpPr>
        <p:spPr>
          <a:xfrm>
            <a:off x="6035040" y="40233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المهام  •  Tasks</a:t>
            </a:r>
            <a:endParaRPr lang="ar-SA" sz="1200" dirty="0"/>
          </a:p>
        </p:txBody>
      </p:sp>
      <p:sp>
        <p:nvSpPr>
          <p:cNvPr id="26" name="fx8|v1"/>
          <p:cNvSpPr txBox="1"/>
          <p:nvPr/>
        </p:nvSpPr>
        <p:spPr>
          <a:xfrm>
            <a:off x="6035040" y="429768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تحليل المتطلبات وتنسيق دمج مكونات النظام</a:t>
            </a:r>
            <a:endParaRPr lang="ar-SA" sz="1800" dirty="0"/>
          </a:p>
        </p:txBody>
      </p:sp>
      <p:sp>
        <p:nvSpPr>
          <p:cNvPr id="27" name="fx9@pop|plate#3d"/>
          <p:cNvSpPr txBox="1"/>
          <p:nvPr/>
        </p:nvSpPr>
        <p:spPr>
          <a:xfrm>
            <a:off x="6035040" y="50749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01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8" name="fx9|code"/>
          <p:cNvSpPr txBox="1"/>
          <p:nvPr/>
        </p:nvSpPr>
        <p:spPr>
          <a:xfrm>
            <a:off x="9262872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  •  2026</a:t>
            </a:r>
            <a:endParaRPr lang="en-US" sz="120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42" dur="1800" accel="20000" decel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kicker"/>
          <p:cNvSpPr txBox="1"/>
          <p:nvPr/>
        </p:nvSpPr>
        <p:spPr>
          <a:xfrm>
            <a:off x="5760720" y="4114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3" name="Photo frame"/>
          <p:cNvSpPr/>
          <p:nvPr/>
        </p:nvSpPr>
        <p:spPr>
          <a:xfrm>
            <a:off x="768096" y="1088136"/>
            <a:ext cx="4453128" cy="4453128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45000"/>
              </a:srgbClr>
            </a:outerShdw>
          </a:effectLst>
        </p:spPr>
      </p:sp>
      <p:pic>
        <p:nvPicPr>
          <p:cNvPr id="4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343400" cy="4343400"/>
          </a:xfrm>
          <a:prstGeom prst="rect">
            <a:avLst/>
          </a:prstGeom>
        </p:spPr>
      </p:pic>
      <p:sp>
        <p:nvSpPr>
          <p:cNvPr id="5" name="fx1|brackets h0"/>
          <p:cNvSpPr/>
          <p:nvPr/>
        </p:nvSpPr>
        <p:spPr>
          <a:xfrm>
            <a:off x="59436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6" name="fx1|brackets v0"/>
          <p:cNvSpPr/>
          <p:nvPr/>
        </p:nvSpPr>
        <p:spPr>
          <a:xfrm>
            <a:off x="5943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7" name="fx1|brackets h1"/>
          <p:cNvSpPr/>
          <p:nvPr/>
        </p:nvSpPr>
        <p:spPr>
          <a:xfrm>
            <a:off x="507492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fx1|brackets v1"/>
          <p:cNvSpPr/>
          <p:nvPr/>
        </p:nvSpPr>
        <p:spPr>
          <a:xfrm>
            <a:off x="53949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9" name="fx1|brackets h2"/>
          <p:cNvSpPr/>
          <p:nvPr/>
        </p:nvSpPr>
        <p:spPr>
          <a:xfrm>
            <a:off x="59436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fx1|brackets v2"/>
          <p:cNvSpPr/>
          <p:nvPr/>
        </p:nvSpPr>
        <p:spPr>
          <a:xfrm>
            <a:off x="5943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fx1|brackets h3"/>
          <p:cNvSpPr/>
          <p:nvPr/>
        </p:nvSpPr>
        <p:spPr>
          <a:xfrm>
            <a:off x="507492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fx1|brackets v3"/>
          <p:cNvSpPr/>
          <p:nvPr/>
        </p:nvSpPr>
        <p:spPr>
          <a:xfrm>
            <a:off x="53949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pic>
        <p:nvPicPr>
          <p:cNvPr id="13" name="fx1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343400" cy="457200"/>
          </a:xfrm>
          <a:prstGeom prst="rect">
            <a:avLst/>
          </a:prstGeom>
        </p:spPr>
      </p:pic>
      <p:sp>
        <p:nvSpPr>
          <p:cNvPr id="14" name="fx3@zoom|face box"/>
          <p:cNvSpPr/>
          <p:nvPr/>
        </p:nvSpPr>
        <p:spPr>
          <a:xfrm>
            <a:off x="1778508" y="1403604"/>
            <a:ext cx="2432304" cy="2866644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5" name="fx4@pop|face tag"/>
          <p:cNvSpPr txBox="1"/>
          <p:nvPr/>
        </p:nvSpPr>
        <p:spPr>
          <a:xfrm>
            <a:off x="1778508" y="1129284"/>
            <a:ext cx="2118482" cy="35844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02  PERSON 0.98</a:t>
            </a:r>
            <a:endParaRPr lang="en-US" sz="1200" dirty="0"/>
          </a:p>
        </p:txBody>
      </p:sp>
      <p:sp>
        <p:nvSpPr>
          <p:cNvPr id="16" name="fx5@pop|ok#3d"/>
          <p:cNvSpPr txBox="1"/>
          <p:nvPr/>
        </p:nvSpPr>
        <p:spPr>
          <a:xfrm>
            <a:off x="1440180" y="5806440"/>
            <a:ext cx="31089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1"/>
                </a:solidFill>
              </a:rPr>
              <a:t>✓  تم التعرّف  •  IDENTIFIED</a:t>
            </a:r>
            <a:endParaRPr lang="ar-SA" sz="1500" dirty="0"/>
          </a:p>
        </p:txBody>
      </p:sp>
      <p:sp>
        <p:nvSpPr>
          <p:cNvPr id="17" name="fx2|card"/>
          <p:cNvSpPr/>
          <p:nvPr/>
        </p:nvSpPr>
        <p:spPr>
          <a:xfrm>
            <a:off x="5760720" y="1143000"/>
            <a:ext cx="5879592" cy="4846320"/>
          </a:xfrm>
          <a:prstGeom prst="roundRect">
            <a:avLst>
              <a:gd name="adj" fmla="val 264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fx2|card head"/>
          <p:cNvSpPr txBox="1"/>
          <p:nvPr/>
        </p:nvSpPr>
        <p:spPr>
          <a:xfrm>
            <a:off x="5760720" y="1143000"/>
            <a:ext cx="5879592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TEAM MEMBER ID</a:t>
            </a:r>
            <a:endParaRPr lang="ar-SA" sz="1700" dirty="0"/>
          </a:p>
        </p:txBody>
      </p:sp>
      <p:sp>
        <p:nvSpPr>
          <p:cNvPr id="19" name="fx6|lab"/>
          <p:cNvSpPr txBox="1"/>
          <p:nvPr/>
        </p:nvSpPr>
        <p:spPr>
          <a:xfrm>
            <a:off x="6035040" y="1920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0" name="fx6|v1"/>
          <p:cNvSpPr txBox="1"/>
          <p:nvPr/>
        </p:nvSpPr>
        <p:spPr>
          <a:xfrm>
            <a:off x="6035040" y="219456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محمد عبدالإله قريع</a:t>
            </a:r>
            <a:endParaRPr lang="ar-SA" sz="2400" dirty="0"/>
          </a:p>
        </p:txBody>
      </p:sp>
      <p:sp>
        <p:nvSpPr>
          <p:cNvPr id="21" name="fx6|v2"/>
          <p:cNvSpPr txBox="1"/>
          <p:nvPr/>
        </p:nvSpPr>
        <p:spPr>
          <a:xfrm>
            <a:off x="6035040" y="26151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Mohammed Abdulelah Qurai</a:t>
            </a:r>
            <a:endParaRPr lang="en-US" sz="1200" dirty="0"/>
          </a:p>
        </p:txBody>
      </p:sp>
      <p:sp>
        <p:nvSpPr>
          <p:cNvPr id="22" name="fx7|lab"/>
          <p:cNvSpPr txBox="1"/>
          <p:nvPr/>
        </p:nvSpPr>
        <p:spPr>
          <a:xfrm>
            <a:off x="6035040" y="29718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الدور  •  Role</a:t>
            </a:r>
            <a:endParaRPr lang="ar-SA" sz="1200" dirty="0"/>
          </a:p>
        </p:txBody>
      </p:sp>
      <p:sp>
        <p:nvSpPr>
          <p:cNvPr id="23" name="fx7|v1"/>
          <p:cNvSpPr txBox="1"/>
          <p:nvPr/>
        </p:nvSpPr>
        <p:spPr>
          <a:xfrm>
            <a:off x="6035040" y="324612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مطوّر تطبيق الهاتف</a:t>
            </a:r>
            <a:endParaRPr lang="ar-SA" sz="1800" dirty="0"/>
          </a:p>
        </p:txBody>
      </p:sp>
      <p:sp>
        <p:nvSpPr>
          <p:cNvPr id="24" name="fx7|v2"/>
          <p:cNvSpPr txBox="1"/>
          <p:nvPr/>
        </p:nvSpPr>
        <p:spPr>
          <a:xfrm>
            <a:off x="6035040" y="36667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Flutter Mobile Developer</a:t>
            </a:r>
            <a:endParaRPr lang="en-US" sz="1200" dirty="0"/>
          </a:p>
        </p:txBody>
      </p:sp>
      <p:sp>
        <p:nvSpPr>
          <p:cNvPr id="25" name="fx8|lab"/>
          <p:cNvSpPr txBox="1"/>
          <p:nvPr/>
        </p:nvSpPr>
        <p:spPr>
          <a:xfrm>
            <a:off x="6035040" y="40233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المهام  •  Tasks</a:t>
            </a:r>
            <a:endParaRPr lang="ar-SA" sz="1200" dirty="0"/>
          </a:p>
        </p:txBody>
      </p:sp>
      <p:sp>
        <p:nvSpPr>
          <p:cNvPr id="26" name="fx8|v1"/>
          <p:cNvSpPr txBox="1"/>
          <p:nvPr/>
        </p:nvSpPr>
        <p:spPr>
          <a:xfrm>
            <a:off x="6035040" y="429768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تطبيق المراقبة: تشغيل الكاميرا وإرسال البيانات</a:t>
            </a:r>
            <a:endParaRPr lang="ar-SA" sz="1800" dirty="0"/>
          </a:p>
        </p:txBody>
      </p:sp>
      <p:sp>
        <p:nvSpPr>
          <p:cNvPr id="27" name="fx9@pop|plate#3d"/>
          <p:cNvSpPr txBox="1"/>
          <p:nvPr/>
        </p:nvSpPr>
        <p:spPr>
          <a:xfrm>
            <a:off x="6035040" y="50749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02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8" name="fx9|code"/>
          <p:cNvSpPr txBox="1"/>
          <p:nvPr/>
        </p:nvSpPr>
        <p:spPr>
          <a:xfrm>
            <a:off x="9262872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  •  2026</a:t>
            </a:r>
            <a:endParaRPr lang="en-US" sz="120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42" dur="1800" accel="20000" decel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|police photo" descr="رجال المرور — الرقابة التقليد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7720" cy="6858000"/>
          </a:xfrm>
          <a:prstGeom prst="rect">
            <a:avLst/>
          </a:prstGeom>
        </p:spPr>
      </p:pic>
      <p:sp>
        <p:nvSpPr>
          <p:cNvPr id="3" name="fx1|caption"/>
          <p:cNvSpPr txBox="1"/>
          <p:nvPr/>
        </p:nvSpPr>
        <p:spPr>
          <a:xfrm>
            <a:off x="365760" y="5623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الرقابة التقليدية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43F5E"/>
                </a:solidFill>
              </a:rPr>
              <a:t>Traditional manual enforcement</a:t>
            </a:r>
            <a:endParaRPr lang="ar-SA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120640" y="365760"/>
            <a:ext cx="6519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مشكلة البحث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00584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500" b="1" dirty="0">
                <a:solidFill>
                  <a:schemeClr val="accent5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6" name="fx2|row"/>
          <p:cNvSpPr/>
          <p:nvPr/>
        </p:nvSpPr>
        <p:spPr>
          <a:xfrm>
            <a:off x="5120640" y="1600200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7" name="fx2|ic bg#3d"/>
          <p:cNvSpPr/>
          <p:nvPr/>
        </p:nvSpPr>
        <p:spPr>
          <a:xfrm>
            <a:off x="11018520" y="1700784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8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19656"/>
            <a:ext cx="237744" cy="237744"/>
          </a:xfrm>
          <a:prstGeom prst="rect">
            <a:avLst/>
          </a:prstGeom>
        </p:spPr>
      </p:pic>
      <p:sp>
        <p:nvSpPr>
          <p:cNvPr id="9" name="fx2|ar"/>
          <p:cNvSpPr txBox="1"/>
          <p:nvPr/>
        </p:nvSpPr>
        <p:spPr>
          <a:xfrm>
            <a:off x="5303520" y="16550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ارتفاع الحوادث بسبب تجاوز السرعة</a:t>
            </a:r>
            <a:endParaRPr lang="ar-SA" sz="1600" dirty="0"/>
          </a:p>
        </p:txBody>
      </p:sp>
      <p:sp>
        <p:nvSpPr>
          <p:cNvPr id="10" name="fx2|en"/>
          <p:cNvSpPr txBox="1"/>
          <p:nvPr/>
        </p:nvSpPr>
        <p:spPr>
          <a:xfrm>
            <a:off x="5303520" y="199339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Speed-related accidents</a:t>
            </a:r>
            <a:endParaRPr lang="en-US" sz="1100" dirty="0"/>
          </a:p>
        </p:txBody>
      </p:sp>
      <p:sp>
        <p:nvSpPr>
          <p:cNvPr id="11" name="fx3|row"/>
          <p:cNvSpPr/>
          <p:nvPr/>
        </p:nvSpPr>
        <p:spPr>
          <a:xfrm>
            <a:off x="5120640" y="2386584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2" name="fx3|ic bg#3d"/>
          <p:cNvSpPr/>
          <p:nvPr/>
        </p:nvSpPr>
        <p:spPr>
          <a:xfrm>
            <a:off x="11018520" y="2487168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3" name="fx3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606040"/>
            <a:ext cx="237744" cy="237744"/>
          </a:xfrm>
          <a:prstGeom prst="rect">
            <a:avLst/>
          </a:prstGeom>
        </p:spPr>
      </p:pic>
      <p:sp>
        <p:nvSpPr>
          <p:cNvPr id="14" name="fx3|ar"/>
          <p:cNvSpPr txBox="1"/>
          <p:nvPr/>
        </p:nvSpPr>
        <p:spPr>
          <a:xfrm>
            <a:off x="5303520" y="24414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غياب الرقابة المستمرة على الطرق</a:t>
            </a:r>
            <a:endParaRPr lang="ar-SA" sz="1600" dirty="0"/>
          </a:p>
        </p:txBody>
      </p:sp>
      <p:sp>
        <p:nvSpPr>
          <p:cNvPr id="15" name="fx3|en"/>
          <p:cNvSpPr txBox="1"/>
          <p:nvPr/>
        </p:nvSpPr>
        <p:spPr>
          <a:xfrm>
            <a:off x="5303520" y="27797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No continuous monitoring</a:t>
            </a:r>
            <a:endParaRPr lang="en-US" sz="1100" dirty="0"/>
          </a:p>
        </p:txBody>
      </p:sp>
      <p:sp>
        <p:nvSpPr>
          <p:cNvPr id="16" name="fx4|row"/>
          <p:cNvSpPr/>
          <p:nvPr/>
        </p:nvSpPr>
        <p:spPr>
          <a:xfrm>
            <a:off x="5120640" y="3172968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fx4|ic bg#3d"/>
          <p:cNvSpPr/>
          <p:nvPr/>
        </p:nvSpPr>
        <p:spPr>
          <a:xfrm>
            <a:off x="11018520" y="3273552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4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3392424"/>
            <a:ext cx="237744" cy="237744"/>
          </a:xfrm>
          <a:prstGeom prst="rect">
            <a:avLst/>
          </a:prstGeom>
        </p:spPr>
      </p:pic>
      <p:sp>
        <p:nvSpPr>
          <p:cNvPr id="19" name="fx4|ar"/>
          <p:cNvSpPr txBox="1"/>
          <p:nvPr/>
        </p:nvSpPr>
        <p:spPr>
          <a:xfrm>
            <a:off x="5303520" y="3227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أخطاء وتفاوت في الرقابة البشرية</a:t>
            </a:r>
            <a:endParaRPr lang="ar-SA" sz="1600" dirty="0"/>
          </a:p>
        </p:txBody>
      </p:sp>
      <p:sp>
        <p:nvSpPr>
          <p:cNvPr id="20" name="fx4|en"/>
          <p:cNvSpPr txBox="1"/>
          <p:nvPr/>
        </p:nvSpPr>
        <p:spPr>
          <a:xfrm>
            <a:off x="5303520" y="356616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Human error &amp; inconsistency</a:t>
            </a:r>
            <a:endParaRPr lang="en-US" sz="1100" dirty="0"/>
          </a:p>
        </p:txBody>
      </p:sp>
      <p:sp>
        <p:nvSpPr>
          <p:cNvPr id="21" name="fx5|row"/>
          <p:cNvSpPr/>
          <p:nvPr/>
        </p:nvSpPr>
        <p:spPr>
          <a:xfrm>
            <a:off x="5120640" y="3959352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2" name="fx5|ic bg#3d"/>
          <p:cNvSpPr/>
          <p:nvPr/>
        </p:nvSpPr>
        <p:spPr>
          <a:xfrm>
            <a:off x="11018520" y="4059936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3" name="fx5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4178808"/>
            <a:ext cx="237744" cy="237744"/>
          </a:xfrm>
          <a:prstGeom prst="rect">
            <a:avLst/>
          </a:prstGeom>
        </p:spPr>
      </p:pic>
      <p:sp>
        <p:nvSpPr>
          <p:cNvPr id="24" name="fx5|ar"/>
          <p:cNvSpPr txBox="1"/>
          <p:nvPr/>
        </p:nvSpPr>
        <p:spPr>
          <a:xfrm>
            <a:off x="5303520" y="401421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تأخر اكتشاف مخالفات السرعة</a:t>
            </a:r>
            <a:endParaRPr lang="ar-SA" sz="1600" dirty="0"/>
          </a:p>
        </p:txBody>
      </p:sp>
      <p:sp>
        <p:nvSpPr>
          <p:cNvPr id="25" name="fx5|en"/>
          <p:cNvSpPr txBox="1"/>
          <p:nvPr/>
        </p:nvSpPr>
        <p:spPr>
          <a:xfrm>
            <a:off x="5303520" y="43525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Delayed detection</a:t>
            </a:r>
            <a:endParaRPr lang="en-US" sz="1100" dirty="0"/>
          </a:p>
        </p:txBody>
      </p:sp>
      <p:sp>
        <p:nvSpPr>
          <p:cNvPr id="26" name="fx6|row"/>
          <p:cNvSpPr/>
          <p:nvPr/>
        </p:nvSpPr>
        <p:spPr>
          <a:xfrm>
            <a:off x="5120640" y="4745736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7" name="fx6|ic bg#3d"/>
          <p:cNvSpPr/>
          <p:nvPr/>
        </p:nvSpPr>
        <p:spPr>
          <a:xfrm>
            <a:off x="11018520" y="4846320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8" name="fx6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4965192"/>
            <a:ext cx="237744" cy="237744"/>
          </a:xfrm>
          <a:prstGeom prst="rect">
            <a:avLst/>
          </a:prstGeom>
        </p:spPr>
      </p:pic>
      <p:sp>
        <p:nvSpPr>
          <p:cNvPr id="29" name="fx6|ar"/>
          <p:cNvSpPr txBox="1"/>
          <p:nvPr/>
        </p:nvSpPr>
        <p:spPr>
          <a:xfrm>
            <a:off x="5303520" y="4800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ارتفاع تكلفة الرادارات التقليدية</a:t>
            </a:r>
            <a:endParaRPr lang="ar-SA" sz="1600" dirty="0"/>
          </a:p>
        </p:txBody>
      </p:sp>
      <p:sp>
        <p:nvSpPr>
          <p:cNvPr id="30" name="fx6|en"/>
          <p:cNvSpPr txBox="1"/>
          <p:nvPr/>
        </p:nvSpPr>
        <p:spPr>
          <a:xfrm>
            <a:off x="5303520" y="51389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Expensive radar systems</a:t>
            </a:r>
            <a:endParaRPr lang="en-US" sz="1100" dirty="0"/>
          </a:p>
        </p:txBody>
      </p:sp>
      <p:sp>
        <p:nvSpPr>
          <p:cNvPr id="31" name="fx7|row"/>
          <p:cNvSpPr/>
          <p:nvPr/>
        </p:nvSpPr>
        <p:spPr>
          <a:xfrm>
            <a:off x="5120640" y="5532120"/>
            <a:ext cx="651967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7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32" name="fx7|ic bg#3d"/>
          <p:cNvSpPr/>
          <p:nvPr/>
        </p:nvSpPr>
        <p:spPr>
          <a:xfrm>
            <a:off x="11018520" y="5632704"/>
            <a:ext cx="475488" cy="47548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3" name="fx7|ic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2" y="5751576"/>
            <a:ext cx="237744" cy="237744"/>
          </a:xfrm>
          <a:prstGeom prst="rect">
            <a:avLst/>
          </a:prstGeom>
        </p:spPr>
      </p:pic>
      <p:sp>
        <p:nvSpPr>
          <p:cNvPr id="34" name="fx7|ar"/>
          <p:cNvSpPr txBox="1"/>
          <p:nvPr/>
        </p:nvSpPr>
        <p:spPr>
          <a:xfrm>
            <a:off x="5303520" y="5586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ربط المخالفة بالمالك يدوياً</a:t>
            </a:r>
            <a:endParaRPr lang="ar-SA" sz="1600" dirty="0"/>
          </a:p>
        </p:txBody>
      </p:sp>
      <p:sp>
        <p:nvSpPr>
          <p:cNvPr id="35" name="fx7|en"/>
          <p:cNvSpPr txBox="1"/>
          <p:nvPr/>
        </p:nvSpPr>
        <p:spPr>
          <a:xfrm>
            <a:off x="5303520" y="59253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Manual owner linking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 الرقابة البشرية إلى الرقابة الذكية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From manual enforcement to AI-powered monitoring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6382512" y="1554480"/>
            <a:ext cx="5257800" cy="4617720"/>
          </a:xfrm>
          <a:prstGeom prst="roundRect">
            <a:avLst>
              <a:gd name="adj" fmla="val 2772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F43F5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5" name="fx0|img" descr="img/p_poli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28632" y="1783080"/>
            <a:ext cx="1783080" cy="2377440"/>
          </a:xfrm>
          <a:prstGeom prst="rect">
            <a:avLst/>
          </a:prstGeom>
        </p:spPr>
      </p:pic>
      <p:sp>
        <p:nvSpPr>
          <p:cNvPr id="6" name="fx0|head"/>
          <p:cNvSpPr txBox="1"/>
          <p:nvPr/>
        </p:nvSpPr>
        <p:spPr>
          <a:xfrm>
            <a:off x="6611112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43F5E"/>
                </a:solidFill>
              </a:rPr>
              <a:t>قبل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Before — Manual</a:t>
            </a:r>
            <a:endParaRPr lang="ar-SA" sz="2200" dirty="0"/>
          </a:p>
        </p:txBody>
      </p:sp>
      <p:pic>
        <p:nvPicPr>
          <p:cNvPr id="7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2834640"/>
            <a:ext cx="365760" cy="365760"/>
          </a:xfrm>
          <a:prstGeom prst="rect">
            <a:avLst/>
          </a:prstGeom>
        </p:spPr>
      </p:pic>
      <p:sp>
        <p:nvSpPr>
          <p:cNvPr id="8" name="fx1|t"/>
          <p:cNvSpPr txBox="1"/>
          <p:nvPr/>
        </p:nvSpPr>
        <p:spPr>
          <a:xfrm>
            <a:off x="6611112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تعتمد على رجال المرور</a:t>
            </a:r>
            <a:endParaRPr lang="ar-SA" sz="1500" dirty="0"/>
          </a:p>
        </p:txBody>
      </p:sp>
      <p:pic>
        <p:nvPicPr>
          <p:cNvPr id="9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3611880"/>
            <a:ext cx="365760" cy="365760"/>
          </a:xfrm>
          <a:prstGeom prst="rect">
            <a:avLst/>
          </a:prstGeom>
        </p:spPr>
      </p:pic>
      <p:sp>
        <p:nvSpPr>
          <p:cNvPr id="10" name="fx2|t"/>
          <p:cNvSpPr txBox="1"/>
          <p:nvPr/>
        </p:nvSpPr>
        <p:spPr>
          <a:xfrm>
            <a:off x="6611112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تغطية محدودة للطرق</a:t>
            </a:r>
            <a:endParaRPr lang="ar-SA" sz="1500" dirty="0"/>
          </a:p>
        </p:txBody>
      </p:sp>
      <p:pic>
        <p:nvPicPr>
          <p:cNvPr id="11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4389120"/>
            <a:ext cx="365760" cy="365760"/>
          </a:xfrm>
          <a:prstGeom prst="rect">
            <a:avLst/>
          </a:prstGeom>
        </p:spPr>
      </p:pic>
      <p:sp>
        <p:nvSpPr>
          <p:cNvPr id="12" name="fx3|t"/>
          <p:cNvSpPr txBox="1"/>
          <p:nvPr/>
        </p:nvSpPr>
        <p:spPr>
          <a:xfrm>
            <a:off x="6611112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عرضة للأخطاء البشرية</a:t>
            </a:r>
            <a:endParaRPr lang="ar-SA" sz="1500" dirty="0"/>
          </a:p>
        </p:txBody>
      </p:sp>
      <p:pic>
        <p:nvPicPr>
          <p:cNvPr id="13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2" y="5166360"/>
            <a:ext cx="365760" cy="365760"/>
          </a:xfrm>
          <a:prstGeom prst="rect">
            <a:avLst/>
          </a:prstGeom>
        </p:spPr>
      </p:pic>
      <p:sp>
        <p:nvSpPr>
          <p:cNvPr id="14" name="fx4|t"/>
          <p:cNvSpPr txBox="1"/>
          <p:nvPr/>
        </p:nvSpPr>
        <p:spPr>
          <a:xfrm>
            <a:off x="6611112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رادارات مكلفة</a:t>
            </a:r>
            <a:endParaRPr lang="ar-SA" sz="1500" dirty="0"/>
          </a:p>
        </p:txBody>
      </p:sp>
      <p:sp>
        <p:nvSpPr>
          <p:cNvPr id="15" name="fx5@pop|arrow"/>
          <p:cNvSpPr/>
          <p:nvPr/>
        </p:nvSpPr>
        <p:spPr>
          <a:xfrm>
            <a:off x="5833872" y="3566160"/>
            <a:ext cx="502920" cy="54864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x6|card"/>
          <p:cNvSpPr/>
          <p:nvPr/>
        </p:nvSpPr>
        <p:spPr>
          <a:xfrm>
            <a:off x="548640" y="1554480"/>
            <a:ext cx="5257800" cy="4617720"/>
          </a:xfrm>
          <a:prstGeom prst="roundRect">
            <a:avLst>
              <a:gd name="adj" fmla="val 2772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fx6|phone"/>
          <p:cNvSpPr/>
          <p:nvPr/>
        </p:nvSpPr>
        <p:spPr>
          <a:xfrm>
            <a:off x="4069080" y="1783080"/>
            <a:ext cx="1481328" cy="3108960"/>
          </a:xfrm>
          <a:prstGeom prst="roundRect">
            <a:avLst>
              <a:gd name="adj" fmla="val 12346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54000" dist="50800" dir="16200000">
              <a:srgbClr val="10B981">
                <a:alpha val="60000"/>
              </a:srgbClr>
            </a:outerShdw>
          </a:effectLst>
        </p:spPr>
      </p:sp>
      <p:pic>
        <p:nvPicPr>
          <p:cNvPr id="18" name="fx6|screen" descr="img/screen_monito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1847088"/>
            <a:ext cx="1353312" cy="2980944"/>
          </a:xfrm>
          <a:prstGeom prst="rect">
            <a:avLst/>
          </a:prstGeom>
        </p:spPr>
      </p:pic>
      <p:sp>
        <p:nvSpPr>
          <p:cNvPr id="19" name="fx6|head"/>
          <p:cNvSpPr txBox="1"/>
          <p:nvPr/>
        </p:nvSpPr>
        <p:spPr>
          <a:xfrm>
            <a:off x="777240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B981"/>
                </a:solidFill>
              </a:rPr>
              <a:t>بعد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After — Our System</a:t>
            </a:r>
            <a:endParaRPr lang="ar-SA" sz="2200" dirty="0"/>
          </a:p>
        </p:txBody>
      </p:sp>
      <p:pic>
        <p:nvPicPr>
          <p:cNvPr id="20" name="fx7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834640"/>
            <a:ext cx="365760" cy="365760"/>
          </a:xfrm>
          <a:prstGeom prst="rect">
            <a:avLst/>
          </a:prstGeom>
        </p:spPr>
      </p:pic>
      <p:sp>
        <p:nvSpPr>
          <p:cNvPr id="21" name="fx7|t"/>
          <p:cNvSpPr txBox="1"/>
          <p:nvPr/>
        </p:nvSpPr>
        <p:spPr>
          <a:xfrm>
            <a:off x="7772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هاتف ذكي يعمل ككاميرا</a:t>
            </a:r>
            <a:endParaRPr lang="ar-SA" sz="1500" dirty="0"/>
          </a:p>
        </p:txBody>
      </p:sp>
      <p:pic>
        <p:nvPicPr>
          <p:cNvPr id="22" name="fx8|ic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611880"/>
            <a:ext cx="365760" cy="365760"/>
          </a:xfrm>
          <a:prstGeom prst="rect">
            <a:avLst/>
          </a:prstGeom>
        </p:spPr>
      </p:pic>
      <p:sp>
        <p:nvSpPr>
          <p:cNvPr id="23" name="fx8|t"/>
          <p:cNvSpPr txBox="1"/>
          <p:nvPr/>
        </p:nvSpPr>
        <p:spPr>
          <a:xfrm>
            <a:off x="7772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مراقبة مستمرة 24/7</a:t>
            </a:r>
            <a:endParaRPr lang="ar-SA" sz="1500" dirty="0"/>
          </a:p>
        </p:txBody>
      </p:sp>
      <p:pic>
        <p:nvPicPr>
          <p:cNvPr id="24" name="fx9|ic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6120" y="4389120"/>
            <a:ext cx="365760" cy="365760"/>
          </a:xfrm>
          <a:prstGeom prst="rect">
            <a:avLst/>
          </a:prstGeom>
        </p:spPr>
      </p:pic>
      <p:sp>
        <p:nvSpPr>
          <p:cNvPr id="25" name="fx9|t"/>
          <p:cNvSpPr txBox="1"/>
          <p:nvPr/>
        </p:nvSpPr>
        <p:spPr>
          <a:xfrm>
            <a:off x="77724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رصد آلي ودقيق</a:t>
            </a:r>
            <a:endParaRPr lang="ar-SA" sz="1500" dirty="0"/>
          </a:p>
        </p:txBody>
      </p:sp>
      <p:pic>
        <p:nvPicPr>
          <p:cNvPr id="26" name="fx10|ic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120" y="5166360"/>
            <a:ext cx="365760" cy="365760"/>
          </a:xfrm>
          <a:prstGeom prst="rect">
            <a:avLst/>
          </a:prstGeom>
        </p:spPr>
      </p:pic>
      <p:sp>
        <p:nvSpPr>
          <p:cNvPr id="27" name="fx10|t"/>
          <p:cNvSpPr txBox="1"/>
          <p:nvPr/>
        </p:nvSpPr>
        <p:spPr>
          <a:xfrm>
            <a:off x="777240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تكلفة منخفضة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فكرة النظام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smartphone becomes a smart traffic camera</a:t>
            </a:r>
            <a:endParaRPr lang="en-US" sz="1500" dirty="0"/>
          </a:p>
        </p:txBody>
      </p:sp>
      <p:sp>
        <p:nvSpPr>
          <p:cNvPr id="4" name="fx0@zoom|phone body#tiltR"/>
          <p:cNvSpPr/>
          <p:nvPr/>
        </p:nvSpPr>
        <p:spPr>
          <a:xfrm>
            <a:off x="1143000" y="1417320"/>
            <a:ext cx="2331720" cy="4846320"/>
          </a:xfrm>
          <a:prstGeom prst="roundRect">
            <a:avLst>
              <a:gd name="adj" fmla="val 11765"/>
            </a:avLst>
          </a:prstGeom>
          <a:solidFill>
            <a:srgbClr val="0B0F1A"/>
          </a:solidFill>
          <a:ln w="31750">
            <a:solidFill>
              <a:srgbClr val="7083A8"/>
            </a:solidFill>
            <a:prstDash val="solid"/>
          </a:ln>
          <a:effectLst>
            <a:outerShdw sx="100000" sy="100000" kx="0" ky="0" algn="bl" rotWithShape="0" blurRad="355600" dist="50800" dir="16200000">
              <a:srgbClr val="22D3EE">
                <a:alpha val="60000"/>
              </a:srgbClr>
            </a:outerShdw>
          </a:effectLst>
        </p:spPr>
      </p:sp>
      <p:pic>
        <p:nvPicPr>
          <p:cNvPr id="5" name="fx0@zoom|phone screen#tiltR" descr="img/screen_moni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517904"/>
            <a:ext cx="2130552" cy="4645152"/>
          </a:xfrm>
          <a:prstGeom prst="rect">
            <a:avLst/>
          </a:prstGeom>
        </p:spPr>
      </p:pic>
      <p:sp>
        <p:nvSpPr>
          <p:cNvPr id="6" name="fx1|step"/>
          <p:cNvSpPr/>
          <p:nvPr/>
        </p:nvSpPr>
        <p:spPr>
          <a:xfrm>
            <a:off x="4480560" y="1508760"/>
            <a:ext cx="7159752" cy="1005840"/>
          </a:xfrm>
          <a:prstGeom prst="roundRect">
            <a:avLst>
              <a:gd name="adj" fmla="val 12727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7" name="fx1|num#3d"/>
          <p:cNvSpPr txBox="1"/>
          <p:nvPr/>
        </p:nvSpPr>
        <p:spPr>
          <a:xfrm>
            <a:off x="10863072" y="1709928"/>
            <a:ext cx="603504" cy="603504"/>
          </a:xfrm>
          <a:prstGeom prst="ellipse">
            <a:avLst/>
          </a:prstGeom>
          <a:solidFill>
            <a:srgbClr val="22D3E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pic>
        <p:nvPicPr>
          <p:cNvPr id="8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1783080"/>
            <a:ext cx="457200" cy="457200"/>
          </a:xfrm>
          <a:prstGeom prst="rect">
            <a:avLst/>
          </a:prstGeom>
        </p:spPr>
      </p:pic>
      <p:sp>
        <p:nvSpPr>
          <p:cNvPr id="9" name="fx1|ar"/>
          <p:cNvSpPr txBox="1"/>
          <p:nvPr/>
        </p:nvSpPr>
        <p:spPr>
          <a:xfrm>
            <a:off x="4663440" y="16002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الهاتف يصوّر الطريق</a:t>
            </a:r>
            <a:endParaRPr lang="ar-SA" sz="1900" dirty="0"/>
          </a:p>
        </p:txBody>
      </p:sp>
      <p:sp>
        <p:nvSpPr>
          <p:cNvPr id="10" name="fx1|sub"/>
          <p:cNvSpPr txBox="1"/>
          <p:nvPr/>
        </p:nvSpPr>
        <p:spPr>
          <a:xfrm>
            <a:off x="4663440" y="20391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هاتف مثبّت في موقع محدد يلتقط الفيديو باستمرار</a:t>
            </a:r>
            <a:endParaRPr lang="ar-SA" sz="1300" dirty="0"/>
          </a:p>
        </p:txBody>
      </p:sp>
      <p:sp>
        <p:nvSpPr>
          <p:cNvPr id="11" name="fx2|step"/>
          <p:cNvSpPr/>
          <p:nvPr/>
        </p:nvSpPr>
        <p:spPr>
          <a:xfrm>
            <a:off x="4480560" y="2697480"/>
            <a:ext cx="7159752" cy="1005840"/>
          </a:xfrm>
          <a:prstGeom prst="roundRect">
            <a:avLst>
              <a:gd name="adj" fmla="val 12727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6366F1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2" name="fx2|num#3d"/>
          <p:cNvSpPr txBox="1"/>
          <p:nvPr/>
        </p:nvSpPr>
        <p:spPr>
          <a:xfrm>
            <a:off x="10863072" y="2898648"/>
            <a:ext cx="603504" cy="603504"/>
          </a:xfrm>
          <a:prstGeom prst="ellipse">
            <a:avLst/>
          </a:prstGeom>
          <a:solidFill>
            <a:srgbClr val="6366F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pic>
        <p:nvPicPr>
          <p:cNvPr id="13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971800"/>
            <a:ext cx="457200" cy="457200"/>
          </a:xfrm>
          <a:prstGeom prst="rect">
            <a:avLst/>
          </a:prstGeom>
        </p:spPr>
      </p:pic>
      <p:sp>
        <p:nvSpPr>
          <p:cNvPr id="14" name="fx2|ar"/>
          <p:cNvSpPr txBox="1"/>
          <p:nvPr/>
        </p:nvSpPr>
        <p:spPr>
          <a:xfrm>
            <a:off x="4663440" y="27889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الذكاء الاصطناعي يحلّل</a:t>
            </a:r>
            <a:endParaRPr lang="ar-SA" sz="1900" dirty="0"/>
          </a:p>
        </p:txBody>
      </p:sp>
      <p:sp>
        <p:nvSpPr>
          <p:cNvPr id="15" name="fx2|sub"/>
          <p:cNvSpPr txBox="1"/>
          <p:nvPr/>
        </p:nvSpPr>
        <p:spPr>
          <a:xfrm>
            <a:off x="4663440" y="3227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اكتشاف وتتبع المركبات وحساب سرعتها</a:t>
            </a:r>
            <a:endParaRPr lang="ar-SA" sz="1300" dirty="0"/>
          </a:p>
        </p:txBody>
      </p:sp>
      <p:sp>
        <p:nvSpPr>
          <p:cNvPr id="16" name="fx3|step"/>
          <p:cNvSpPr/>
          <p:nvPr/>
        </p:nvSpPr>
        <p:spPr>
          <a:xfrm>
            <a:off x="4480560" y="3886200"/>
            <a:ext cx="7159752" cy="1005840"/>
          </a:xfrm>
          <a:prstGeom prst="roundRect">
            <a:avLst>
              <a:gd name="adj" fmla="val 12727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F43F5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fx3|num#3d"/>
          <p:cNvSpPr txBox="1"/>
          <p:nvPr/>
        </p:nvSpPr>
        <p:spPr>
          <a:xfrm>
            <a:off x="10863072" y="4087368"/>
            <a:ext cx="603504" cy="603504"/>
          </a:xfrm>
          <a:prstGeom prst="ellipse">
            <a:avLst/>
          </a:prstGeom>
          <a:solidFill>
            <a:srgbClr val="F43F5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pic>
        <p:nvPicPr>
          <p:cNvPr id="18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4160520"/>
            <a:ext cx="457200" cy="457200"/>
          </a:xfrm>
          <a:prstGeom prst="rect">
            <a:avLst/>
          </a:prstGeom>
        </p:spPr>
      </p:pic>
      <p:sp>
        <p:nvSpPr>
          <p:cNvPr id="19" name="fx3|ar"/>
          <p:cNvSpPr txBox="1"/>
          <p:nvPr/>
        </p:nvSpPr>
        <p:spPr>
          <a:xfrm>
            <a:off x="4663440" y="39776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رصد المخالفة وتوثيقها</a:t>
            </a:r>
            <a:endParaRPr lang="ar-SA" sz="1900" dirty="0"/>
          </a:p>
        </p:txBody>
      </p:sp>
      <p:sp>
        <p:nvSpPr>
          <p:cNvPr id="20" name="fx3|sub"/>
          <p:cNvSpPr txBox="1"/>
          <p:nvPr/>
        </p:nvSpPr>
        <p:spPr>
          <a:xfrm>
            <a:off x="4663440" y="44165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صورة المركبة + السرعة + قراءة اللوحة</a:t>
            </a:r>
            <a:endParaRPr lang="ar-SA" sz="1300" dirty="0"/>
          </a:p>
        </p:txBody>
      </p:sp>
      <p:sp>
        <p:nvSpPr>
          <p:cNvPr id="21" name="fx4|step"/>
          <p:cNvSpPr/>
          <p:nvPr/>
        </p:nvSpPr>
        <p:spPr>
          <a:xfrm>
            <a:off x="4480560" y="5074920"/>
            <a:ext cx="7159752" cy="1005840"/>
          </a:xfrm>
          <a:prstGeom prst="roundRect">
            <a:avLst>
              <a:gd name="adj" fmla="val 12727"/>
            </a:avLst>
          </a:prstGeom>
          <a:solidFill>
            <a:schemeClr val="tx2">
              <a:alpha val="85000"/>
            </a:schemeClr>
          </a:solidFill>
          <a:ln w="12700">
            <a:solidFill>
              <a:srgbClr val="E2BA52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2" name="fx4|num#3d"/>
          <p:cNvSpPr txBox="1"/>
          <p:nvPr/>
        </p:nvSpPr>
        <p:spPr>
          <a:xfrm>
            <a:off x="10863072" y="5276088"/>
            <a:ext cx="603504" cy="603504"/>
          </a:xfrm>
          <a:prstGeom prst="ellipse">
            <a:avLst/>
          </a:prstGeom>
          <a:solidFill>
            <a:srgbClr val="E2BA5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pic>
        <p:nvPicPr>
          <p:cNvPr id="23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5349240"/>
            <a:ext cx="457200" cy="457200"/>
          </a:xfrm>
          <a:prstGeom prst="rect">
            <a:avLst/>
          </a:prstGeom>
        </p:spPr>
      </p:pic>
      <p:sp>
        <p:nvSpPr>
          <p:cNvPr id="24" name="fx4|ar"/>
          <p:cNvSpPr txBox="1"/>
          <p:nvPr/>
        </p:nvSpPr>
        <p:spPr>
          <a:xfrm>
            <a:off x="4663440" y="51663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الخادم ولوحة التحكم</a:t>
            </a:r>
            <a:endParaRPr lang="ar-SA" sz="1900" dirty="0"/>
          </a:p>
        </p:txBody>
      </p:sp>
      <p:sp>
        <p:nvSpPr>
          <p:cNvPr id="25" name="fx4|sub"/>
          <p:cNvSpPr txBox="1"/>
          <p:nvPr/>
        </p:nvSpPr>
        <p:spPr>
          <a:xfrm>
            <a:off x="4663440" y="56052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ربط المخالفة بالمالك ومراجعتها واعتمادها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اكتشاف المركبات وتتبعها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YOLO Detection  •  ByteTrack Tracking</a:t>
            </a:r>
            <a:endParaRPr lang="en-US" sz="1500" dirty="0"/>
          </a:p>
        </p:txBody>
      </p:sp>
      <p:sp>
        <p:nvSpPr>
          <p:cNvPr id="4" name="Scene frame"/>
          <p:cNvSpPr/>
          <p:nvPr/>
        </p:nvSpPr>
        <p:spPr>
          <a:xfrm>
            <a:off x="457200" y="1417320"/>
            <a:ext cx="7315200" cy="4154805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50000"/>
              </a:srgbClr>
            </a:outerShdw>
          </a:effectLst>
        </p:spPr>
      </p:sp>
      <p:pic>
        <p:nvPicPr>
          <p:cNvPr id="5" name="Real traffic photo" descr="طريق مزدحم ليلا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223760" cy="4063365"/>
          </a:xfrm>
          <a:prstGeom prst="rect">
            <a:avLst/>
          </a:prstGeom>
        </p:spPr>
      </p:pic>
      <p:sp>
        <p:nvSpPr>
          <p:cNvPr id="6" name="fx1@zoom|box car4"/>
          <p:cNvSpPr/>
          <p:nvPr/>
        </p:nvSpPr>
        <p:spPr>
          <a:xfrm>
            <a:off x="2355814" y="3973297"/>
            <a:ext cx="465933" cy="379247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fx1@pop|lab car4"/>
          <p:cNvSpPr txBox="1"/>
          <p:nvPr/>
        </p:nvSpPr>
        <p:spPr>
          <a:xfrm>
            <a:off x="2355814" y="3790417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12 0.91</a:t>
            </a:r>
            <a:endParaRPr lang="en-US" sz="700" dirty="0"/>
          </a:p>
        </p:txBody>
      </p:sp>
      <p:sp>
        <p:nvSpPr>
          <p:cNvPr id="8" name="fx1@zoom|box truck"/>
          <p:cNvSpPr/>
          <p:nvPr/>
        </p:nvSpPr>
        <p:spPr>
          <a:xfrm>
            <a:off x="3168487" y="3955237"/>
            <a:ext cx="483992" cy="556230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fx1@pop|lab truck"/>
          <p:cNvSpPr txBox="1"/>
          <p:nvPr/>
        </p:nvSpPr>
        <p:spPr>
          <a:xfrm>
            <a:off x="3168487" y="3772357"/>
            <a:ext cx="1186525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08 TRUCK 0.90</a:t>
            </a:r>
            <a:endParaRPr lang="en-US" sz="700" dirty="0"/>
          </a:p>
        </p:txBody>
      </p:sp>
      <p:sp>
        <p:nvSpPr>
          <p:cNvPr id="10" name="fx6@pop|spd truck"/>
          <p:cNvSpPr txBox="1"/>
          <p:nvPr/>
        </p:nvSpPr>
        <p:spPr>
          <a:xfrm>
            <a:off x="3168487" y="4511467"/>
            <a:ext cx="621975" cy="239573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km/h</a:t>
            </a:r>
            <a:endParaRPr lang="en-US" sz="700" dirty="0"/>
          </a:p>
        </p:txBody>
      </p:sp>
      <p:sp>
        <p:nvSpPr>
          <p:cNvPr id="11" name="fx2@zoom|box suv"/>
          <p:cNvSpPr/>
          <p:nvPr/>
        </p:nvSpPr>
        <p:spPr>
          <a:xfrm>
            <a:off x="6361389" y="4334485"/>
            <a:ext cx="758495" cy="567065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fx2@pop|lab suv"/>
          <p:cNvSpPr txBox="1"/>
          <p:nvPr/>
        </p:nvSpPr>
        <p:spPr>
          <a:xfrm>
            <a:off x="6361389" y="4151605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14 0.95</a:t>
            </a:r>
            <a:endParaRPr lang="en-US" sz="700" dirty="0"/>
          </a:p>
        </p:txBody>
      </p:sp>
      <p:sp>
        <p:nvSpPr>
          <p:cNvPr id="13" name="fx6@pop|spd suv"/>
          <p:cNvSpPr txBox="1"/>
          <p:nvPr/>
        </p:nvSpPr>
        <p:spPr>
          <a:xfrm>
            <a:off x="6361389" y="4901550"/>
            <a:ext cx="621975" cy="239573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km/h</a:t>
            </a:r>
            <a:endParaRPr lang="en-US" sz="700" dirty="0"/>
          </a:p>
        </p:txBody>
      </p:sp>
      <p:sp>
        <p:nvSpPr>
          <p:cNvPr id="14" name="fx2@zoom|box white"/>
          <p:cNvSpPr/>
          <p:nvPr/>
        </p:nvSpPr>
        <p:spPr>
          <a:xfrm>
            <a:off x="2930103" y="4641494"/>
            <a:ext cx="693481" cy="592348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fx2@pop|lab white"/>
          <p:cNvSpPr txBox="1"/>
          <p:nvPr/>
        </p:nvSpPr>
        <p:spPr>
          <a:xfrm>
            <a:off x="2930103" y="4458614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03 0.97</a:t>
            </a:r>
            <a:endParaRPr lang="en-US" sz="700" dirty="0"/>
          </a:p>
        </p:txBody>
      </p:sp>
      <p:sp>
        <p:nvSpPr>
          <p:cNvPr id="16" name="fx6@pop|spd white"/>
          <p:cNvSpPr txBox="1"/>
          <p:nvPr/>
        </p:nvSpPr>
        <p:spPr>
          <a:xfrm>
            <a:off x="2930103" y="5233843"/>
            <a:ext cx="621975" cy="239573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km/h</a:t>
            </a:r>
            <a:endParaRPr lang="en-US" sz="700" dirty="0"/>
          </a:p>
        </p:txBody>
      </p:sp>
      <p:sp>
        <p:nvSpPr>
          <p:cNvPr id="17" name="fx3@zoom|box dark"/>
          <p:cNvSpPr/>
          <p:nvPr/>
        </p:nvSpPr>
        <p:spPr>
          <a:xfrm>
            <a:off x="4233992" y="4450065"/>
            <a:ext cx="574289" cy="632079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fx3@pop|lab dark"/>
          <p:cNvSpPr txBox="1"/>
          <p:nvPr/>
        </p:nvSpPr>
        <p:spPr>
          <a:xfrm>
            <a:off x="4233992" y="4267185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06 0.96</a:t>
            </a:r>
            <a:endParaRPr lang="en-US" sz="700" dirty="0"/>
          </a:p>
        </p:txBody>
      </p:sp>
      <p:sp>
        <p:nvSpPr>
          <p:cNvPr id="19" name="fx6@pop|spd dark"/>
          <p:cNvSpPr txBox="1"/>
          <p:nvPr/>
        </p:nvSpPr>
        <p:spPr>
          <a:xfrm>
            <a:off x="4233992" y="5082144"/>
            <a:ext cx="621975" cy="239573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km/h</a:t>
            </a:r>
            <a:endParaRPr lang="en-US" sz="700" dirty="0"/>
          </a:p>
        </p:txBody>
      </p:sp>
      <p:sp>
        <p:nvSpPr>
          <p:cNvPr id="20" name="fx3@zoom|box van"/>
          <p:cNvSpPr/>
          <p:nvPr/>
        </p:nvSpPr>
        <p:spPr>
          <a:xfrm>
            <a:off x="5216423" y="4403110"/>
            <a:ext cx="819897" cy="751271"/>
          </a:xfrm>
          <a:prstGeom prst="rect">
            <a:avLst/>
          </a:prstGeom>
          <a:solidFill>
            <a:srgbClr val="F43F5E">
              <a:alpha val="15000"/>
            </a:srgbClr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21" name="fx3@pop|lab van"/>
          <p:cNvSpPr txBox="1"/>
          <p:nvPr/>
        </p:nvSpPr>
        <p:spPr>
          <a:xfrm>
            <a:off x="5216423" y="4220230"/>
            <a:ext cx="1061070" cy="239573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07 VAN 0.98</a:t>
            </a:r>
            <a:endParaRPr lang="en-US" sz="700" dirty="0"/>
          </a:p>
        </p:txBody>
      </p:sp>
      <p:sp>
        <p:nvSpPr>
          <p:cNvPr id="22" name="fx7@pop|spd van"/>
          <p:cNvSpPr txBox="1"/>
          <p:nvPr/>
        </p:nvSpPr>
        <p:spPr>
          <a:xfrm>
            <a:off x="5216423" y="5154381"/>
            <a:ext cx="747431" cy="287122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km/h</a:t>
            </a:r>
            <a:endParaRPr lang="en-US" sz="900" dirty="0"/>
          </a:p>
        </p:txBody>
      </p:sp>
      <p:sp>
        <p:nvSpPr>
          <p:cNvPr id="23" name="fx8@pop|violation#3d"/>
          <p:cNvSpPr txBox="1"/>
          <p:nvPr/>
        </p:nvSpPr>
        <p:spPr>
          <a:xfrm>
            <a:off x="4711972" y="5373837"/>
            <a:ext cx="1828800" cy="292608"/>
          </a:xfrm>
          <a:prstGeom prst="rect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مخالفة  •  VIOLATION</a:t>
            </a:r>
            <a:endParaRPr lang="ar-SA" sz="1100" dirty="0"/>
          </a:p>
        </p:txBody>
      </p:sp>
      <p:sp>
        <p:nvSpPr>
          <p:cNvPr id="24" name="fx1|step"/>
          <p:cNvSpPr/>
          <p:nvPr/>
        </p:nvSpPr>
        <p:spPr>
          <a:xfrm>
            <a:off x="8001000" y="1463040"/>
            <a:ext cx="3639312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5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1709928"/>
            <a:ext cx="420624" cy="420624"/>
          </a:xfrm>
          <a:prstGeom prst="rect">
            <a:avLst/>
          </a:prstGeom>
        </p:spPr>
      </p:pic>
      <p:sp>
        <p:nvSpPr>
          <p:cNvPr id="26" name="fx1|ar"/>
          <p:cNvSpPr txBox="1"/>
          <p:nvPr/>
        </p:nvSpPr>
        <p:spPr>
          <a:xfrm>
            <a:off x="813816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اكتشاف المركبات</a:t>
            </a:r>
            <a:endParaRPr lang="ar-SA" sz="1600" dirty="0"/>
          </a:p>
        </p:txBody>
      </p:sp>
      <p:sp>
        <p:nvSpPr>
          <p:cNvPr id="27" name="fx1|sub"/>
          <p:cNvSpPr txBox="1"/>
          <p:nvPr/>
        </p:nvSpPr>
        <p:spPr>
          <a:xfrm>
            <a:off x="8138160" y="1938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YOLO: الموقع والنوع ودرجة الثقة</a:t>
            </a:r>
            <a:endParaRPr lang="ar-SA" sz="1100" dirty="0"/>
          </a:p>
        </p:txBody>
      </p:sp>
      <p:sp>
        <p:nvSpPr>
          <p:cNvPr id="28" name="fx4|step"/>
          <p:cNvSpPr/>
          <p:nvPr/>
        </p:nvSpPr>
        <p:spPr>
          <a:xfrm>
            <a:off x="8001000" y="2514600"/>
            <a:ext cx="3639312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9" name="fx4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2761488"/>
            <a:ext cx="420624" cy="420624"/>
          </a:xfrm>
          <a:prstGeom prst="rect">
            <a:avLst/>
          </a:prstGeom>
        </p:spPr>
      </p:pic>
      <p:sp>
        <p:nvSpPr>
          <p:cNvPr id="30" name="fx4|ar"/>
          <p:cNvSpPr txBox="1"/>
          <p:nvPr/>
        </p:nvSpPr>
        <p:spPr>
          <a:xfrm>
            <a:off x="8138160" y="2606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تتبع كل مركبة</a:t>
            </a:r>
            <a:endParaRPr lang="ar-SA" sz="1600" dirty="0"/>
          </a:p>
        </p:txBody>
      </p:sp>
      <p:sp>
        <p:nvSpPr>
          <p:cNvPr id="31" name="fx4|sub"/>
          <p:cNvSpPr txBox="1"/>
          <p:nvPr/>
        </p:nvSpPr>
        <p:spPr>
          <a:xfrm>
            <a:off x="8138160" y="29900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ByteTrack: معرّف ثابت ومسار الحركة</a:t>
            </a:r>
            <a:endParaRPr lang="ar-SA" sz="1100" dirty="0"/>
          </a:p>
        </p:txBody>
      </p:sp>
      <p:sp>
        <p:nvSpPr>
          <p:cNvPr id="32" name="fx6|step"/>
          <p:cNvSpPr/>
          <p:nvPr/>
        </p:nvSpPr>
        <p:spPr>
          <a:xfrm>
            <a:off x="8001000" y="3566160"/>
            <a:ext cx="3639312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3" name="fx6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3813048"/>
            <a:ext cx="420624" cy="420624"/>
          </a:xfrm>
          <a:prstGeom prst="rect">
            <a:avLst/>
          </a:prstGeom>
        </p:spPr>
      </p:pic>
      <p:sp>
        <p:nvSpPr>
          <p:cNvPr id="34" name="fx6|ar"/>
          <p:cNvSpPr txBox="1"/>
          <p:nvPr/>
        </p:nvSpPr>
        <p:spPr>
          <a:xfrm>
            <a:off x="8138160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حساب السرعة</a:t>
            </a:r>
            <a:endParaRPr lang="ar-SA" sz="1600" dirty="0"/>
          </a:p>
        </p:txBody>
      </p:sp>
      <p:sp>
        <p:nvSpPr>
          <p:cNvPr id="35" name="fx6|sub"/>
          <p:cNvSpPr txBox="1"/>
          <p:nvPr/>
        </p:nvSpPr>
        <p:spPr>
          <a:xfrm>
            <a:off x="8138160" y="40416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المسافة ÷ الزمن بعد معايرة الطريق</a:t>
            </a:r>
            <a:endParaRPr lang="ar-SA" sz="1100" dirty="0"/>
          </a:p>
        </p:txBody>
      </p:sp>
      <p:sp>
        <p:nvSpPr>
          <p:cNvPr id="36" name="fx8|step"/>
          <p:cNvSpPr/>
          <p:nvPr/>
        </p:nvSpPr>
        <p:spPr>
          <a:xfrm>
            <a:off x="8001000" y="4617720"/>
            <a:ext cx="3639312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7" name="fx8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4864608"/>
            <a:ext cx="420624" cy="420624"/>
          </a:xfrm>
          <a:prstGeom prst="rect">
            <a:avLst/>
          </a:prstGeom>
        </p:spPr>
      </p:pic>
      <p:sp>
        <p:nvSpPr>
          <p:cNvPr id="38" name="fx8|ar"/>
          <p:cNvSpPr txBox="1"/>
          <p:nvPr/>
        </p:nvSpPr>
        <p:spPr>
          <a:xfrm>
            <a:off x="8138160" y="4709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رصد المخالفة</a:t>
            </a:r>
            <a:endParaRPr lang="ar-SA" sz="1600" dirty="0"/>
          </a:p>
        </p:txBody>
      </p:sp>
      <p:sp>
        <p:nvSpPr>
          <p:cNvPr id="39" name="fx8|sub"/>
          <p:cNvSpPr txBox="1"/>
          <p:nvPr/>
        </p:nvSpPr>
        <p:spPr>
          <a:xfrm>
            <a:off x="8138160" y="5093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سرعة 92 أكبر من الحد 60</a:t>
            </a:r>
            <a:endParaRPr lang="ar-SA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حساب سرعة المركبة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Speed Estimation  •  V = D / T</a:t>
            </a:r>
            <a:endParaRPr lang="en-US" sz="1500" dirty="0"/>
          </a:p>
        </p:txBody>
      </p:sp>
      <p:pic>
        <p:nvPicPr>
          <p:cNvPr id="4" name="fx0@zoom|gauge" descr="img/gauge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63040"/>
            <a:ext cx="4206240" cy="4206240"/>
          </a:xfrm>
          <a:prstGeom prst="rect">
            <a:avLst/>
          </a:prstGeom>
        </p:spPr>
      </p:pic>
      <p:pic>
        <p:nvPicPr>
          <p:cNvPr id="5" name="fx1@spin(138,2200)|needle" descr="img/gauge_nee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4206240" cy="4206240"/>
          </a:xfrm>
          <a:prstGeom prst="rect">
            <a:avLst/>
          </a:prstGeom>
        </p:spPr>
      </p:pic>
      <p:sp>
        <p:nvSpPr>
          <p:cNvPr id="6" name="fx11@pop|readout"/>
          <p:cNvSpPr txBox="1"/>
          <p:nvPr/>
        </p:nvSpPr>
        <p:spPr>
          <a:xfrm>
            <a:off x="8275320" y="432328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km/h</a:t>
            </a:r>
            <a:endParaRPr lang="en-US" sz="3000" dirty="0"/>
          </a:p>
        </p:txBody>
      </p:sp>
      <p:sp>
        <p:nvSpPr>
          <p:cNvPr id="7" name="fx1|formula card"/>
          <p:cNvSpPr/>
          <p:nvPr/>
        </p:nvSpPr>
        <p:spPr>
          <a:xfrm>
            <a:off x="548640" y="1508760"/>
            <a:ext cx="6309360" cy="1691640"/>
          </a:xfrm>
          <a:prstGeom prst="roundRect">
            <a:avLst>
              <a:gd name="adj" fmla="val 7568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8" name="fx1|formula"/>
          <p:cNvSpPr txBox="1"/>
          <p:nvPr/>
        </p:nvSpPr>
        <p:spPr>
          <a:xfrm>
            <a:off x="548640" y="1572768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 / T</a:t>
            </a:r>
            <a:endParaRPr lang="en-US" sz="4800" dirty="0"/>
          </a:p>
        </p:txBody>
      </p:sp>
      <p:sp>
        <p:nvSpPr>
          <p:cNvPr id="9" name="fx2|f ar"/>
          <p:cNvSpPr txBox="1"/>
          <p:nvPr/>
        </p:nvSpPr>
        <p:spPr>
          <a:xfrm>
            <a:off x="73152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السرعة = المسافة الحقيقية ÷ الزمن المستغرق</a:t>
            </a:r>
            <a:endParaRPr lang="ar-SA" sz="1600" dirty="0"/>
          </a:p>
        </p:txBody>
      </p:sp>
      <p:sp>
        <p:nvSpPr>
          <p:cNvPr id="10" name="fx3|example"/>
          <p:cNvSpPr/>
          <p:nvPr/>
        </p:nvSpPr>
        <p:spPr>
          <a:xfrm>
            <a:off x="548640" y="3383280"/>
            <a:ext cx="6309360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fx3|ex"/>
          <p:cNvSpPr txBox="1"/>
          <p:nvPr/>
        </p:nvSpPr>
        <p:spPr>
          <a:xfrm>
            <a:off x="731520" y="345643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مثال: 20 متراً في ثانية واحدة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22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m/s × 3.6 = 72 km/h</a:t>
            </a:r>
            <a:endParaRPr lang="ar-SA" sz="1500" dirty="0"/>
          </a:p>
        </p:txBody>
      </p:sp>
      <p:sp>
        <p:nvSpPr>
          <p:cNvPr id="12" name="fx12|compare"/>
          <p:cNvSpPr/>
          <p:nvPr/>
        </p:nvSpPr>
        <p:spPr>
          <a:xfrm>
            <a:off x="548640" y="4800600"/>
            <a:ext cx="6309360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3" name="fx12|limit#3d"/>
          <p:cNvSpPr txBox="1"/>
          <p:nvPr/>
        </p:nvSpPr>
        <p:spPr>
          <a:xfrm>
            <a:off x="5715000" y="4983480"/>
            <a:ext cx="960120" cy="96012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</a:rPr>
              <a:t>60</a:t>
            </a:r>
            <a:endParaRPr lang="en-US" sz="2600" dirty="0"/>
          </a:p>
        </p:txBody>
      </p:sp>
      <p:sp>
        <p:nvSpPr>
          <p:cNvPr id="14" name="fx13@pop|result"/>
          <p:cNvSpPr txBox="1"/>
          <p:nvPr/>
        </p:nvSpPr>
        <p:spPr>
          <a:xfrm>
            <a:off x="731520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الحد القانوني 60  ←  السرعة 92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800" b="1" dirty="0">
                <a:solidFill>
                  <a:srgbClr val="F43F5E"/>
                </a:solidFill>
              </a:rPr>
              <a:t>مخالفة: تجاوز بمقدار +32 km/h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8280000">
                                      <p:cBhvr>
                                        <p:cTn id="11" dur="2200" decel="6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التعرّف على لوحة المركبة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License Plate Recognition — PaddleOCR</a:t>
            </a:r>
            <a:endParaRPr lang="en-US" sz="1500" dirty="0"/>
          </a:p>
        </p:txBody>
      </p:sp>
      <p:sp>
        <p:nvSpPr>
          <p:cNvPr id="4" name="Car frame"/>
          <p:cNvSpPr/>
          <p:nvPr/>
        </p:nvSpPr>
        <p:spPr>
          <a:xfrm>
            <a:off x="502920" y="1417320"/>
            <a:ext cx="4754880" cy="4636022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45000"/>
              </a:srgbClr>
            </a:outerShdw>
          </a:effectLst>
        </p:spPr>
      </p:sp>
      <p:pic>
        <p:nvPicPr>
          <p:cNvPr id="5" name="fx0|car photo" descr="المركبة المخالف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63440" cy="4544582"/>
          </a:xfrm>
          <a:prstGeom prst="rect">
            <a:avLst/>
          </a:prstGeom>
        </p:spPr>
      </p:pic>
      <p:pic>
        <p:nvPicPr>
          <p:cNvPr id="6" name="fx1@move(0,0.68,16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663440" cy="457200"/>
          </a:xfrm>
          <a:prstGeom prst="rect">
            <a:avLst/>
          </a:prstGeom>
        </p:spPr>
      </p:pic>
      <p:sp>
        <p:nvSpPr>
          <p:cNvPr id="7" name="fx3@zoom|plate box"/>
          <p:cNvSpPr/>
          <p:nvPr/>
        </p:nvSpPr>
        <p:spPr>
          <a:xfrm>
            <a:off x="2231205" y="3547625"/>
            <a:ext cx="1336765" cy="382403"/>
          </a:xfrm>
          <a:prstGeom prst="rect">
            <a:avLst/>
          </a:prstGeom>
          <a:solidFill>
            <a:srgbClr val="E2BA52">
              <a:alpha val="0"/>
            </a:srgbClr>
          </a:solidFill>
          <a:ln w="31750">
            <a:solidFill>
              <a:srgbClr val="E2BA52"/>
            </a:solidFill>
            <a:prstDash val="solid"/>
          </a:ln>
        </p:spPr>
      </p:sp>
      <p:sp>
        <p:nvSpPr>
          <p:cNvPr id="8" name="fx3@pop|plate tag"/>
          <p:cNvSpPr txBox="1"/>
          <p:nvPr/>
        </p:nvSpPr>
        <p:spPr>
          <a:xfrm>
            <a:off x="2231205" y="3309881"/>
            <a:ext cx="1078992" cy="310896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0.97</a:t>
            </a:r>
            <a:endParaRPr lang="en-US" sz="1000" dirty="0"/>
          </a:p>
        </p:txBody>
      </p:sp>
      <p:sp>
        <p:nvSpPr>
          <p:cNvPr id="9" name="fx4@pop|num#3d"/>
          <p:cNvSpPr txBox="1"/>
          <p:nvPr/>
        </p:nvSpPr>
        <p:spPr>
          <a:xfrm>
            <a:off x="11183112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fx4|t"/>
          <p:cNvSpPr txBox="1"/>
          <p:nvPr/>
        </p:nvSpPr>
        <p:spPr>
          <a:xfrm>
            <a:off x="5577840" y="146304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تحديد منطقة اللوحة</a:t>
            </a:r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   Plate localization</a:t>
            </a:r>
            <a:endParaRPr lang="ar-SA" sz="1700" dirty="0"/>
          </a:p>
        </p:txBody>
      </p:sp>
      <p:sp>
        <p:nvSpPr>
          <p:cNvPr id="11" name="fx6@pop|num#3d"/>
          <p:cNvSpPr txBox="1"/>
          <p:nvPr/>
        </p:nvSpPr>
        <p:spPr>
          <a:xfrm>
            <a:off x="11183112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fx6|t"/>
          <p:cNvSpPr txBox="1"/>
          <p:nvPr/>
        </p:nvSpPr>
        <p:spPr>
          <a:xfrm>
            <a:off x="5577840" y="324612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قراءة الأحرف والأرقام</a:t>
            </a:r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   PaddleOCR</a:t>
            </a:r>
            <a:endParaRPr lang="ar-SA" sz="1700" dirty="0"/>
          </a:p>
        </p:txBody>
      </p:sp>
      <p:sp>
        <p:nvSpPr>
          <p:cNvPr id="13" name="fx9@pop|num#3d"/>
          <p:cNvSpPr txBox="1"/>
          <p:nvPr/>
        </p:nvSpPr>
        <p:spPr>
          <a:xfrm>
            <a:off x="11183112" y="4800600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fx9|t"/>
          <p:cNvSpPr txBox="1"/>
          <p:nvPr/>
        </p:nvSpPr>
        <p:spPr>
          <a:xfrm>
            <a:off x="5577840" y="480060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مطابقة قاعدة البيانات</a:t>
            </a:r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   Database matching</a:t>
            </a:r>
            <a:endParaRPr lang="ar-SA" sz="1700" dirty="0"/>
          </a:p>
        </p:txBody>
      </p:sp>
      <p:sp>
        <p:nvSpPr>
          <p:cNvPr id="15" name="fx5@zoom|plate zoom frame"/>
          <p:cNvSpPr/>
          <p:nvPr/>
        </p:nvSpPr>
        <p:spPr>
          <a:xfrm>
            <a:off x="6254496" y="2011680"/>
            <a:ext cx="4114800" cy="1178835"/>
          </a:xfrm>
          <a:prstGeom prst="rect">
            <a:avLst/>
          </a:prstGeom>
          <a:solidFill>
            <a:srgbClr val="05070C"/>
          </a:solidFill>
          <a:ln w="19050">
            <a:solidFill>
              <a:srgbClr val="E2BA52"/>
            </a:solidFill>
            <a:prstDash val="solid"/>
          </a:ln>
        </p:spPr>
      </p:sp>
      <p:pic>
        <p:nvPicPr>
          <p:cNvPr id="16" name="fx5@zoom|plate zoom" descr="img/p_pla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057400"/>
            <a:ext cx="4023360" cy="1087395"/>
          </a:xfrm>
          <a:prstGeom prst="rect">
            <a:avLst/>
          </a:prstGeom>
        </p:spPr>
      </p:pic>
      <p:sp>
        <p:nvSpPr>
          <p:cNvPr id="17" name="fx7@pop|ocr text"/>
          <p:cNvSpPr txBox="1"/>
          <p:nvPr/>
        </p:nvSpPr>
        <p:spPr>
          <a:xfrm>
            <a:off x="5577840" y="3794760"/>
            <a:ext cx="6062472" cy="685800"/>
          </a:xfrm>
          <a:prstGeom prst="rect">
            <a:avLst/>
          </a:prstGeom>
          <a:solidFill>
            <a:srgbClr val="05070C">
              <a:alpha val="85000"/>
            </a:srgbClr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 ›  </a:t>
            </a:r>
            <a:pPr algn="ctr" indent="0" marL="0">
              <a:buNone/>
            </a:pPr>
            <a:r>
              <a:rPr lang="en-US" alt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H604BH 323</a:t>
            </a:r>
            <a:pPr algn="ctr" indent="0" marL="0">
              <a:buNone/>
            </a:pPr>
            <a:r>
              <a:rPr lang="en-US" altLang="en-US" sz="2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✓ 0.97</a:t>
            </a:r>
            <a:endParaRPr lang="en-US" sz="2600" dirty="0"/>
          </a:p>
        </p:txBody>
      </p:sp>
      <p:sp>
        <p:nvSpPr>
          <p:cNvPr id="18" name="fx10|owner"/>
          <p:cNvSpPr/>
          <p:nvPr/>
        </p:nvSpPr>
        <p:spPr>
          <a:xfrm>
            <a:off x="5577840" y="5349240"/>
            <a:ext cx="6062472" cy="822960"/>
          </a:xfrm>
          <a:prstGeom prst="roundRect">
            <a:avLst>
              <a:gd name="adj" fmla="val 15556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9" name="fx11@pop|owner text"/>
          <p:cNvSpPr txBox="1"/>
          <p:nvPr/>
        </p:nvSpPr>
        <p:spPr>
          <a:xfrm>
            <a:off x="5760720" y="5394960"/>
            <a:ext cx="5696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10B981"/>
                </a:solidFill>
              </a:rPr>
              <a:t>تم العثور على المركبة  </a:t>
            </a:r>
            <a:pPr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المالك: [ اسم المالك ]  •  سيارة  •  مخالفة #1024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68 E" pathEditMode="relative" ptsTypes="AA">
                                      <p:cBhvr>
                                        <p:cTn id="10" dur="1600" accel="20000" decel="3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1@zoom|thanks"/>
          <p:cNvSpPr txBox="1"/>
          <p:nvPr/>
        </p:nvSpPr>
        <p:spPr>
          <a:xfrm>
            <a:off x="1371600" y="82296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شكراً لحسن استماعكم</a:t>
            </a:r>
            <a:endParaRPr lang="ar-SA" sz="5400" dirty="0"/>
          </a:p>
        </p:txBody>
      </p:sp>
      <p:sp>
        <p:nvSpPr>
          <p:cNvPr id="3" name="fx2|ty"/>
          <p:cNvSpPr txBox="1"/>
          <p:nvPr/>
        </p:nvSpPr>
        <p:spPr>
          <a:xfrm>
            <a:off x="1371600" y="192024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b="1" spc="600" kern="0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4" name="fx3|q"/>
          <p:cNvSpPr txBox="1"/>
          <p:nvPr/>
        </p:nvSpPr>
        <p:spPr>
          <a:xfrm>
            <a:off x="1371600" y="2606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نسعد بأسئلتكم وملاحظاتكم  •  Questions?</a:t>
            </a:r>
            <a:endParaRPr lang="ar-SA" sz="1800" dirty="0"/>
          </a:p>
        </p:txBody>
      </p:sp>
      <p:sp>
        <p:nvSpPr>
          <p:cNvPr id="5" name="fx4@zoom|ring"/>
          <p:cNvSpPr/>
          <p:nvPr/>
        </p:nvSpPr>
        <p:spPr>
          <a:xfrm>
            <a:off x="95019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6" name="fx4@zoom|photo" descr="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7708" y="3474720"/>
            <a:ext cx="1097280" cy="1097280"/>
          </a:xfrm>
          <a:prstGeom prst="ellipse">
            <a:avLst/>
          </a:prstGeom>
        </p:spPr>
      </p:pic>
      <p:sp>
        <p:nvSpPr>
          <p:cNvPr id="7" name="fx4|name"/>
          <p:cNvSpPr txBox="1"/>
          <p:nvPr/>
        </p:nvSpPr>
        <p:spPr>
          <a:xfrm>
            <a:off x="93191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عيسى شايع</a:t>
            </a:r>
            <a:endParaRPr lang="ar-SA" sz="1200" dirty="0"/>
          </a:p>
        </p:txBody>
      </p:sp>
      <p:sp>
        <p:nvSpPr>
          <p:cNvPr id="8" name="fx5@zoom|ring"/>
          <p:cNvSpPr/>
          <p:nvPr/>
        </p:nvSpPr>
        <p:spPr>
          <a:xfrm>
            <a:off x="79017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9" name="fx5@zoom|photo" descr="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08" y="3474720"/>
            <a:ext cx="1097280" cy="1097280"/>
          </a:xfrm>
          <a:prstGeom prst="ellipse">
            <a:avLst/>
          </a:prstGeom>
        </p:spPr>
      </p:pic>
      <p:sp>
        <p:nvSpPr>
          <p:cNvPr id="10" name="fx5|name"/>
          <p:cNvSpPr txBox="1"/>
          <p:nvPr/>
        </p:nvSpPr>
        <p:spPr>
          <a:xfrm>
            <a:off x="77189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قريع</a:t>
            </a:r>
            <a:endParaRPr lang="ar-SA" sz="1200" dirty="0"/>
          </a:p>
        </p:txBody>
      </p:sp>
      <p:sp>
        <p:nvSpPr>
          <p:cNvPr id="11" name="fx6@zoom|ring"/>
          <p:cNvSpPr/>
          <p:nvPr/>
        </p:nvSpPr>
        <p:spPr>
          <a:xfrm>
            <a:off x="63015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2" name="fx6@zoom|photo" descr="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8" y="3474720"/>
            <a:ext cx="1097280" cy="1097280"/>
          </a:xfrm>
          <a:prstGeom prst="ellipse">
            <a:avLst/>
          </a:prstGeom>
        </p:spPr>
      </p:pic>
      <p:sp>
        <p:nvSpPr>
          <p:cNvPr id="13" name="fx6|name"/>
          <p:cNvSpPr txBox="1"/>
          <p:nvPr/>
        </p:nvSpPr>
        <p:spPr>
          <a:xfrm>
            <a:off x="61187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مازن عبد المعز</a:t>
            </a:r>
            <a:endParaRPr lang="ar-SA" sz="1200" dirty="0"/>
          </a:p>
        </p:txBody>
      </p:sp>
      <p:sp>
        <p:nvSpPr>
          <p:cNvPr id="14" name="fx7@zoom|ring"/>
          <p:cNvSpPr/>
          <p:nvPr/>
        </p:nvSpPr>
        <p:spPr>
          <a:xfrm>
            <a:off x="47013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5" name="fx7@zoom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108" y="3474720"/>
            <a:ext cx="1097280" cy="1097280"/>
          </a:xfrm>
          <a:prstGeom prst="ellipse">
            <a:avLst/>
          </a:prstGeom>
        </p:spPr>
      </p:pic>
      <p:sp>
        <p:nvSpPr>
          <p:cNvPr id="16" name="fx7|name"/>
          <p:cNvSpPr txBox="1"/>
          <p:nvPr/>
        </p:nvSpPr>
        <p:spPr>
          <a:xfrm>
            <a:off x="45185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برهان الزمر</a:t>
            </a:r>
            <a:endParaRPr lang="ar-SA" sz="1200" dirty="0"/>
          </a:p>
        </p:txBody>
      </p:sp>
      <p:sp>
        <p:nvSpPr>
          <p:cNvPr id="17" name="fx8@zoom|ring"/>
          <p:cNvSpPr/>
          <p:nvPr/>
        </p:nvSpPr>
        <p:spPr>
          <a:xfrm>
            <a:off x="31011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8" name="fx8@zoom|photo" descr="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908" y="3474720"/>
            <a:ext cx="1097280" cy="1097280"/>
          </a:xfrm>
          <a:prstGeom prst="ellipse">
            <a:avLst/>
          </a:prstGeom>
        </p:spPr>
      </p:pic>
      <p:sp>
        <p:nvSpPr>
          <p:cNvPr id="19" name="fx8|name"/>
          <p:cNvSpPr txBox="1"/>
          <p:nvPr/>
        </p:nvSpPr>
        <p:spPr>
          <a:xfrm>
            <a:off x="29183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عادل</a:t>
            </a:r>
            <a:endParaRPr lang="ar-SA" sz="1200" dirty="0"/>
          </a:p>
        </p:txBody>
      </p:sp>
      <p:sp>
        <p:nvSpPr>
          <p:cNvPr id="20" name="fx9@zoom|ring"/>
          <p:cNvSpPr/>
          <p:nvPr/>
        </p:nvSpPr>
        <p:spPr>
          <a:xfrm>
            <a:off x="15009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03200" dist="50800" dir="16200000">
              <a:srgbClr val="E2BA52">
                <a:alpha val="60000"/>
              </a:srgbClr>
            </a:outerShdw>
          </a:effectLst>
        </p:spPr>
      </p:sp>
      <p:pic>
        <p:nvPicPr>
          <p:cNvPr id="21" name="fx9@zoom|photo" descr="د.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08" y="3474720"/>
            <a:ext cx="1097280" cy="1097280"/>
          </a:xfrm>
          <a:prstGeom prst="ellipse">
            <a:avLst/>
          </a:prstGeom>
        </p:spPr>
      </p:pic>
      <p:sp>
        <p:nvSpPr>
          <p:cNvPr id="22" name="fx9|name"/>
          <p:cNvSpPr txBox="1"/>
          <p:nvPr/>
        </p:nvSpPr>
        <p:spPr>
          <a:xfrm>
            <a:off x="13181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  <p:pic>
        <p:nvPicPr>
          <p:cNvPr id="23" name="fx0@move(1.5,0,2400)|car" descr="img/car_si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000" y="5806440"/>
            <a:ext cx="393192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103" dur="2400" accel="20000" decel="3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theme/theme1.xml><?xml version="1.0" encoding="utf-8"?>
<a:theme xmlns:a="http://schemas.openxmlformats.org/drawingml/2006/main" name="Night Enforcement">
  <a:themeElements>
    <a:clrScheme name="Night Enforcement">
      <a:dk1>
        <a:srgbClr val="0A0E1A"/>
      </a:dk1>
      <a:lt1>
        <a:srgbClr val="FFFFFF"/>
      </a:lt1>
      <a:dk2>
        <a:srgbClr val="121A2E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Night Enforc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تجريبية بالصور — نظام رصد السرعة الذكي</dc:title>
  <dc:subject>PptxGenJS Presentation</dc:subject>
  <dc:creator>PptxGenJS</dc:creator>
  <cp:lastModifiedBy>PptxGenJS</cp:lastModifiedBy>
  <cp:revision>1</cp:revision>
  <dcterms:created xsi:type="dcterms:W3CDTF">2026-10-17T01:21:52Z</dcterms:created>
  <dcterms:modified xsi:type="dcterms:W3CDTF">2026-10-17T01:21:52Z</dcterms:modified>
</cp:coreProperties>
</file>