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عرض السينمائي" id="{d57539c3-0e67-b756-5475-7b2935c5d28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عيسى شايع ⏱ 0:20 — بسم الله الرحمن الرحيم. السلام عليكم ورحمة الله. نقدّم مشروع تخرجنا: نظام ذكي لرصد وحساب سرعة المركبات وتسجيل المخالفات المرورية باستخدام كاميرا الهاتف والذكاء الاصطناعي والرؤية الحاسوبية.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عيسى شايع ⏱ 0:15 — نعرّف بفريق المشروع وترتيب العرض: كل عضو يعرض الجزء المكتوب تحت صورته.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عيسى شايع ⏱ 0:10 — نتقدّم بالشكر لمشرف المشروع الدكتور مطيع الجعفري على إشرافه وتوجيهه.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عيسى شايع ⏱ 0:10 — نرحّب بأعضاء لجنة المناقشة: الدكتور رضوان الديلمي والدكتور رضوان شداد.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عيسى إبراهيم شايع ⏱ 0:10 — يعرّف بنفسه ويذكر الجزء الذي سيعرضه: المقدمة ووصف المشروع.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عيسى شايع ⏱ 0:30 — نبدأ بواقع السلامة المرورية في اليمن: السرعة الزائدة وعدم الالتزام بالسرعات المحددة من أبرز أسباب الحوادث وخسائرها البشرية والمادية.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عيسى شايع ⏱ 0:40 — الرقابة المستمرة صعبة، والذكاء الاصطناعي أتاح حلولاً ذكية. فكرتنا: نحوّل الهاتف الذكي إلى كاميرا مرورية تكتشف المركبات وتحسب سرعتها وترصد المخالفة وتقرأ اللوحة وتربطها بالمالك — حل منخفض التكلفة يناسب البيئة اليمنية. (الصورة تصوّر مقترح للواجهة)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عيسى شايع ⏱ 0:35 — التطبيق: دخول للمستخدمين المصرّح لهم، وعدة هواتف في مواقع مختلفة، والهاتف المثبّت يصوّر باستمرار. ثم يحلّل خادم الذكاء الاصطناعي المشهد. (الواجهات تصوّر مقترح)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عيسى شايع ⏱ 0:35 — يكتشف النظام المركبات ويتتبعها عبر الإطارات، ثم يحسب السرعة من الزمن والمسافة بعد معايرة الطريق ويقارنها بالحد المسجّل للموقع. مثال: 72 كم/س في موقع حدّه 60 = مخالفة.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عيسى شايع ⏱ 0:35 — عند المخالفة: صور واضحة وقراءة اللوحة بـ OCR مع السرعات والوقت والموقع، ثم البحث في قاعدة البيانات لربط المخالفة بالمالك، وكل ذلك يُدار من لوحة التحكم. ثم يسلّم لمحمد قريع.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محمد عبدالإله قريع ⏱ 0:10 — يعرّف بنفسه ويذكر الجزء الذي سيعرضه: مشكلة المشروع وأهداف المشروع.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محمد قريع ⏱ 0:30 — المشكلة الأولى: حوادث ناتجة عن تجاوز السرعة. الثانية: لا توجد رقابة مستمرة، ورجال المرور لا يستطيعون تغطية كل الطرق، فيتأخر اكتشاف المخالفات.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محمد قريع ⏱ 0:35 — الاعتماد على العنصر البشري يسبب تفاوتاً وأخطاء، والرادارات التقليدية مكلفة فلا تنتشر في كل الطرق، ويصعب توثيق المخالفة وربطها بالمالك يدوياً. النتيجة: نحتاج نظاماً منخفض التكلفة يعتمد على الهاتف والذكاء الاصطناعي.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محمد قريع ⏱ 0:25 — الهدفان 1 و2: رصد المركبات وحساب سرعتها، واكتشاف مخالفات السرعة. (القائمة على اليمين تبيّن موقعنا من الأهداف الستة)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محمد قريع ⏱ 0:25 — الهدفان 3 و4: تقليل التدخل البشري، والتعرف على لوحات المركبات. (القائمة على اليمين تبيّن موقعنا من الأهداف الستة)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محمد قريع ⏱ 0:25 — الهدفان 5 و6: ربط المخالفات ببيانات المالكين، وإدارة المخالفات والتقارير. (القائمة على اليمين تبيّن موقعنا من الأهداف الستة) ثم يسلّم لبرهان الزمر.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برهان الزمر ⏱ 0:10 — يعرّف بنفسه ويذكر الجزء الذي سيعرضه: منهجية البحث ونطاق المشروع والأساسيات النظرية.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برهان الزمر ⏱ 0:30 — اعتمدنا المنهج التطبيقي: دراسة المشكلة ثم تحليل المتطلبات ثم التصميم والتطوير ثم الاختبار. والتطوير وفق Agile بست مراحل؛ نحن الآن في مرحلة تحليل المتطلبات.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برهان الزمر ⏱ 0:30 — بعد التحليل: تصميم وتطوير المكونات ودمجها، ثم الاختبار على أربع نقاط: دقة الاكتشاف والتتبع، حساب السرعة، قراءة اللوحات، والربط بقاعدة البيانات.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برهان الزمر ⏱ 0:30 — مكانياً: مواقع محددة مسبقاً لكل جهاز وسرعتها. زمنياً: عام 2026. يشمل: التطبيق، الذكاء الاصطناعي، OCR، قاعدة البيانات، لوحة التحكم والتقارير. ولا يشمل إصدار المخالفات الرسمية — هو نموذج أولي.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برهان الزمر ⏱ 0:35 — الرؤية الحاسوبية تحلّل الفيديو باستمرار. الاكتشاف يحدد كل مركبة وموقعها ونوعها، والتتبع يحافظ على هويتها عبر الإطارات ليعرف المسافة والزمن.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برهان الزمر ⏱ 0:40 — المعايرة تحوّل الحركة في الصورة إلى مسافة حقيقية. السرعة = المسافة ÷ الزمن (20 م في ثانية = 72 كم/س)، وتُقارن بحد كل موقع (مثلاً 60 أو 80). وقراءة اللوحة تتم فقط عند المخالفة. ثم يسلّم لمازن.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مازن عبد المعز ⏱ 0:10 — يعرّف بنفسه ويذكر الجزء الذي سيعرضه: الخوارزميات والتقنيات المعتمدة والدراسات السابقة.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مازن عبد المعز ⏱ 0:35 — السلسلة في الأعلى تبيّن موقع كل خوارزمية. YOLO يجيب: ما المركبات وأين؟ ByteTrack يجيب: أين تحركت المركبة نفسها؟ ويعطي كل مركبة Track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مازن عبد المعز ⏱ 0:35 — Homography يحوّل إحداثيات الصورة إلى مستوى الطريق لتقدير المسافة الحقيقية، ثم V = D/T، ثم Speed Threshold يقارن بحد الموقع: أكبر = مخالفة، وإلا يستمر بالمراقبة.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مازن عبد المعز ⏱ 0:30 — PaddleOCR يقرأ اللوحة فقط بعد اكتشاف المخالفة، ثم Database Matching يطابق الرقم مع بيانات المركبة والمالك ويسجّل المخالفة باسمه.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مازن عبد المعز ⏱ 0:40 — تسع دراسات: بعضها لتقدير السرعة (Salahat، Obaidat، Wang، Peralta)، وبعضها للمخالفات وقراءة اللوحات (Cypto، Akshit، Abd Ali، Katumba). لا تقرأ الجدول كاملاً.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مازن عبد المعز ⏱ 0:40 — أبرز الأرقام: دقة كشف المخالفات وقراءة اللوحات بين 98% و99%. استفدنا من الاكتشاف والتتبع واستخدام الهاتف وربط المالك. ما يميزنا: نظام متكامل يضيف اكتشاف المخالفة وتوثيقها وقراءة اللوحة وتسجيل المالك على الهاتف. ثم يسلّم لمحمد عادل.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محمد عادل قاسم قائد ⏱ 0:10 — يعرّف بنفسه ويذكر الجزء الذي سيعرضه: معمارية النظام وآلية عمله وتصميم قاعدة البيانات ومخرجات النظام.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محمد عادل ⏱ 0:35 — المعمارية متعددة المكونات: تطبيق الهاتف يصوّر ويرسل، خادم الذكاء الاصطناعي يحلّل ويكتشف المخالفة ويقرأ اللوحة، والخادم المركزي يدير المستخدمين والأجهزة والمواقع والمركبات والمخالفات.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محمد عادل ⏱ 0:35 — النظام لا يعتمد على هاتف واحد: عدة هواتف في مواقع مختلفة (A=60، B=80، C=40 كم/س) ترسل للنظام المركزي. قاعدة البيانات تخزن المستخدمين والمركبات والمالكين والمواقع والسرعات والمخالفات والأدلة، ولوحة التحكم للإدارة والمراجعة والتقارير.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محمد عادل ⏱ 0:45 — المخطط خطوة بخطوة: الكاميرا تصوّر، ثم اكتشاف وتتبع ومعايرة وحساب السرعة، ثم المقارنة بالحد القانوني. «لا» = استمرار المراقبة. «نعم» = توثيق، قراءة اللوحة، البحث في قاعدة البيانات، بيانات المالك، تسجيل المخالفة، والإرسال للخادم المركزي.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محمد عادل ⏱ 0:40 — قاعدة البيانات من سبعة جداول، والعلاقة الأساسية: المركبة ← المالك ← المخالفات، مع ارتباط جهاز المراقبة بالموقع والسرعة القانونية. والمستخدمون ثلاثة: مدير النظام، مستخدم جهاز المراقبة، ومراجع المخالفات.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محمد عادل ⏱ 0:35 — مخرجات النظام: سجل إلكتروني للمخالفة فيه رقم اللوحة ونوع المركبة والمالك، السرعات ومقدار التجاوز، الوقت والموقع، الصور والأدلة، وتقارير وإحصائيات. (الواجهة تصوّر مقترح) ثم: «وبهذا نكون انتهينا من عرض مشروعنا».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محمد عادل — شكر اللجنة والمشرف وفتح باب الأسئلة. (كل الطلاب مستعدون للإجابة عن أي جزء)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P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AMP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CONCEPT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SPEED-image-1.jpe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CAR-image-1.jpe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THANKS-image-1.jpe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CITY-image-1.jpe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NEURAL-image-1.jpe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SERVER-image-1.jpe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P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MP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B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EP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E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Y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URA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R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jpg"/><Relationship Id="rId3" Type="http://schemas.openxmlformats.org/officeDocument/2006/relationships/image" Target="../media/image-35-3.jpg"/><Relationship Id="rId4" Type="http://schemas.openxmlformats.org/officeDocument/2006/relationships/image" Target="../media/image-35-4.jpg"/><Relationship Id="rId5" Type="http://schemas.openxmlformats.org/officeDocument/2006/relationships/image" Target="../media/image-35-5.jpg"/><Relationship Id="rId6" Type="http://schemas.openxmlformats.org/officeDocument/2006/relationships/image" Target="../media/image-35-6.jpg"/><Relationship Id="rId7" Type="http://schemas.openxmlformats.org/officeDocument/2006/relationships/image" Target="../media/image-35-7.jp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x1@move(1.5,0,2400)|car" descr="img/car_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0" y="4754880"/>
            <a:ext cx="3931920" cy="914400"/>
          </a:xfrm>
          <a:prstGeom prst="rect">
            <a:avLst/>
          </a:prstGeom>
        </p:spPr>
      </p:pic>
      <p:sp>
        <p:nvSpPr>
          <p:cNvPr id="3" name="fx2@pop|live"/>
          <p:cNvSpPr txBox="1"/>
          <p:nvPr/>
        </p:nvSpPr>
        <p:spPr>
          <a:xfrm>
            <a:off x="457200" y="685800"/>
            <a:ext cx="3291840" cy="36576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 •  AI SPEED DETECTION</a:t>
            </a:r>
            <a:endParaRPr lang="en-US" sz="1200" dirty="0"/>
          </a:p>
        </p:txBody>
      </p:sp>
      <p:pic>
        <p:nvPicPr>
          <p:cNvPr id="4" name="fx1@zoom|logo" descr="شعار جامعة العلوم والتكنولوجيا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658368"/>
            <a:ext cx="1188720" cy="1188720"/>
          </a:xfrm>
          <a:prstGeom prst="rect">
            <a:avLst/>
          </a:prstGeom>
        </p:spPr>
      </p:pic>
      <p:sp>
        <p:nvSpPr>
          <p:cNvPr id="5" name="fx2|uni"/>
          <p:cNvSpPr txBox="1"/>
          <p:nvPr/>
        </p:nvSpPr>
        <p:spPr>
          <a:xfrm>
            <a:off x="4937760" y="6858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الجمهورية اليمنية</a:t>
            </a:r>
            <a:endParaRPr lang="ar-SA" sz="1200" dirty="0"/>
          </a:p>
          <a:p>
            <a:pPr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جامعة العلوم والتكنولوجيا — فرع إب</a:t>
            </a:r>
            <a:endParaRPr lang="ar-SA" sz="1200" dirty="0"/>
          </a:p>
          <a:p>
            <a:pPr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كلية الحاسبات وتكنولوجيا المعلومات  •  قسم تقنية المعلومات</a:t>
            </a:r>
            <a:endParaRPr lang="ar-SA" sz="1200" dirty="0"/>
          </a:p>
        </p:txBody>
      </p:sp>
      <p:sp>
        <p:nvSpPr>
          <p:cNvPr id="6" name="fx3@zoom|title"/>
          <p:cNvSpPr txBox="1"/>
          <p:nvPr/>
        </p:nvSpPr>
        <p:spPr>
          <a:xfrm>
            <a:off x="5760720" y="1920240"/>
            <a:ext cx="5897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100" b="1" dirty="0">
                <a:solidFill>
                  <a:schemeClr val="bg1"/>
                </a:solidFill>
              </a:rPr>
              <a:t>نظام ذكي لرصد وحساب سرعة المركبات وتسجيل المخالفات المرورية</a:t>
            </a:r>
            <a:endParaRPr lang="ar-SA" sz="3100" dirty="0"/>
          </a:p>
        </p:txBody>
      </p:sp>
      <p:sp>
        <p:nvSpPr>
          <p:cNvPr id="7" name="fx4|sub"/>
          <p:cNvSpPr txBox="1"/>
          <p:nvPr/>
        </p:nvSpPr>
        <p:spPr>
          <a:xfrm>
            <a:off x="5760720" y="3520440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accent2"/>
                </a:solidFill>
              </a:rPr>
              <a:t>باستخدام كاميرا الهاتف وتقنيات الذكاء الاصطناعي والرؤية الحاسوبية</a:t>
            </a:r>
            <a:endParaRPr lang="ar-SA" sz="1600" dirty="0"/>
          </a:p>
        </p:txBody>
      </p:sp>
      <p:sp>
        <p:nvSpPr>
          <p:cNvPr id="8" name="fx5|en"/>
          <p:cNvSpPr txBox="1"/>
          <p:nvPr/>
        </p:nvSpPr>
        <p:spPr>
          <a:xfrm>
            <a:off x="5760720" y="4160520"/>
            <a:ext cx="5897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100" i="1" dirty="0">
                <a:solidFill>
                  <a:schemeClr val="bg2"/>
                </a:solidFill>
              </a:rPr>
              <a:t>Smart Mobile-Based Vehicle Speed Estimation and Traffic Violation Detection System Using Artificial Intelligence and Computer Vision</a:t>
            </a:r>
            <a:endParaRPr lang="en-US" sz="1100" dirty="0"/>
          </a:p>
        </p:txBody>
      </p:sp>
      <p:sp>
        <p:nvSpPr>
          <p:cNvPr id="9" name="fx6@pop|year#3d"/>
          <p:cNvSpPr txBox="1"/>
          <p:nvPr/>
        </p:nvSpPr>
        <p:spPr>
          <a:xfrm>
            <a:off x="9052560" y="4892040"/>
            <a:ext cx="2606040" cy="384048"/>
          </a:xfrm>
          <a:prstGeom prst="rect">
            <a:avLst/>
          </a:prstGeom>
          <a:solidFill>
            <a:srgbClr val="E2BA5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0A0E1A"/>
                </a:solidFill>
              </a:rPr>
              <a:t>مشروع تخرج  •  2026</a:t>
            </a:r>
            <a:endParaRPr lang="ar-SA" sz="1300" dirty="0"/>
          </a:p>
        </p:txBody>
      </p:sp>
      <p:sp>
        <p:nvSpPr>
          <p:cNvPr id="10" name="fx0@move(0,-0.09,1500)|bar top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fx0@move(0,0.09,1500)|bar bottom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 0 L 1.5 0 E" pathEditMode="relative" ptsTypes="AA">
                                      <p:cBhvr>
                                        <p:cTn id="6" dur="2400" accel="20000" decel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3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3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3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 -0.09 E" pathEditMode="relative" ptsTypes="AA">
                                      <p:cBhvr>
                                        <p:cTn id="40" dur="1500" accel="20000" decel="3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 0.09 E" pathEditMode="relative" ptsTypes="AA">
                                      <p:cBhvr>
                                        <p:cTn id="42" dur="1500" accel="20000" decel="3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فريق المشروع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Project Team</a:t>
            </a:r>
            <a:endParaRPr lang="en-US" sz="1500" dirty="0"/>
          </a:p>
        </p:txBody>
      </p:sp>
      <p:sp>
        <p:nvSpPr>
          <p:cNvPr id="4" name="fx0@zoom|tile"/>
          <p:cNvSpPr/>
          <p:nvPr/>
        </p:nvSpPr>
        <p:spPr>
          <a:xfrm>
            <a:off x="8048092" y="1517904"/>
            <a:ext cx="3502152" cy="2221992"/>
          </a:xfrm>
          <a:prstGeom prst="rect">
            <a:avLst/>
          </a:prstGeom>
          <a:solidFill>
            <a:srgbClr val="05070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5" name="fx0|photo s1" descr="عيسى إبراهيم شايع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4668" y="1554480"/>
            <a:ext cx="3429000" cy="2148840"/>
          </a:xfrm>
          <a:prstGeom prst="rect">
            <a:avLst/>
          </a:prstGeom>
        </p:spPr>
      </p:pic>
      <p:sp>
        <p:nvSpPr>
          <p:cNvPr id="6" name="fx0|cam"/>
          <p:cNvSpPr txBox="1"/>
          <p:nvPr/>
        </p:nvSpPr>
        <p:spPr>
          <a:xfrm>
            <a:off x="8176108" y="16093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01</a:t>
            </a:r>
            <a:endParaRPr lang="en-US" sz="1000" dirty="0"/>
          </a:p>
        </p:txBody>
      </p:sp>
      <p:sp>
        <p:nvSpPr>
          <p:cNvPr id="7" name="fx0|rec"/>
          <p:cNvSpPr txBox="1"/>
          <p:nvPr/>
        </p:nvSpPr>
        <p:spPr>
          <a:xfrm>
            <a:off x="10782148" y="16093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8" name="fx5@zoom|box"/>
          <p:cNvSpPr/>
          <p:nvPr/>
        </p:nvSpPr>
        <p:spPr>
          <a:xfrm>
            <a:off x="9113368" y="1812341"/>
            <a:ext cx="1371600" cy="1074420"/>
          </a:xfrm>
          <a:prstGeom prst="rect">
            <a:avLst/>
          </a:prstGeom>
          <a:solidFill>
            <a:srgbClr val="10B981">
              <a:alpha val="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fx5@pop|tag"/>
          <p:cNvSpPr txBox="1"/>
          <p:nvPr/>
        </p:nvSpPr>
        <p:spPr>
          <a:xfrm>
            <a:off x="9113368" y="1611173"/>
            <a:ext cx="1150681" cy="28712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 01</a:t>
            </a:r>
            <a:endParaRPr lang="en-US" sz="900" dirty="0"/>
          </a:p>
        </p:txBody>
      </p:sp>
      <p:sp>
        <p:nvSpPr>
          <p:cNvPr id="10" name="fx0|bar"/>
          <p:cNvSpPr/>
          <p:nvPr/>
        </p:nvSpPr>
        <p:spPr>
          <a:xfrm>
            <a:off x="8084668" y="3118104"/>
            <a:ext cx="3429000" cy="585216"/>
          </a:xfrm>
          <a:prstGeom prst="rect">
            <a:avLst/>
          </a:prstGeom>
          <a:solidFill>
            <a:srgbClr val="000000">
              <a:alpha val="7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fx0|name"/>
          <p:cNvSpPr txBox="1"/>
          <p:nvPr/>
        </p:nvSpPr>
        <p:spPr>
          <a:xfrm>
            <a:off x="8194396" y="31363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عيسى إبراهيم شايع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000" dirty="0">
                <a:solidFill>
                  <a:srgbClr val="22D3EE"/>
                </a:solidFill>
              </a:rPr>
              <a:t>المقدمة  •  وصف المشروع</a:t>
            </a:r>
            <a:endParaRPr lang="ar-SA" sz="1500" dirty="0"/>
          </a:p>
        </p:txBody>
      </p:sp>
      <p:sp>
        <p:nvSpPr>
          <p:cNvPr id="12" name="fx1@zoom|tile"/>
          <p:cNvSpPr/>
          <p:nvPr/>
        </p:nvSpPr>
        <p:spPr>
          <a:xfrm>
            <a:off x="4344772" y="1517904"/>
            <a:ext cx="3502152" cy="2221992"/>
          </a:xfrm>
          <a:prstGeom prst="rect">
            <a:avLst/>
          </a:prstGeom>
          <a:solidFill>
            <a:srgbClr val="05070C"/>
          </a:solidFill>
          <a:ln w="15875">
            <a:solidFill>
              <a:srgbClr val="F43F5E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13" name="fx1|photo s2" descr="محمد عبدالإله قريع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1348" y="1554480"/>
            <a:ext cx="3429000" cy="2148840"/>
          </a:xfrm>
          <a:prstGeom prst="rect">
            <a:avLst/>
          </a:prstGeom>
        </p:spPr>
      </p:pic>
      <p:sp>
        <p:nvSpPr>
          <p:cNvPr id="14" name="fx1|cam"/>
          <p:cNvSpPr txBox="1"/>
          <p:nvPr/>
        </p:nvSpPr>
        <p:spPr>
          <a:xfrm>
            <a:off x="4472788" y="16093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02</a:t>
            </a:r>
            <a:endParaRPr lang="en-US" sz="1000" dirty="0"/>
          </a:p>
        </p:txBody>
      </p:sp>
      <p:sp>
        <p:nvSpPr>
          <p:cNvPr id="15" name="fx1|rec"/>
          <p:cNvSpPr txBox="1"/>
          <p:nvPr/>
        </p:nvSpPr>
        <p:spPr>
          <a:xfrm>
            <a:off x="7078828" y="16093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16" name="fx6@zoom|box"/>
          <p:cNvSpPr/>
          <p:nvPr/>
        </p:nvSpPr>
        <p:spPr>
          <a:xfrm>
            <a:off x="5410048" y="1812341"/>
            <a:ext cx="1371600" cy="1074420"/>
          </a:xfrm>
          <a:prstGeom prst="rect">
            <a:avLst/>
          </a:prstGeom>
          <a:solidFill>
            <a:srgbClr val="10B981">
              <a:alpha val="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fx6@pop|tag"/>
          <p:cNvSpPr txBox="1"/>
          <p:nvPr/>
        </p:nvSpPr>
        <p:spPr>
          <a:xfrm>
            <a:off x="5410048" y="1611173"/>
            <a:ext cx="1150681" cy="28712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 02</a:t>
            </a:r>
            <a:endParaRPr lang="en-US" sz="900" dirty="0"/>
          </a:p>
        </p:txBody>
      </p:sp>
      <p:sp>
        <p:nvSpPr>
          <p:cNvPr id="18" name="fx1|bar"/>
          <p:cNvSpPr/>
          <p:nvPr/>
        </p:nvSpPr>
        <p:spPr>
          <a:xfrm>
            <a:off x="4381348" y="3118104"/>
            <a:ext cx="3429000" cy="585216"/>
          </a:xfrm>
          <a:prstGeom prst="rect">
            <a:avLst/>
          </a:prstGeom>
          <a:solidFill>
            <a:srgbClr val="000000">
              <a:alpha val="7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fx1|name"/>
          <p:cNvSpPr txBox="1"/>
          <p:nvPr/>
        </p:nvSpPr>
        <p:spPr>
          <a:xfrm>
            <a:off x="4491076" y="31363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محمد عبدالإله قريع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000" dirty="0">
                <a:solidFill>
                  <a:srgbClr val="F43F5E"/>
                </a:solidFill>
              </a:rPr>
              <a:t>مشكلة المشروع  •  أهداف المشروع</a:t>
            </a:r>
            <a:endParaRPr lang="ar-SA" sz="1500" dirty="0"/>
          </a:p>
        </p:txBody>
      </p:sp>
      <p:sp>
        <p:nvSpPr>
          <p:cNvPr id="20" name="fx2@zoom|tile"/>
          <p:cNvSpPr/>
          <p:nvPr/>
        </p:nvSpPr>
        <p:spPr>
          <a:xfrm>
            <a:off x="641452" y="1517904"/>
            <a:ext cx="3502152" cy="2221992"/>
          </a:xfrm>
          <a:prstGeom prst="rect">
            <a:avLst/>
          </a:prstGeom>
          <a:solidFill>
            <a:srgbClr val="05070C"/>
          </a:solidFill>
          <a:ln w="15875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21" name="fx2|photo s3" descr="برهان الزمر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8028" y="1554480"/>
            <a:ext cx="3429000" cy="2148840"/>
          </a:xfrm>
          <a:prstGeom prst="rect">
            <a:avLst/>
          </a:prstGeom>
        </p:spPr>
      </p:pic>
      <p:sp>
        <p:nvSpPr>
          <p:cNvPr id="22" name="fx2|cam"/>
          <p:cNvSpPr txBox="1"/>
          <p:nvPr/>
        </p:nvSpPr>
        <p:spPr>
          <a:xfrm>
            <a:off x="769468" y="16093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03</a:t>
            </a:r>
            <a:endParaRPr lang="en-US" sz="1000" dirty="0"/>
          </a:p>
        </p:txBody>
      </p:sp>
      <p:sp>
        <p:nvSpPr>
          <p:cNvPr id="23" name="fx2|rec"/>
          <p:cNvSpPr txBox="1"/>
          <p:nvPr/>
        </p:nvSpPr>
        <p:spPr>
          <a:xfrm>
            <a:off x="3375508" y="16093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24" name="fx7@zoom|box"/>
          <p:cNvSpPr/>
          <p:nvPr/>
        </p:nvSpPr>
        <p:spPr>
          <a:xfrm>
            <a:off x="1706728" y="1812341"/>
            <a:ext cx="1371600" cy="1074420"/>
          </a:xfrm>
          <a:prstGeom prst="rect">
            <a:avLst/>
          </a:prstGeom>
          <a:solidFill>
            <a:srgbClr val="10B981">
              <a:alpha val="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5" name="fx7@pop|tag"/>
          <p:cNvSpPr txBox="1"/>
          <p:nvPr/>
        </p:nvSpPr>
        <p:spPr>
          <a:xfrm>
            <a:off x="1706728" y="1611173"/>
            <a:ext cx="1150681" cy="28712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 03</a:t>
            </a:r>
            <a:endParaRPr lang="en-US" sz="900" dirty="0"/>
          </a:p>
        </p:txBody>
      </p:sp>
      <p:sp>
        <p:nvSpPr>
          <p:cNvPr id="26" name="fx2|bar"/>
          <p:cNvSpPr/>
          <p:nvPr/>
        </p:nvSpPr>
        <p:spPr>
          <a:xfrm>
            <a:off x="678028" y="3118104"/>
            <a:ext cx="3429000" cy="585216"/>
          </a:xfrm>
          <a:prstGeom prst="rect">
            <a:avLst/>
          </a:prstGeom>
          <a:solidFill>
            <a:srgbClr val="000000">
              <a:alpha val="7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fx2|name"/>
          <p:cNvSpPr txBox="1"/>
          <p:nvPr/>
        </p:nvSpPr>
        <p:spPr>
          <a:xfrm>
            <a:off x="787756" y="31363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برهان الزمر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000" dirty="0">
                <a:solidFill>
                  <a:srgbClr val="10B981"/>
                </a:solidFill>
              </a:rPr>
              <a:t>منهجية البحث ونطاق المشروع  •  الأساسيات النظرية</a:t>
            </a:r>
            <a:endParaRPr lang="ar-SA" sz="1500" dirty="0"/>
          </a:p>
        </p:txBody>
      </p:sp>
      <p:sp>
        <p:nvSpPr>
          <p:cNvPr id="28" name="fx3@zoom|tile"/>
          <p:cNvSpPr/>
          <p:nvPr/>
        </p:nvSpPr>
        <p:spPr>
          <a:xfrm>
            <a:off x="6196432" y="3941064"/>
            <a:ext cx="3502152" cy="2221992"/>
          </a:xfrm>
          <a:prstGeom prst="rect">
            <a:avLst/>
          </a:prstGeom>
          <a:solidFill>
            <a:srgbClr val="05070C"/>
          </a:solidFill>
          <a:ln w="15875">
            <a:solidFill>
              <a:srgbClr val="6366F1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29" name="fx3|photo s4" descr="مازن عبد المعز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33008" y="3977640"/>
            <a:ext cx="3429000" cy="2148840"/>
          </a:xfrm>
          <a:prstGeom prst="rect">
            <a:avLst/>
          </a:prstGeom>
        </p:spPr>
      </p:pic>
      <p:sp>
        <p:nvSpPr>
          <p:cNvPr id="30" name="fx3|cam"/>
          <p:cNvSpPr txBox="1"/>
          <p:nvPr/>
        </p:nvSpPr>
        <p:spPr>
          <a:xfrm>
            <a:off x="6324448" y="40325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04</a:t>
            </a:r>
            <a:endParaRPr lang="en-US" sz="1000" dirty="0"/>
          </a:p>
        </p:txBody>
      </p:sp>
      <p:sp>
        <p:nvSpPr>
          <p:cNvPr id="31" name="fx3|rec"/>
          <p:cNvSpPr txBox="1"/>
          <p:nvPr/>
        </p:nvSpPr>
        <p:spPr>
          <a:xfrm>
            <a:off x="8930488" y="40325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32" name="fx8@zoom|box"/>
          <p:cNvSpPr/>
          <p:nvPr/>
        </p:nvSpPr>
        <p:spPr>
          <a:xfrm>
            <a:off x="7261708" y="4235501"/>
            <a:ext cx="1371600" cy="1074420"/>
          </a:xfrm>
          <a:prstGeom prst="rect">
            <a:avLst/>
          </a:prstGeom>
          <a:solidFill>
            <a:srgbClr val="10B981">
              <a:alpha val="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3" name="fx8@pop|tag"/>
          <p:cNvSpPr txBox="1"/>
          <p:nvPr/>
        </p:nvSpPr>
        <p:spPr>
          <a:xfrm>
            <a:off x="7261708" y="4034333"/>
            <a:ext cx="1150681" cy="28712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 04</a:t>
            </a:r>
            <a:endParaRPr lang="en-US" sz="900" dirty="0"/>
          </a:p>
        </p:txBody>
      </p:sp>
      <p:sp>
        <p:nvSpPr>
          <p:cNvPr id="34" name="fx3|bar"/>
          <p:cNvSpPr/>
          <p:nvPr/>
        </p:nvSpPr>
        <p:spPr>
          <a:xfrm>
            <a:off x="6233008" y="5541264"/>
            <a:ext cx="3429000" cy="585216"/>
          </a:xfrm>
          <a:prstGeom prst="rect">
            <a:avLst/>
          </a:prstGeom>
          <a:solidFill>
            <a:srgbClr val="000000">
              <a:alpha val="7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fx3|name"/>
          <p:cNvSpPr txBox="1"/>
          <p:nvPr/>
        </p:nvSpPr>
        <p:spPr>
          <a:xfrm>
            <a:off x="6342736" y="555955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مازن عبد المعز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000" dirty="0">
                <a:solidFill>
                  <a:srgbClr val="6366F1"/>
                </a:solidFill>
              </a:rPr>
              <a:t>الخوارزميات والتقنيات المعتمدة  •  الدراسات السابقة</a:t>
            </a:r>
            <a:endParaRPr lang="ar-SA" sz="1500" dirty="0"/>
          </a:p>
        </p:txBody>
      </p:sp>
      <p:sp>
        <p:nvSpPr>
          <p:cNvPr id="36" name="fx4@zoom|tile"/>
          <p:cNvSpPr/>
          <p:nvPr/>
        </p:nvSpPr>
        <p:spPr>
          <a:xfrm>
            <a:off x="2493112" y="3941064"/>
            <a:ext cx="3502152" cy="2221992"/>
          </a:xfrm>
          <a:prstGeom prst="rect">
            <a:avLst/>
          </a:prstGeom>
          <a:solidFill>
            <a:srgbClr val="05070C"/>
          </a:solidFill>
          <a:ln w="15875">
            <a:solidFill>
              <a:srgbClr val="E2BA52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37" name="fx4|photo s5" descr="محمد عادل قاسم قائد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529688" y="3977640"/>
            <a:ext cx="3429000" cy="2148840"/>
          </a:xfrm>
          <a:prstGeom prst="rect">
            <a:avLst/>
          </a:prstGeom>
        </p:spPr>
      </p:pic>
      <p:sp>
        <p:nvSpPr>
          <p:cNvPr id="38" name="fx4|cam"/>
          <p:cNvSpPr txBox="1"/>
          <p:nvPr/>
        </p:nvSpPr>
        <p:spPr>
          <a:xfrm>
            <a:off x="2621128" y="40325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05</a:t>
            </a:r>
            <a:endParaRPr lang="en-US" sz="1000" dirty="0"/>
          </a:p>
        </p:txBody>
      </p:sp>
      <p:sp>
        <p:nvSpPr>
          <p:cNvPr id="39" name="fx4|rec"/>
          <p:cNvSpPr txBox="1"/>
          <p:nvPr/>
        </p:nvSpPr>
        <p:spPr>
          <a:xfrm>
            <a:off x="5227168" y="40325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40" name="fx9@zoom|box"/>
          <p:cNvSpPr/>
          <p:nvPr/>
        </p:nvSpPr>
        <p:spPr>
          <a:xfrm>
            <a:off x="3558388" y="4235501"/>
            <a:ext cx="1371600" cy="1074420"/>
          </a:xfrm>
          <a:prstGeom prst="rect">
            <a:avLst/>
          </a:prstGeom>
          <a:solidFill>
            <a:srgbClr val="10B981">
              <a:alpha val="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1" name="fx9@pop|tag"/>
          <p:cNvSpPr txBox="1"/>
          <p:nvPr/>
        </p:nvSpPr>
        <p:spPr>
          <a:xfrm>
            <a:off x="3558388" y="4034333"/>
            <a:ext cx="1150681" cy="28712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 05</a:t>
            </a:r>
            <a:endParaRPr lang="en-US" sz="900" dirty="0"/>
          </a:p>
        </p:txBody>
      </p:sp>
      <p:sp>
        <p:nvSpPr>
          <p:cNvPr id="42" name="fx4|bar"/>
          <p:cNvSpPr/>
          <p:nvPr/>
        </p:nvSpPr>
        <p:spPr>
          <a:xfrm>
            <a:off x="2529688" y="5541264"/>
            <a:ext cx="3429000" cy="585216"/>
          </a:xfrm>
          <a:prstGeom prst="rect">
            <a:avLst/>
          </a:prstGeom>
          <a:solidFill>
            <a:srgbClr val="000000">
              <a:alpha val="7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fx4|name"/>
          <p:cNvSpPr txBox="1"/>
          <p:nvPr/>
        </p:nvSpPr>
        <p:spPr>
          <a:xfrm>
            <a:off x="2639416" y="555955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محمد عادل قاسم قائد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000" dirty="0">
                <a:solidFill>
                  <a:srgbClr val="E2BA52"/>
                </a:solidFill>
              </a:rPr>
              <a:t>معمارية النظام وآلية عمله  •  تصميم قاعدة البيانات ومخرجات النظام</a:t>
            </a:r>
            <a:endParaRPr lang="ar-SA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3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3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3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3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3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6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6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3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3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6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6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6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6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3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3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6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6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x0@move(0,-0.09,1500)|bar top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fx0@move(0,0.09,1500)|bar bottom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up frame"/>
          <p:cNvSpPr/>
          <p:nvPr/>
        </p:nvSpPr>
        <p:spPr>
          <a:xfrm>
            <a:off x="868680" y="1143000"/>
            <a:ext cx="4434840" cy="4434840"/>
          </a:xfrm>
          <a:prstGeom prst="rect">
            <a:avLst/>
          </a:prstGeom>
          <a:solidFill>
            <a:srgbClr val="05070C"/>
          </a:solidFill>
          <a:ln w="19050">
            <a:solidFill>
              <a:srgbClr val="E2BA52"/>
            </a:solidFill>
            <a:prstDash val="solid"/>
          </a:ln>
          <a:effectLst>
            <a:outerShdw sx="100000" sy="100000" kx="0" ky="0" algn="bl" rotWithShape="0" blurRad="304800" dist="50800" dir="16200000">
              <a:srgbClr val="E2BA52">
                <a:alpha val="45000"/>
              </a:srgbClr>
            </a:outerShdw>
          </a:effectLst>
        </p:spPr>
      </p:sp>
      <p:pic>
        <p:nvPicPr>
          <p:cNvPr id="5" name="fx1@zoom|sup photo" descr="د. مطيع الجعفر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4343400" cy="4343400"/>
          </a:xfrm>
          <a:prstGeom prst="rect">
            <a:avLst/>
          </a:prstGeom>
        </p:spPr>
      </p:pic>
      <p:sp>
        <p:nvSpPr>
          <p:cNvPr id="6" name="fx2|brackets h0"/>
          <p:cNvSpPr/>
          <p:nvPr/>
        </p:nvSpPr>
        <p:spPr>
          <a:xfrm>
            <a:off x="685800" y="960120"/>
            <a:ext cx="320040" cy="0"/>
          </a:xfrm>
          <a:prstGeom prst="line">
            <a:avLst/>
          </a:prstGeom>
          <a:noFill/>
          <a:ln w="31750">
            <a:solidFill>
              <a:srgbClr val="E2BA52"/>
            </a:solidFill>
            <a:prstDash val="solid"/>
          </a:ln>
        </p:spPr>
      </p:sp>
      <p:sp>
        <p:nvSpPr>
          <p:cNvPr id="7" name="fx2|brackets v0"/>
          <p:cNvSpPr/>
          <p:nvPr/>
        </p:nvSpPr>
        <p:spPr>
          <a:xfrm>
            <a:off x="685800" y="960120"/>
            <a:ext cx="0" cy="320040"/>
          </a:xfrm>
          <a:prstGeom prst="line">
            <a:avLst/>
          </a:prstGeom>
          <a:noFill/>
          <a:ln w="31750">
            <a:solidFill>
              <a:srgbClr val="E2BA52"/>
            </a:solidFill>
            <a:prstDash val="solid"/>
          </a:ln>
        </p:spPr>
      </p:sp>
      <p:sp>
        <p:nvSpPr>
          <p:cNvPr id="8" name="fx2|brackets h1"/>
          <p:cNvSpPr/>
          <p:nvPr/>
        </p:nvSpPr>
        <p:spPr>
          <a:xfrm>
            <a:off x="5166360" y="960120"/>
            <a:ext cx="320040" cy="0"/>
          </a:xfrm>
          <a:prstGeom prst="line">
            <a:avLst/>
          </a:prstGeom>
          <a:noFill/>
          <a:ln w="31750">
            <a:solidFill>
              <a:srgbClr val="E2BA52"/>
            </a:solidFill>
            <a:prstDash val="solid"/>
          </a:ln>
        </p:spPr>
      </p:sp>
      <p:sp>
        <p:nvSpPr>
          <p:cNvPr id="9" name="fx2|brackets v1"/>
          <p:cNvSpPr/>
          <p:nvPr/>
        </p:nvSpPr>
        <p:spPr>
          <a:xfrm>
            <a:off x="5486400" y="960120"/>
            <a:ext cx="0" cy="320040"/>
          </a:xfrm>
          <a:prstGeom prst="line">
            <a:avLst/>
          </a:prstGeom>
          <a:noFill/>
          <a:ln w="31750">
            <a:solidFill>
              <a:srgbClr val="E2BA52"/>
            </a:solidFill>
            <a:prstDash val="solid"/>
          </a:ln>
        </p:spPr>
      </p:sp>
      <p:sp>
        <p:nvSpPr>
          <p:cNvPr id="10" name="fx2|brackets h2"/>
          <p:cNvSpPr/>
          <p:nvPr/>
        </p:nvSpPr>
        <p:spPr>
          <a:xfrm>
            <a:off x="685800" y="5760720"/>
            <a:ext cx="320040" cy="0"/>
          </a:xfrm>
          <a:prstGeom prst="line">
            <a:avLst/>
          </a:prstGeom>
          <a:noFill/>
          <a:ln w="31750">
            <a:solidFill>
              <a:srgbClr val="E2BA52"/>
            </a:solidFill>
            <a:prstDash val="solid"/>
          </a:ln>
        </p:spPr>
      </p:sp>
      <p:sp>
        <p:nvSpPr>
          <p:cNvPr id="11" name="fx2|brackets v2"/>
          <p:cNvSpPr/>
          <p:nvPr/>
        </p:nvSpPr>
        <p:spPr>
          <a:xfrm>
            <a:off x="685800" y="5440680"/>
            <a:ext cx="0" cy="320040"/>
          </a:xfrm>
          <a:prstGeom prst="line">
            <a:avLst/>
          </a:prstGeom>
          <a:noFill/>
          <a:ln w="31750">
            <a:solidFill>
              <a:srgbClr val="E2BA52"/>
            </a:solidFill>
            <a:prstDash val="solid"/>
          </a:ln>
        </p:spPr>
      </p:sp>
      <p:sp>
        <p:nvSpPr>
          <p:cNvPr id="12" name="fx2|brackets h3"/>
          <p:cNvSpPr/>
          <p:nvPr/>
        </p:nvSpPr>
        <p:spPr>
          <a:xfrm>
            <a:off x="5166360" y="5760720"/>
            <a:ext cx="320040" cy="0"/>
          </a:xfrm>
          <a:prstGeom prst="line">
            <a:avLst/>
          </a:prstGeom>
          <a:noFill/>
          <a:ln w="31750">
            <a:solidFill>
              <a:srgbClr val="E2BA52"/>
            </a:solidFill>
            <a:prstDash val="solid"/>
          </a:ln>
        </p:spPr>
      </p:sp>
      <p:sp>
        <p:nvSpPr>
          <p:cNvPr id="13" name="fx2|brackets v3"/>
          <p:cNvSpPr/>
          <p:nvPr/>
        </p:nvSpPr>
        <p:spPr>
          <a:xfrm>
            <a:off x="5486400" y="5440680"/>
            <a:ext cx="0" cy="320040"/>
          </a:xfrm>
          <a:prstGeom prst="line">
            <a:avLst/>
          </a:prstGeom>
          <a:noFill/>
          <a:ln w="31750">
            <a:solidFill>
              <a:srgbClr val="E2BA52"/>
            </a:solidFill>
            <a:prstDash val="solid"/>
          </a:ln>
        </p:spPr>
      </p:sp>
      <p:pic>
        <p:nvPicPr>
          <p:cNvPr id="14" name="fx2@move(0,0.62,1800)|scan" descr="img/scan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0120"/>
            <a:ext cx="4343400" cy="457200"/>
          </a:xfrm>
          <a:prstGeom prst="rect">
            <a:avLst/>
          </a:prstGeom>
        </p:spPr>
      </p:pic>
      <p:sp>
        <p:nvSpPr>
          <p:cNvPr id="15" name="fx4@zoom|box"/>
          <p:cNvSpPr/>
          <p:nvPr/>
        </p:nvSpPr>
        <p:spPr>
          <a:xfrm>
            <a:off x="1783080" y="1449324"/>
            <a:ext cx="2606040" cy="3040380"/>
          </a:xfrm>
          <a:prstGeom prst="rect">
            <a:avLst/>
          </a:prstGeom>
          <a:solidFill>
            <a:srgbClr val="E2BA52">
              <a:alpha val="0"/>
            </a:srgbClr>
          </a:solidFill>
          <a:ln w="31750">
            <a:solidFill>
              <a:srgbClr val="E2BA52"/>
            </a:solidFill>
            <a:prstDash val="solid"/>
          </a:ln>
        </p:spPr>
      </p:sp>
      <p:sp>
        <p:nvSpPr>
          <p:cNvPr id="16" name="fx5@pop|tag"/>
          <p:cNvSpPr txBox="1"/>
          <p:nvPr/>
        </p:nvSpPr>
        <p:spPr>
          <a:xfrm>
            <a:off x="1783080" y="1175004"/>
            <a:ext cx="2226015" cy="358445"/>
          </a:xfrm>
          <a:prstGeom prst="rect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SUPERVISOR  •  1.00</a:t>
            </a:r>
            <a:endParaRPr lang="en-US" sz="1200" dirty="0"/>
          </a:p>
        </p:txBody>
      </p:sp>
      <p:sp>
        <p:nvSpPr>
          <p:cNvPr id="17" name="fx3|card#3d"/>
          <p:cNvSpPr/>
          <p:nvPr/>
        </p:nvSpPr>
        <p:spPr>
          <a:xfrm>
            <a:off x="5943600" y="1463040"/>
            <a:ext cx="5696712" cy="3931920"/>
          </a:xfrm>
          <a:prstGeom prst="roundRect">
            <a:avLst>
              <a:gd name="adj" fmla="val 3256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8" name="fx3|head"/>
          <p:cNvSpPr txBox="1"/>
          <p:nvPr/>
        </p:nvSpPr>
        <p:spPr>
          <a:xfrm>
            <a:off x="5943600" y="1463040"/>
            <a:ext cx="5696712" cy="566928"/>
          </a:xfrm>
          <a:prstGeom prst="roundRect">
            <a:avLst>
              <a:gd name="adj" fmla="val 22581"/>
            </a:avLst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0A0E1A"/>
                </a:solidFill>
              </a:rPr>
              <a:t>المشرف على المشروع  •  Project Supervisor</a:t>
            </a:r>
            <a:endParaRPr lang="ar-SA" sz="1700" dirty="0"/>
          </a:p>
        </p:txBody>
      </p:sp>
      <p:sp>
        <p:nvSpPr>
          <p:cNvPr id="19" name="fx6@zoom|name"/>
          <p:cNvSpPr txBox="1"/>
          <p:nvPr/>
        </p:nvSpPr>
        <p:spPr>
          <a:xfrm>
            <a:off x="6217920" y="2377440"/>
            <a:ext cx="5148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b="1" dirty="0">
                <a:solidFill>
                  <a:srgbClr val="FFFFFF"/>
                </a:solidFill>
              </a:rPr>
              <a:t>د. مطيع الجعفري</a:t>
            </a:r>
            <a:endParaRPr lang="ar-SA" sz="3800" dirty="0"/>
          </a:p>
        </p:txBody>
      </p:sp>
      <p:sp>
        <p:nvSpPr>
          <p:cNvPr id="20" name="fx6|en"/>
          <p:cNvSpPr txBox="1"/>
          <p:nvPr/>
        </p:nvSpPr>
        <p:spPr>
          <a:xfrm>
            <a:off x="6217920" y="3108960"/>
            <a:ext cx="5148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chemeClr val="accent2"/>
                </a:solidFill>
              </a:rPr>
              <a:t>Dr. Mutee Al-Jaafari</a:t>
            </a:r>
            <a:endParaRPr lang="en-US" sz="1700" dirty="0"/>
          </a:p>
        </p:txBody>
      </p:sp>
      <p:sp>
        <p:nvSpPr>
          <p:cNvPr id="21" name="fx7|rule"/>
          <p:cNvSpPr/>
          <p:nvPr/>
        </p:nvSpPr>
        <p:spPr>
          <a:xfrm>
            <a:off x="7040880" y="3703320"/>
            <a:ext cx="3502152" cy="0"/>
          </a:xfrm>
          <a:prstGeom prst="line">
            <a:avLst/>
          </a:prstGeom>
          <a:noFill/>
          <a:ln w="12700">
            <a:solidFill>
              <a:srgbClr val="E2BA52">
                <a:alpha val="60000"/>
              </a:srgbClr>
            </a:solidFill>
            <a:prstDash val="solid"/>
          </a:ln>
        </p:spPr>
      </p:sp>
      <p:sp>
        <p:nvSpPr>
          <p:cNvPr id="22" name="fx7|uni"/>
          <p:cNvSpPr txBox="1"/>
          <p:nvPr/>
        </p:nvSpPr>
        <p:spPr>
          <a:xfrm>
            <a:off x="6217920" y="3886200"/>
            <a:ext cx="5148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جامعة العلوم والتكنولوجيا — فرع إب</a:t>
            </a:r>
            <a:endParaRPr lang="ar-SA" sz="1500" dirty="0"/>
          </a:p>
          <a:p>
            <a:pPr algn="ctr" indent="0" marL="0">
              <a:buNone/>
            </a:pPr>
            <a:r>
              <a:rPr lang="ar-SA" altLang="en-US" sz="1300" dirty="0">
                <a:solidFill>
                  <a:srgbClr val="B8C7E0"/>
                </a:solidFill>
              </a:rPr>
              <a:t>كلية الحاسبات وتكنولوجيا المعلومات  •  قسم تقنية المعلومات</a:t>
            </a:r>
            <a:endParaRPr lang="ar-SA" sz="1500" dirty="0"/>
          </a:p>
        </p:txBody>
      </p:sp>
      <p:sp>
        <p:nvSpPr>
          <p:cNvPr id="23" name="fx8@pop|thanks"/>
          <p:cNvSpPr txBox="1"/>
          <p:nvPr/>
        </p:nvSpPr>
        <p:spPr>
          <a:xfrm>
            <a:off x="6217920" y="4754880"/>
            <a:ext cx="5148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accent2"/>
                </a:solidFill>
              </a:rPr>
              <a:t>شكراً لإشرافكم وتوجيهكم</a:t>
            </a:r>
            <a:endParaRPr lang="ar-SA" sz="1500" dirty="0"/>
          </a:p>
        </p:txBody>
      </p:sp>
      <p:sp>
        <p:nvSpPr>
          <p:cNvPr id="25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26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 -0.09 E" pathEditMode="relative" ptsTypes="AA">
                                      <p:cBhvr>
                                        <p:cTn id="6" dur="1500" accel="20000" decel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 0.09 E" pathEditMode="relative" ptsTypes="AA">
                                      <p:cBhvr>
                                        <p:cTn id="8" dur="1500" accel="20000" decel="3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0" presetClass="path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animMotion origin="layout" path="M 0 0 L 0 0.62 E" pathEditMode="relative" ptsTypes="AA">
                                      <p:cBhvr>
                                        <p:cTn id="47" dur="1800" accel="20000" decel="3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3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3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لجنة المناقشة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Examination Committee</a:t>
            </a:r>
            <a:endParaRPr lang="en-US" sz="1500" dirty="0"/>
          </a:p>
        </p:txBody>
      </p:sp>
      <p:sp>
        <p:nvSpPr>
          <p:cNvPr id="4" name="fx0@zoom|ring#3d"/>
          <p:cNvSpPr/>
          <p:nvPr/>
        </p:nvSpPr>
        <p:spPr>
          <a:xfrm>
            <a:off x="6931152" y="1581912"/>
            <a:ext cx="3054096" cy="3054096"/>
          </a:xfrm>
          <a:prstGeom prst="ellipse">
            <a:avLst/>
          </a:prstGeom>
          <a:solidFill>
            <a:schemeClr val="tx1"/>
          </a:solidFill>
          <a:ln w="38100">
            <a:solidFill>
              <a:srgbClr val="22D3EE"/>
            </a:solidFill>
            <a:prstDash val="solid"/>
          </a:ln>
          <a:effectLst>
            <a:outerShdw sx="100000" sy="100000" kx="0" ky="0" algn="bl" rotWithShape="0" blurRad="355600" dist="50800" dir="16200000">
              <a:srgbClr val="22D3EE">
                <a:alpha val="7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5" name="fx0@zoom|photo" descr="د. رضوان الديلم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691640"/>
            <a:ext cx="2834640" cy="2834640"/>
          </a:xfrm>
          <a:prstGeom prst="ellipse">
            <a:avLst/>
          </a:prstGeom>
        </p:spPr>
      </p:pic>
      <p:sp>
        <p:nvSpPr>
          <p:cNvPr id="6" name="fx1|name"/>
          <p:cNvSpPr txBox="1"/>
          <p:nvPr/>
        </p:nvSpPr>
        <p:spPr>
          <a:xfrm>
            <a:off x="6080760" y="4800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b="1" dirty="0">
                <a:solidFill>
                  <a:srgbClr val="FFFFFF"/>
                </a:solidFill>
              </a:rPr>
              <a:t>د. رضوان الديلمي</a:t>
            </a:r>
            <a:endParaRPr lang="ar-SA" sz="2700" dirty="0"/>
          </a:p>
        </p:txBody>
      </p:sp>
      <p:sp>
        <p:nvSpPr>
          <p:cNvPr id="7" name="fx1|en"/>
          <p:cNvSpPr txBox="1"/>
          <p:nvPr/>
        </p:nvSpPr>
        <p:spPr>
          <a:xfrm>
            <a:off x="6080760" y="53309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chemeClr val="accent1"/>
                </a:solidFill>
              </a:rPr>
              <a:t>Dr. Radwan Al-Dailami</a:t>
            </a:r>
            <a:endParaRPr lang="en-US" sz="1400" dirty="0"/>
          </a:p>
        </p:txBody>
      </p:sp>
      <p:sp>
        <p:nvSpPr>
          <p:cNvPr id="8" name="fx2@pop|role#3d"/>
          <p:cNvSpPr txBox="1"/>
          <p:nvPr/>
        </p:nvSpPr>
        <p:spPr>
          <a:xfrm>
            <a:off x="6858000" y="5742432"/>
            <a:ext cx="3200400" cy="365760"/>
          </a:xfrm>
          <a:prstGeom prst="rect">
            <a:avLst/>
          </a:prstGeom>
          <a:solidFill>
            <a:srgbClr val="22D3EE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0A0E1A"/>
                </a:solidFill>
              </a:rPr>
              <a:t>عضو لجنة المناقشة  •  Examiner</a:t>
            </a:r>
            <a:endParaRPr lang="ar-SA" sz="1300" dirty="0"/>
          </a:p>
        </p:txBody>
      </p:sp>
      <p:sp>
        <p:nvSpPr>
          <p:cNvPr id="9" name="fx3@zoom|ring#3d"/>
          <p:cNvSpPr/>
          <p:nvPr/>
        </p:nvSpPr>
        <p:spPr>
          <a:xfrm>
            <a:off x="2203704" y="1581912"/>
            <a:ext cx="3054096" cy="3054096"/>
          </a:xfrm>
          <a:prstGeom prst="ellipse">
            <a:avLst/>
          </a:prstGeom>
          <a:solidFill>
            <a:schemeClr val="tx1"/>
          </a:solidFill>
          <a:ln w="38100">
            <a:solidFill>
              <a:srgbClr val="22D3EE"/>
            </a:solidFill>
            <a:prstDash val="solid"/>
          </a:ln>
          <a:effectLst>
            <a:outerShdw sx="100000" sy="100000" kx="0" ky="0" algn="bl" rotWithShape="0" blurRad="355600" dist="50800" dir="16200000">
              <a:srgbClr val="22D3EE">
                <a:alpha val="70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0" name="fx3@zoom|photo" descr="د. رضوان شداد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432" y="1691640"/>
            <a:ext cx="2834640" cy="2834640"/>
          </a:xfrm>
          <a:prstGeom prst="ellipse">
            <a:avLst/>
          </a:prstGeom>
        </p:spPr>
      </p:pic>
      <p:sp>
        <p:nvSpPr>
          <p:cNvPr id="11" name="fx4|name"/>
          <p:cNvSpPr txBox="1"/>
          <p:nvPr/>
        </p:nvSpPr>
        <p:spPr>
          <a:xfrm>
            <a:off x="1353312" y="4800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b="1" dirty="0">
                <a:solidFill>
                  <a:srgbClr val="FFFFFF"/>
                </a:solidFill>
              </a:rPr>
              <a:t>د. رضوان شداد</a:t>
            </a:r>
            <a:endParaRPr lang="ar-SA" sz="2700" dirty="0"/>
          </a:p>
        </p:txBody>
      </p:sp>
      <p:sp>
        <p:nvSpPr>
          <p:cNvPr id="12" name="fx4|en"/>
          <p:cNvSpPr txBox="1"/>
          <p:nvPr/>
        </p:nvSpPr>
        <p:spPr>
          <a:xfrm>
            <a:off x="1353312" y="53309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chemeClr val="accent1"/>
                </a:solidFill>
              </a:rPr>
              <a:t>Dr. Radwan Shaddad</a:t>
            </a:r>
            <a:endParaRPr lang="en-US" sz="1400" dirty="0"/>
          </a:p>
        </p:txBody>
      </p:sp>
      <p:sp>
        <p:nvSpPr>
          <p:cNvPr id="13" name="fx5@pop|role#3d"/>
          <p:cNvSpPr txBox="1"/>
          <p:nvPr/>
        </p:nvSpPr>
        <p:spPr>
          <a:xfrm>
            <a:off x="2130552" y="5742432"/>
            <a:ext cx="3200400" cy="365760"/>
          </a:xfrm>
          <a:prstGeom prst="rect">
            <a:avLst/>
          </a:prstGeom>
          <a:solidFill>
            <a:srgbClr val="22D3EE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0A0E1A"/>
                </a:solidFill>
              </a:rPr>
              <a:t>عضو لجنة المناقشة  •  Examiner</a:t>
            </a:r>
            <a:endParaRPr lang="ar-SA" sz="1300" dirty="0"/>
          </a:p>
        </p:txBody>
      </p:sp>
      <p:sp>
        <p:nvSpPr>
          <p:cNvPr id="14" name="fx7|welcome"/>
          <p:cNvSpPr txBox="1"/>
          <p:nvPr/>
        </p:nvSpPr>
        <p:spPr>
          <a:xfrm>
            <a:off x="2286000" y="6309360"/>
            <a:ext cx="7616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accent2"/>
                </a:solidFill>
              </a:rPr>
              <a:t>نرحّب بأعضاء لجنة المناقشة الموقّرة</a:t>
            </a:r>
            <a:endParaRPr lang="ar-SA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3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3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3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x0@move(0,-0.09,1500)|bar top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fx0@move(0,0.09,1500)|bar bottom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fx1|scene"/>
          <p:cNvSpPr txBox="1"/>
          <p:nvPr/>
        </p:nvSpPr>
        <p:spPr>
          <a:xfrm>
            <a:off x="548640" y="658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 01  •  TEAM 01</a:t>
            </a:r>
            <a:endParaRPr lang="en-US" sz="1300" dirty="0"/>
          </a:p>
        </p:txBody>
      </p:sp>
      <p:sp>
        <p:nvSpPr>
          <p:cNvPr id="5" name="fx1|kicker"/>
          <p:cNvSpPr txBox="1"/>
          <p:nvPr/>
        </p:nvSpPr>
        <p:spPr>
          <a:xfrm>
            <a:off x="5760720" y="658368"/>
            <a:ext cx="5879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4"/>
                </a:solidFill>
              </a:rPr>
              <a:t>IDENTITY VERIFIED  •  تم التعرّف على العضو</a:t>
            </a:r>
            <a:endParaRPr lang="ar-SA" sz="1400" dirty="0"/>
          </a:p>
        </p:txBody>
      </p:sp>
      <p:sp>
        <p:nvSpPr>
          <p:cNvPr id="6" name="Photo frame"/>
          <p:cNvSpPr/>
          <p:nvPr/>
        </p:nvSpPr>
        <p:spPr>
          <a:xfrm>
            <a:off x="777240" y="1188720"/>
            <a:ext cx="4297680" cy="4297680"/>
          </a:xfrm>
          <a:prstGeom prst="rect">
            <a:avLst/>
          </a:prstGeom>
          <a:solidFill>
            <a:srgbClr val="05070C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304800" dist="50800" dir="16200000">
              <a:srgbClr val="22D3EE">
                <a:alpha val="45000"/>
              </a:srgbClr>
            </a:outerShdw>
          </a:effectLst>
        </p:spPr>
      </p:sp>
      <p:pic>
        <p:nvPicPr>
          <p:cNvPr id="7" name="fx1@zoom|photo s1" descr="عيسى إبراهيم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4206240" cy="4206240"/>
          </a:xfrm>
          <a:prstGeom prst="rect">
            <a:avLst/>
          </a:prstGeom>
        </p:spPr>
      </p:pic>
      <p:sp>
        <p:nvSpPr>
          <p:cNvPr id="8" name="fx2|brackets h0"/>
          <p:cNvSpPr/>
          <p:nvPr/>
        </p:nvSpPr>
        <p:spPr>
          <a:xfrm>
            <a:off x="594360" y="1005840"/>
            <a:ext cx="320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9" name="fx2|brackets v0"/>
          <p:cNvSpPr/>
          <p:nvPr/>
        </p:nvSpPr>
        <p:spPr>
          <a:xfrm>
            <a:off x="594360" y="1005840"/>
            <a:ext cx="0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0" name="fx2|brackets h1"/>
          <p:cNvSpPr/>
          <p:nvPr/>
        </p:nvSpPr>
        <p:spPr>
          <a:xfrm>
            <a:off x="4937760" y="1005840"/>
            <a:ext cx="320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1" name="fx2|brackets v1"/>
          <p:cNvSpPr/>
          <p:nvPr/>
        </p:nvSpPr>
        <p:spPr>
          <a:xfrm>
            <a:off x="5257800" y="1005840"/>
            <a:ext cx="0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2" name="fx2|brackets h2"/>
          <p:cNvSpPr/>
          <p:nvPr/>
        </p:nvSpPr>
        <p:spPr>
          <a:xfrm>
            <a:off x="594360" y="5669280"/>
            <a:ext cx="320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3" name="fx2|brackets v2"/>
          <p:cNvSpPr/>
          <p:nvPr/>
        </p:nvSpPr>
        <p:spPr>
          <a:xfrm>
            <a:off x="594360" y="5349240"/>
            <a:ext cx="0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4" name="fx2|brackets h3"/>
          <p:cNvSpPr/>
          <p:nvPr/>
        </p:nvSpPr>
        <p:spPr>
          <a:xfrm>
            <a:off x="4937760" y="5669280"/>
            <a:ext cx="3200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5" name="fx2|brackets v3"/>
          <p:cNvSpPr/>
          <p:nvPr/>
        </p:nvSpPr>
        <p:spPr>
          <a:xfrm>
            <a:off x="5257800" y="5349240"/>
            <a:ext cx="0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pic>
        <p:nvPicPr>
          <p:cNvPr id="16" name="fx2@move(0,0.6,1800)|scan" descr="img/scan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4206240" cy="457200"/>
          </a:xfrm>
          <a:prstGeom prst="rect">
            <a:avLst/>
          </a:prstGeom>
        </p:spPr>
      </p:pic>
      <p:sp>
        <p:nvSpPr>
          <p:cNvPr id="17" name="fx4@zoom|face box"/>
          <p:cNvSpPr/>
          <p:nvPr/>
        </p:nvSpPr>
        <p:spPr>
          <a:xfrm>
            <a:off x="1664208" y="1486814"/>
            <a:ext cx="2523744" cy="2944368"/>
          </a:xfrm>
          <a:prstGeom prst="rect">
            <a:avLst/>
          </a:prstGeom>
          <a:solidFill>
            <a:srgbClr val="10B981">
              <a:alpha val="0"/>
            </a:srgbClr>
          </a:solidFill>
          <a:ln w="31750">
            <a:solidFill>
              <a:srgbClr val="10B981"/>
            </a:solidFill>
            <a:prstDash val="solid"/>
          </a:ln>
        </p:spPr>
      </p:sp>
      <p:sp>
        <p:nvSpPr>
          <p:cNvPr id="18" name="fx5@pop|face tag"/>
          <p:cNvSpPr txBox="1"/>
          <p:nvPr/>
        </p:nvSpPr>
        <p:spPr>
          <a:xfrm>
            <a:off x="1664208" y="1212494"/>
            <a:ext cx="2844333" cy="33467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 01  •  MATCH 0.99</a:t>
            </a:r>
            <a:endParaRPr lang="en-US" sz="1100" dirty="0"/>
          </a:p>
        </p:txBody>
      </p:sp>
      <p:sp>
        <p:nvSpPr>
          <p:cNvPr id="19" name="fx3|card#3d"/>
          <p:cNvSpPr/>
          <p:nvPr/>
        </p:nvSpPr>
        <p:spPr>
          <a:xfrm>
            <a:off x="5760720" y="1234440"/>
            <a:ext cx="5879592" cy="4709160"/>
          </a:xfrm>
          <a:prstGeom prst="roundRect">
            <a:avLst>
              <a:gd name="adj" fmla="val 2718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0" name="fx3|card head"/>
          <p:cNvSpPr txBox="1"/>
          <p:nvPr/>
        </p:nvSpPr>
        <p:spPr>
          <a:xfrm>
            <a:off x="5760720" y="1234440"/>
            <a:ext cx="5879592" cy="548640"/>
          </a:xfrm>
          <a:prstGeom prst="roundRect">
            <a:avLst>
              <a:gd name="adj" fmla="val 23333"/>
            </a:avLst>
          </a:prstGeom>
          <a:solidFill>
            <a:srgbClr val="22D3EE"/>
          </a:solidFill>
          <a:ln/>
        </p:spPr>
        <p:txBody>
          <a:bodyPr wrap="square" lIns="0" tIns="3810" rIns="3810" bIns="0" rtlCol="0" anchor="ctr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0A0E1A"/>
                </a:solidFill>
              </a:rPr>
              <a:t>بطاقة عضو الفريق</a:t>
            </a:r>
            <a:endParaRPr lang="ar-SA" sz="1700" dirty="0"/>
          </a:p>
        </p:txBody>
      </p:sp>
      <p:sp>
        <p:nvSpPr>
          <p:cNvPr id="21" name="fx3|card head en"/>
          <p:cNvSpPr txBox="1"/>
          <p:nvPr/>
        </p:nvSpPr>
        <p:spPr>
          <a:xfrm>
            <a:off x="6035040" y="13441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MEMBER ID</a:t>
            </a:r>
            <a:endParaRPr lang="en-US" sz="1200" dirty="0"/>
          </a:p>
        </p:txBody>
      </p:sp>
      <p:sp>
        <p:nvSpPr>
          <p:cNvPr id="22" name="fx6|lab1"/>
          <p:cNvSpPr txBox="1"/>
          <p:nvPr/>
        </p:nvSpPr>
        <p:spPr>
          <a:xfrm>
            <a:off x="6035040" y="196596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الاسم  •  Name</a:t>
            </a:r>
            <a:endParaRPr lang="ar-SA" sz="1200" dirty="0"/>
          </a:p>
        </p:txBody>
      </p:sp>
      <p:sp>
        <p:nvSpPr>
          <p:cNvPr id="23" name="fx6|name"/>
          <p:cNvSpPr txBox="1"/>
          <p:nvPr/>
        </p:nvSpPr>
        <p:spPr>
          <a:xfrm>
            <a:off x="6035040" y="2240280"/>
            <a:ext cx="5330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FFFFFF"/>
                </a:solidFill>
              </a:rPr>
              <a:t>عيسى إبراهيم شايع</a:t>
            </a:r>
            <a:endParaRPr lang="ar-SA" sz="2600" dirty="0"/>
          </a:p>
        </p:txBody>
      </p:sp>
      <p:sp>
        <p:nvSpPr>
          <p:cNvPr id="24" name="fx6|en"/>
          <p:cNvSpPr txBox="1"/>
          <p:nvPr/>
        </p:nvSpPr>
        <p:spPr>
          <a:xfrm>
            <a:off x="6035040" y="2743200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22D3EE"/>
                </a:solidFill>
              </a:rPr>
              <a:t>Eisa Ibrahim Shaye</a:t>
            </a:r>
            <a:endParaRPr lang="en-US" sz="1300" dirty="0"/>
          </a:p>
        </p:txBody>
      </p:sp>
      <p:sp>
        <p:nvSpPr>
          <p:cNvPr id="25" name="fx7|lab2"/>
          <p:cNvSpPr txBox="1"/>
          <p:nvPr/>
        </p:nvSpPr>
        <p:spPr>
          <a:xfrm>
            <a:off x="6035040" y="32461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الجزء الذي يعرضه  •  Presenting</a:t>
            </a:r>
            <a:endParaRPr lang="ar-SA" sz="1200" dirty="0"/>
          </a:p>
        </p:txBody>
      </p:sp>
      <p:sp>
        <p:nvSpPr>
          <p:cNvPr id="26" name="fx8@pop|part#3d"/>
          <p:cNvSpPr txBox="1"/>
          <p:nvPr/>
        </p:nvSpPr>
        <p:spPr>
          <a:xfrm>
            <a:off x="6035040" y="3611880"/>
            <a:ext cx="5330952" cy="475488"/>
          </a:xfrm>
          <a:prstGeom prst="roundRect">
            <a:avLst>
              <a:gd name="adj" fmla="val 19231"/>
            </a:avLst>
          </a:prstGeom>
          <a:solidFill>
            <a:srgbClr val="0B1426"/>
          </a:solidFill>
          <a:ln w="12700">
            <a:solidFill>
              <a:srgbClr val="22D3E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2540" rIns="254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المقدمة</a:t>
            </a:r>
            <a:endParaRPr lang="ar-SA" sz="1700" dirty="0"/>
          </a:p>
        </p:txBody>
      </p:sp>
      <p:sp>
        <p:nvSpPr>
          <p:cNvPr id="27" name="fx9@pop|part#3d"/>
          <p:cNvSpPr txBox="1"/>
          <p:nvPr/>
        </p:nvSpPr>
        <p:spPr>
          <a:xfrm>
            <a:off x="6035040" y="4178808"/>
            <a:ext cx="5330952" cy="475488"/>
          </a:xfrm>
          <a:prstGeom prst="roundRect">
            <a:avLst>
              <a:gd name="adj" fmla="val 19231"/>
            </a:avLst>
          </a:prstGeom>
          <a:solidFill>
            <a:srgbClr val="0B1426"/>
          </a:solidFill>
          <a:ln w="12700">
            <a:solidFill>
              <a:srgbClr val="22D3E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2540" rIns="254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وصف المشروع</a:t>
            </a:r>
            <a:endParaRPr lang="ar-SA" sz="1700" dirty="0"/>
          </a:p>
        </p:txBody>
      </p:sp>
      <p:sp>
        <p:nvSpPr>
          <p:cNvPr id="28" name="fx10@pop|plate#3d"/>
          <p:cNvSpPr txBox="1"/>
          <p:nvPr/>
        </p:nvSpPr>
        <p:spPr>
          <a:xfrm>
            <a:off x="6035040" y="5047488"/>
            <a:ext cx="2286000" cy="694944"/>
          </a:xfrm>
          <a:prstGeom prst="roundRect">
            <a:avLst>
              <a:gd name="adj" fmla="val 7895"/>
            </a:avLst>
          </a:prstGeom>
          <a:solidFill>
            <a:srgbClr val="F5F5F0"/>
          </a:solidFill>
          <a:ln w="25400">
            <a:solidFill>
              <a:srgbClr val="111111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01</a:t>
            </a:r>
            <a:endParaRPr lang="en-US" sz="24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333333"/>
                </a:solidFill>
              </a:rPr>
              <a:t>YEMEN  •  اليمن</a:t>
            </a:r>
            <a:endParaRPr lang="en-US" sz="2400" dirty="0"/>
          </a:p>
        </p:txBody>
      </p:sp>
      <p:sp>
        <p:nvSpPr>
          <p:cNvPr id="29" name="fx10|code"/>
          <p:cNvSpPr txBox="1"/>
          <p:nvPr/>
        </p:nvSpPr>
        <p:spPr>
          <a:xfrm>
            <a:off x="9262872" y="5257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UST-IBB  •  2026</a:t>
            </a:r>
            <a:endParaRPr lang="en-US" sz="1200" dirty="0"/>
          </a:p>
        </p:txBody>
      </p:sp>
      <p:sp>
        <p:nvSpPr>
          <p:cNvPr id="31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2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 -0.09 E" pathEditMode="relative" ptsTypes="AA">
                                      <p:cBhvr>
                                        <p:cTn id="6" dur="1500" accel="20000" decel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 0.09 E" pathEditMode="relative" ptsTypes="AA">
                                      <p:cBhvr>
                                        <p:cTn id="8" dur="1500" accel="20000" decel="3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0" presetClass="path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animMotion origin="layout" path="M 0 0 L 0 0.6 E" pathEditMode="relative" ptsTypes="AA">
                                      <p:cBhvr>
                                        <p:cTn id="55" dur="1800" accel="20000" decel="3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3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3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3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3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3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3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x0|accident" descr="حادث مروري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617720" cy="6858000"/>
          </a:xfrm>
          <a:prstGeom prst="rect">
            <a:avLst/>
          </a:prstGeom>
        </p:spPr>
      </p:pic>
      <p:sp>
        <p:nvSpPr>
          <p:cNvPr id="3" name="fx1|caption"/>
          <p:cNvSpPr txBox="1"/>
          <p:nvPr/>
        </p:nvSpPr>
        <p:spPr>
          <a:xfrm>
            <a:off x="365760" y="56235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</a:rPr>
              <a:t>السرعة الزائدة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1200" dirty="0">
                <a:solidFill>
                  <a:srgbClr val="F43F5E"/>
                </a:solidFill>
              </a:rPr>
              <a:t>Speeding &amp; road accidents</a:t>
            </a:r>
            <a:endParaRPr lang="ar-SA" sz="2400" dirty="0"/>
          </a:p>
        </p:txBody>
      </p:sp>
      <p:sp>
        <p:nvSpPr>
          <p:cNvPr id="4" name="!!kicker"/>
          <p:cNvSpPr txBox="1"/>
          <p:nvPr/>
        </p:nvSpPr>
        <p:spPr>
          <a:xfrm>
            <a:off x="5120640" y="457200"/>
            <a:ext cx="3291840" cy="329184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عيسى شايع  •  المقدمة 1 / 2</a:t>
            </a:r>
            <a:endParaRPr lang="ar-SA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8595360" y="365760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FFFFFF"/>
                </a:solidFill>
              </a:rPr>
              <a:t>المقدمة</a:t>
            </a:r>
            <a:endParaRPr lang="ar-SA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1005840"/>
            <a:ext cx="6519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500" b="1" dirty="0">
                <a:solidFill>
                  <a:schemeClr val="accent1"/>
                </a:solidFill>
              </a:rPr>
              <a:t>Introduction</a:t>
            </a:r>
            <a:endParaRPr lang="en-US" sz="1500" dirty="0"/>
          </a:p>
        </p:txBody>
      </p:sp>
      <p:sp>
        <p:nvSpPr>
          <p:cNvPr id="7" name="fx1|card#3d"/>
          <p:cNvSpPr/>
          <p:nvPr/>
        </p:nvSpPr>
        <p:spPr>
          <a:xfrm>
            <a:off x="5120640" y="1600200"/>
            <a:ext cx="6519672" cy="2103120"/>
          </a:xfrm>
          <a:prstGeom prst="roundRect">
            <a:avLst>
              <a:gd name="adj" fmla="val 6087"/>
            </a:avLst>
          </a:prstGeom>
          <a:solidFill>
            <a:schemeClr val="tx2">
              <a:alpha val="86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8" name="fx1|ic bg#3d"/>
          <p:cNvSpPr/>
          <p:nvPr/>
        </p:nvSpPr>
        <p:spPr>
          <a:xfrm>
            <a:off x="10863072" y="1755648"/>
            <a:ext cx="603504" cy="60350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9" name="fx1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3948" y="1906524"/>
            <a:ext cx="301752" cy="301752"/>
          </a:xfrm>
          <a:prstGeom prst="rect">
            <a:avLst/>
          </a:prstGeom>
        </p:spPr>
      </p:pic>
      <p:sp>
        <p:nvSpPr>
          <p:cNvPr id="10" name="fx1|head"/>
          <p:cNvSpPr txBox="1"/>
          <p:nvPr/>
        </p:nvSpPr>
        <p:spPr>
          <a:xfrm>
            <a:off x="5303520" y="1709928"/>
            <a:ext cx="5422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السلامة المرورية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10B981"/>
                </a:solidFill>
              </a:rPr>
              <a:t>Traffic Safety</a:t>
            </a:r>
            <a:endParaRPr lang="ar-SA" sz="1800" dirty="0"/>
          </a:p>
        </p:txBody>
      </p:sp>
      <p:sp>
        <p:nvSpPr>
          <p:cNvPr id="11" name="fx2|items"/>
          <p:cNvSpPr txBox="1"/>
          <p:nvPr/>
        </p:nvSpPr>
        <p:spPr>
          <a:xfrm>
            <a:off x="5349240" y="2514600"/>
            <a:ext cx="6062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يشهد الشعب اليمني في السنوات الأخيرة تحديات كبيرة في مجال السلامة المرورية</a:t>
            </a:r>
            <a:endParaRPr lang="ar-SA" sz="15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الحاجة إلى حلول تعزز السلامة وتحد من الحوادث</a:t>
            </a:r>
            <a:endParaRPr lang="ar-SA" sz="1500" dirty="0"/>
          </a:p>
        </p:txBody>
      </p:sp>
      <p:sp>
        <p:nvSpPr>
          <p:cNvPr id="12" name="fx3|card#3d"/>
          <p:cNvSpPr/>
          <p:nvPr/>
        </p:nvSpPr>
        <p:spPr>
          <a:xfrm>
            <a:off x="5120640" y="3931920"/>
            <a:ext cx="6519672" cy="2240280"/>
          </a:xfrm>
          <a:prstGeom prst="roundRect">
            <a:avLst>
              <a:gd name="adj" fmla="val 5714"/>
            </a:avLst>
          </a:prstGeom>
          <a:solidFill>
            <a:schemeClr val="tx2">
              <a:alpha val="86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3" name="fx3|ic bg#3d"/>
          <p:cNvSpPr/>
          <p:nvPr/>
        </p:nvSpPr>
        <p:spPr>
          <a:xfrm>
            <a:off x="10863072" y="4087368"/>
            <a:ext cx="603504" cy="60350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4" name="fx3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948" y="4238244"/>
            <a:ext cx="301752" cy="301752"/>
          </a:xfrm>
          <a:prstGeom prst="rect">
            <a:avLst/>
          </a:prstGeom>
        </p:spPr>
      </p:pic>
      <p:sp>
        <p:nvSpPr>
          <p:cNvPr id="15" name="fx3|head"/>
          <p:cNvSpPr txBox="1"/>
          <p:nvPr/>
        </p:nvSpPr>
        <p:spPr>
          <a:xfrm>
            <a:off x="5303520" y="4041648"/>
            <a:ext cx="5422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السرعة الزائدة والحوادث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F43F5E"/>
                </a:solidFill>
              </a:rPr>
              <a:t>Speeding &amp; Accidents</a:t>
            </a:r>
            <a:endParaRPr lang="ar-SA" sz="1800" dirty="0"/>
          </a:p>
        </p:txBody>
      </p:sp>
      <p:sp>
        <p:nvSpPr>
          <p:cNvPr id="16" name="fx4|items"/>
          <p:cNvSpPr txBox="1"/>
          <p:nvPr/>
        </p:nvSpPr>
        <p:spPr>
          <a:xfrm>
            <a:off x="5349240" y="4846320"/>
            <a:ext cx="6062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السرعة الزائدة وعدم الالتزام بالسرعات المحددة من أبرز أسباب الحوادث المرورية</a:t>
            </a:r>
            <a:endParaRPr lang="ar-SA" sz="15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وما ينتج عنها من خسائر بشرية ومادية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عيسى شايع  •  المقدمة 2 / 2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من التحدي إلى الفكرة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Challenges  •  AI &amp; Computer Vision  •  Project Idea</a:t>
            </a:r>
            <a:endParaRPr lang="en-US" sz="1500" dirty="0"/>
          </a:p>
        </p:txBody>
      </p:sp>
      <p:sp>
        <p:nvSpPr>
          <p:cNvPr id="5" name="Tripod frame"/>
          <p:cNvSpPr/>
          <p:nvPr/>
        </p:nvSpPr>
        <p:spPr>
          <a:xfrm>
            <a:off x="502920" y="1463040"/>
            <a:ext cx="3616733" cy="4800600"/>
          </a:xfrm>
          <a:prstGeom prst="rect">
            <a:avLst/>
          </a:prstGeom>
          <a:solidFill>
            <a:srgbClr val="05070C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304800" dist="50800" dir="16200000">
              <a:srgbClr val="22D3EE">
                <a:alpha val="45000"/>
              </a:srgbClr>
            </a:outerShdw>
          </a:effectLst>
        </p:spPr>
      </p:sp>
      <p:pic>
        <p:nvPicPr>
          <p:cNvPr id="6" name="fx0@zoom|tripod" descr="هاتف مثبت كاميرا مرور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3525293" cy="4709160"/>
          </a:xfrm>
          <a:prstGeom prst="rect">
            <a:avLst/>
          </a:prstGeom>
        </p:spPr>
      </p:pic>
      <p:sp>
        <p:nvSpPr>
          <p:cNvPr id="7" name="fx1@pop|proposed"/>
          <p:cNvSpPr txBox="1"/>
          <p:nvPr/>
        </p:nvSpPr>
        <p:spPr>
          <a:xfrm>
            <a:off x="731520" y="5806440"/>
            <a:ext cx="3159533" cy="292608"/>
          </a:xfrm>
          <a:prstGeom prst="rect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تصوّر مقترح للواجهات</a:t>
            </a:r>
            <a:endParaRPr lang="ar-SA" sz="1100" dirty="0"/>
          </a:p>
        </p:txBody>
      </p:sp>
      <p:sp>
        <p:nvSpPr>
          <p:cNvPr id="8" name="fx1|row"/>
          <p:cNvSpPr/>
          <p:nvPr/>
        </p:nvSpPr>
        <p:spPr>
          <a:xfrm>
            <a:off x="4393973" y="1508760"/>
            <a:ext cx="7246339" cy="960120"/>
          </a:xfrm>
          <a:prstGeom prst="roundRect">
            <a:avLst>
              <a:gd name="adj" fmla="val 1333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9" name="fx1|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808" y="1778508"/>
            <a:ext cx="420624" cy="420624"/>
          </a:xfrm>
          <a:prstGeom prst="rect">
            <a:avLst/>
          </a:prstGeom>
        </p:spPr>
      </p:pic>
      <p:sp>
        <p:nvSpPr>
          <p:cNvPr id="10" name="fx1|t"/>
          <p:cNvSpPr txBox="1"/>
          <p:nvPr/>
        </p:nvSpPr>
        <p:spPr>
          <a:xfrm>
            <a:off x="4576853" y="1563624"/>
            <a:ext cx="6331939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300"/>
              </a:spcAft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تحديات الرقابة المرورية</a:t>
            </a:r>
            <a:endParaRPr lang="ar-SA" sz="17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SA" altLang="en-US" sz="1300" dirty="0">
                <a:solidFill>
                  <a:srgbClr val="B8C7E0"/>
                </a:solidFill>
              </a:rPr>
              <a:t>صعوبة توفير رقابة مرورية مستمرة على جميع الطرق والمناطق تزيد من انتشار المخالفات</a:t>
            </a:r>
            <a:endParaRPr lang="ar-SA" sz="1700" dirty="0"/>
          </a:p>
        </p:txBody>
      </p:sp>
      <p:sp>
        <p:nvSpPr>
          <p:cNvPr id="11" name="fx2|row"/>
          <p:cNvSpPr/>
          <p:nvPr/>
        </p:nvSpPr>
        <p:spPr>
          <a:xfrm>
            <a:off x="4393973" y="2606040"/>
            <a:ext cx="7246339" cy="960120"/>
          </a:xfrm>
          <a:prstGeom prst="roundRect">
            <a:avLst>
              <a:gd name="adj" fmla="val 1333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3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12" name="fx2|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6808" y="2875788"/>
            <a:ext cx="420624" cy="420624"/>
          </a:xfrm>
          <a:prstGeom prst="rect">
            <a:avLst/>
          </a:prstGeom>
        </p:spPr>
      </p:pic>
      <p:sp>
        <p:nvSpPr>
          <p:cNvPr id="13" name="fx2|t"/>
          <p:cNvSpPr txBox="1"/>
          <p:nvPr/>
        </p:nvSpPr>
        <p:spPr>
          <a:xfrm>
            <a:off x="4576853" y="2660904"/>
            <a:ext cx="6331939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300"/>
              </a:spcAft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الذكاء الاصطناعي والرؤية الحاسوبية</a:t>
            </a:r>
            <a:endParaRPr lang="ar-SA" sz="17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SA" altLang="en-US" sz="1300" dirty="0">
                <a:solidFill>
                  <a:srgbClr val="B8C7E0"/>
                </a:solidFill>
              </a:rPr>
              <a:t>أتاح تطوير حلول ذكية لتحسين مراقبة الطرق وتقليل الاعتماد على الأساليب التقليدية</a:t>
            </a:r>
            <a:endParaRPr lang="ar-SA" sz="1700" dirty="0"/>
          </a:p>
        </p:txBody>
      </p:sp>
      <p:sp>
        <p:nvSpPr>
          <p:cNvPr id="14" name="fx3|idea#3d"/>
          <p:cNvSpPr/>
          <p:nvPr/>
        </p:nvSpPr>
        <p:spPr>
          <a:xfrm>
            <a:off x="4393973" y="3703320"/>
            <a:ext cx="7246339" cy="2514600"/>
          </a:xfrm>
          <a:prstGeom prst="roundRect">
            <a:avLst>
              <a:gd name="adj" fmla="val 5091"/>
            </a:avLst>
          </a:prstGeom>
          <a:solidFill>
            <a:schemeClr val="tx2">
              <a:alpha val="92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5" name="fx3|bulb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3840480"/>
            <a:ext cx="420624" cy="420624"/>
          </a:xfrm>
          <a:prstGeom prst="rect">
            <a:avLst/>
          </a:prstGeom>
        </p:spPr>
      </p:pic>
      <p:sp>
        <p:nvSpPr>
          <p:cNvPr id="16" name="fx3|idea head"/>
          <p:cNvSpPr txBox="1"/>
          <p:nvPr/>
        </p:nvSpPr>
        <p:spPr>
          <a:xfrm>
            <a:off x="4576853" y="3794760"/>
            <a:ext cx="63319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accent2"/>
                </a:solidFill>
              </a:rPr>
              <a:t>فكرة المشروع</a:t>
            </a:r>
            <a:endParaRPr lang="ar-SA" sz="1900" dirty="0"/>
          </a:p>
        </p:txBody>
      </p:sp>
      <p:sp>
        <p:nvSpPr>
          <p:cNvPr id="17" name="fx4|idea t"/>
          <p:cNvSpPr txBox="1"/>
          <p:nvPr/>
        </p:nvSpPr>
        <p:spPr>
          <a:xfrm>
            <a:off x="4576853" y="4315968"/>
            <a:ext cx="6880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نظام ذكي يحوّل الهاتف الذكي إلى كاميرا مرورية:</a:t>
            </a:r>
            <a:endParaRPr lang="ar-SA" sz="1500" dirty="0"/>
          </a:p>
        </p:txBody>
      </p:sp>
      <p:sp>
        <p:nvSpPr>
          <p:cNvPr id="18" name="fx5@pop|chip#3d"/>
          <p:cNvSpPr txBox="1"/>
          <p:nvPr/>
        </p:nvSpPr>
        <p:spPr>
          <a:xfrm>
            <a:off x="10169099" y="4773168"/>
            <a:ext cx="1288333" cy="658368"/>
          </a:xfrm>
          <a:prstGeom prst="roundRect">
            <a:avLst>
              <a:gd name="adj" fmla="val 11111"/>
            </a:avLst>
          </a:prstGeom>
          <a:solidFill>
            <a:srgbClr val="0B1426"/>
          </a:solidFill>
          <a:ln w="12700">
            <a:solidFill>
              <a:srgbClr val="E2BA52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381" tIns="381" rIns="381" bIns="381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</a:rPr>
              <a:t>اكتشاف المركبات</a:t>
            </a:r>
            <a:endParaRPr lang="ar-SA" sz="1150" dirty="0"/>
          </a:p>
        </p:txBody>
      </p:sp>
      <p:sp>
        <p:nvSpPr>
          <p:cNvPr id="19" name="fx6@pop|chip#3d"/>
          <p:cNvSpPr txBox="1"/>
          <p:nvPr/>
        </p:nvSpPr>
        <p:spPr>
          <a:xfrm>
            <a:off x="8771037" y="4773168"/>
            <a:ext cx="1288333" cy="658368"/>
          </a:xfrm>
          <a:prstGeom prst="roundRect">
            <a:avLst>
              <a:gd name="adj" fmla="val 11111"/>
            </a:avLst>
          </a:prstGeom>
          <a:solidFill>
            <a:srgbClr val="0B1426"/>
          </a:solidFill>
          <a:ln w="12700">
            <a:solidFill>
              <a:srgbClr val="E2BA52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381" tIns="381" rIns="381" bIns="381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</a:rPr>
              <a:t>حساب سرعتها</a:t>
            </a:r>
            <a:endParaRPr lang="ar-SA" sz="1150" dirty="0"/>
          </a:p>
        </p:txBody>
      </p:sp>
      <p:sp>
        <p:nvSpPr>
          <p:cNvPr id="20" name="fx7@pop|chip#3d"/>
          <p:cNvSpPr txBox="1"/>
          <p:nvPr/>
        </p:nvSpPr>
        <p:spPr>
          <a:xfrm>
            <a:off x="7372976" y="4773168"/>
            <a:ext cx="1288333" cy="658368"/>
          </a:xfrm>
          <a:prstGeom prst="roundRect">
            <a:avLst>
              <a:gd name="adj" fmla="val 11111"/>
            </a:avLst>
          </a:prstGeom>
          <a:solidFill>
            <a:srgbClr val="0B1426"/>
          </a:solidFill>
          <a:ln w="12700">
            <a:solidFill>
              <a:srgbClr val="E2BA52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381" tIns="381" rIns="381" bIns="381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</a:rPr>
              <a:t>رصد المخالفات وتوثيقها</a:t>
            </a:r>
            <a:endParaRPr lang="ar-SA" sz="1150" dirty="0"/>
          </a:p>
        </p:txBody>
      </p:sp>
      <p:sp>
        <p:nvSpPr>
          <p:cNvPr id="21" name="fx8@pop|chip#3d"/>
          <p:cNvSpPr txBox="1"/>
          <p:nvPr/>
        </p:nvSpPr>
        <p:spPr>
          <a:xfrm>
            <a:off x="5974914" y="4773168"/>
            <a:ext cx="1288333" cy="658368"/>
          </a:xfrm>
          <a:prstGeom prst="roundRect">
            <a:avLst>
              <a:gd name="adj" fmla="val 11111"/>
            </a:avLst>
          </a:prstGeom>
          <a:solidFill>
            <a:srgbClr val="0B1426"/>
          </a:solidFill>
          <a:ln w="12700">
            <a:solidFill>
              <a:srgbClr val="E2BA52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381" tIns="381" rIns="381" bIns="381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</a:rPr>
              <a:t>التعرف على اللوحات</a:t>
            </a:r>
            <a:endParaRPr lang="ar-SA" sz="1150" dirty="0"/>
          </a:p>
        </p:txBody>
      </p:sp>
      <p:sp>
        <p:nvSpPr>
          <p:cNvPr id="22" name="fx9@pop|chip#3d"/>
          <p:cNvSpPr txBox="1"/>
          <p:nvPr/>
        </p:nvSpPr>
        <p:spPr>
          <a:xfrm>
            <a:off x="4576853" y="4773168"/>
            <a:ext cx="1288333" cy="658368"/>
          </a:xfrm>
          <a:prstGeom prst="roundRect">
            <a:avLst>
              <a:gd name="adj" fmla="val 11111"/>
            </a:avLst>
          </a:prstGeom>
          <a:solidFill>
            <a:srgbClr val="0B1426"/>
          </a:solidFill>
          <a:ln w="12700">
            <a:solidFill>
              <a:srgbClr val="E2BA52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381" tIns="381" rIns="381" bIns="381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</a:rPr>
              <a:t>الربط بالمالكين</a:t>
            </a:r>
            <a:endParaRPr lang="ar-SA" sz="1150" dirty="0"/>
          </a:p>
        </p:txBody>
      </p:sp>
      <p:sp>
        <p:nvSpPr>
          <p:cNvPr id="23" name="fx10|lowcost"/>
          <p:cNvSpPr txBox="1"/>
          <p:nvPr/>
        </p:nvSpPr>
        <p:spPr>
          <a:xfrm>
            <a:off x="4576853" y="5577840"/>
            <a:ext cx="6880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accent4"/>
                </a:solidFill>
              </a:rPr>
              <a:t>حل تقني منخفض التكلفة يتناسب مع احتياجات البيئة اليمنية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3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3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3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3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3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3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3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عيسى شايع  •  وصف المشروع 1 / 3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وصف المشروع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Mobile App  •  AI Server</a:t>
            </a:r>
            <a:endParaRPr lang="en-US" sz="1500" dirty="0"/>
          </a:p>
        </p:txBody>
      </p:sp>
      <p:sp>
        <p:nvSpPr>
          <p:cNvPr id="5" name="fx0@zoom|login body#3d"/>
          <p:cNvSpPr/>
          <p:nvPr/>
        </p:nvSpPr>
        <p:spPr>
          <a:xfrm>
            <a:off x="685800" y="1545336"/>
            <a:ext cx="2124222" cy="4498848"/>
          </a:xfrm>
          <a:prstGeom prst="roundRect">
            <a:avLst>
              <a:gd name="adj" fmla="val 9470"/>
            </a:avLst>
          </a:prstGeom>
          <a:solidFill>
            <a:srgbClr val="05070C"/>
          </a:solidFill>
          <a:ln w="19050">
            <a:solidFill>
              <a:srgbClr val="B8C7E0"/>
            </a:solidFill>
            <a:prstDash val="solid"/>
          </a:ln>
          <a:effectLst>
            <a:outerShdw sx="100000" sy="100000" kx="0" ky="0" algn="bl" rotWithShape="0" blurRad="279400" dist="50800" dir="16200000">
              <a:srgbClr val="22D3EE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6" name="fx0@zoom|login screen" descr="img/screen_log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1941342" cy="4206240"/>
          </a:xfrm>
          <a:prstGeom prst="rect">
            <a:avLst/>
          </a:prstGeom>
        </p:spPr>
      </p:pic>
      <p:sp>
        <p:nvSpPr>
          <p:cNvPr id="7" name="fx1@zoom|monitor body#3d"/>
          <p:cNvSpPr/>
          <p:nvPr/>
        </p:nvSpPr>
        <p:spPr>
          <a:xfrm>
            <a:off x="3038622" y="1545336"/>
            <a:ext cx="2124222" cy="4498848"/>
          </a:xfrm>
          <a:prstGeom prst="roundRect">
            <a:avLst>
              <a:gd name="adj" fmla="val 9470"/>
            </a:avLst>
          </a:prstGeom>
          <a:solidFill>
            <a:srgbClr val="05070C"/>
          </a:solidFill>
          <a:ln w="19050">
            <a:solidFill>
              <a:srgbClr val="B8C7E0"/>
            </a:solidFill>
            <a:prstDash val="solid"/>
          </a:ln>
          <a:effectLst>
            <a:outerShdw sx="100000" sy="100000" kx="0" ky="0" algn="bl" rotWithShape="0" blurRad="279400" dist="50800" dir="16200000">
              <a:srgbClr val="22D3EE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8" name="fx1@zoom|monitor screen" descr="img/screen_monito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062" y="1691640"/>
            <a:ext cx="1941342" cy="4206240"/>
          </a:xfrm>
          <a:prstGeom prst="rect">
            <a:avLst/>
          </a:prstGeom>
        </p:spPr>
      </p:pic>
      <p:sp>
        <p:nvSpPr>
          <p:cNvPr id="9" name="fx2@pop|proposed"/>
          <p:cNvSpPr txBox="1"/>
          <p:nvPr/>
        </p:nvSpPr>
        <p:spPr>
          <a:xfrm>
            <a:off x="685800" y="6172200"/>
            <a:ext cx="4477043" cy="292608"/>
          </a:xfrm>
          <a:prstGeom prst="rect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تصوّر مقترح للواجهات</a:t>
            </a:r>
            <a:endParaRPr lang="ar-SA" sz="1100" dirty="0"/>
          </a:p>
        </p:txBody>
      </p:sp>
      <p:sp>
        <p:nvSpPr>
          <p:cNvPr id="10" name="fx2|card#3d"/>
          <p:cNvSpPr/>
          <p:nvPr/>
        </p:nvSpPr>
        <p:spPr>
          <a:xfrm>
            <a:off x="5806440" y="1508760"/>
            <a:ext cx="5833872" cy="2240280"/>
          </a:xfrm>
          <a:prstGeom prst="roundRect">
            <a:avLst>
              <a:gd name="adj" fmla="val 5714"/>
            </a:avLst>
          </a:prstGeom>
          <a:solidFill>
            <a:schemeClr val="tx2">
              <a:alpha val="86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1" name="fx2|ic bg#3d"/>
          <p:cNvSpPr/>
          <p:nvPr/>
        </p:nvSpPr>
        <p:spPr>
          <a:xfrm>
            <a:off x="10863072" y="1664208"/>
            <a:ext cx="603504" cy="60350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2" name="fx2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948" y="1815084"/>
            <a:ext cx="301752" cy="301752"/>
          </a:xfrm>
          <a:prstGeom prst="rect">
            <a:avLst/>
          </a:prstGeom>
        </p:spPr>
      </p:pic>
      <p:sp>
        <p:nvSpPr>
          <p:cNvPr id="13" name="fx2|head"/>
          <p:cNvSpPr txBox="1"/>
          <p:nvPr/>
        </p:nvSpPr>
        <p:spPr>
          <a:xfrm>
            <a:off x="5989320" y="1618488"/>
            <a:ext cx="4736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تطبيق الهاتف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Mobile Application</a:t>
            </a:r>
            <a:endParaRPr lang="ar-SA" sz="1800" dirty="0"/>
          </a:p>
        </p:txBody>
      </p:sp>
      <p:sp>
        <p:nvSpPr>
          <p:cNvPr id="14" name="fx3|items"/>
          <p:cNvSpPr txBox="1"/>
          <p:nvPr/>
        </p:nvSpPr>
        <p:spPr>
          <a:xfrm>
            <a:off x="6035040" y="2423160"/>
            <a:ext cx="5376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تسجيل الدخول للمستخدمين المصرّح لهم</a:t>
            </a:r>
            <a:endParaRPr lang="ar-SA" sz="14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تشغيل النظام على عدة هواتف في مواقع مختلفة في الوقت نفسه</a:t>
            </a:r>
            <a:endParaRPr lang="ar-SA" sz="14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تثبيت الهاتف في موقع محدد والتقاط الفيديو بشكل مستمر</a:t>
            </a:r>
            <a:endParaRPr lang="ar-SA" sz="1400" dirty="0"/>
          </a:p>
        </p:txBody>
      </p:sp>
      <p:sp>
        <p:nvSpPr>
          <p:cNvPr id="15" name="fx4|down"/>
          <p:cNvSpPr/>
          <p:nvPr/>
        </p:nvSpPr>
        <p:spPr>
          <a:xfrm>
            <a:off x="8540496" y="3794760"/>
            <a:ext cx="365760" cy="347472"/>
          </a:xfrm>
          <a:prstGeom prst="down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fx5|card#3d"/>
          <p:cNvSpPr/>
          <p:nvPr/>
        </p:nvSpPr>
        <p:spPr>
          <a:xfrm>
            <a:off x="5806440" y="4206240"/>
            <a:ext cx="5833872" cy="2011680"/>
          </a:xfrm>
          <a:prstGeom prst="roundRect">
            <a:avLst>
              <a:gd name="adj" fmla="val 6364"/>
            </a:avLst>
          </a:prstGeom>
          <a:solidFill>
            <a:schemeClr val="tx2">
              <a:alpha val="86000"/>
            </a:schemeClr>
          </a:solidFill>
          <a:ln w="12700">
            <a:solidFill>
              <a:schemeClr val="accent3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7" name="fx5|ic bg#3d"/>
          <p:cNvSpPr/>
          <p:nvPr/>
        </p:nvSpPr>
        <p:spPr>
          <a:xfrm>
            <a:off x="10863072" y="4361688"/>
            <a:ext cx="603504" cy="60350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3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8" name="fx5|ic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948" y="4512564"/>
            <a:ext cx="301752" cy="301752"/>
          </a:xfrm>
          <a:prstGeom prst="rect">
            <a:avLst/>
          </a:prstGeom>
        </p:spPr>
      </p:pic>
      <p:sp>
        <p:nvSpPr>
          <p:cNvPr id="19" name="fx5|head"/>
          <p:cNvSpPr txBox="1"/>
          <p:nvPr/>
        </p:nvSpPr>
        <p:spPr>
          <a:xfrm>
            <a:off x="5989320" y="4315968"/>
            <a:ext cx="4736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خادم الذكاء الاصطناعي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A5B4FC"/>
                </a:solidFill>
              </a:rPr>
              <a:t>AI Server</a:t>
            </a:r>
            <a:endParaRPr lang="ar-SA" sz="1800" dirty="0"/>
          </a:p>
        </p:txBody>
      </p:sp>
      <p:sp>
        <p:nvSpPr>
          <p:cNvPr id="20" name="fx6|items"/>
          <p:cNvSpPr txBox="1"/>
          <p:nvPr/>
        </p:nvSpPr>
        <p:spPr>
          <a:xfrm>
            <a:off x="6035040" y="5120640"/>
            <a:ext cx="5376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تحليل المشهد بالرؤية الحاسوبية والذكاء الاصطناعي</a:t>
            </a:r>
            <a:endParaRPr lang="ar-SA" sz="14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اكتشاف المركبات وتتبعها وحساب سرعتها بعد معايرة الطريق</a:t>
            </a:r>
            <a:endParaRPr lang="ar-SA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عيسى شايع  •  وصف المشروع 2 / 3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وصف المشروع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Detection &amp; Tracking  •  Speed &amp; Violations</a:t>
            </a:r>
            <a:endParaRPr lang="en-US" sz="1500" dirty="0"/>
          </a:p>
        </p:txBody>
      </p:sp>
      <p:sp>
        <p:nvSpPr>
          <p:cNvPr id="5" name="Scene frame"/>
          <p:cNvSpPr/>
          <p:nvPr/>
        </p:nvSpPr>
        <p:spPr>
          <a:xfrm>
            <a:off x="502920" y="1463040"/>
            <a:ext cx="6766560" cy="3846195"/>
          </a:xfrm>
          <a:prstGeom prst="rect">
            <a:avLst/>
          </a:prstGeom>
          <a:solidFill>
            <a:srgbClr val="05070C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304800" dist="50800" dir="16200000">
              <a:srgbClr val="22D3EE">
                <a:alpha val="45000"/>
              </a:srgbClr>
            </a:outerShdw>
          </a:effectLst>
        </p:spPr>
      </p:sp>
      <p:pic>
        <p:nvPicPr>
          <p:cNvPr id="6" name="Traffic photo" descr="img/p_dete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675120" cy="3754755"/>
          </a:xfrm>
          <a:prstGeom prst="rect">
            <a:avLst/>
          </a:prstGeom>
        </p:spPr>
      </p:pic>
      <p:sp>
        <p:nvSpPr>
          <p:cNvPr id="7" name="fx1@zoom|box car4"/>
          <p:cNvSpPr/>
          <p:nvPr/>
        </p:nvSpPr>
        <p:spPr>
          <a:xfrm>
            <a:off x="2260808" y="3828364"/>
            <a:ext cx="430545" cy="350444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fx1@pop|lab car4"/>
          <p:cNvSpPr txBox="1"/>
          <p:nvPr/>
        </p:nvSpPr>
        <p:spPr>
          <a:xfrm>
            <a:off x="2260808" y="3645484"/>
            <a:ext cx="548640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1</a:t>
            </a:r>
            <a:endParaRPr lang="en-US" sz="700" dirty="0"/>
          </a:p>
        </p:txBody>
      </p:sp>
      <p:sp>
        <p:nvSpPr>
          <p:cNvPr id="9" name="fx1@zoom|box truck"/>
          <p:cNvSpPr/>
          <p:nvPr/>
        </p:nvSpPr>
        <p:spPr>
          <a:xfrm>
            <a:off x="3011759" y="3811676"/>
            <a:ext cx="447233" cy="513984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fx1@pop|lab truck"/>
          <p:cNvSpPr txBox="1"/>
          <p:nvPr/>
        </p:nvSpPr>
        <p:spPr>
          <a:xfrm>
            <a:off x="3011759" y="3628796"/>
            <a:ext cx="548640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2</a:t>
            </a:r>
            <a:endParaRPr lang="en-US" sz="700" dirty="0"/>
          </a:p>
        </p:txBody>
      </p:sp>
      <p:sp>
        <p:nvSpPr>
          <p:cNvPr id="11" name="fx2@zoom|box suv"/>
          <p:cNvSpPr/>
          <p:nvPr/>
        </p:nvSpPr>
        <p:spPr>
          <a:xfrm>
            <a:off x="5962162" y="4162120"/>
            <a:ext cx="700888" cy="523997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fx2@pop|lab suv"/>
          <p:cNvSpPr txBox="1"/>
          <p:nvPr/>
        </p:nvSpPr>
        <p:spPr>
          <a:xfrm>
            <a:off x="5962162" y="3979240"/>
            <a:ext cx="548640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3</a:t>
            </a:r>
            <a:endParaRPr lang="en-US" sz="700" dirty="0"/>
          </a:p>
        </p:txBody>
      </p:sp>
      <p:sp>
        <p:nvSpPr>
          <p:cNvPr id="13" name="fx2@zoom|box white"/>
          <p:cNvSpPr/>
          <p:nvPr/>
        </p:nvSpPr>
        <p:spPr>
          <a:xfrm>
            <a:off x="2791480" y="4445813"/>
            <a:ext cx="640812" cy="547360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fx2@pop|lab white"/>
          <p:cNvSpPr txBox="1"/>
          <p:nvPr/>
        </p:nvSpPr>
        <p:spPr>
          <a:xfrm>
            <a:off x="2791480" y="4262933"/>
            <a:ext cx="548640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4</a:t>
            </a:r>
            <a:endParaRPr lang="en-US" sz="700" dirty="0"/>
          </a:p>
        </p:txBody>
      </p:sp>
      <p:sp>
        <p:nvSpPr>
          <p:cNvPr id="15" name="fx3@zoom|box dark"/>
          <p:cNvSpPr/>
          <p:nvPr/>
        </p:nvSpPr>
        <p:spPr>
          <a:xfrm>
            <a:off x="3996339" y="4268922"/>
            <a:ext cx="530672" cy="584073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fx3@pop|lab dark"/>
          <p:cNvSpPr txBox="1"/>
          <p:nvPr/>
        </p:nvSpPr>
        <p:spPr>
          <a:xfrm>
            <a:off x="3996339" y="4086042"/>
            <a:ext cx="548640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5</a:t>
            </a:r>
            <a:endParaRPr lang="en-US" sz="700" dirty="0"/>
          </a:p>
        </p:txBody>
      </p:sp>
      <p:sp>
        <p:nvSpPr>
          <p:cNvPr id="17" name="fx3@zoom|box van"/>
          <p:cNvSpPr/>
          <p:nvPr/>
        </p:nvSpPr>
        <p:spPr>
          <a:xfrm>
            <a:off x="4904156" y="4225534"/>
            <a:ext cx="757626" cy="694212"/>
          </a:xfrm>
          <a:prstGeom prst="rect">
            <a:avLst/>
          </a:prstGeom>
          <a:solidFill>
            <a:srgbClr val="F43F5E">
              <a:alpha val="15000"/>
            </a:srgbClr>
          </a:solidFill>
          <a:ln w="31750">
            <a:solidFill>
              <a:srgbClr val="F43F5E"/>
            </a:solidFill>
            <a:prstDash val="solid"/>
          </a:ln>
        </p:spPr>
      </p:sp>
      <p:sp>
        <p:nvSpPr>
          <p:cNvPr id="18" name="fx3@pop|lab van"/>
          <p:cNvSpPr txBox="1"/>
          <p:nvPr/>
        </p:nvSpPr>
        <p:spPr>
          <a:xfrm>
            <a:off x="4904156" y="4042654"/>
            <a:ext cx="548640" cy="239573"/>
          </a:xfrm>
          <a:prstGeom prst="rect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6</a:t>
            </a:r>
            <a:endParaRPr lang="en-US" sz="700" dirty="0"/>
          </a:p>
        </p:txBody>
      </p:sp>
      <p:sp>
        <p:nvSpPr>
          <p:cNvPr id="19" name="fx9@pop|viol#3d"/>
          <p:cNvSpPr txBox="1"/>
          <p:nvPr/>
        </p:nvSpPr>
        <p:spPr>
          <a:xfrm>
            <a:off x="4185689" y="4956322"/>
            <a:ext cx="2194560" cy="256032"/>
          </a:xfrm>
          <a:prstGeom prst="rect">
            <a:avLst/>
          </a:prstGeom>
          <a:solidFill>
            <a:srgbClr val="F43F5E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VIOLATION 72 km/h &gt; 60</a:t>
            </a:r>
            <a:endParaRPr lang="en-US" sz="1000" dirty="0"/>
          </a:p>
        </p:txBody>
      </p:sp>
      <p:sp>
        <p:nvSpPr>
          <p:cNvPr id="20" name="fx5|detect text"/>
          <p:cNvSpPr txBox="1"/>
          <p:nvPr/>
        </p:nvSpPr>
        <p:spPr>
          <a:xfrm>
            <a:off x="548640" y="5446395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22D3EE"/>
                </a:solidFill>
              </a:rPr>
              <a:t>اكتشاف المركبات وتتبعها</a:t>
            </a:r>
            <a:endParaRPr lang="ar-SA" sz="1700" dirty="0"/>
          </a:p>
          <a:p>
            <a:pPr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</a:rPr>
              <a:t>اكتشاف المركبات وتتبع حركتها عبر الإطارات المتتالية داخل مجال رؤية الكاميرا</a:t>
            </a:r>
            <a:endParaRPr lang="ar-SA" sz="1700" dirty="0"/>
          </a:p>
        </p:txBody>
      </p:sp>
      <p:pic>
        <p:nvPicPr>
          <p:cNvPr id="21" name="fx5@zoom|gauge" descr="img/gauge_f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63040"/>
            <a:ext cx="2651760" cy="2651760"/>
          </a:xfrm>
          <a:prstGeom prst="rect">
            <a:avLst/>
          </a:prstGeom>
        </p:spPr>
      </p:pic>
      <p:pic>
        <p:nvPicPr>
          <p:cNvPr id="22" name="fx6@spin(108,2000)|needle" descr="img/gauge_need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463040"/>
            <a:ext cx="2651760" cy="2651760"/>
          </a:xfrm>
          <a:prstGeom prst="rect">
            <a:avLst/>
          </a:prstGeom>
        </p:spPr>
      </p:pic>
      <p:sp>
        <p:nvSpPr>
          <p:cNvPr id="23" name="fx14@pop|readout"/>
          <p:cNvSpPr txBox="1"/>
          <p:nvPr/>
        </p:nvSpPr>
        <p:spPr>
          <a:xfrm>
            <a:off x="8686800" y="3266237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 km/h</a:t>
            </a:r>
            <a:endParaRPr lang="en-US" sz="2000" dirty="0"/>
          </a:p>
        </p:txBody>
      </p:sp>
      <p:sp>
        <p:nvSpPr>
          <p:cNvPr id="24" name="fx5@zoom|limit#3d"/>
          <p:cNvSpPr txBox="1"/>
          <p:nvPr/>
        </p:nvSpPr>
        <p:spPr>
          <a:xfrm>
            <a:off x="10972800" y="1600200"/>
            <a:ext cx="685800" cy="6858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43F5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111111"/>
                </a:solidFill>
              </a:rPr>
              <a:t>LIMIT 60</a:t>
            </a:r>
            <a:endParaRPr lang="en-US" sz="1000" dirty="0"/>
          </a:p>
        </p:txBody>
      </p:sp>
      <p:sp>
        <p:nvSpPr>
          <p:cNvPr id="25" name="fx15|speed card"/>
          <p:cNvSpPr/>
          <p:nvPr/>
        </p:nvSpPr>
        <p:spPr>
          <a:xfrm>
            <a:off x="7589520" y="4297680"/>
            <a:ext cx="4050792" cy="1920240"/>
          </a:xfrm>
          <a:prstGeom prst="roundRect">
            <a:avLst>
              <a:gd name="adj" fmla="val 6667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26" name="fx15|speed text"/>
          <p:cNvSpPr txBox="1"/>
          <p:nvPr/>
        </p:nvSpPr>
        <p:spPr>
          <a:xfrm>
            <a:off x="7726680" y="4370832"/>
            <a:ext cx="37764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F43F5E"/>
                </a:solidFill>
              </a:rPr>
              <a:t>حساب السرعة وكشف المخالفات</a:t>
            </a:r>
            <a:endParaRPr lang="ar-SA" sz="1600" dirty="0"/>
          </a:p>
          <a:p>
            <a:pPr algn="r" indent="0" marL="0">
              <a:buNone/>
            </a:pPr>
            <a:r>
              <a:rPr lang="ar-SA" altLang="en-US" sz="1300" dirty="0">
                <a:solidFill>
                  <a:srgbClr val="FFFFFF"/>
                </a:solidFill>
              </a:rPr>
              <a:t>حساب السرعة من الزمن والمسافة المقطوعة بعد معايرة الطريق، ثم مقارنتها بالحد الأقصى المسجّل للموقع</a:t>
            </a:r>
            <a:endParaRPr lang="ar-SA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3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3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3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3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3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8" presetClass="emph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animRot by="6480000">
                                      <p:cBhvr>
                                        <p:cTn id="80" dur="2000" decel="6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347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3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3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عيسى شايع  •  وصف المشروع 3 / 3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وصف المشروع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Plate Recognition  •  Database  •  Control Panel</a:t>
            </a:r>
            <a:endParaRPr lang="en-US" sz="1500" dirty="0"/>
          </a:p>
        </p:txBody>
      </p:sp>
      <p:sp>
        <p:nvSpPr>
          <p:cNvPr id="5" name="Car frame"/>
          <p:cNvSpPr/>
          <p:nvPr/>
        </p:nvSpPr>
        <p:spPr>
          <a:xfrm>
            <a:off x="502920" y="1463040"/>
            <a:ext cx="2788920" cy="2720169"/>
          </a:xfrm>
          <a:prstGeom prst="rect">
            <a:avLst/>
          </a:prstGeom>
          <a:solidFill>
            <a:srgbClr val="05070C"/>
          </a:solidFill>
          <a:ln w="19050">
            <a:solidFill>
              <a:srgbClr val="E2BA52"/>
            </a:solidFill>
            <a:prstDash val="solid"/>
          </a:ln>
          <a:effectLst>
            <a:outerShdw sx="100000" sy="100000" kx="0" ky="0" algn="bl" rotWithShape="0" blurRad="304800" dist="50800" dir="16200000">
              <a:srgbClr val="E2BA52">
                <a:alpha val="45000"/>
              </a:srgbClr>
            </a:outerShdw>
          </a:effectLst>
        </p:spPr>
      </p:sp>
      <p:pic>
        <p:nvPicPr>
          <p:cNvPr id="6" name="fx0|car photo" descr="img/p_c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2697480" cy="2628729"/>
          </a:xfrm>
          <a:prstGeom prst="rect">
            <a:avLst/>
          </a:prstGeom>
        </p:spPr>
      </p:pic>
      <p:pic>
        <p:nvPicPr>
          <p:cNvPr id="7" name="fx1@move(0,0.4,1500)|scan" descr="img/scan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2697480" cy="365760"/>
          </a:xfrm>
          <a:prstGeom prst="rect">
            <a:avLst/>
          </a:prstGeom>
        </p:spPr>
      </p:pic>
      <p:sp>
        <p:nvSpPr>
          <p:cNvPr id="8" name="fx3@zoom|plate box"/>
          <p:cNvSpPr/>
          <p:nvPr/>
        </p:nvSpPr>
        <p:spPr>
          <a:xfrm>
            <a:off x="1517047" y="2709709"/>
            <a:ext cx="782909" cy="230876"/>
          </a:xfrm>
          <a:prstGeom prst="rect">
            <a:avLst/>
          </a:prstGeom>
          <a:solidFill>
            <a:srgbClr val="E2BA52">
              <a:alpha val="0"/>
            </a:srgbClr>
          </a:solidFill>
          <a:ln w="28575">
            <a:solidFill>
              <a:srgbClr val="E2BA52"/>
            </a:solidFill>
            <a:prstDash val="solid"/>
          </a:ln>
        </p:spPr>
      </p:sp>
      <p:pic>
        <p:nvPicPr>
          <p:cNvPr id="9" name="fx4@zoom|plate zoom" descr="img/p_plat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737360"/>
            <a:ext cx="2514600" cy="679622"/>
          </a:xfrm>
          <a:prstGeom prst="rect">
            <a:avLst/>
          </a:prstGeom>
        </p:spPr>
      </p:pic>
      <p:sp>
        <p:nvSpPr>
          <p:cNvPr id="10" name="fx5@pop|ocr"/>
          <p:cNvSpPr txBox="1"/>
          <p:nvPr/>
        </p:nvSpPr>
        <p:spPr>
          <a:xfrm>
            <a:off x="3474720" y="2514600"/>
            <a:ext cx="2514600" cy="411480"/>
          </a:xfrm>
          <a:prstGeom prst="rect">
            <a:avLst/>
          </a:prstGeom>
          <a:solidFill>
            <a:srgbClr val="05070C">
              <a:alpha val="85000"/>
            </a:srgbClr>
          </a:solidFill>
          <a:ln w="12700">
            <a:solidFill>
              <a:srgbClr val="E2BA5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E2B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OCR  &gt;  H604BH 323</a:t>
            </a:r>
            <a:endParaRPr lang="en-US" sz="1300" dirty="0"/>
          </a:p>
        </p:txBody>
      </p:sp>
      <p:sp>
        <p:nvSpPr>
          <p:cNvPr id="11" name="fx6|chain"/>
          <p:cNvSpPr txBox="1"/>
          <p:nvPr/>
        </p:nvSpPr>
        <p:spPr>
          <a:xfrm>
            <a:off x="3474720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  &gt;  OWNER  &gt;  VIOLATION</a:t>
            </a:r>
            <a:endParaRPr lang="en-US" sz="1000" dirty="0"/>
          </a:p>
        </p:txBody>
      </p:sp>
      <p:sp>
        <p:nvSpPr>
          <p:cNvPr id="12" name="fx6|plate card"/>
          <p:cNvSpPr/>
          <p:nvPr/>
        </p:nvSpPr>
        <p:spPr>
          <a:xfrm>
            <a:off x="548640" y="4343400"/>
            <a:ext cx="5440680" cy="1874520"/>
          </a:xfrm>
          <a:prstGeom prst="roundRect">
            <a:avLst>
              <a:gd name="adj" fmla="val 6829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3" name="fx7|plate text"/>
          <p:cNvSpPr txBox="1"/>
          <p:nvPr/>
        </p:nvSpPr>
        <p:spPr>
          <a:xfrm>
            <a:off x="731520" y="4407408"/>
            <a:ext cx="50749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300"/>
              </a:spcAft>
              <a:buNone/>
            </a:pPr>
            <a:r>
              <a:rPr lang="ar-SA" altLang="en-US" sz="1700" b="1" dirty="0">
                <a:solidFill>
                  <a:srgbClr val="E2BA52"/>
                </a:solidFill>
              </a:rPr>
              <a:t>التعرف على اللوحات</a:t>
            </a:r>
            <a:endParaRPr lang="ar-SA" sz="1700" dirty="0"/>
          </a:p>
          <a:p>
            <a:pPr algn="r" marL="342900" indent="-342900">
              <a:spcAft>
                <a:spcPts val="3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عند التجاوز: التقاط صور واضحة وقراءة رقم اللوحة OCR</a:t>
            </a:r>
            <a:endParaRPr lang="ar-SA" sz="1700" dirty="0"/>
          </a:p>
          <a:p>
            <a:pPr algn="r" marL="342900" indent="-342900">
              <a:spcAft>
                <a:spcPts val="3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تسجيل السرعة الفعلية والقانونية ومقدار التجاوز</a:t>
            </a:r>
            <a:endParaRPr lang="ar-SA" sz="1700" dirty="0"/>
          </a:p>
          <a:p>
            <a:pPr algn="r" marL="342900" indent="-342900">
              <a:spcAft>
                <a:spcPts val="3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حفظ وقت وموقع المخالفة والأدلة المصوّرة</a:t>
            </a:r>
            <a:endParaRPr lang="ar-SA" sz="1700" dirty="0"/>
          </a:p>
        </p:txBody>
      </p:sp>
      <p:sp>
        <p:nvSpPr>
          <p:cNvPr id="14" name="Dash frame"/>
          <p:cNvSpPr/>
          <p:nvPr/>
        </p:nvSpPr>
        <p:spPr>
          <a:xfrm>
            <a:off x="6217920" y="1463040"/>
            <a:ext cx="5468112" cy="2743200"/>
          </a:xfrm>
          <a:prstGeom prst="rect">
            <a:avLst/>
          </a:prstGeom>
          <a:solidFill>
            <a:srgbClr val="05070C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304800" dist="50800" dir="16200000">
              <a:srgbClr val="10B981">
                <a:alpha val="45000"/>
              </a:srgbClr>
            </a:outerShdw>
          </a:effectLst>
        </p:spPr>
      </p:sp>
      <p:pic>
        <p:nvPicPr>
          <p:cNvPr id="15" name="fx8@zoom|dashboard" descr="img/screen_dashboard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63640" y="1508760"/>
            <a:ext cx="5376672" cy="2651760"/>
          </a:xfrm>
          <a:prstGeom prst="rect">
            <a:avLst/>
          </a:prstGeom>
        </p:spPr>
      </p:pic>
      <p:sp>
        <p:nvSpPr>
          <p:cNvPr id="16" name="fx9@pop|proposed"/>
          <p:cNvSpPr txBox="1"/>
          <p:nvPr/>
        </p:nvSpPr>
        <p:spPr>
          <a:xfrm>
            <a:off x="9537192" y="1600200"/>
            <a:ext cx="1965960" cy="292608"/>
          </a:xfrm>
          <a:prstGeom prst="rect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تصوّر مقترح للواجهات</a:t>
            </a:r>
            <a:endParaRPr lang="ar-SA" sz="1100" dirty="0"/>
          </a:p>
        </p:txBody>
      </p:sp>
      <p:sp>
        <p:nvSpPr>
          <p:cNvPr id="17" name="fx9|db card"/>
          <p:cNvSpPr/>
          <p:nvPr/>
        </p:nvSpPr>
        <p:spPr>
          <a:xfrm>
            <a:off x="6263640" y="4343400"/>
            <a:ext cx="5376672" cy="1874520"/>
          </a:xfrm>
          <a:prstGeom prst="roundRect">
            <a:avLst>
              <a:gd name="adj" fmla="val 6829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8" name="fx10|db text"/>
          <p:cNvSpPr txBox="1"/>
          <p:nvPr/>
        </p:nvSpPr>
        <p:spPr>
          <a:xfrm>
            <a:off x="6446520" y="4407408"/>
            <a:ext cx="501091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300"/>
              </a:spcAft>
              <a:buNone/>
            </a:pPr>
            <a:r>
              <a:rPr lang="ar-SA" altLang="en-US" sz="1700" b="1" dirty="0">
                <a:solidFill>
                  <a:srgbClr val="10B981"/>
                </a:solidFill>
              </a:rPr>
              <a:t>قاعدة البيانات ولوحة التحكم</a:t>
            </a:r>
            <a:endParaRPr lang="ar-SA" sz="1700" dirty="0"/>
          </a:p>
          <a:p>
            <a:pPr algn="r" marL="342900" indent="-342900">
              <a:spcAft>
                <a:spcPts val="3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قاعدة بيانات للمركبات ومالكيها وأرقام اللوحات</a:t>
            </a:r>
            <a:endParaRPr lang="ar-SA" sz="1700" dirty="0"/>
          </a:p>
          <a:p>
            <a:pPr algn="r" marL="342900" indent="-342900">
              <a:spcAft>
                <a:spcPts val="3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البحث التلقائي برقم اللوحة وربط المخالفة بصاحب المركبة</a:t>
            </a:r>
            <a:endParaRPr lang="ar-SA" sz="1700" dirty="0"/>
          </a:p>
          <a:p>
            <a:pPr algn="r" marL="342900" indent="-342900">
              <a:spcAft>
                <a:spcPts val="3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لوحة تحكم: المستخدمون وصلاحياتهم، موقع كل جهاز، حد السرعة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path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 0 L 0 0.4 E" pathEditMode="relative" ptsTypes="AA">
                                      <p:cBhvr>
                                        <p:cTn id="10" dur="1500" accel="20000" decel="3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x0@move(0,-0.09,1500)|bar top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fx0@move(0,0.09,1500)|bar bottom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fx1|scene"/>
          <p:cNvSpPr txBox="1"/>
          <p:nvPr/>
        </p:nvSpPr>
        <p:spPr>
          <a:xfrm>
            <a:off x="548640" y="658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 02  •  TEAM 02</a:t>
            </a:r>
            <a:endParaRPr lang="en-US" sz="1300" dirty="0"/>
          </a:p>
        </p:txBody>
      </p:sp>
      <p:sp>
        <p:nvSpPr>
          <p:cNvPr id="5" name="fx1|kicker"/>
          <p:cNvSpPr txBox="1"/>
          <p:nvPr/>
        </p:nvSpPr>
        <p:spPr>
          <a:xfrm>
            <a:off x="5760720" y="658368"/>
            <a:ext cx="5879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4"/>
                </a:solidFill>
              </a:rPr>
              <a:t>IDENTITY VERIFIED  •  تم التعرّف على العضو</a:t>
            </a:r>
            <a:endParaRPr lang="ar-SA" sz="1400" dirty="0"/>
          </a:p>
        </p:txBody>
      </p:sp>
      <p:sp>
        <p:nvSpPr>
          <p:cNvPr id="6" name="Photo frame"/>
          <p:cNvSpPr/>
          <p:nvPr/>
        </p:nvSpPr>
        <p:spPr>
          <a:xfrm>
            <a:off x="777240" y="1188720"/>
            <a:ext cx="4297680" cy="4297680"/>
          </a:xfrm>
          <a:prstGeom prst="rect">
            <a:avLst/>
          </a:prstGeom>
          <a:solidFill>
            <a:srgbClr val="05070C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304800" dist="50800" dir="16200000">
              <a:srgbClr val="F43F5E">
                <a:alpha val="45000"/>
              </a:srgbClr>
            </a:outerShdw>
          </a:effectLst>
        </p:spPr>
      </p:sp>
      <p:pic>
        <p:nvPicPr>
          <p:cNvPr id="7" name="fx1@zoom|photo s2" descr="محمد عبدالإله قر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4206240" cy="4206240"/>
          </a:xfrm>
          <a:prstGeom prst="rect">
            <a:avLst/>
          </a:prstGeom>
        </p:spPr>
      </p:pic>
      <p:sp>
        <p:nvSpPr>
          <p:cNvPr id="8" name="fx2|brackets h0"/>
          <p:cNvSpPr/>
          <p:nvPr/>
        </p:nvSpPr>
        <p:spPr>
          <a:xfrm>
            <a:off x="594360" y="1005840"/>
            <a:ext cx="320040" cy="0"/>
          </a:xfrm>
          <a:prstGeom prst="line">
            <a:avLst/>
          </a:prstGeom>
          <a:noFill/>
          <a:ln w="31750">
            <a:solidFill>
              <a:srgbClr val="F43F5E"/>
            </a:solidFill>
            <a:prstDash val="solid"/>
          </a:ln>
        </p:spPr>
      </p:sp>
      <p:sp>
        <p:nvSpPr>
          <p:cNvPr id="9" name="fx2|brackets v0"/>
          <p:cNvSpPr/>
          <p:nvPr/>
        </p:nvSpPr>
        <p:spPr>
          <a:xfrm>
            <a:off x="594360" y="1005840"/>
            <a:ext cx="0" cy="320040"/>
          </a:xfrm>
          <a:prstGeom prst="line">
            <a:avLst/>
          </a:prstGeom>
          <a:noFill/>
          <a:ln w="31750">
            <a:solidFill>
              <a:srgbClr val="F43F5E"/>
            </a:solidFill>
            <a:prstDash val="solid"/>
          </a:ln>
        </p:spPr>
      </p:sp>
      <p:sp>
        <p:nvSpPr>
          <p:cNvPr id="10" name="fx2|brackets h1"/>
          <p:cNvSpPr/>
          <p:nvPr/>
        </p:nvSpPr>
        <p:spPr>
          <a:xfrm>
            <a:off x="4937760" y="1005840"/>
            <a:ext cx="320040" cy="0"/>
          </a:xfrm>
          <a:prstGeom prst="line">
            <a:avLst/>
          </a:prstGeom>
          <a:noFill/>
          <a:ln w="31750">
            <a:solidFill>
              <a:srgbClr val="F43F5E"/>
            </a:solidFill>
            <a:prstDash val="solid"/>
          </a:ln>
        </p:spPr>
      </p:sp>
      <p:sp>
        <p:nvSpPr>
          <p:cNvPr id="11" name="fx2|brackets v1"/>
          <p:cNvSpPr/>
          <p:nvPr/>
        </p:nvSpPr>
        <p:spPr>
          <a:xfrm>
            <a:off x="5257800" y="1005840"/>
            <a:ext cx="0" cy="320040"/>
          </a:xfrm>
          <a:prstGeom prst="line">
            <a:avLst/>
          </a:prstGeom>
          <a:noFill/>
          <a:ln w="31750">
            <a:solidFill>
              <a:srgbClr val="F43F5E"/>
            </a:solidFill>
            <a:prstDash val="solid"/>
          </a:ln>
        </p:spPr>
      </p:sp>
      <p:sp>
        <p:nvSpPr>
          <p:cNvPr id="12" name="fx2|brackets h2"/>
          <p:cNvSpPr/>
          <p:nvPr/>
        </p:nvSpPr>
        <p:spPr>
          <a:xfrm>
            <a:off x="594360" y="5669280"/>
            <a:ext cx="320040" cy="0"/>
          </a:xfrm>
          <a:prstGeom prst="line">
            <a:avLst/>
          </a:prstGeom>
          <a:noFill/>
          <a:ln w="31750">
            <a:solidFill>
              <a:srgbClr val="F43F5E"/>
            </a:solidFill>
            <a:prstDash val="solid"/>
          </a:ln>
        </p:spPr>
      </p:sp>
      <p:sp>
        <p:nvSpPr>
          <p:cNvPr id="13" name="fx2|brackets v2"/>
          <p:cNvSpPr/>
          <p:nvPr/>
        </p:nvSpPr>
        <p:spPr>
          <a:xfrm>
            <a:off x="594360" y="5349240"/>
            <a:ext cx="0" cy="320040"/>
          </a:xfrm>
          <a:prstGeom prst="line">
            <a:avLst/>
          </a:prstGeom>
          <a:noFill/>
          <a:ln w="31750">
            <a:solidFill>
              <a:srgbClr val="F43F5E"/>
            </a:solidFill>
            <a:prstDash val="solid"/>
          </a:ln>
        </p:spPr>
      </p:sp>
      <p:sp>
        <p:nvSpPr>
          <p:cNvPr id="14" name="fx2|brackets h3"/>
          <p:cNvSpPr/>
          <p:nvPr/>
        </p:nvSpPr>
        <p:spPr>
          <a:xfrm>
            <a:off x="4937760" y="5669280"/>
            <a:ext cx="320040" cy="0"/>
          </a:xfrm>
          <a:prstGeom prst="line">
            <a:avLst/>
          </a:prstGeom>
          <a:noFill/>
          <a:ln w="31750">
            <a:solidFill>
              <a:srgbClr val="F43F5E"/>
            </a:solidFill>
            <a:prstDash val="solid"/>
          </a:ln>
        </p:spPr>
      </p:sp>
      <p:sp>
        <p:nvSpPr>
          <p:cNvPr id="15" name="fx2|brackets v3"/>
          <p:cNvSpPr/>
          <p:nvPr/>
        </p:nvSpPr>
        <p:spPr>
          <a:xfrm>
            <a:off x="5257800" y="5349240"/>
            <a:ext cx="0" cy="320040"/>
          </a:xfrm>
          <a:prstGeom prst="line">
            <a:avLst/>
          </a:prstGeom>
          <a:noFill/>
          <a:ln w="31750">
            <a:solidFill>
              <a:srgbClr val="F43F5E"/>
            </a:solidFill>
            <a:prstDash val="solid"/>
          </a:ln>
        </p:spPr>
      </p:sp>
      <p:pic>
        <p:nvPicPr>
          <p:cNvPr id="16" name="fx2@move(0,0.6,1800)|scan" descr="img/scan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4206240" cy="457200"/>
          </a:xfrm>
          <a:prstGeom prst="rect">
            <a:avLst/>
          </a:prstGeom>
        </p:spPr>
      </p:pic>
      <p:sp>
        <p:nvSpPr>
          <p:cNvPr id="17" name="fx4@zoom|face box"/>
          <p:cNvSpPr/>
          <p:nvPr/>
        </p:nvSpPr>
        <p:spPr>
          <a:xfrm>
            <a:off x="1664208" y="1486814"/>
            <a:ext cx="2523744" cy="2944368"/>
          </a:xfrm>
          <a:prstGeom prst="rect">
            <a:avLst/>
          </a:prstGeom>
          <a:solidFill>
            <a:srgbClr val="10B981">
              <a:alpha val="0"/>
            </a:srgbClr>
          </a:solidFill>
          <a:ln w="31750">
            <a:solidFill>
              <a:srgbClr val="10B981"/>
            </a:solidFill>
            <a:prstDash val="solid"/>
          </a:ln>
        </p:spPr>
      </p:sp>
      <p:sp>
        <p:nvSpPr>
          <p:cNvPr id="18" name="fx5@pop|face tag"/>
          <p:cNvSpPr txBox="1"/>
          <p:nvPr/>
        </p:nvSpPr>
        <p:spPr>
          <a:xfrm>
            <a:off x="1664208" y="1212494"/>
            <a:ext cx="2844333" cy="33467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 02  •  MATCH 0.99</a:t>
            </a:r>
            <a:endParaRPr lang="en-US" sz="1100" dirty="0"/>
          </a:p>
        </p:txBody>
      </p:sp>
      <p:sp>
        <p:nvSpPr>
          <p:cNvPr id="19" name="fx3|card#3d"/>
          <p:cNvSpPr/>
          <p:nvPr/>
        </p:nvSpPr>
        <p:spPr>
          <a:xfrm>
            <a:off x="5760720" y="1234440"/>
            <a:ext cx="5879592" cy="4709160"/>
          </a:xfrm>
          <a:prstGeom prst="roundRect">
            <a:avLst>
              <a:gd name="adj" fmla="val 2718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0" name="fx3|card head"/>
          <p:cNvSpPr txBox="1"/>
          <p:nvPr/>
        </p:nvSpPr>
        <p:spPr>
          <a:xfrm>
            <a:off x="5760720" y="1234440"/>
            <a:ext cx="5879592" cy="548640"/>
          </a:xfrm>
          <a:prstGeom prst="roundRect">
            <a:avLst>
              <a:gd name="adj" fmla="val 23333"/>
            </a:avLst>
          </a:prstGeom>
          <a:solidFill>
            <a:srgbClr val="F43F5E"/>
          </a:solidFill>
          <a:ln/>
        </p:spPr>
        <p:txBody>
          <a:bodyPr wrap="square" lIns="0" tIns="3810" rIns="3810" bIns="0" rtlCol="0" anchor="ctr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0A0E1A"/>
                </a:solidFill>
              </a:rPr>
              <a:t>بطاقة عضو الفريق</a:t>
            </a:r>
            <a:endParaRPr lang="ar-SA" sz="1700" dirty="0"/>
          </a:p>
        </p:txBody>
      </p:sp>
      <p:sp>
        <p:nvSpPr>
          <p:cNvPr id="21" name="fx3|card head en"/>
          <p:cNvSpPr txBox="1"/>
          <p:nvPr/>
        </p:nvSpPr>
        <p:spPr>
          <a:xfrm>
            <a:off x="6035040" y="13441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MEMBER ID</a:t>
            </a:r>
            <a:endParaRPr lang="en-US" sz="1200" dirty="0"/>
          </a:p>
        </p:txBody>
      </p:sp>
      <p:sp>
        <p:nvSpPr>
          <p:cNvPr id="22" name="fx6|lab1"/>
          <p:cNvSpPr txBox="1"/>
          <p:nvPr/>
        </p:nvSpPr>
        <p:spPr>
          <a:xfrm>
            <a:off x="6035040" y="196596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الاسم  •  Name</a:t>
            </a:r>
            <a:endParaRPr lang="ar-SA" sz="1200" dirty="0"/>
          </a:p>
        </p:txBody>
      </p:sp>
      <p:sp>
        <p:nvSpPr>
          <p:cNvPr id="23" name="fx6|name"/>
          <p:cNvSpPr txBox="1"/>
          <p:nvPr/>
        </p:nvSpPr>
        <p:spPr>
          <a:xfrm>
            <a:off x="6035040" y="2240280"/>
            <a:ext cx="5330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FFFFFF"/>
                </a:solidFill>
              </a:rPr>
              <a:t>محمد عبدالإله قريع</a:t>
            </a:r>
            <a:endParaRPr lang="ar-SA" sz="2600" dirty="0"/>
          </a:p>
        </p:txBody>
      </p:sp>
      <p:sp>
        <p:nvSpPr>
          <p:cNvPr id="24" name="fx6|en"/>
          <p:cNvSpPr txBox="1"/>
          <p:nvPr/>
        </p:nvSpPr>
        <p:spPr>
          <a:xfrm>
            <a:off x="6035040" y="2743200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F43F5E"/>
                </a:solidFill>
              </a:rPr>
              <a:t>Mohammed Abdulelah Qurai</a:t>
            </a:r>
            <a:endParaRPr lang="en-US" sz="1300" dirty="0"/>
          </a:p>
        </p:txBody>
      </p:sp>
      <p:sp>
        <p:nvSpPr>
          <p:cNvPr id="25" name="fx7|lab2"/>
          <p:cNvSpPr txBox="1"/>
          <p:nvPr/>
        </p:nvSpPr>
        <p:spPr>
          <a:xfrm>
            <a:off x="6035040" y="32461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الجزء الذي يعرضه  •  Presenting</a:t>
            </a:r>
            <a:endParaRPr lang="ar-SA" sz="1200" dirty="0"/>
          </a:p>
        </p:txBody>
      </p:sp>
      <p:sp>
        <p:nvSpPr>
          <p:cNvPr id="26" name="fx8@pop|part#3d"/>
          <p:cNvSpPr txBox="1"/>
          <p:nvPr/>
        </p:nvSpPr>
        <p:spPr>
          <a:xfrm>
            <a:off x="6035040" y="3611880"/>
            <a:ext cx="5330952" cy="475488"/>
          </a:xfrm>
          <a:prstGeom prst="roundRect">
            <a:avLst>
              <a:gd name="adj" fmla="val 19231"/>
            </a:avLst>
          </a:prstGeom>
          <a:solidFill>
            <a:srgbClr val="0B1426"/>
          </a:solidFill>
          <a:ln w="12700">
            <a:solidFill>
              <a:srgbClr val="F43F5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2540" rIns="254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مشكلة المشروع</a:t>
            </a:r>
            <a:endParaRPr lang="ar-SA" sz="1700" dirty="0"/>
          </a:p>
        </p:txBody>
      </p:sp>
      <p:sp>
        <p:nvSpPr>
          <p:cNvPr id="27" name="fx9@pop|part#3d"/>
          <p:cNvSpPr txBox="1"/>
          <p:nvPr/>
        </p:nvSpPr>
        <p:spPr>
          <a:xfrm>
            <a:off x="6035040" y="4178808"/>
            <a:ext cx="5330952" cy="475488"/>
          </a:xfrm>
          <a:prstGeom prst="roundRect">
            <a:avLst>
              <a:gd name="adj" fmla="val 19231"/>
            </a:avLst>
          </a:prstGeom>
          <a:solidFill>
            <a:srgbClr val="0B1426"/>
          </a:solidFill>
          <a:ln w="12700">
            <a:solidFill>
              <a:srgbClr val="F43F5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2540" rIns="254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أهداف المشروع</a:t>
            </a:r>
            <a:endParaRPr lang="ar-SA" sz="1700" dirty="0"/>
          </a:p>
        </p:txBody>
      </p:sp>
      <p:sp>
        <p:nvSpPr>
          <p:cNvPr id="28" name="fx10@pop|plate#3d"/>
          <p:cNvSpPr txBox="1"/>
          <p:nvPr/>
        </p:nvSpPr>
        <p:spPr>
          <a:xfrm>
            <a:off x="6035040" y="5047488"/>
            <a:ext cx="2286000" cy="694944"/>
          </a:xfrm>
          <a:prstGeom prst="roundRect">
            <a:avLst>
              <a:gd name="adj" fmla="val 7895"/>
            </a:avLst>
          </a:prstGeom>
          <a:solidFill>
            <a:srgbClr val="F5F5F0"/>
          </a:solidFill>
          <a:ln w="25400">
            <a:solidFill>
              <a:srgbClr val="111111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02</a:t>
            </a:r>
            <a:endParaRPr lang="en-US" sz="24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333333"/>
                </a:solidFill>
              </a:rPr>
              <a:t>YEMEN  •  اليمن</a:t>
            </a:r>
            <a:endParaRPr lang="en-US" sz="2400" dirty="0"/>
          </a:p>
        </p:txBody>
      </p:sp>
      <p:sp>
        <p:nvSpPr>
          <p:cNvPr id="29" name="fx10|code"/>
          <p:cNvSpPr txBox="1"/>
          <p:nvPr/>
        </p:nvSpPr>
        <p:spPr>
          <a:xfrm>
            <a:off x="9262872" y="5257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UST-IBB  •  2026</a:t>
            </a:r>
            <a:endParaRPr lang="en-US" sz="1200" dirty="0"/>
          </a:p>
        </p:txBody>
      </p:sp>
      <p:sp>
        <p:nvSpPr>
          <p:cNvPr id="31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2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 -0.09 E" pathEditMode="relative" ptsTypes="AA">
                                      <p:cBhvr>
                                        <p:cTn id="6" dur="1500" accel="20000" decel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 0.09 E" pathEditMode="relative" ptsTypes="AA">
                                      <p:cBhvr>
                                        <p:cTn id="8" dur="1500" accel="20000" decel="3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0" presetClass="path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animMotion origin="layout" path="M 0 0 L 0 0.6 E" pathEditMode="relative" ptsTypes="AA">
                                      <p:cBhvr>
                                        <p:cTn id="55" dur="1800" accel="20000" decel="3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3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3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3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3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3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3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x0|police" descr="الرقابة التقليدي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617720" cy="6858000"/>
          </a:xfrm>
          <a:prstGeom prst="rect">
            <a:avLst/>
          </a:prstGeom>
        </p:spPr>
      </p:pic>
      <p:sp>
        <p:nvSpPr>
          <p:cNvPr id="3" name="fx1|caption"/>
          <p:cNvSpPr txBox="1"/>
          <p:nvPr/>
        </p:nvSpPr>
        <p:spPr>
          <a:xfrm>
            <a:off x="365760" y="56235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rgbClr val="FFFFFF"/>
                </a:solidFill>
              </a:rPr>
              <a:t>الرقابة التقليدية</a:t>
            </a:r>
            <a:endParaRPr lang="ar-SA" sz="2400" dirty="0"/>
          </a:p>
          <a:p>
            <a:pPr algn="r" indent="0" marL="0">
              <a:buNone/>
            </a:pPr>
            <a:r>
              <a:rPr lang="ar-SA" altLang="en-US" sz="1200" dirty="0">
                <a:solidFill>
                  <a:srgbClr val="F43F5E"/>
                </a:solidFill>
              </a:rPr>
              <a:t>Traditional enforcement</a:t>
            </a:r>
            <a:endParaRPr lang="ar-SA" sz="2400" dirty="0"/>
          </a:p>
        </p:txBody>
      </p:sp>
      <p:sp>
        <p:nvSpPr>
          <p:cNvPr id="4" name="!!kicker"/>
          <p:cNvSpPr txBox="1"/>
          <p:nvPr/>
        </p:nvSpPr>
        <p:spPr>
          <a:xfrm>
            <a:off x="5120640" y="457200"/>
            <a:ext cx="3291840" cy="329184"/>
          </a:xfrm>
          <a:prstGeom prst="rect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محمد قريع  •  مشكلة المشروع 1 / 2</a:t>
            </a:r>
            <a:endParaRPr lang="ar-SA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365760"/>
            <a:ext cx="3136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</a:rPr>
              <a:t>مشكلة المشروع</a:t>
            </a:r>
            <a:endParaRPr lang="ar-SA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1005840"/>
            <a:ext cx="6519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500" b="1" dirty="0">
                <a:solidFill>
                  <a:schemeClr val="accent5"/>
                </a:solidFill>
              </a:rPr>
              <a:t>Problem Statement</a:t>
            </a:r>
            <a:endParaRPr lang="en-US" sz="1500" dirty="0"/>
          </a:p>
        </p:txBody>
      </p:sp>
      <p:sp>
        <p:nvSpPr>
          <p:cNvPr id="7" name="fx1|card#3d"/>
          <p:cNvSpPr/>
          <p:nvPr/>
        </p:nvSpPr>
        <p:spPr>
          <a:xfrm>
            <a:off x="5120640" y="1600200"/>
            <a:ext cx="6519672" cy="2103120"/>
          </a:xfrm>
          <a:prstGeom prst="roundRect">
            <a:avLst>
              <a:gd name="adj" fmla="val 6087"/>
            </a:avLst>
          </a:prstGeom>
          <a:solidFill>
            <a:schemeClr val="tx2">
              <a:alpha val="86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8" name="fx1|ic bg#3d"/>
          <p:cNvSpPr/>
          <p:nvPr/>
        </p:nvSpPr>
        <p:spPr>
          <a:xfrm>
            <a:off x="10863072" y="1755648"/>
            <a:ext cx="603504" cy="60350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9" name="fx1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3948" y="1906524"/>
            <a:ext cx="301752" cy="301752"/>
          </a:xfrm>
          <a:prstGeom prst="rect">
            <a:avLst/>
          </a:prstGeom>
        </p:spPr>
      </p:pic>
      <p:sp>
        <p:nvSpPr>
          <p:cNvPr id="10" name="fx1|head"/>
          <p:cNvSpPr txBox="1"/>
          <p:nvPr/>
        </p:nvSpPr>
        <p:spPr>
          <a:xfrm>
            <a:off x="5303520" y="1709928"/>
            <a:ext cx="5422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الحوادث الناتجة عن السرعة الزائدة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F43F5E"/>
                </a:solidFill>
              </a:rPr>
              <a:t>Speed-related accidents</a:t>
            </a:r>
            <a:endParaRPr lang="ar-SA" sz="1800" dirty="0"/>
          </a:p>
        </p:txBody>
      </p:sp>
      <p:sp>
        <p:nvSpPr>
          <p:cNvPr id="11" name="fx2|items"/>
          <p:cNvSpPr txBox="1"/>
          <p:nvPr/>
        </p:nvSpPr>
        <p:spPr>
          <a:xfrm>
            <a:off x="5349240" y="2514600"/>
            <a:ext cx="6062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ارتفاع معدل الحوادث الناتجة عن تجاوز السرعة القانونية</a:t>
            </a:r>
            <a:endParaRPr lang="ar-SA" sz="15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عدم التزام بعض السائقين بالسرعات المحددة على الطرق</a:t>
            </a:r>
            <a:endParaRPr lang="ar-SA" sz="1500" dirty="0"/>
          </a:p>
        </p:txBody>
      </p:sp>
      <p:sp>
        <p:nvSpPr>
          <p:cNvPr id="12" name="fx3|card#3d"/>
          <p:cNvSpPr/>
          <p:nvPr/>
        </p:nvSpPr>
        <p:spPr>
          <a:xfrm>
            <a:off x="5120640" y="3931920"/>
            <a:ext cx="6519672" cy="2240280"/>
          </a:xfrm>
          <a:prstGeom prst="roundRect">
            <a:avLst>
              <a:gd name="adj" fmla="val 5714"/>
            </a:avLst>
          </a:prstGeom>
          <a:solidFill>
            <a:schemeClr val="tx2">
              <a:alpha val="86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3" name="fx3|ic bg#3d"/>
          <p:cNvSpPr/>
          <p:nvPr/>
        </p:nvSpPr>
        <p:spPr>
          <a:xfrm>
            <a:off x="10863072" y="4087368"/>
            <a:ext cx="603504" cy="60350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4" name="fx3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948" y="4238244"/>
            <a:ext cx="301752" cy="301752"/>
          </a:xfrm>
          <a:prstGeom prst="rect">
            <a:avLst/>
          </a:prstGeom>
        </p:spPr>
      </p:pic>
      <p:sp>
        <p:nvSpPr>
          <p:cNvPr id="15" name="fx3|head"/>
          <p:cNvSpPr txBox="1"/>
          <p:nvPr/>
        </p:nvSpPr>
        <p:spPr>
          <a:xfrm>
            <a:off x="5303520" y="4041648"/>
            <a:ext cx="5422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ضعف الرقابة المستمرة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F43F5E"/>
                </a:solidFill>
              </a:rPr>
              <a:t>Lack of continuous monitoring</a:t>
            </a:r>
            <a:endParaRPr lang="ar-SA" sz="1800" dirty="0"/>
          </a:p>
        </p:txBody>
      </p:sp>
      <p:sp>
        <p:nvSpPr>
          <p:cNvPr id="16" name="fx4|items"/>
          <p:cNvSpPr txBox="1"/>
          <p:nvPr/>
        </p:nvSpPr>
        <p:spPr>
          <a:xfrm>
            <a:off x="5349240" y="4846320"/>
            <a:ext cx="6062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عدم وجود رقابة مرورية مستمرة في العديد من الطرق والمناطق</a:t>
            </a:r>
            <a:endParaRPr lang="ar-SA" sz="14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صعوبة مراقبة جميع الطرق بواسطة رجال المرور بصورة مستمرة</a:t>
            </a:r>
            <a:endParaRPr lang="ar-SA" sz="14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تأخر اكتشاف بعض المخالفات يقلل من فاعلية الحد منها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محمد قريع  •  مشكلة المشروع 2 / 2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مشكلة المشروع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Human Dependency  •  High Cost  •  Documentation</a:t>
            </a:r>
            <a:endParaRPr lang="en-US" sz="1500" dirty="0"/>
          </a:p>
        </p:txBody>
      </p:sp>
      <p:sp>
        <p:nvSpPr>
          <p:cNvPr id="5" name="Radar frame"/>
          <p:cNvSpPr/>
          <p:nvPr/>
        </p:nvSpPr>
        <p:spPr>
          <a:xfrm>
            <a:off x="502920" y="1463040"/>
            <a:ext cx="5577840" cy="3177540"/>
          </a:xfrm>
          <a:prstGeom prst="rect">
            <a:avLst/>
          </a:prstGeom>
          <a:solidFill>
            <a:srgbClr val="05070C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304800" dist="50800" dir="16200000">
              <a:srgbClr val="F43F5E">
                <a:alpha val="45000"/>
              </a:srgbClr>
            </a:outerShdw>
          </a:effectLst>
        </p:spPr>
      </p:sp>
      <p:pic>
        <p:nvPicPr>
          <p:cNvPr id="6" name="fx0@zoom|radar" descr="رادار وكاميرات سرعة تقليد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486400" cy="3086100"/>
          </a:xfrm>
          <a:prstGeom prst="rect">
            <a:avLst/>
          </a:prstGeom>
        </p:spPr>
      </p:pic>
      <p:sp>
        <p:nvSpPr>
          <p:cNvPr id="7" name="fx1@zoom|mark radar1"/>
          <p:cNvSpPr/>
          <p:nvPr/>
        </p:nvSpPr>
        <p:spPr>
          <a:xfrm>
            <a:off x="3047695" y="2866644"/>
            <a:ext cx="384048" cy="384048"/>
          </a:xfrm>
          <a:prstGeom prst="ellipse">
            <a:avLst/>
          </a:prstGeom>
          <a:solidFill>
            <a:srgbClr val="F43F5E">
              <a:alpha val="15000"/>
            </a:srgbClr>
          </a:solidFill>
          <a:ln w="25400">
            <a:solidFill>
              <a:srgbClr val="F43F5E"/>
            </a:solidFill>
            <a:prstDash val="solid"/>
          </a:ln>
        </p:spPr>
      </p:sp>
      <p:sp>
        <p:nvSpPr>
          <p:cNvPr id="8" name="fx1@zoom|mark radar2"/>
          <p:cNvSpPr/>
          <p:nvPr/>
        </p:nvSpPr>
        <p:spPr>
          <a:xfrm>
            <a:off x="3629254" y="2736342"/>
            <a:ext cx="384048" cy="384048"/>
          </a:xfrm>
          <a:prstGeom prst="ellipse">
            <a:avLst/>
          </a:prstGeom>
          <a:solidFill>
            <a:srgbClr val="F43F5E">
              <a:alpha val="15000"/>
            </a:srgbClr>
          </a:solidFill>
          <a:ln w="25400">
            <a:solidFill>
              <a:srgbClr val="F43F5E"/>
            </a:solidFill>
            <a:prstDash val="solid"/>
          </a:ln>
        </p:spPr>
      </p:sp>
      <p:sp>
        <p:nvSpPr>
          <p:cNvPr id="9" name="fx2@zoom|mark cam1"/>
          <p:cNvSpPr/>
          <p:nvPr/>
        </p:nvSpPr>
        <p:spPr>
          <a:xfrm>
            <a:off x="699516" y="1401775"/>
            <a:ext cx="384048" cy="384048"/>
          </a:xfrm>
          <a:prstGeom prst="ellipse">
            <a:avLst/>
          </a:prstGeom>
          <a:solidFill>
            <a:srgbClr val="F43F5E">
              <a:alpha val="15000"/>
            </a:srgbClr>
          </a:solidFill>
          <a:ln w="25400">
            <a:solidFill>
              <a:srgbClr val="F43F5E"/>
            </a:solidFill>
            <a:prstDash val="solid"/>
          </a:ln>
        </p:spPr>
      </p:sp>
      <p:sp>
        <p:nvSpPr>
          <p:cNvPr id="10" name="fx2@zoom|mark cam2"/>
          <p:cNvSpPr/>
          <p:nvPr/>
        </p:nvSpPr>
        <p:spPr>
          <a:xfrm>
            <a:off x="1964131" y="1418234"/>
            <a:ext cx="384048" cy="384048"/>
          </a:xfrm>
          <a:prstGeom prst="ellipse">
            <a:avLst/>
          </a:prstGeom>
          <a:solidFill>
            <a:srgbClr val="F43F5E">
              <a:alpha val="15000"/>
            </a:srgbClr>
          </a:solidFill>
          <a:ln w="25400">
            <a:solidFill>
              <a:srgbClr val="F43F5E"/>
            </a:solidFill>
            <a:prstDash val="solid"/>
          </a:ln>
        </p:spPr>
      </p:sp>
      <p:sp>
        <p:nvSpPr>
          <p:cNvPr id="11" name="fx3@zoom|mark cam3"/>
          <p:cNvSpPr/>
          <p:nvPr/>
        </p:nvSpPr>
        <p:spPr>
          <a:xfrm>
            <a:off x="1634947" y="1818742"/>
            <a:ext cx="384048" cy="384048"/>
          </a:xfrm>
          <a:prstGeom prst="ellipse">
            <a:avLst/>
          </a:prstGeom>
          <a:solidFill>
            <a:srgbClr val="F43F5E">
              <a:alpha val="15000"/>
            </a:srgbClr>
          </a:solidFill>
          <a:ln w="25400">
            <a:solidFill>
              <a:srgbClr val="F43F5E"/>
            </a:solidFill>
            <a:prstDash val="solid"/>
          </a:ln>
        </p:spPr>
      </p:sp>
      <p:sp>
        <p:nvSpPr>
          <p:cNvPr id="12" name="fx4@pop|radar tag"/>
          <p:cNvSpPr txBox="1"/>
          <p:nvPr/>
        </p:nvSpPr>
        <p:spPr>
          <a:xfrm>
            <a:off x="685800" y="4229100"/>
            <a:ext cx="3238622" cy="334670"/>
          </a:xfrm>
          <a:prstGeom prst="rect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TRADITIONAL RADAR  =  HIGH COST</a:t>
            </a:r>
            <a:endParaRPr lang="en-US" sz="1100" dirty="0"/>
          </a:p>
        </p:txBody>
      </p:sp>
      <p:sp>
        <p:nvSpPr>
          <p:cNvPr id="13" name="fx5|need"/>
          <p:cNvSpPr/>
          <p:nvPr/>
        </p:nvSpPr>
        <p:spPr>
          <a:xfrm>
            <a:off x="548640" y="4823460"/>
            <a:ext cx="5486400" cy="1394460"/>
          </a:xfrm>
          <a:prstGeom prst="roundRect">
            <a:avLst>
              <a:gd name="adj" fmla="val 9180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4" name="fx5|need t"/>
          <p:cNvSpPr txBox="1"/>
          <p:nvPr/>
        </p:nvSpPr>
        <p:spPr>
          <a:xfrm>
            <a:off x="731520" y="4869180"/>
            <a:ext cx="512064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E2BA52"/>
                </a:solidFill>
              </a:rPr>
              <a:t>النتيجة: </a:t>
            </a:r>
            <a:pPr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</a:rPr>
              <a:t>عدم توفر نظام منخفض التكلفة وسهل النشر يعتمد على الهواتف الذكية والذكاء الاصطناعي لرصد مخالفات السرعة وإدارتها</a:t>
            </a:r>
            <a:endParaRPr lang="ar-SA" sz="1400" dirty="0"/>
          </a:p>
        </p:txBody>
      </p:sp>
      <p:sp>
        <p:nvSpPr>
          <p:cNvPr id="15" name="fx2|row"/>
          <p:cNvSpPr/>
          <p:nvPr/>
        </p:nvSpPr>
        <p:spPr>
          <a:xfrm>
            <a:off x="6309360" y="1508760"/>
            <a:ext cx="5330952" cy="1463040"/>
          </a:xfrm>
          <a:prstGeom prst="roundRect">
            <a:avLst>
              <a:gd name="adj" fmla="val 8750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16" name="fx2|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808" y="2029968"/>
            <a:ext cx="420624" cy="420624"/>
          </a:xfrm>
          <a:prstGeom prst="rect">
            <a:avLst/>
          </a:prstGeom>
        </p:spPr>
      </p:pic>
      <p:sp>
        <p:nvSpPr>
          <p:cNvPr id="17" name="fx2|t"/>
          <p:cNvSpPr txBox="1"/>
          <p:nvPr/>
        </p:nvSpPr>
        <p:spPr>
          <a:xfrm>
            <a:off x="6492240" y="1563624"/>
            <a:ext cx="4416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300"/>
              </a:spcAft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الاعتماد على التدخل البشري</a:t>
            </a:r>
            <a:endParaRPr lang="ar-SA" sz="17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SA" altLang="en-US" sz="1300" dirty="0">
                <a:solidFill>
                  <a:srgbClr val="B8C7E0"/>
                </a:solidFill>
              </a:rPr>
              <a:t>التفاوت في الإجراءات والأخطاء البشرية، واحتمالية تأثر الضبط بالممارسات الفردية</a:t>
            </a:r>
            <a:endParaRPr lang="ar-SA" sz="1700" dirty="0"/>
          </a:p>
        </p:txBody>
      </p:sp>
      <p:sp>
        <p:nvSpPr>
          <p:cNvPr id="18" name="fx4|row"/>
          <p:cNvSpPr/>
          <p:nvPr/>
        </p:nvSpPr>
        <p:spPr>
          <a:xfrm>
            <a:off x="6309360" y="3108960"/>
            <a:ext cx="5330952" cy="1463040"/>
          </a:xfrm>
          <a:prstGeom prst="roundRect">
            <a:avLst>
              <a:gd name="adj" fmla="val 8750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19" name="fx4|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6808" y="3630168"/>
            <a:ext cx="420624" cy="420624"/>
          </a:xfrm>
          <a:prstGeom prst="rect">
            <a:avLst/>
          </a:prstGeom>
        </p:spPr>
      </p:pic>
      <p:sp>
        <p:nvSpPr>
          <p:cNvPr id="20" name="fx4|t"/>
          <p:cNvSpPr txBox="1"/>
          <p:nvPr/>
        </p:nvSpPr>
        <p:spPr>
          <a:xfrm>
            <a:off x="6492240" y="3163824"/>
            <a:ext cx="4416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300"/>
              </a:spcAft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ارتفاع تكلفة الأنظمة التقليدية</a:t>
            </a:r>
            <a:endParaRPr lang="ar-SA" sz="17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SA" altLang="en-US" sz="1300" dirty="0">
                <a:solidFill>
                  <a:srgbClr val="B8C7E0"/>
                </a:solidFill>
              </a:rPr>
              <a:t>تكلفة الرادارات وكاميرات مراقبة السرعة تحد من انتشارها في جميع الطرق</a:t>
            </a:r>
            <a:endParaRPr lang="ar-SA" sz="1700" dirty="0"/>
          </a:p>
        </p:txBody>
      </p:sp>
      <p:sp>
        <p:nvSpPr>
          <p:cNvPr id="21" name="fx6|row"/>
          <p:cNvSpPr/>
          <p:nvPr/>
        </p:nvSpPr>
        <p:spPr>
          <a:xfrm>
            <a:off x="6309360" y="4709160"/>
            <a:ext cx="5330952" cy="1508760"/>
          </a:xfrm>
          <a:prstGeom prst="roundRect">
            <a:avLst>
              <a:gd name="adj" fmla="val 8485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22" name="fx6|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808" y="5253228"/>
            <a:ext cx="420624" cy="420624"/>
          </a:xfrm>
          <a:prstGeom prst="rect">
            <a:avLst/>
          </a:prstGeom>
        </p:spPr>
      </p:pic>
      <p:sp>
        <p:nvSpPr>
          <p:cNvPr id="23" name="fx6|t"/>
          <p:cNvSpPr txBox="1"/>
          <p:nvPr/>
        </p:nvSpPr>
        <p:spPr>
          <a:xfrm>
            <a:off x="6492240" y="4764024"/>
            <a:ext cx="441655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300"/>
              </a:spcAft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صعوبة توثيق المخالفات وربطها بالملاك</a:t>
            </a:r>
            <a:endParaRPr lang="ar-SA" sz="17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SA" altLang="en-US" sz="1300" dirty="0">
                <a:solidFill>
                  <a:srgbClr val="B8C7E0"/>
                </a:solidFill>
              </a:rPr>
              <a:t>الحاجة إلى التعرف التلقائي على اللوحات وربط المخالفات بمالكيها دون تدخل يدوي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3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3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محمد قريع  •  أهداف المشروع 1 / 3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أهداف المشروع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Project Objectives</a:t>
            </a:r>
            <a:endParaRPr lang="en-US" sz="1500" dirty="0"/>
          </a:p>
        </p:txBody>
      </p:sp>
      <p:sp>
        <p:nvSpPr>
          <p:cNvPr id="5" name="!!gbox0"/>
          <p:cNvSpPr/>
          <p:nvPr/>
        </p:nvSpPr>
        <p:spPr>
          <a:xfrm>
            <a:off x="8001000" y="1554480"/>
            <a:ext cx="3639312" cy="658368"/>
          </a:xfrm>
          <a:prstGeom prst="roundRect">
            <a:avLst>
              <a:gd name="adj" fmla="val 16667"/>
            </a:avLst>
          </a:prstGeom>
          <a:solidFill>
            <a:srgbClr val="E2BA52"/>
          </a:solidFill>
          <a:ln w="12700">
            <a:solidFill>
              <a:srgbClr val="E2BA52"/>
            </a:solidFill>
            <a:prstDash val="solid"/>
          </a:ln>
        </p:spPr>
      </p:sp>
      <p:sp>
        <p:nvSpPr>
          <p:cNvPr id="6" name="!!gnum0"/>
          <p:cNvSpPr txBox="1"/>
          <p:nvPr/>
        </p:nvSpPr>
        <p:spPr>
          <a:xfrm>
            <a:off x="11091672" y="1682496"/>
            <a:ext cx="402336" cy="402336"/>
          </a:xfrm>
          <a:prstGeom prst="ellipse">
            <a:avLst/>
          </a:prstGeom>
          <a:solidFill>
            <a:srgbClr val="0A0E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E2BA52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!!gt0"/>
          <p:cNvSpPr txBox="1"/>
          <p:nvPr/>
        </p:nvSpPr>
        <p:spPr>
          <a:xfrm>
            <a:off x="8092440" y="15544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0A0E1A"/>
                </a:solidFill>
              </a:rPr>
              <a:t>رصد المركبات وحساب سرعتها</a:t>
            </a:r>
            <a:endParaRPr lang="ar-SA" sz="1400" dirty="0"/>
          </a:p>
        </p:txBody>
      </p:sp>
      <p:sp>
        <p:nvSpPr>
          <p:cNvPr id="8" name="!!gbox1"/>
          <p:cNvSpPr/>
          <p:nvPr/>
        </p:nvSpPr>
        <p:spPr>
          <a:xfrm>
            <a:off x="8001000" y="2331720"/>
            <a:ext cx="3639312" cy="658368"/>
          </a:xfrm>
          <a:prstGeom prst="roundRect">
            <a:avLst>
              <a:gd name="adj" fmla="val 16667"/>
            </a:avLst>
          </a:prstGeom>
          <a:solidFill>
            <a:srgbClr val="E2BA52"/>
          </a:solidFill>
          <a:ln w="12700">
            <a:solidFill>
              <a:srgbClr val="E2BA52"/>
            </a:solidFill>
            <a:prstDash val="solid"/>
          </a:ln>
        </p:spPr>
      </p:sp>
      <p:sp>
        <p:nvSpPr>
          <p:cNvPr id="9" name="!!gnum1"/>
          <p:cNvSpPr txBox="1"/>
          <p:nvPr/>
        </p:nvSpPr>
        <p:spPr>
          <a:xfrm>
            <a:off x="11091672" y="2459736"/>
            <a:ext cx="402336" cy="402336"/>
          </a:xfrm>
          <a:prstGeom prst="ellipse">
            <a:avLst/>
          </a:prstGeom>
          <a:solidFill>
            <a:srgbClr val="0A0E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E2BA52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!!gt1"/>
          <p:cNvSpPr txBox="1"/>
          <p:nvPr/>
        </p:nvSpPr>
        <p:spPr>
          <a:xfrm>
            <a:off x="8092440" y="23317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0A0E1A"/>
                </a:solidFill>
              </a:rPr>
              <a:t>اكتشاف مخالفات السرعة</a:t>
            </a:r>
            <a:endParaRPr lang="ar-SA" sz="1400" dirty="0"/>
          </a:p>
        </p:txBody>
      </p:sp>
      <p:sp>
        <p:nvSpPr>
          <p:cNvPr id="11" name="!!gbox2"/>
          <p:cNvSpPr/>
          <p:nvPr/>
        </p:nvSpPr>
        <p:spPr>
          <a:xfrm>
            <a:off x="8001000" y="3108960"/>
            <a:ext cx="3639312" cy="658368"/>
          </a:xfrm>
          <a:prstGeom prst="roundRect">
            <a:avLst>
              <a:gd name="adj" fmla="val 16667"/>
            </a:avLst>
          </a:prstGeom>
          <a:solidFill>
            <a:srgbClr val="0B1426">
              <a:alpha val="80000"/>
            </a:srgbClr>
          </a:solidFill>
          <a:ln w="9525">
            <a:solidFill>
              <a:srgbClr val="E2BA52">
                <a:alpha val="50000"/>
              </a:srgbClr>
            </a:solidFill>
            <a:prstDash val="solid"/>
          </a:ln>
        </p:spPr>
      </p:sp>
      <p:sp>
        <p:nvSpPr>
          <p:cNvPr id="12" name="!!gnum2"/>
          <p:cNvSpPr txBox="1"/>
          <p:nvPr/>
        </p:nvSpPr>
        <p:spPr>
          <a:xfrm>
            <a:off x="11091672" y="3236976"/>
            <a:ext cx="402336" cy="402336"/>
          </a:xfrm>
          <a:prstGeom prst="ellipse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0A0E1A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!!gt2"/>
          <p:cNvSpPr txBox="1"/>
          <p:nvPr/>
        </p:nvSpPr>
        <p:spPr>
          <a:xfrm>
            <a:off x="8092440" y="31089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8C7E0"/>
                </a:solidFill>
              </a:rPr>
              <a:t>تقليل التدخل البشري</a:t>
            </a:r>
            <a:endParaRPr lang="ar-SA" sz="1400" dirty="0"/>
          </a:p>
        </p:txBody>
      </p:sp>
      <p:sp>
        <p:nvSpPr>
          <p:cNvPr id="14" name="!!gbox3"/>
          <p:cNvSpPr/>
          <p:nvPr/>
        </p:nvSpPr>
        <p:spPr>
          <a:xfrm>
            <a:off x="8001000" y="3886200"/>
            <a:ext cx="3639312" cy="658368"/>
          </a:xfrm>
          <a:prstGeom prst="roundRect">
            <a:avLst>
              <a:gd name="adj" fmla="val 16667"/>
            </a:avLst>
          </a:prstGeom>
          <a:solidFill>
            <a:srgbClr val="0B1426">
              <a:alpha val="80000"/>
            </a:srgbClr>
          </a:solidFill>
          <a:ln w="9525">
            <a:solidFill>
              <a:srgbClr val="E2BA52">
                <a:alpha val="50000"/>
              </a:srgbClr>
            </a:solidFill>
            <a:prstDash val="solid"/>
          </a:ln>
        </p:spPr>
      </p:sp>
      <p:sp>
        <p:nvSpPr>
          <p:cNvPr id="15" name="!!gnum3"/>
          <p:cNvSpPr txBox="1"/>
          <p:nvPr/>
        </p:nvSpPr>
        <p:spPr>
          <a:xfrm>
            <a:off x="11091672" y="4014216"/>
            <a:ext cx="402336" cy="402336"/>
          </a:xfrm>
          <a:prstGeom prst="ellipse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0A0E1A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!!gt3"/>
          <p:cNvSpPr txBox="1"/>
          <p:nvPr/>
        </p:nvSpPr>
        <p:spPr>
          <a:xfrm>
            <a:off x="8092440" y="38862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8C7E0"/>
                </a:solidFill>
              </a:rPr>
              <a:t>التعرف على لوحات المركبات</a:t>
            </a:r>
            <a:endParaRPr lang="ar-SA" sz="1400" dirty="0"/>
          </a:p>
        </p:txBody>
      </p:sp>
      <p:sp>
        <p:nvSpPr>
          <p:cNvPr id="17" name="!!gbox4"/>
          <p:cNvSpPr/>
          <p:nvPr/>
        </p:nvSpPr>
        <p:spPr>
          <a:xfrm>
            <a:off x="8001000" y="4663440"/>
            <a:ext cx="3639312" cy="658368"/>
          </a:xfrm>
          <a:prstGeom prst="roundRect">
            <a:avLst>
              <a:gd name="adj" fmla="val 16667"/>
            </a:avLst>
          </a:prstGeom>
          <a:solidFill>
            <a:srgbClr val="0B1426">
              <a:alpha val="80000"/>
            </a:srgbClr>
          </a:solidFill>
          <a:ln w="9525">
            <a:solidFill>
              <a:srgbClr val="E2BA52">
                <a:alpha val="50000"/>
              </a:srgbClr>
            </a:solidFill>
            <a:prstDash val="solid"/>
          </a:ln>
        </p:spPr>
      </p:sp>
      <p:sp>
        <p:nvSpPr>
          <p:cNvPr id="18" name="!!gnum4"/>
          <p:cNvSpPr txBox="1"/>
          <p:nvPr/>
        </p:nvSpPr>
        <p:spPr>
          <a:xfrm>
            <a:off x="11091672" y="4791456"/>
            <a:ext cx="402336" cy="402336"/>
          </a:xfrm>
          <a:prstGeom prst="ellipse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0A0E1A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!!gt4"/>
          <p:cNvSpPr txBox="1"/>
          <p:nvPr/>
        </p:nvSpPr>
        <p:spPr>
          <a:xfrm>
            <a:off x="8092440" y="46634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8C7E0"/>
                </a:solidFill>
              </a:rPr>
              <a:t>ربط المخالفات ببيانات المالكين</a:t>
            </a:r>
            <a:endParaRPr lang="ar-SA" sz="1400" dirty="0"/>
          </a:p>
        </p:txBody>
      </p:sp>
      <p:sp>
        <p:nvSpPr>
          <p:cNvPr id="20" name="!!gbox5"/>
          <p:cNvSpPr/>
          <p:nvPr/>
        </p:nvSpPr>
        <p:spPr>
          <a:xfrm>
            <a:off x="8001000" y="5440680"/>
            <a:ext cx="3639312" cy="658368"/>
          </a:xfrm>
          <a:prstGeom prst="roundRect">
            <a:avLst>
              <a:gd name="adj" fmla="val 16667"/>
            </a:avLst>
          </a:prstGeom>
          <a:solidFill>
            <a:srgbClr val="0B1426">
              <a:alpha val="80000"/>
            </a:srgbClr>
          </a:solidFill>
          <a:ln w="9525">
            <a:solidFill>
              <a:srgbClr val="E2BA52">
                <a:alpha val="50000"/>
              </a:srgbClr>
            </a:solidFill>
            <a:prstDash val="solid"/>
          </a:ln>
        </p:spPr>
      </p:sp>
      <p:sp>
        <p:nvSpPr>
          <p:cNvPr id="21" name="!!gnum5"/>
          <p:cNvSpPr txBox="1"/>
          <p:nvPr/>
        </p:nvSpPr>
        <p:spPr>
          <a:xfrm>
            <a:off x="11091672" y="5568696"/>
            <a:ext cx="402336" cy="402336"/>
          </a:xfrm>
          <a:prstGeom prst="ellipse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0A0E1A"/>
                </a:solidFill>
              </a:rPr>
              <a:t>6</a:t>
            </a:r>
            <a:endParaRPr lang="en-US" sz="1400" dirty="0"/>
          </a:p>
        </p:txBody>
      </p:sp>
      <p:sp>
        <p:nvSpPr>
          <p:cNvPr id="22" name="!!gt5"/>
          <p:cNvSpPr txBox="1"/>
          <p:nvPr/>
        </p:nvSpPr>
        <p:spPr>
          <a:xfrm>
            <a:off x="8092440" y="54406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8C7E0"/>
                </a:solidFill>
              </a:rPr>
              <a:t>إدارة المخالفات والتقارير</a:t>
            </a:r>
            <a:endParaRPr lang="ar-SA" sz="1400" dirty="0"/>
          </a:p>
        </p:txBody>
      </p:sp>
      <p:sp>
        <p:nvSpPr>
          <p:cNvPr id="23" name="!!dcard0"/>
          <p:cNvSpPr/>
          <p:nvPr/>
        </p:nvSpPr>
        <p:spPr>
          <a:xfrm>
            <a:off x="548640" y="1554480"/>
            <a:ext cx="7178040" cy="2194560"/>
          </a:xfrm>
          <a:prstGeom prst="roundRect">
            <a:avLst>
              <a:gd name="adj" fmla="val 5833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24" name="!!dnum0"/>
          <p:cNvSpPr txBox="1"/>
          <p:nvPr/>
        </p:nvSpPr>
        <p:spPr>
          <a:xfrm>
            <a:off x="6537960" y="17373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4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000" dirty="0"/>
          </a:p>
        </p:txBody>
      </p:sp>
      <p:pic>
        <p:nvPicPr>
          <p:cNvPr id="25" name="fx1|d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697480"/>
            <a:ext cx="457200" cy="457200"/>
          </a:xfrm>
          <a:prstGeom prst="rect">
            <a:avLst/>
          </a:prstGeom>
        </p:spPr>
      </p:pic>
      <p:sp>
        <p:nvSpPr>
          <p:cNvPr id="26" name="!!dt0"/>
          <p:cNvSpPr txBox="1"/>
          <p:nvPr/>
        </p:nvSpPr>
        <p:spPr>
          <a:xfrm>
            <a:off x="777240" y="1737360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</a:rPr>
              <a:t>رصد المركبات وحساب سرعتها</a:t>
            </a:r>
            <a:endParaRPr lang="ar-SA" sz="2200" dirty="0"/>
          </a:p>
        </p:txBody>
      </p:sp>
      <p:sp>
        <p:nvSpPr>
          <p:cNvPr id="27" name="fx1|dbul"/>
          <p:cNvSpPr txBox="1"/>
          <p:nvPr/>
        </p:nvSpPr>
        <p:spPr>
          <a:xfrm>
            <a:off x="777240" y="2377440"/>
            <a:ext cx="5623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تطوير نظام ذكي يعتمد على الرؤية الحاسوبية لحساب سرعة المركبات بدقة</a:t>
            </a:r>
            <a:endParaRPr lang="ar-SA" sz="15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توفير رقابة مرورية مستمرة في مختلف الطرق باستخدام الهواتف الذكية</a:t>
            </a:r>
            <a:endParaRPr lang="ar-SA" sz="1500" dirty="0"/>
          </a:p>
        </p:txBody>
      </p:sp>
      <p:sp>
        <p:nvSpPr>
          <p:cNvPr id="28" name="!!dcard1"/>
          <p:cNvSpPr/>
          <p:nvPr/>
        </p:nvSpPr>
        <p:spPr>
          <a:xfrm>
            <a:off x="548640" y="3931920"/>
            <a:ext cx="7178040" cy="2194560"/>
          </a:xfrm>
          <a:prstGeom prst="roundRect">
            <a:avLst>
              <a:gd name="adj" fmla="val 5833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29" name="!!dnum1"/>
          <p:cNvSpPr txBox="1"/>
          <p:nvPr/>
        </p:nvSpPr>
        <p:spPr>
          <a:xfrm>
            <a:off x="6537960" y="41148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4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000" dirty="0"/>
          </a:p>
        </p:txBody>
      </p:sp>
      <p:pic>
        <p:nvPicPr>
          <p:cNvPr id="30" name="fx3|d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5074920"/>
            <a:ext cx="457200" cy="457200"/>
          </a:xfrm>
          <a:prstGeom prst="rect">
            <a:avLst/>
          </a:prstGeom>
        </p:spPr>
      </p:pic>
      <p:sp>
        <p:nvSpPr>
          <p:cNvPr id="31" name="!!dt1"/>
          <p:cNvSpPr txBox="1"/>
          <p:nvPr/>
        </p:nvSpPr>
        <p:spPr>
          <a:xfrm>
            <a:off x="777240" y="4114800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</a:rPr>
              <a:t>اكتشاف مخالفات السرعة</a:t>
            </a:r>
            <a:endParaRPr lang="ar-SA" sz="2200" dirty="0"/>
          </a:p>
        </p:txBody>
      </p:sp>
      <p:sp>
        <p:nvSpPr>
          <p:cNvPr id="32" name="fx3|dbul"/>
          <p:cNvSpPr txBox="1"/>
          <p:nvPr/>
        </p:nvSpPr>
        <p:spPr>
          <a:xfrm>
            <a:off x="777240" y="4754880"/>
            <a:ext cx="5623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رصد المخالفات آلياً للحد من الحوادث الناتجة عن تجاوز السرعة</a:t>
            </a:r>
            <a:endParaRPr lang="ar-SA" sz="15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تسريع اكتشاف المخالفات وتوثيقها فور حدوثها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محمد قريع  •  أهداف المشروع 2 / 3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أهداف المشروع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Project Objectives</a:t>
            </a:r>
            <a:endParaRPr lang="en-US" sz="1500" dirty="0"/>
          </a:p>
        </p:txBody>
      </p:sp>
      <p:sp>
        <p:nvSpPr>
          <p:cNvPr id="5" name="!!gbox0"/>
          <p:cNvSpPr/>
          <p:nvPr/>
        </p:nvSpPr>
        <p:spPr>
          <a:xfrm>
            <a:off x="8001000" y="1554480"/>
            <a:ext cx="3639312" cy="658368"/>
          </a:xfrm>
          <a:prstGeom prst="roundRect">
            <a:avLst>
              <a:gd name="adj" fmla="val 16667"/>
            </a:avLst>
          </a:prstGeom>
          <a:solidFill>
            <a:srgbClr val="0B1426">
              <a:alpha val="80000"/>
            </a:srgbClr>
          </a:solidFill>
          <a:ln w="9525">
            <a:solidFill>
              <a:srgbClr val="E2BA52">
                <a:alpha val="50000"/>
              </a:srgbClr>
            </a:solidFill>
            <a:prstDash val="solid"/>
          </a:ln>
        </p:spPr>
      </p:sp>
      <p:sp>
        <p:nvSpPr>
          <p:cNvPr id="6" name="!!gnum0"/>
          <p:cNvSpPr txBox="1"/>
          <p:nvPr/>
        </p:nvSpPr>
        <p:spPr>
          <a:xfrm>
            <a:off x="11091672" y="1682496"/>
            <a:ext cx="402336" cy="402336"/>
          </a:xfrm>
          <a:prstGeom prst="ellipse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0A0E1A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!!gt0"/>
          <p:cNvSpPr txBox="1"/>
          <p:nvPr/>
        </p:nvSpPr>
        <p:spPr>
          <a:xfrm>
            <a:off x="8092440" y="15544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8C7E0"/>
                </a:solidFill>
              </a:rPr>
              <a:t>رصد المركبات وحساب سرعتها</a:t>
            </a:r>
            <a:endParaRPr lang="ar-SA" sz="1400" dirty="0"/>
          </a:p>
        </p:txBody>
      </p:sp>
      <p:sp>
        <p:nvSpPr>
          <p:cNvPr id="8" name="!!gbox1"/>
          <p:cNvSpPr/>
          <p:nvPr/>
        </p:nvSpPr>
        <p:spPr>
          <a:xfrm>
            <a:off x="8001000" y="2331720"/>
            <a:ext cx="3639312" cy="658368"/>
          </a:xfrm>
          <a:prstGeom prst="roundRect">
            <a:avLst>
              <a:gd name="adj" fmla="val 16667"/>
            </a:avLst>
          </a:prstGeom>
          <a:solidFill>
            <a:srgbClr val="0B1426">
              <a:alpha val="80000"/>
            </a:srgbClr>
          </a:solidFill>
          <a:ln w="9525">
            <a:solidFill>
              <a:srgbClr val="E2BA52">
                <a:alpha val="50000"/>
              </a:srgbClr>
            </a:solidFill>
            <a:prstDash val="solid"/>
          </a:ln>
        </p:spPr>
      </p:sp>
      <p:sp>
        <p:nvSpPr>
          <p:cNvPr id="9" name="!!gnum1"/>
          <p:cNvSpPr txBox="1"/>
          <p:nvPr/>
        </p:nvSpPr>
        <p:spPr>
          <a:xfrm>
            <a:off x="11091672" y="2459736"/>
            <a:ext cx="402336" cy="402336"/>
          </a:xfrm>
          <a:prstGeom prst="ellipse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0A0E1A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!!gt1"/>
          <p:cNvSpPr txBox="1"/>
          <p:nvPr/>
        </p:nvSpPr>
        <p:spPr>
          <a:xfrm>
            <a:off x="8092440" y="23317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8C7E0"/>
                </a:solidFill>
              </a:rPr>
              <a:t>اكتشاف مخالفات السرعة</a:t>
            </a:r>
            <a:endParaRPr lang="ar-SA" sz="1400" dirty="0"/>
          </a:p>
        </p:txBody>
      </p:sp>
      <p:sp>
        <p:nvSpPr>
          <p:cNvPr id="11" name="!!gbox2"/>
          <p:cNvSpPr/>
          <p:nvPr/>
        </p:nvSpPr>
        <p:spPr>
          <a:xfrm>
            <a:off x="8001000" y="3108960"/>
            <a:ext cx="3639312" cy="658368"/>
          </a:xfrm>
          <a:prstGeom prst="roundRect">
            <a:avLst>
              <a:gd name="adj" fmla="val 16667"/>
            </a:avLst>
          </a:prstGeom>
          <a:solidFill>
            <a:srgbClr val="E2BA52"/>
          </a:solidFill>
          <a:ln w="12700">
            <a:solidFill>
              <a:srgbClr val="E2BA52"/>
            </a:solidFill>
            <a:prstDash val="solid"/>
          </a:ln>
        </p:spPr>
      </p:sp>
      <p:sp>
        <p:nvSpPr>
          <p:cNvPr id="12" name="!!gnum2"/>
          <p:cNvSpPr txBox="1"/>
          <p:nvPr/>
        </p:nvSpPr>
        <p:spPr>
          <a:xfrm>
            <a:off x="11091672" y="3236976"/>
            <a:ext cx="402336" cy="402336"/>
          </a:xfrm>
          <a:prstGeom prst="ellipse">
            <a:avLst/>
          </a:prstGeom>
          <a:solidFill>
            <a:srgbClr val="0A0E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E2BA52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!!gt2"/>
          <p:cNvSpPr txBox="1"/>
          <p:nvPr/>
        </p:nvSpPr>
        <p:spPr>
          <a:xfrm>
            <a:off x="8092440" y="31089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0A0E1A"/>
                </a:solidFill>
              </a:rPr>
              <a:t>تقليل التدخل البشري</a:t>
            </a:r>
            <a:endParaRPr lang="ar-SA" sz="1400" dirty="0"/>
          </a:p>
        </p:txBody>
      </p:sp>
      <p:sp>
        <p:nvSpPr>
          <p:cNvPr id="14" name="!!gbox3"/>
          <p:cNvSpPr/>
          <p:nvPr/>
        </p:nvSpPr>
        <p:spPr>
          <a:xfrm>
            <a:off x="8001000" y="3886200"/>
            <a:ext cx="3639312" cy="658368"/>
          </a:xfrm>
          <a:prstGeom prst="roundRect">
            <a:avLst>
              <a:gd name="adj" fmla="val 16667"/>
            </a:avLst>
          </a:prstGeom>
          <a:solidFill>
            <a:srgbClr val="E2BA52"/>
          </a:solidFill>
          <a:ln w="12700">
            <a:solidFill>
              <a:srgbClr val="E2BA52"/>
            </a:solidFill>
            <a:prstDash val="solid"/>
          </a:ln>
        </p:spPr>
      </p:sp>
      <p:sp>
        <p:nvSpPr>
          <p:cNvPr id="15" name="!!gnum3"/>
          <p:cNvSpPr txBox="1"/>
          <p:nvPr/>
        </p:nvSpPr>
        <p:spPr>
          <a:xfrm>
            <a:off x="11091672" y="4014216"/>
            <a:ext cx="402336" cy="402336"/>
          </a:xfrm>
          <a:prstGeom prst="ellipse">
            <a:avLst/>
          </a:prstGeom>
          <a:solidFill>
            <a:srgbClr val="0A0E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E2BA52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!!gt3"/>
          <p:cNvSpPr txBox="1"/>
          <p:nvPr/>
        </p:nvSpPr>
        <p:spPr>
          <a:xfrm>
            <a:off x="8092440" y="38862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0A0E1A"/>
                </a:solidFill>
              </a:rPr>
              <a:t>التعرف على لوحات المركبات</a:t>
            </a:r>
            <a:endParaRPr lang="ar-SA" sz="1400" dirty="0"/>
          </a:p>
        </p:txBody>
      </p:sp>
      <p:sp>
        <p:nvSpPr>
          <p:cNvPr id="17" name="!!gbox4"/>
          <p:cNvSpPr/>
          <p:nvPr/>
        </p:nvSpPr>
        <p:spPr>
          <a:xfrm>
            <a:off x="8001000" y="4663440"/>
            <a:ext cx="3639312" cy="658368"/>
          </a:xfrm>
          <a:prstGeom prst="roundRect">
            <a:avLst>
              <a:gd name="adj" fmla="val 16667"/>
            </a:avLst>
          </a:prstGeom>
          <a:solidFill>
            <a:srgbClr val="0B1426">
              <a:alpha val="80000"/>
            </a:srgbClr>
          </a:solidFill>
          <a:ln w="9525">
            <a:solidFill>
              <a:srgbClr val="E2BA52">
                <a:alpha val="50000"/>
              </a:srgbClr>
            </a:solidFill>
            <a:prstDash val="solid"/>
          </a:ln>
        </p:spPr>
      </p:sp>
      <p:sp>
        <p:nvSpPr>
          <p:cNvPr id="18" name="!!gnum4"/>
          <p:cNvSpPr txBox="1"/>
          <p:nvPr/>
        </p:nvSpPr>
        <p:spPr>
          <a:xfrm>
            <a:off x="11091672" y="4791456"/>
            <a:ext cx="402336" cy="402336"/>
          </a:xfrm>
          <a:prstGeom prst="ellipse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0A0E1A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!!gt4"/>
          <p:cNvSpPr txBox="1"/>
          <p:nvPr/>
        </p:nvSpPr>
        <p:spPr>
          <a:xfrm>
            <a:off x="8092440" y="46634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8C7E0"/>
                </a:solidFill>
              </a:rPr>
              <a:t>ربط المخالفات ببيانات المالكين</a:t>
            </a:r>
            <a:endParaRPr lang="ar-SA" sz="1400" dirty="0"/>
          </a:p>
        </p:txBody>
      </p:sp>
      <p:sp>
        <p:nvSpPr>
          <p:cNvPr id="20" name="!!gbox5"/>
          <p:cNvSpPr/>
          <p:nvPr/>
        </p:nvSpPr>
        <p:spPr>
          <a:xfrm>
            <a:off x="8001000" y="5440680"/>
            <a:ext cx="3639312" cy="658368"/>
          </a:xfrm>
          <a:prstGeom prst="roundRect">
            <a:avLst>
              <a:gd name="adj" fmla="val 16667"/>
            </a:avLst>
          </a:prstGeom>
          <a:solidFill>
            <a:srgbClr val="0B1426">
              <a:alpha val="80000"/>
            </a:srgbClr>
          </a:solidFill>
          <a:ln w="9525">
            <a:solidFill>
              <a:srgbClr val="E2BA52">
                <a:alpha val="50000"/>
              </a:srgbClr>
            </a:solidFill>
            <a:prstDash val="solid"/>
          </a:ln>
        </p:spPr>
      </p:sp>
      <p:sp>
        <p:nvSpPr>
          <p:cNvPr id="21" name="!!gnum5"/>
          <p:cNvSpPr txBox="1"/>
          <p:nvPr/>
        </p:nvSpPr>
        <p:spPr>
          <a:xfrm>
            <a:off x="11091672" y="5568696"/>
            <a:ext cx="402336" cy="402336"/>
          </a:xfrm>
          <a:prstGeom prst="ellipse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0A0E1A"/>
                </a:solidFill>
              </a:rPr>
              <a:t>6</a:t>
            </a:r>
            <a:endParaRPr lang="en-US" sz="1400" dirty="0"/>
          </a:p>
        </p:txBody>
      </p:sp>
      <p:sp>
        <p:nvSpPr>
          <p:cNvPr id="22" name="!!gt5"/>
          <p:cNvSpPr txBox="1"/>
          <p:nvPr/>
        </p:nvSpPr>
        <p:spPr>
          <a:xfrm>
            <a:off x="8092440" y="54406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8C7E0"/>
                </a:solidFill>
              </a:rPr>
              <a:t>إدارة المخالفات والتقارير</a:t>
            </a:r>
            <a:endParaRPr lang="ar-SA" sz="1400" dirty="0"/>
          </a:p>
        </p:txBody>
      </p:sp>
      <p:sp>
        <p:nvSpPr>
          <p:cNvPr id="23" name="!!dcard0"/>
          <p:cNvSpPr/>
          <p:nvPr/>
        </p:nvSpPr>
        <p:spPr>
          <a:xfrm>
            <a:off x="548640" y="1554480"/>
            <a:ext cx="7178040" cy="2194560"/>
          </a:xfrm>
          <a:prstGeom prst="roundRect">
            <a:avLst>
              <a:gd name="adj" fmla="val 5833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24" name="!!dnum0"/>
          <p:cNvSpPr txBox="1"/>
          <p:nvPr/>
        </p:nvSpPr>
        <p:spPr>
          <a:xfrm>
            <a:off x="6537960" y="17373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4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000" dirty="0"/>
          </a:p>
        </p:txBody>
      </p:sp>
      <p:pic>
        <p:nvPicPr>
          <p:cNvPr id="25" name="fx1|d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697480"/>
            <a:ext cx="457200" cy="457200"/>
          </a:xfrm>
          <a:prstGeom prst="rect">
            <a:avLst/>
          </a:prstGeom>
        </p:spPr>
      </p:pic>
      <p:sp>
        <p:nvSpPr>
          <p:cNvPr id="26" name="!!dt0"/>
          <p:cNvSpPr txBox="1"/>
          <p:nvPr/>
        </p:nvSpPr>
        <p:spPr>
          <a:xfrm>
            <a:off x="777240" y="1737360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</a:rPr>
              <a:t>تقليل التدخل البشري</a:t>
            </a:r>
            <a:endParaRPr lang="ar-SA" sz="2200" dirty="0"/>
          </a:p>
        </p:txBody>
      </p:sp>
      <p:sp>
        <p:nvSpPr>
          <p:cNvPr id="27" name="fx1|dbul"/>
          <p:cNvSpPr txBox="1"/>
          <p:nvPr/>
        </p:nvSpPr>
        <p:spPr>
          <a:xfrm>
            <a:off x="777240" y="2377440"/>
            <a:ext cx="5623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تقليل الاعتماد على الرقابة البشرية والحد من الأخطاء وتعزيز الشفافية والعدالة</a:t>
            </a:r>
            <a:endParaRPr lang="ar-SA" sz="15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مراقبة عدد أكبر من الطرق دون زيادة أعداد رجال المرور</a:t>
            </a:r>
            <a:endParaRPr lang="ar-SA" sz="1500" dirty="0"/>
          </a:p>
        </p:txBody>
      </p:sp>
      <p:sp>
        <p:nvSpPr>
          <p:cNvPr id="28" name="!!dcard1"/>
          <p:cNvSpPr/>
          <p:nvPr/>
        </p:nvSpPr>
        <p:spPr>
          <a:xfrm>
            <a:off x="548640" y="3931920"/>
            <a:ext cx="7178040" cy="2194560"/>
          </a:xfrm>
          <a:prstGeom prst="roundRect">
            <a:avLst>
              <a:gd name="adj" fmla="val 5833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29" name="!!dnum1"/>
          <p:cNvSpPr txBox="1"/>
          <p:nvPr/>
        </p:nvSpPr>
        <p:spPr>
          <a:xfrm>
            <a:off x="6537960" y="41148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4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4000" dirty="0"/>
          </a:p>
        </p:txBody>
      </p:sp>
      <p:pic>
        <p:nvPicPr>
          <p:cNvPr id="30" name="fx3|d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5074920"/>
            <a:ext cx="457200" cy="457200"/>
          </a:xfrm>
          <a:prstGeom prst="rect">
            <a:avLst/>
          </a:prstGeom>
        </p:spPr>
      </p:pic>
      <p:sp>
        <p:nvSpPr>
          <p:cNvPr id="31" name="!!dt1"/>
          <p:cNvSpPr txBox="1"/>
          <p:nvPr/>
        </p:nvSpPr>
        <p:spPr>
          <a:xfrm>
            <a:off x="777240" y="4114800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</a:rPr>
              <a:t>التعرف على لوحات المركبات</a:t>
            </a:r>
            <a:endParaRPr lang="ar-SA" sz="2200" dirty="0"/>
          </a:p>
        </p:txBody>
      </p:sp>
      <p:sp>
        <p:nvSpPr>
          <p:cNvPr id="32" name="fx3|dbul"/>
          <p:cNvSpPr txBox="1"/>
          <p:nvPr/>
        </p:nvSpPr>
        <p:spPr>
          <a:xfrm>
            <a:off x="777240" y="4754880"/>
            <a:ext cx="5623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التعرف تلقائياً على أرقام لوحات المركبات باستخدام تقنيات الذكاء الاصطناعي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محمد قريع  •  أهداف المشروع 3 / 3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أهداف المشروع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Project Objectives</a:t>
            </a:r>
            <a:endParaRPr lang="en-US" sz="1500" dirty="0"/>
          </a:p>
        </p:txBody>
      </p:sp>
      <p:sp>
        <p:nvSpPr>
          <p:cNvPr id="5" name="!!gbox0"/>
          <p:cNvSpPr/>
          <p:nvPr/>
        </p:nvSpPr>
        <p:spPr>
          <a:xfrm>
            <a:off x="8001000" y="1554480"/>
            <a:ext cx="3639312" cy="658368"/>
          </a:xfrm>
          <a:prstGeom prst="roundRect">
            <a:avLst>
              <a:gd name="adj" fmla="val 16667"/>
            </a:avLst>
          </a:prstGeom>
          <a:solidFill>
            <a:srgbClr val="0B1426">
              <a:alpha val="80000"/>
            </a:srgbClr>
          </a:solidFill>
          <a:ln w="9525">
            <a:solidFill>
              <a:srgbClr val="E2BA52">
                <a:alpha val="50000"/>
              </a:srgbClr>
            </a:solidFill>
            <a:prstDash val="solid"/>
          </a:ln>
        </p:spPr>
      </p:sp>
      <p:sp>
        <p:nvSpPr>
          <p:cNvPr id="6" name="!!gnum0"/>
          <p:cNvSpPr txBox="1"/>
          <p:nvPr/>
        </p:nvSpPr>
        <p:spPr>
          <a:xfrm>
            <a:off x="11091672" y="1682496"/>
            <a:ext cx="402336" cy="402336"/>
          </a:xfrm>
          <a:prstGeom prst="ellipse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0A0E1A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!!gt0"/>
          <p:cNvSpPr txBox="1"/>
          <p:nvPr/>
        </p:nvSpPr>
        <p:spPr>
          <a:xfrm>
            <a:off x="8092440" y="15544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8C7E0"/>
                </a:solidFill>
              </a:rPr>
              <a:t>رصد المركبات وحساب سرعتها</a:t>
            </a:r>
            <a:endParaRPr lang="ar-SA" sz="1400" dirty="0"/>
          </a:p>
        </p:txBody>
      </p:sp>
      <p:sp>
        <p:nvSpPr>
          <p:cNvPr id="8" name="!!gbox1"/>
          <p:cNvSpPr/>
          <p:nvPr/>
        </p:nvSpPr>
        <p:spPr>
          <a:xfrm>
            <a:off x="8001000" y="2331720"/>
            <a:ext cx="3639312" cy="658368"/>
          </a:xfrm>
          <a:prstGeom prst="roundRect">
            <a:avLst>
              <a:gd name="adj" fmla="val 16667"/>
            </a:avLst>
          </a:prstGeom>
          <a:solidFill>
            <a:srgbClr val="0B1426">
              <a:alpha val="80000"/>
            </a:srgbClr>
          </a:solidFill>
          <a:ln w="9525">
            <a:solidFill>
              <a:srgbClr val="E2BA52">
                <a:alpha val="50000"/>
              </a:srgbClr>
            </a:solidFill>
            <a:prstDash val="solid"/>
          </a:ln>
        </p:spPr>
      </p:sp>
      <p:sp>
        <p:nvSpPr>
          <p:cNvPr id="9" name="!!gnum1"/>
          <p:cNvSpPr txBox="1"/>
          <p:nvPr/>
        </p:nvSpPr>
        <p:spPr>
          <a:xfrm>
            <a:off x="11091672" y="2459736"/>
            <a:ext cx="402336" cy="402336"/>
          </a:xfrm>
          <a:prstGeom prst="ellipse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0A0E1A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!!gt1"/>
          <p:cNvSpPr txBox="1"/>
          <p:nvPr/>
        </p:nvSpPr>
        <p:spPr>
          <a:xfrm>
            <a:off x="8092440" y="23317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8C7E0"/>
                </a:solidFill>
              </a:rPr>
              <a:t>اكتشاف مخالفات السرعة</a:t>
            </a:r>
            <a:endParaRPr lang="ar-SA" sz="1400" dirty="0"/>
          </a:p>
        </p:txBody>
      </p:sp>
      <p:sp>
        <p:nvSpPr>
          <p:cNvPr id="11" name="!!gbox2"/>
          <p:cNvSpPr/>
          <p:nvPr/>
        </p:nvSpPr>
        <p:spPr>
          <a:xfrm>
            <a:off x="8001000" y="3108960"/>
            <a:ext cx="3639312" cy="658368"/>
          </a:xfrm>
          <a:prstGeom prst="roundRect">
            <a:avLst>
              <a:gd name="adj" fmla="val 16667"/>
            </a:avLst>
          </a:prstGeom>
          <a:solidFill>
            <a:srgbClr val="0B1426">
              <a:alpha val="80000"/>
            </a:srgbClr>
          </a:solidFill>
          <a:ln w="9525">
            <a:solidFill>
              <a:srgbClr val="E2BA52">
                <a:alpha val="50000"/>
              </a:srgbClr>
            </a:solidFill>
            <a:prstDash val="solid"/>
          </a:ln>
        </p:spPr>
      </p:sp>
      <p:sp>
        <p:nvSpPr>
          <p:cNvPr id="12" name="!!gnum2"/>
          <p:cNvSpPr txBox="1"/>
          <p:nvPr/>
        </p:nvSpPr>
        <p:spPr>
          <a:xfrm>
            <a:off x="11091672" y="3236976"/>
            <a:ext cx="402336" cy="402336"/>
          </a:xfrm>
          <a:prstGeom prst="ellipse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0A0E1A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!!gt2"/>
          <p:cNvSpPr txBox="1"/>
          <p:nvPr/>
        </p:nvSpPr>
        <p:spPr>
          <a:xfrm>
            <a:off x="8092440" y="31089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8C7E0"/>
                </a:solidFill>
              </a:rPr>
              <a:t>تقليل التدخل البشري</a:t>
            </a:r>
            <a:endParaRPr lang="ar-SA" sz="1400" dirty="0"/>
          </a:p>
        </p:txBody>
      </p:sp>
      <p:sp>
        <p:nvSpPr>
          <p:cNvPr id="14" name="!!gbox3"/>
          <p:cNvSpPr/>
          <p:nvPr/>
        </p:nvSpPr>
        <p:spPr>
          <a:xfrm>
            <a:off x="8001000" y="3886200"/>
            <a:ext cx="3639312" cy="658368"/>
          </a:xfrm>
          <a:prstGeom prst="roundRect">
            <a:avLst>
              <a:gd name="adj" fmla="val 16667"/>
            </a:avLst>
          </a:prstGeom>
          <a:solidFill>
            <a:srgbClr val="0B1426">
              <a:alpha val="80000"/>
            </a:srgbClr>
          </a:solidFill>
          <a:ln w="9525">
            <a:solidFill>
              <a:srgbClr val="E2BA52">
                <a:alpha val="50000"/>
              </a:srgbClr>
            </a:solidFill>
            <a:prstDash val="solid"/>
          </a:ln>
        </p:spPr>
      </p:sp>
      <p:sp>
        <p:nvSpPr>
          <p:cNvPr id="15" name="!!gnum3"/>
          <p:cNvSpPr txBox="1"/>
          <p:nvPr/>
        </p:nvSpPr>
        <p:spPr>
          <a:xfrm>
            <a:off x="11091672" y="4014216"/>
            <a:ext cx="402336" cy="402336"/>
          </a:xfrm>
          <a:prstGeom prst="ellipse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0A0E1A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!!gt3"/>
          <p:cNvSpPr txBox="1"/>
          <p:nvPr/>
        </p:nvSpPr>
        <p:spPr>
          <a:xfrm>
            <a:off x="8092440" y="38862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B8C7E0"/>
                </a:solidFill>
              </a:rPr>
              <a:t>التعرف على لوحات المركبات</a:t>
            </a:r>
            <a:endParaRPr lang="ar-SA" sz="1400" dirty="0"/>
          </a:p>
        </p:txBody>
      </p:sp>
      <p:sp>
        <p:nvSpPr>
          <p:cNvPr id="17" name="!!gbox4"/>
          <p:cNvSpPr/>
          <p:nvPr/>
        </p:nvSpPr>
        <p:spPr>
          <a:xfrm>
            <a:off x="8001000" y="4663440"/>
            <a:ext cx="3639312" cy="658368"/>
          </a:xfrm>
          <a:prstGeom prst="roundRect">
            <a:avLst>
              <a:gd name="adj" fmla="val 16667"/>
            </a:avLst>
          </a:prstGeom>
          <a:solidFill>
            <a:srgbClr val="E2BA52"/>
          </a:solidFill>
          <a:ln w="12700">
            <a:solidFill>
              <a:srgbClr val="E2BA52"/>
            </a:solidFill>
            <a:prstDash val="solid"/>
          </a:ln>
        </p:spPr>
      </p:sp>
      <p:sp>
        <p:nvSpPr>
          <p:cNvPr id="18" name="!!gnum4"/>
          <p:cNvSpPr txBox="1"/>
          <p:nvPr/>
        </p:nvSpPr>
        <p:spPr>
          <a:xfrm>
            <a:off x="11091672" y="4791456"/>
            <a:ext cx="402336" cy="402336"/>
          </a:xfrm>
          <a:prstGeom prst="ellipse">
            <a:avLst/>
          </a:prstGeom>
          <a:solidFill>
            <a:srgbClr val="0A0E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E2BA52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!!gt4"/>
          <p:cNvSpPr txBox="1"/>
          <p:nvPr/>
        </p:nvSpPr>
        <p:spPr>
          <a:xfrm>
            <a:off x="8092440" y="46634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0A0E1A"/>
                </a:solidFill>
              </a:rPr>
              <a:t>ربط المخالفات ببيانات المالكين</a:t>
            </a:r>
            <a:endParaRPr lang="ar-SA" sz="1400" dirty="0"/>
          </a:p>
        </p:txBody>
      </p:sp>
      <p:sp>
        <p:nvSpPr>
          <p:cNvPr id="20" name="!!gbox5"/>
          <p:cNvSpPr/>
          <p:nvPr/>
        </p:nvSpPr>
        <p:spPr>
          <a:xfrm>
            <a:off x="8001000" y="5440680"/>
            <a:ext cx="3639312" cy="658368"/>
          </a:xfrm>
          <a:prstGeom prst="roundRect">
            <a:avLst>
              <a:gd name="adj" fmla="val 16667"/>
            </a:avLst>
          </a:prstGeom>
          <a:solidFill>
            <a:srgbClr val="E2BA52"/>
          </a:solidFill>
          <a:ln w="12700">
            <a:solidFill>
              <a:srgbClr val="E2BA52"/>
            </a:solidFill>
            <a:prstDash val="solid"/>
          </a:ln>
        </p:spPr>
      </p:sp>
      <p:sp>
        <p:nvSpPr>
          <p:cNvPr id="21" name="!!gnum5"/>
          <p:cNvSpPr txBox="1"/>
          <p:nvPr/>
        </p:nvSpPr>
        <p:spPr>
          <a:xfrm>
            <a:off x="11091672" y="5568696"/>
            <a:ext cx="402336" cy="402336"/>
          </a:xfrm>
          <a:prstGeom prst="ellipse">
            <a:avLst/>
          </a:prstGeom>
          <a:solidFill>
            <a:srgbClr val="0A0E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E2BA52"/>
                </a:solidFill>
              </a:rPr>
              <a:t>6</a:t>
            </a:r>
            <a:endParaRPr lang="en-US" sz="1400" dirty="0"/>
          </a:p>
        </p:txBody>
      </p:sp>
      <p:sp>
        <p:nvSpPr>
          <p:cNvPr id="22" name="!!gt5"/>
          <p:cNvSpPr txBox="1"/>
          <p:nvPr/>
        </p:nvSpPr>
        <p:spPr>
          <a:xfrm>
            <a:off x="8092440" y="54406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0A0E1A"/>
                </a:solidFill>
              </a:rPr>
              <a:t>إدارة المخالفات والتقارير</a:t>
            </a:r>
            <a:endParaRPr lang="ar-SA" sz="1400" dirty="0"/>
          </a:p>
        </p:txBody>
      </p:sp>
      <p:sp>
        <p:nvSpPr>
          <p:cNvPr id="23" name="!!dcard0"/>
          <p:cNvSpPr/>
          <p:nvPr/>
        </p:nvSpPr>
        <p:spPr>
          <a:xfrm>
            <a:off x="548640" y="1554480"/>
            <a:ext cx="7178040" cy="2194560"/>
          </a:xfrm>
          <a:prstGeom prst="roundRect">
            <a:avLst>
              <a:gd name="adj" fmla="val 5833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24" name="!!dnum0"/>
          <p:cNvSpPr txBox="1"/>
          <p:nvPr/>
        </p:nvSpPr>
        <p:spPr>
          <a:xfrm>
            <a:off x="6537960" y="17373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4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4000" dirty="0"/>
          </a:p>
        </p:txBody>
      </p:sp>
      <p:pic>
        <p:nvPicPr>
          <p:cNvPr id="25" name="fx1|d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697480"/>
            <a:ext cx="457200" cy="457200"/>
          </a:xfrm>
          <a:prstGeom prst="rect">
            <a:avLst/>
          </a:prstGeom>
        </p:spPr>
      </p:pic>
      <p:sp>
        <p:nvSpPr>
          <p:cNvPr id="26" name="!!dt0"/>
          <p:cNvSpPr txBox="1"/>
          <p:nvPr/>
        </p:nvSpPr>
        <p:spPr>
          <a:xfrm>
            <a:off x="777240" y="1737360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</a:rPr>
              <a:t>ربط المخالفات ببيانات المالكين</a:t>
            </a:r>
            <a:endParaRPr lang="ar-SA" sz="2200" dirty="0"/>
          </a:p>
        </p:txBody>
      </p:sp>
      <p:sp>
        <p:nvSpPr>
          <p:cNvPr id="27" name="fx1|dbul"/>
          <p:cNvSpPr txBox="1"/>
          <p:nvPr/>
        </p:nvSpPr>
        <p:spPr>
          <a:xfrm>
            <a:off x="777240" y="2377440"/>
            <a:ext cx="5623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قاعدة بيانات مركزية للمركبات ومالكيها</a:t>
            </a:r>
            <a:endParaRPr lang="ar-SA" sz="15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ربطها بنظام التعرف الآلي على اللوحات لربط المخالفة بالمالك تلقائياً</a:t>
            </a:r>
            <a:endParaRPr lang="ar-SA" sz="1500" dirty="0"/>
          </a:p>
        </p:txBody>
      </p:sp>
      <p:sp>
        <p:nvSpPr>
          <p:cNvPr id="28" name="!!dcard1"/>
          <p:cNvSpPr/>
          <p:nvPr/>
        </p:nvSpPr>
        <p:spPr>
          <a:xfrm>
            <a:off x="548640" y="3931920"/>
            <a:ext cx="7178040" cy="2194560"/>
          </a:xfrm>
          <a:prstGeom prst="roundRect">
            <a:avLst>
              <a:gd name="adj" fmla="val 5833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29" name="!!dnum1"/>
          <p:cNvSpPr txBox="1"/>
          <p:nvPr/>
        </p:nvSpPr>
        <p:spPr>
          <a:xfrm>
            <a:off x="6537960" y="41148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4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4000" dirty="0"/>
          </a:p>
        </p:txBody>
      </p:sp>
      <p:pic>
        <p:nvPicPr>
          <p:cNvPr id="30" name="fx3|d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5074920"/>
            <a:ext cx="457200" cy="457200"/>
          </a:xfrm>
          <a:prstGeom prst="rect">
            <a:avLst/>
          </a:prstGeom>
        </p:spPr>
      </p:pic>
      <p:sp>
        <p:nvSpPr>
          <p:cNvPr id="31" name="!!dt1"/>
          <p:cNvSpPr txBox="1"/>
          <p:nvPr/>
        </p:nvSpPr>
        <p:spPr>
          <a:xfrm>
            <a:off x="777240" y="4114800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</a:rPr>
              <a:t>إدارة المخالفات والتقارير</a:t>
            </a:r>
            <a:endParaRPr lang="ar-SA" sz="2200" dirty="0"/>
          </a:p>
        </p:txBody>
      </p:sp>
      <p:sp>
        <p:nvSpPr>
          <p:cNvPr id="32" name="fx3|dbul"/>
          <p:cNvSpPr txBox="1"/>
          <p:nvPr/>
        </p:nvSpPr>
        <p:spPr>
          <a:xfrm>
            <a:off x="777240" y="4754880"/>
            <a:ext cx="5623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تطبيق ولوحة تحكم لإدارة المستخدمين والأجهزة والمواقع والسرعات والمخالفات</a:t>
            </a:r>
            <a:endParaRPr lang="ar-SA" sz="15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تقارير وإحصائيات تدعم اتخاذ القرار لتحسين السلامة المرورية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x0@move(0,-0.09,1500)|bar top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fx0@move(0,0.09,1500)|bar bottom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fx1|scene"/>
          <p:cNvSpPr txBox="1"/>
          <p:nvPr/>
        </p:nvSpPr>
        <p:spPr>
          <a:xfrm>
            <a:off x="548640" y="658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 03  •  TEAM 03</a:t>
            </a:r>
            <a:endParaRPr lang="en-US" sz="1300" dirty="0"/>
          </a:p>
        </p:txBody>
      </p:sp>
      <p:sp>
        <p:nvSpPr>
          <p:cNvPr id="5" name="fx1|kicker"/>
          <p:cNvSpPr txBox="1"/>
          <p:nvPr/>
        </p:nvSpPr>
        <p:spPr>
          <a:xfrm>
            <a:off x="5760720" y="658368"/>
            <a:ext cx="5879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4"/>
                </a:solidFill>
              </a:rPr>
              <a:t>IDENTITY VERIFIED  •  تم التعرّف على العضو</a:t>
            </a:r>
            <a:endParaRPr lang="ar-SA" sz="1400" dirty="0"/>
          </a:p>
        </p:txBody>
      </p:sp>
      <p:sp>
        <p:nvSpPr>
          <p:cNvPr id="6" name="Photo frame"/>
          <p:cNvSpPr/>
          <p:nvPr/>
        </p:nvSpPr>
        <p:spPr>
          <a:xfrm>
            <a:off x="777240" y="1188720"/>
            <a:ext cx="4297680" cy="4297680"/>
          </a:xfrm>
          <a:prstGeom prst="rect">
            <a:avLst/>
          </a:prstGeom>
          <a:solidFill>
            <a:srgbClr val="05070C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304800" dist="50800" dir="16200000">
              <a:srgbClr val="10B981">
                <a:alpha val="45000"/>
              </a:srgbClr>
            </a:outerShdw>
          </a:effectLst>
        </p:spPr>
      </p:sp>
      <p:pic>
        <p:nvPicPr>
          <p:cNvPr id="7" name="fx1@zoom|photo s3" descr="برهان الزم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4206240" cy="4206240"/>
          </a:xfrm>
          <a:prstGeom prst="rect">
            <a:avLst/>
          </a:prstGeom>
        </p:spPr>
      </p:pic>
      <p:sp>
        <p:nvSpPr>
          <p:cNvPr id="8" name="fx2|brackets h0"/>
          <p:cNvSpPr/>
          <p:nvPr/>
        </p:nvSpPr>
        <p:spPr>
          <a:xfrm>
            <a:off x="594360" y="1005840"/>
            <a:ext cx="32004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9" name="fx2|brackets v0"/>
          <p:cNvSpPr/>
          <p:nvPr/>
        </p:nvSpPr>
        <p:spPr>
          <a:xfrm>
            <a:off x="594360" y="1005840"/>
            <a:ext cx="0" cy="32004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10" name="fx2|brackets h1"/>
          <p:cNvSpPr/>
          <p:nvPr/>
        </p:nvSpPr>
        <p:spPr>
          <a:xfrm>
            <a:off x="4937760" y="1005840"/>
            <a:ext cx="32004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11" name="fx2|brackets v1"/>
          <p:cNvSpPr/>
          <p:nvPr/>
        </p:nvSpPr>
        <p:spPr>
          <a:xfrm>
            <a:off x="5257800" y="1005840"/>
            <a:ext cx="0" cy="32004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12" name="fx2|brackets h2"/>
          <p:cNvSpPr/>
          <p:nvPr/>
        </p:nvSpPr>
        <p:spPr>
          <a:xfrm>
            <a:off x="594360" y="5669280"/>
            <a:ext cx="32004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13" name="fx2|brackets v2"/>
          <p:cNvSpPr/>
          <p:nvPr/>
        </p:nvSpPr>
        <p:spPr>
          <a:xfrm>
            <a:off x="594360" y="5349240"/>
            <a:ext cx="0" cy="32004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14" name="fx2|brackets h3"/>
          <p:cNvSpPr/>
          <p:nvPr/>
        </p:nvSpPr>
        <p:spPr>
          <a:xfrm>
            <a:off x="4937760" y="5669280"/>
            <a:ext cx="32004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15" name="fx2|brackets v3"/>
          <p:cNvSpPr/>
          <p:nvPr/>
        </p:nvSpPr>
        <p:spPr>
          <a:xfrm>
            <a:off x="5257800" y="5349240"/>
            <a:ext cx="0" cy="32004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pic>
        <p:nvPicPr>
          <p:cNvPr id="16" name="fx2@move(0,0.6,1800)|scan" descr="img/scan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4206240" cy="457200"/>
          </a:xfrm>
          <a:prstGeom prst="rect">
            <a:avLst/>
          </a:prstGeom>
        </p:spPr>
      </p:pic>
      <p:sp>
        <p:nvSpPr>
          <p:cNvPr id="17" name="fx4@zoom|face box"/>
          <p:cNvSpPr/>
          <p:nvPr/>
        </p:nvSpPr>
        <p:spPr>
          <a:xfrm>
            <a:off x="1664208" y="1486814"/>
            <a:ext cx="2523744" cy="2944368"/>
          </a:xfrm>
          <a:prstGeom prst="rect">
            <a:avLst/>
          </a:prstGeom>
          <a:solidFill>
            <a:srgbClr val="10B981">
              <a:alpha val="0"/>
            </a:srgbClr>
          </a:solidFill>
          <a:ln w="31750">
            <a:solidFill>
              <a:srgbClr val="10B981"/>
            </a:solidFill>
            <a:prstDash val="solid"/>
          </a:ln>
        </p:spPr>
      </p:sp>
      <p:sp>
        <p:nvSpPr>
          <p:cNvPr id="18" name="fx5@pop|face tag"/>
          <p:cNvSpPr txBox="1"/>
          <p:nvPr/>
        </p:nvSpPr>
        <p:spPr>
          <a:xfrm>
            <a:off x="1664208" y="1212494"/>
            <a:ext cx="2844333" cy="33467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 03  •  MATCH 0.99</a:t>
            </a:r>
            <a:endParaRPr lang="en-US" sz="1100" dirty="0"/>
          </a:p>
        </p:txBody>
      </p:sp>
      <p:sp>
        <p:nvSpPr>
          <p:cNvPr id="19" name="fx3|card#3d"/>
          <p:cNvSpPr/>
          <p:nvPr/>
        </p:nvSpPr>
        <p:spPr>
          <a:xfrm>
            <a:off x="5760720" y="1234440"/>
            <a:ext cx="5879592" cy="4709160"/>
          </a:xfrm>
          <a:prstGeom prst="roundRect">
            <a:avLst>
              <a:gd name="adj" fmla="val 2718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0" name="fx3|card head"/>
          <p:cNvSpPr txBox="1"/>
          <p:nvPr/>
        </p:nvSpPr>
        <p:spPr>
          <a:xfrm>
            <a:off x="5760720" y="1234440"/>
            <a:ext cx="5879592" cy="548640"/>
          </a:xfrm>
          <a:prstGeom prst="roundRect">
            <a:avLst>
              <a:gd name="adj" fmla="val 23333"/>
            </a:avLst>
          </a:prstGeom>
          <a:solidFill>
            <a:srgbClr val="10B981"/>
          </a:solidFill>
          <a:ln/>
        </p:spPr>
        <p:txBody>
          <a:bodyPr wrap="square" lIns="0" tIns="3810" rIns="3810" bIns="0" rtlCol="0" anchor="ctr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0A0E1A"/>
                </a:solidFill>
              </a:rPr>
              <a:t>بطاقة عضو الفريق</a:t>
            </a:r>
            <a:endParaRPr lang="ar-SA" sz="1700" dirty="0"/>
          </a:p>
        </p:txBody>
      </p:sp>
      <p:sp>
        <p:nvSpPr>
          <p:cNvPr id="21" name="fx3|card head en"/>
          <p:cNvSpPr txBox="1"/>
          <p:nvPr/>
        </p:nvSpPr>
        <p:spPr>
          <a:xfrm>
            <a:off x="6035040" y="13441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MEMBER ID</a:t>
            </a:r>
            <a:endParaRPr lang="en-US" sz="1200" dirty="0"/>
          </a:p>
        </p:txBody>
      </p:sp>
      <p:sp>
        <p:nvSpPr>
          <p:cNvPr id="22" name="fx6|lab1"/>
          <p:cNvSpPr txBox="1"/>
          <p:nvPr/>
        </p:nvSpPr>
        <p:spPr>
          <a:xfrm>
            <a:off x="6035040" y="196596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الاسم  •  Name</a:t>
            </a:r>
            <a:endParaRPr lang="ar-SA" sz="1200" dirty="0"/>
          </a:p>
        </p:txBody>
      </p:sp>
      <p:sp>
        <p:nvSpPr>
          <p:cNvPr id="23" name="fx6|name"/>
          <p:cNvSpPr txBox="1"/>
          <p:nvPr/>
        </p:nvSpPr>
        <p:spPr>
          <a:xfrm>
            <a:off x="6035040" y="2240280"/>
            <a:ext cx="5330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FFFFFF"/>
                </a:solidFill>
              </a:rPr>
              <a:t>برهان الزمر</a:t>
            </a:r>
            <a:endParaRPr lang="ar-SA" sz="2600" dirty="0"/>
          </a:p>
        </p:txBody>
      </p:sp>
      <p:sp>
        <p:nvSpPr>
          <p:cNvPr id="24" name="fx6|en"/>
          <p:cNvSpPr txBox="1"/>
          <p:nvPr/>
        </p:nvSpPr>
        <p:spPr>
          <a:xfrm>
            <a:off x="6035040" y="2743200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10B981"/>
                </a:solidFill>
              </a:rPr>
              <a:t>Burhan Al-Zumar</a:t>
            </a:r>
            <a:endParaRPr lang="en-US" sz="1300" dirty="0"/>
          </a:p>
        </p:txBody>
      </p:sp>
      <p:sp>
        <p:nvSpPr>
          <p:cNvPr id="25" name="fx7|lab2"/>
          <p:cNvSpPr txBox="1"/>
          <p:nvPr/>
        </p:nvSpPr>
        <p:spPr>
          <a:xfrm>
            <a:off x="6035040" y="32461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الجزء الذي يعرضه  •  Presenting</a:t>
            </a:r>
            <a:endParaRPr lang="ar-SA" sz="1200" dirty="0"/>
          </a:p>
        </p:txBody>
      </p:sp>
      <p:sp>
        <p:nvSpPr>
          <p:cNvPr id="26" name="fx8@pop|part#3d"/>
          <p:cNvSpPr txBox="1"/>
          <p:nvPr/>
        </p:nvSpPr>
        <p:spPr>
          <a:xfrm>
            <a:off x="6035040" y="3611880"/>
            <a:ext cx="5330952" cy="475488"/>
          </a:xfrm>
          <a:prstGeom prst="roundRect">
            <a:avLst>
              <a:gd name="adj" fmla="val 19231"/>
            </a:avLst>
          </a:prstGeom>
          <a:solidFill>
            <a:srgbClr val="0B1426"/>
          </a:solidFill>
          <a:ln w="12700">
            <a:solidFill>
              <a:srgbClr val="10B981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2540" rIns="254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منهجية البحث ونطاق المشروع</a:t>
            </a:r>
            <a:endParaRPr lang="ar-SA" sz="1700" dirty="0"/>
          </a:p>
        </p:txBody>
      </p:sp>
      <p:sp>
        <p:nvSpPr>
          <p:cNvPr id="27" name="fx9@pop|part#3d"/>
          <p:cNvSpPr txBox="1"/>
          <p:nvPr/>
        </p:nvSpPr>
        <p:spPr>
          <a:xfrm>
            <a:off x="6035040" y="4178808"/>
            <a:ext cx="5330952" cy="475488"/>
          </a:xfrm>
          <a:prstGeom prst="roundRect">
            <a:avLst>
              <a:gd name="adj" fmla="val 19231"/>
            </a:avLst>
          </a:prstGeom>
          <a:solidFill>
            <a:srgbClr val="0B1426"/>
          </a:solidFill>
          <a:ln w="12700">
            <a:solidFill>
              <a:srgbClr val="10B981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2540" rIns="254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الأساسيات النظرية</a:t>
            </a:r>
            <a:endParaRPr lang="ar-SA" sz="1700" dirty="0"/>
          </a:p>
        </p:txBody>
      </p:sp>
      <p:sp>
        <p:nvSpPr>
          <p:cNvPr id="28" name="fx10@pop|plate#3d"/>
          <p:cNvSpPr txBox="1"/>
          <p:nvPr/>
        </p:nvSpPr>
        <p:spPr>
          <a:xfrm>
            <a:off x="6035040" y="5047488"/>
            <a:ext cx="2286000" cy="694944"/>
          </a:xfrm>
          <a:prstGeom prst="roundRect">
            <a:avLst>
              <a:gd name="adj" fmla="val 7895"/>
            </a:avLst>
          </a:prstGeom>
          <a:solidFill>
            <a:srgbClr val="F5F5F0"/>
          </a:solidFill>
          <a:ln w="25400">
            <a:solidFill>
              <a:srgbClr val="111111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03</a:t>
            </a:r>
            <a:endParaRPr lang="en-US" sz="24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333333"/>
                </a:solidFill>
              </a:rPr>
              <a:t>YEMEN  •  اليمن</a:t>
            </a:r>
            <a:endParaRPr lang="en-US" sz="2400" dirty="0"/>
          </a:p>
        </p:txBody>
      </p:sp>
      <p:sp>
        <p:nvSpPr>
          <p:cNvPr id="29" name="fx10|code"/>
          <p:cNvSpPr txBox="1"/>
          <p:nvPr/>
        </p:nvSpPr>
        <p:spPr>
          <a:xfrm>
            <a:off x="9262872" y="5257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UST-IBB  •  2026</a:t>
            </a:r>
            <a:endParaRPr lang="en-US" sz="1200" dirty="0"/>
          </a:p>
        </p:txBody>
      </p:sp>
      <p:sp>
        <p:nvSpPr>
          <p:cNvPr id="31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2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 -0.09 E" pathEditMode="relative" ptsTypes="AA">
                                      <p:cBhvr>
                                        <p:cTn id="6" dur="1500" accel="20000" decel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 0.09 E" pathEditMode="relative" ptsTypes="AA">
                                      <p:cBhvr>
                                        <p:cTn id="8" dur="1500" accel="20000" decel="3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0" presetClass="path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animMotion origin="layout" path="M 0 0 L 0 0.6 E" pathEditMode="relative" ptsTypes="AA">
                                      <p:cBhvr>
                                        <p:cTn id="55" dur="1800" accel="20000" decel="3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3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3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3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3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3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3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برهان الزمر  •  المنهجية 1 / 3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منهجية البحث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Applied Approach  •  Requirements Analysis</a:t>
            </a:r>
            <a:endParaRPr lang="en-US" sz="1500" dirty="0"/>
          </a:p>
        </p:txBody>
      </p:sp>
      <p:sp>
        <p:nvSpPr>
          <p:cNvPr id="5" name="fx0|card#3d"/>
          <p:cNvSpPr/>
          <p:nvPr/>
        </p:nvSpPr>
        <p:spPr>
          <a:xfrm>
            <a:off x="6263640" y="1508760"/>
            <a:ext cx="5376672" cy="3291840"/>
          </a:xfrm>
          <a:prstGeom prst="roundRect">
            <a:avLst>
              <a:gd name="adj" fmla="val 3889"/>
            </a:avLst>
          </a:prstGeom>
          <a:solidFill>
            <a:schemeClr val="tx2">
              <a:alpha val="86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6" name="fx0|ic bg#3d"/>
          <p:cNvSpPr/>
          <p:nvPr/>
        </p:nvSpPr>
        <p:spPr>
          <a:xfrm>
            <a:off x="10863072" y="1664208"/>
            <a:ext cx="603504" cy="60350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7" name="fx0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3948" y="1815084"/>
            <a:ext cx="301752" cy="301752"/>
          </a:xfrm>
          <a:prstGeom prst="rect">
            <a:avLst/>
          </a:prstGeom>
        </p:spPr>
      </p:pic>
      <p:sp>
        <p:nvSpPr>
          <p:cNvPr id="8" name="fx0|head"/>
          <p:cNvSpPr txBox="1"/>
          <p:nvPr/>
        </p:nvSpPr>
        <p:spPr>
          <a:xfrm>
            <a:off x="6446520" y="1618488"/>
            <a:ext cx="4279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المنهج التطبيقي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10B981"/>
                </a:solidFill>
              </a:rPr>
              <a:t>Applied Analysis</a:t>
            </a:r>
            <a:endParaRPr lang="ar-SA" sz="1800" dirty="0"/>
          </a:p>
        </p:txBody>
      </p:sp>
      <p:sp>
        <p:nvSpPr>
          <p:cNvPr id="9" name="fx1|items"/>
          <p:cNvSpPr txBox="1"/>
          <p:nvPr/>
        </p:nvSpPr>
        <p:spPr>
          <a:xfrm>
            <a:off x="6492240" y="2423160"/>
            <a:ext cx="49194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دراسة مشكلة تجاوز السرعة والحاجة إلى نظام ذكي لرصد المخالفات</a:t>
            </a:r>
            <a:endParaRPr lang="ar-SA" sz="14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تصميم وتطوير حل بالذكاء الاصطناعي والرؤية الحاسوبية باستخدام كاميرا الهاتف</a:t>
            </a:r>
            <a:endParaRPr lang="ar-SA" sz="14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الوصول إلى نموذج عملي قابل للتطبيق</a:t>
            </a:r>
            <a:endParaRPr lang="ar-SA" sz="1400" dirty="0"/>
          </a:p>
        </p:txBody>
      </p:sp>
      <p:sp>
        <p:nvSpPr>
          <p:cNvPr id="10" name="fx2|card#3d"/>
          <p:cNvSpPr/>
          <p:nvPr/>
        </p:nvSpPr>
        <p:spPr>
          <a:xfrm>
            <a:off x="548640" y="1508760"/>
            <a:ext cx="5486400" cy="3291840"/>
          </a:xfrm>
          <a:prstGeom prst="roundRect">
            <a:avLst>
              <a:gd name="adj" fmla="val 3889"/>
            </a:avLst>
          </a:prstGeom>
          <a:solidFill>
            <a:schemeClr val="tx2">
              <a:alpha val="86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1" name="fx2|ic bg#3d"/>
          <p:cNvSpPr/>
          <p:nvPr/>
        </p:nvSpPr>
        <p:spPr>
          <a:xfrm>
            <a:off x="5257800" y="1664208"/>
            <a:ext cx="603504" cy="60350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2" name="fx2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6" y="1815084"/>
            <a:ext cx="301752" cy="301752"/>
          </a:xfrm>
          <a:prstGeom prst="rect">
            <a:avLst/>
          </a:prstGeom>
        </p:spPr>
      </p:pic>
      <p:sp>
        <p:nvSpPr>
          <p:cNvPr id="13" name="fx2|head"/>
          <p:cNvSpPr txBox="1"/>
          <p:nvPr/>
        </p:nvSpPr>
        <p:spPr>
          <a:xfrm>
            <a:off x="731520" y="161848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تحليل المتطلبات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Requirements Analysis</a:t>
            </a:r>
            <a:endParaRPr lang="ar-SA" sz="1800" dirty="0"/>
          </a:p>
        </p:txBody>
      </p:sp>
      <p:sp>
        <p:nvSpPr>
          <p:cNvPr id="14" name="fx3|items"/>
          <p:cNvSpPr txBox="1"/>
          <p:nvPr/>
        </p:nvSpPr>
        <p:spPr>
          <a:xfrm>
            <a:off x="777240" y="242316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دخول المستخدمين المصرّح لهم وإدارة صلاحياتهم</a:t>
            </a:r>
            <a:endParaRPr lang="ar-SA" sz="14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ربط كل جهاز بموقعه والسرعة القانونية لذلك الموقع</a:t>
            </a:r>
            <a:endParaRPr lang="ar-SA" sz="14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قاعدة بيانات للمركبات ومالكيها</a:t>
            </a:r>
            <a:endParaRPr lang="ar-SA" sz="14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توثيق المخالفة بالأدلة وإرسالها للخادم المركزي</a:t>
            </a:r>
            <a:endParaRPr lang="ar-SA" sz="1400" dirty="0"/>
          </a:p>
        </p:txBody>
      </p:sp>
      <p:sp>
        <p:nvSpPr>
          <p:cNvPr id="15" name="!!aghead"/>
          <p:cNvSpPr txBox="1"/>
          <p:nvPr/>
        </p:nvSpPr>
        <p:spPr>
          <a:xfrm>
            <a:off x="548640" y="4956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B8C7E0"/>
                </a:solidFill>
              </a:rPr>
              <a:t>منهجية Agile — مراحل متتالية</a:t>
            </a:r>
            <a:endParaRPr lang="ar-SA" sz="1200" dirty="0"/>
          </a:p>
        </p:txBody>
      </p:sp>
      <p:sp>
        <p:nvSpPr>
          <p:cNvPr id="16" name="!!ag0"/>
          <p:cNvSpPr/>
          <p:nvPr/>
        </p:nvSpPr>
        <p:spPr>
          <a:xfrm>
            <a:off x="9933127" y="5303520"/>
            <a:ext cx="1709928" cy="896112"/>
          </a:xfrm>
          <a:prstGeom prst="roundRect">
            <a:avLst>
              <a:gd name="adj" fmla="val 122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7" name="!!agi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2643" y="5394960"/>
            <a:ext cx="310896" cy="310896"/>
          </a:xfrm>
          <a:prstGeom prst="rect">
            <a:avLst/>
          </a:prstGeom>
        </p:spPr>
      </p:pic>
      <p:sp>
        <p:nvSpPr>
          <p:cNvPr id="18" name="!!agt0"/>
          <p:cNvSpPr txBox="1"/>
          <p:nvPr/>
        </p:nvSpPr>
        <p:spPr>
          <a:xfrm>
            <a:off x="9978847" y="57424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0A0E1A"/>
                </a:solidFill>
              </a:rPr>
              <a:t>تحليل المتطلبات</a:t>
            </a:r>
            <a:endParaRPr lang="ar-SA" sz="1200" dirty="0"/>
          </a:p>
        </p:txBody>
      </p:sp>
      <p:sp>
        <p:nvSpPr>
          <p:cNvPr id="19" name="!!aga0"/>
          <p:cNvSpPr/>
          <p:nvPr/>
        </p:nvSpPr>
        <p:spPr>
          <a:xfrm>
            <a:off x="9777679" y="5641848"/>
            <a:ext cx="137160" cy="219456"/>
          </a:xfrm>
          <a:prstGeom prst="lef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!!ag1"/>
          <p:cNvSpPr/>
          <p:nvPr/>
        </p:nvSpPr>
        <p:spPr>
          <a:xfrm>
            <a:off x="8056778" y="5303520"/>
            <a:ext cx="1709928" cy="896112"/>
          </a:xfrm>
          <a:prstGeom prst="roundRect">
            <a:avLst>
              <a:gd name="adj" fmla="val 12245"/>
            </a:avLst>
          </a:prstGeom>
          <a:solidFill>
            <a:srgbClr val="0B1426">
              <a:alpha val="8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21" name="!!agi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6294" y="5394960"/>
            <a:ext cx="310896" cy="310896"/>
          </a:xfrm>
          <a:prstGeom prst="rect">
            <a:avLst/>
          </a:prstGeom>
        </p:spPr>
      </p:pic>
      <p:sp>
        <p:nvSpPr>
          <p:cNvPr id="22" name="!!agt1"/>
          <p:cNvSpPr txBox="1"/>
          <p:nvPr/>
        </p:nvSpPr>
        <p:spPr>
          <a:xfrm>
            <a:off x="8102498" y="57424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</a:rPr>
              <a:t>تصميم النظام</a:t>
            </a:r>
            <a:endParaRPr lang="ar-SA" sz="1200" dirty="0"/>
          </a:p>
        </p:txBody>
      </p:sp>
      <p:sp>
        <p:nvSpPr>
          <p:cNvPr id="23" name="!!aga1"/>
          <p:cNvSpPr/>
          <p:nvPr/>
        </p:nvSpPr>
        <p:spPr>
          <a:xfrm>
            <a:off x="7901330" y="5641848"/>
            <a:ext cx="137160" cy="219456"/>
          </a:xfrm>
          <a:prstGeom prst="lef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!!ag2"/>
          <p:cNvSpPr/>
          <p:nvPr/>
        </p:nvSpPr>
        <p:spPr>
          <a:xfrm>
            <a:off x="6180430" y="5303520"/>
            <a:ext cx="1709928" cy="896112"/>
          </a:xfrm>
          <a:prstGeom prst="roundRect">
            <a:avLst>
              <a:gd name="adj" fmla="val 12245"/>
            </a:avLst>
          </a:prstGeom>
          <a:solidFill>
            <a:srgbClr val="0B1426">
              <a:alpha val="8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25" name="!!agi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9946" y="5394960"/>
            <a:ext cx="310896" cy="310896"/>
          </a:xfrm>
          <a:prstGeom prst="rect">
            <a:avLst/>
          </a:prstGeom>
        </p:spPr>
      </p:pic>
      <p:sp>
        <p:nvSpPr>
          <p:cNvPr id="26" name="!!agt2"/>
          <p:cNvSpPr txBox="1"/>
          <p:nvPr/>
        </p:nvSpPr>
        <p:spPr>
          <a:xfrm>
            <a:off x="6226150" y="57424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</a:rPr>
              <a:t>تطوير المكونات</a:t>
            </a:r>
            <a:endParaRPr lang="ar-SA" sz="1200" dirty="0"/>
          </a:p>
        </p:txBody>
      </p:sp>
      <p:sp>
        <p:nvSpPr>
          <p:cNvPr id="27" name="!!aga2"/>
          <p:cNvSpPr/>
          <p:nvPr/>
        </p:nvSpPr>
        <p:spPr>
          <a:xfrm>
            <a:off x="6024982" y="5641848"/>
            <a:ext cx="137160" cy="219456"/>
          </a:xfrm>
          <a:prstGeom prst="lef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!!ag3"/>
          <p:cNvSpPr/>
          <p:nvPr/>
        </p:nvSpPr>
        <p:spPr>
          <a:xfrm>
            <a:off x="4304081" y="5303520"/>
            <a:ext cx="1709928" cy="896112"/>
          </a:xfrm>
          <a:prstGeom prst="roundRect">
            <a:avLst>
              <a:gd name="adj" fmla="val 12245"/>
            </a:avLst>
          </a:prstGeom>
          <a:solidFill>
            <a:srgbClr val="0B1426">
              <a:alpha val="8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29" name="!!agi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3597" y="5394960"/>
            <a:ext cx="310896" cy="310896"/>
          </a:xfrm>
          <a:prstGeom prst="rect">
            <a:avLst/>
          </a:prstGeom>
        </p:spPr>
      </p:pic>
      <p:sp>
        <p:nvSpPr>
          <p:cNvPr id="30" name="!!agt3"/>
          <p:cNvSpPr txBox="1"/>
          <p:nvPr/>
        </p:nvSpPr>
        <p:spPr>
          <a:xfrm>
            <a:off x="4349801" y="57424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</a:rPr>
              <a:t>دمج المكونات</a:t>
            </a:r>
            <a:endParaRPr lang="ar-SA" sz="1200" dirty="0"/>
          </a:p>
        </p:txBody>
      </p:sp>
      <p:sp>
        <p:nvSpPr>
          <p:cNvPr id="31" name="!!aga3"/>
          <p:cNvSpPr/>
          <p:nvPr/>
        </p:nvSpPr>
        <p:spPr>
          <a:xfrm>
            <a:off x="4148633" y="5641848"/>
            <a:ext cx="137160" cy="219456"/>
          </a:xfrm>
          <a:prstGeom prst="lef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!!ag4"/>
          <p:cNvSpPr/>
          <p:nvPr/>
        </p:nvSpPr>
        <p:spPr>
          <a:xfrm>
            <a:off x="2427732" y="5303520"/>
            <a:ext cx="1709928" cy="896112"/>
          </a:xfrm>
          <a:prstGeom prst="roundRect">
            <a:avLst>
              <a:gd name="adj" fmla="val 12245"/>
            </a:avLst>
          </a:prstGeom>
          <a:solidFill>
            <a:srgbClr val="0B1426">
              <a:alpha val="8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33" name="!!agi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7248" y="5394960"/>
            <a:ext cx="310896" cy="310896"/>
          </a:xfrm>
          <a:prstGeom prst="rect">
            <a:avLst/>
          </a:prstGeom>
        </p:spPr>
      </p:pic>
      <p:sp>
        <p:nvSpPr>
          <p:cNvPr id="34" name="!!agt4"/>
          <p:cNvSpPr txBox="1"/>
          <p:nvPr/>
        </p:nvSpPr>
        <p:spPr>
          <a:xfrm>
            <a:off x="2473452" y="57424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</a:rPr>
              <a:t>الاختبار</a:t>
            </a:r>
            <a:endParaRPr lang="ar-SA" sz="1200" dirty="0"/>
          </a:p>
        </p:txBody>
      </p:sp>
      <p:sp>
        <p:nvSpPr>
          <p:cNvPr id="35" name="!!aga4"/>
          <p:cNvSpPr/>
          <p:nvPr/>
        </p:nvSpPr>
        <p:spPr>
          <a:xfrm>
            <a:off x="2272284" y="5641848"/>
            <a:ext cx="137160" cy="219456"/>
          </a:xfrm>
          <a:prstGeom prst="lef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!!ag5"/>
          <p:cNvSpPr/>
          <p:nvPr/>
        </p:nvSpPr>
        <p:spPr>
          <a:xfrm>
            <a:off x="551383" y="5303520"/>
            <a:ext cx="1709928" cy="896112"/>
          </a:xfrm>
          <a:prstGeom prst="roundRect">
            <a:avLst>
              <a:gd name="adj" fmla="val 12245"/>
            </a:avLst>
          </a:prstGeom>
          <a:solidFill>
            <a:srgbClr val="0B1426">
              <a:alpha val="8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37" name="!!agi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0899" y="5394960"/>
            <a:ext cx="310896" cy="310896"/>
          </a:xfrm>
          <a:prstGeom prst="rect">
            <a:avLst/>
          </a:prstGeom>
        </p:spPr>
      </p:pic>
      <p:sp>
        <p:nvSpPr>
          <p:cNvPr id="38" name="!!agt5"/>
          <p:cNvSpPr txBox="1"/>
          <p:nvPr/>
        </p:nvSpPr>
        <p:spPr>
          <a:xfrm>
            <a:off x="597103" y="57424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</a:rPr>
              <a:t>التحسين والتطوير</a:t>
            </a:r>
            <a:endParaRPr lang="ar-SA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برهان الزمر  •  المنهجية 2 / 3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منهجية البحث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Design &amp; Development  •  Testing &amp; Evaluation</a:t>
            </a:r>
            <a:endParaRPr lang="en-US" sz="1500" dirty="0"/>
          </a:p>
        </p:txBody>
      </p:sp>
      <p:sp>
        <p:nvSpPr>
          <p:cNvPr id="5" name="fx0|card#3d"/>
          <p:cNvSpPr/>
          <p:nvPr/>
        </p:nvSpPr>
        <p:spPr>
          <a:xfrm>
            <a:off x="6263640" y="1508760"/>
            <a:ext cx="5376672" cy="3291840"/>
          </a:xfrm>
          <a:prstGeom prst="roundRect">
            <a:avLst>
              <a:gd name="adj" fmla="val 3889"/>
            </a:avLst>
          </a:prstGeom>
          <a:solidFill>
            <a:schemeClr val="tx2">
              <a:alpha val="86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6" name="fx0|ic bg#3d"/>
          <p:cNvSpPr/>
          <p:nvPr/>
        </p:nvSpPr>
        <p:spPr>
          <a:xfrm>
            <a:off x="10863072" y="1664208"/>
            <a:ext cx="603504" cy="60350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7" name="fx0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3948" y="1815084"/>
            <a:ext cx="301752" cy="301752"/>
          </a:xfrm>
          <a:prstGeom prst="rect">
            <a:avLst/>
          </a:prstGeom>
        </p:spPr>
      </p:pic>
      <p:sp>
        <p:nvSpPr>
          <p:cNvPr id="8" name="fx0|head"/>
          <p:cNvSpPr txBox="1"/>
          <p:nvPr/>
        </p:nvSpPr>
        <p:spPr>
          <a:xfrm>
            <a:off x="6446520" y="1618488"/>
            <a:ext cx="4279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تصميم النظام وتطويره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10B981"/>
                </a:solidFill>
              </a:rPr>
              <a:t>Design &amp; Development</a:t>
            </a:r>
            <a:endParaRPr lang="ar-SA" sz="1800" dirty="0"/>
          </a:p>
        </p:txBody>
      </p:sp>
      <p:sp>
        <p:nvSpPr>
          <p:cNvPr id="9" name="fx1|items"/>
          <p:cNvSpPr txBox="1"/>
          <p:nvPr/>
        </p:nvSpPr>
        <p:spPr>
          <a:xfrm>
            <a:off x="6492240" y="2423160"/>
            <a:ext cx="49194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تصميم النظام ومكوناته</a:t>
            </a:r>
            <a:endParaRPr lang="ar-SA" sz="14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تطوير المكونات: التطبيق، الذكاء الاصطناعي، الخادم، قاعدة البيانات</a:t>
            </a:r>
            <a:endParaRPr lang="ar-SA" sz="14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دمج المكونات في نظام واحد</a:t>
            </a:r>
            <a:endParaRPr lang="ar-SA" sz="14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التحسين والتطوير المستمر</a:t>
            </a:r>
            <a:endParaRPr lang="ar-SA" sz="1400" dirty="0"/>
          </a:p>
        </p:txBody>
      </p:sp>
      <p:sp>
        <p:nvSpPr>
          <p:cNvPr id="10" name="fx2|test card#3d"/>
          <p:cNvSpPr/>
          <p:nvPr/>
        </p:nvSpPr>
        <p:spPr>
          <a:xfrm>
            <a:off x="548640" y="1508760"/>
            <a:ext cx="5486400" cy="3291840"/>
          </a:xfrm>
          <a:prstGeom prst="roundRect">
            <a:avLst>
              <a:gd name="adj" fmla="val 3889"/>
            </a:avLst>
          </a:prstGeom>
          <a:solidFill>
            <a:schemeClr val="tx2">
              <a:alpha val="86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1" name="fx2|ic bg#3d"/>
          <p:cNvSpPr/>
          <p:nvPr/>
        </p:nvSpPr>
        <p:spPr>
          <a:xfrm>
            <a:off x="5257800" y="1664208"/>
            <a:ext cx="603504" cy="60350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2" name="fx2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6" y="1815084"/>
            <a:ext cx="301752" cy="301752"/>
          </a:xfrm>
          <a:prstGeom prst="rect">
            <a:avLst/>
          </a:prstGeom>
        </p:spPr>
      </p:pic>
      <p:sp>
        <p:nvSpPr>
          <p:cNvPr id="13" name="fx2|head"/>
          <p:cNvSpPr txBox="1"/>
          <p:nvPr/>
        </p:nvSpPr>
        <p:spPr>
          <a:xfrm>
            <a:off x="731520" y="161848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اختبار النظام وتقييمه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Testing &amp; Evaluation</a:t>
            </a:r>
            <a:endParaRPr lang="ar-SA" sz="1800" dirty="0"/>
          </a:p>
        </p:txBody>
      </p:sp>
      <p:sp>
        <p:nvSpPr>
          <p:cNvPr id="14" name="fx3@pop|n#3d"/>
          <p:cNvSpPr txBox="1"/>
          <p:nvPr/>
        </p:nvSpPr>
        <p:spPr>
          <a:xfrm>
            <a:off x="5468112" y="2523744"/>
            <a:ext cx="384048" cy="384048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fx3|t"/>
          <p:cNvSpPr txBox="1"/>
          <p:nvPr/>
        </p:nvSpPr>
        <p:spPr>
          <a:xfrm>
            <a:off x="731520" y="2468880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</a:rPr>
              <a:t>دقة اكتشاف المركبات وتتبعها</a:t>
            </a:r>
            <a:endParaRPr lang="ar-SA" sz="1400" dirty="0"/>
          </a:p>
        </p:txBody>
      </p:sp>
      <p:sp>
        <p:nvSpPr>
          <p:cNvPr id="16" name="fx4@pop|n#3d"/>
          <p:cNvSpPr txBox="1"/>
          <p:nvPr/>
        </p:nvSpPr>
        <p:spPr>
          <a:xfrm>
            <a:off x="5468112" y="3090672"/>
            <a:ext cx="384048" cy="384048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fx4|t"/>
          <p:cNvSpPr txBox="1"/>
          <p:nvPr/>
        </p:nvSpPr>
        <p:spPr>
          <a:xfrm>
            <a:off x="731520" y="3035808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</a:rPr>
              <a:t>حساب سرعة المركبات</a:t>
            </a:r>
            <a:endParaRPr lang="ar-SA" sz="1400" dirty="0"/>
          </a:p>
        </p:txBody>
      </p:sp>
      <p:sp>
        <p:nvSpPr>
          <p:cNvPr id="18" name="fx5@pop|n#3d"/>
          <p:cNvSpPr txBox="1"/>
          <p:nvPr/>
        </p:nvSpPr>
        <p:spPr>
          <a:xfrm>
            <a:off x="5468112" y="3657600"/>
            <a:ext cx="384048" cy="384048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fx5|t"/>
          <p:cNvSpPr txBox="1"/>
          <p:nvPr/>
        </p:nvSpPr>
        <p:spPr>
          <a:xfrm>
            <a:off x="731520" y="3602736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</a:rPr>
              <a:t>التعرف على أرقام اللوحات</a:t>
            </a:r>
            <a:endParaRPr lang="ar-SA" sz="1400" dirty="0"/>
          </a:p>
        </p:txBody>
      </p:sp>
      <p:sp>
        <p:nvSpPr>
          <p:cNvPr id="20" name="fx6@pop|n#3d"/>
          <p:cNvSpPr txBox="1"/>
          <p:nvPr/>
        </p:nvSpPr>
        <p:spPr>
          <a:xfrm>
            <a:off x="5468112" y="4224528"/>
            <a:ext cx="384048" cy="384048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fx6|t"/>
          <p:cNvSpPr txBox="1"/>
          <p:nvPr/>
        </p:nvSpPr>
        <p:spPr>
          <a:xfrm>
            <a:off x="731520" y="4169664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</a:rPr>
              <a:t>ربط المخالفات بقاعدة بيانات المركبات ومالكيها</a:t>
            </a:r>
            <a:endParaRPr lang="ar-SA" sz="1400" dirty="0"/>
          </a:p>
        </p:txBody>
      </p:sp>
      <p:sp>
        <p:nvSpPr>
          <p:cNvPr id="22" name="!!aghead"/>
          <p:cNvSpPr txBox="1"/>
          <p:nvPr/>
        </p:nvSpPr>
        <p:spPr>
          <a:xfrm>
            <a:off x="548640" y="4956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B8C7E0"/>
                </a:solidFill>
              </a:rPr>
              <a:t>منهجية Agile — مراحل متتالية</a:t>
            </a:r>
            <a:endParaRPr lang="ar-SA" sz="1200" dirty="0"/>
          </a:p>
        </p:txBody>
      </p:sp>
      <p:sp>
        <p:nvSpPr>
          <p:cNvPr id="23" name="!!ag0"/>
          <p:cNvSpPr/>
          <p:nvPr/>
        </p:nvSpPr>
        <p:spPr>
          <a:xfrm>
            <a:off x="9933127" y="5303520"/>
            <a:ext cx="1709928" cy="896112"/>
          </a:xfrm>
          <a:prstGeom prst="roundRect">
            <a:avLst>
              <a:gd name="adj" fmla="val 12245"/>
            </a:avLst>
          </a:prstGeom>
          <a:solidFill>
            <a:srgbClr val="0B1426">
              <a:alpha val="8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24" name="!!agi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2643" y="5394960"/>
            <a:ext cx="310896" cy="310896"/>
          </a:xfrm>
          <a:prstGeom prst="rect">
            <a:avLst/>
          </a:prstGeom>
        </p:spPr>
      </p:pic>
      <p:sp>
        <p:nvSpPr>
          <p:cNvPr id="25" name="!!agt0"/>
          <p:cNvSpPr txBox="1"/>
          <p:nvPr/>
        </p:nvSpPr>
        <p:spPr>
          <a:xfrm>
            <a:off x="9978847" y="57424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</a:rPr>
              <a:t>تحليل المتطلبات</a:t>
            </a:r>
            <a:endParaRPr lang="ar-SA" sz="1200" dirty="0"/>
          </a:p>
        </p:txBody>
      </p:sp>
      <p:sp>
        <p:nvSpPr>
          <p:cNvPr id="26" name="!!aga0"/>
          <p:cNvSpPr/>
          <p:nvPr/>
        </p:nvSpPr>
        <p:spPr>
          <a:xfrm>
            <a:off x="9777679" y="5641848"/>
            <a:ext cx="137160" cy="219456"/>
          </a:xfrm>
          <a:prstGeom prst="lef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!!ag1"/>
          <p:cNvSpPr/>
          <p:nvPr/>
        </p:nvSpPr>
        <p:spPr>
          <a:xfrm>
            <a:off x="8056778" y="5303520"/>
            <a:ext cx="1709928" cy="896112"/>
          </a:xfrm>
          <a:prstGeom prst="roundRect">
            <a:avLst>
              <a:gd name="adj" fmla="val 122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8" name="!!agi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6294" y="5394960"/>
            <a:ext cx="310896" cy="310896"/>
          </a:xfrm>
          <a:prstGeom prst="rect">
            <a:avLst/>
          </a:prstGeom>
        </p:spPr>
      </p:pic>
      <p:sp>
        <p:nvSpPr>
          <p:cNvPr id="29" name="!!agt1"/>
          <p:cNvSpPr txBox="1"/>
          <p:nvPr/>
        </p:nvSpPr>
        <p:spPr>
          <a:xfrm>
            <a:off x="8102498" y="57424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0A0E1A"/>
                </a:solidFill>
              </a:rPr>
              <a:t>تصميم النظام</a:t>
            </a:r>
            <a:endParaRPr lang="ar-SA" sz="1200" dirty="0"/>
          </a:p>
        </p:txBody>
      </p:sp>
      <p:sp>
        <p:nvSpPr>
          <p:cNvPr id="30" name="!!aga1"/>
          <p:cNvSpPr/>
          <p:nvPr/>
        </p:nvSpPr>
        <p:spPr>
          <a:xfrm>
            <a:off x="7901330" y="5641848"/>
            <a:ext cx="137160" cy="219456"/>
          </a:xfrm>
          <a:prstGeom prst="lef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!!ag2"/>
          <p:cNvSpPr/>
          <p:nvPr/>
        </p:nvSpPr>
        <p:spPr>
          <a:xfrm>
            <a:off x="6180430" y="5303520"/>
            <a:ext cx="1709928" cy="896112"/>
          </a:xfrm>
          <a:prstGeom prst="roundRect">
            <a:avLst>
              <a:gd name="adj" fmla="val 122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!!agi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9946" y="5394960"/>
            <a:ext cx="310896" cy="310896"/>
          </a:xfrm>
          <a:prstGeom prst="rect">
            <a:avLst/>
          </a:prstGeom>
        </p:spPr>
      </p:pic>
      <p:sp>
        <p:nvSpPr>
          <p:cNvPr id="33" name="!!agt2"/>
          <p:cNvSpPr txBox="1"/>
          <p:nvPr/>
        </p:nvSpPr>
        <p:spPr>
          <a:xfrm>
            <a:off x="6226150" y="57424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0A0E1A"/>
                </a:solidFill>
              </a:rPr>
              <a:t>تطوير المكونات</a:t>
            </a:r>
            <a:endParaRPr lang="ar-SA" sz="1200" dirty="0"/>
          </a:p>
        </p:txBody>
      </p:sp>
      <p:sp>
        <p:nvSpPr>
          <p:cNvPr id="34" name="!!aga2"/>
          <p:cNvSpPr/>
          <p:nvPr/>
        </p:nvSpPr>
        <p:spPr>
          <a:xfrm>
            <a:off x="6024982" y="5641848"/>
            <a:ext cx="137160" cy="219456"/>
          </a:xfrm>
          <a:prstGeom prst="lef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!!ag3"/>
          <p:cNvSpPr/>
          <p:nvPr/>
        </p:nvSpPr>
        <p:spPr>
          <a:xfrm>
            <a:off x="4304081" y="5303520"/>
            <a:ext cx="1709928" cy="896112"/>
          </a:xfrm>
          <a:prstGeom prst="roundRect">
            <a:avLst>
              <a:gd name="adj" fmla="val 122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6" name="!!agi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3597" y="5394960"/>
            <a:ext cx="310896" cy="310896"/>
          </a:xfrm>
          <a:prstGeom prst="rect">
            <a:avLst/>
          </a:prstGeom>
        </p:spPr>
      </p:pic>
      <p:sp>
        <p:nvSpPr>
          <p:cNvPr id="37" name="!!agt3"/>
          <p:cNvSpPr txBox="1"/>
          <p:nvPr/>
        </p:nvSpPr>
        <p:spPr>
          <a:xfrm>
            <a:off x="4349801" y="57424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0A0E1A"/>
                </a:solidFill>
              </a:rPr>
              <a:t>دمج المكونات</a:t>
            </a:r>
            <a:endParaRPr lang="ar-SA" sz="1200" dirty="0"/>
          </a:p>
        </p:txBody>
      </p:sp>
      <p:sp>
        <p:nvSpPr>
          <p:cNvPr id="38" name="!!aga3"/>
          <p:cNvSpPr/>
          <p:nvPr/>
        </p:nvSpPr>
        <p:spPr>
          <a:xfrm>
            <a:off x="4148633" y="5641848"/>
            <a:ext cx="137160" cy="219456"/>
          </a:xfrm>
          <a:prstGeom prst="lef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!!ag4"/>
          <p:cNvSpPr/>
          <p:nvPr/>
        </p:nvSpPr>
        <p:spPr>
          <a:xfrm>
            <a:off x="2427732" y="5303520"/>
            <a:ext cx="1709928" cy="896112"/>
          </a:xfrm>
          <a:prstGeom prst="roundRect">
            <a:avLst>
              <a:gd name="adj" fmla="val 122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0" name="!!agi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7248" y="5394960"/>
            <a:ext cx="310896" cy="310896"/>
          </a:xfrm>
          <a:prstGeom prst="rect">
            <a:avLst/>
          </a:prstGeom>
        </p:spPr>
      </p:pic>
      <p:sp>
        <p:nvSpPr>
          <p:cNvPr id="41" name="!!agt4"/>
          <p:cNvSpPr txBox="1"/>
          <p:nvPr/>
        </p:nvSpPr>
        <p:spPr>
          <a:xfrm>
            <a:off x="2473452" y="57424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0A0E1A"/>
                </a:solidFill>
              </a:rPr>
              <a:t>الاختبار</a:t>
            </a:r>
            <a:endParaRPr lang="ar-SA" sz="1200" dirty="0"/>
          </a:p>
        </p:txBody>
      </p:sp>
      <p:sp>
        <p:nvSpPr>
          <p:cNvPr id="42" name="!!aga4"/>
          <p:cNvSpPr/>
          <p:nvPr/>
        </p:nvSpPr>
        <p:spPr>
          <a:xfrm>
            <a:off x="2272284" y="5641848"/>
            <a:ext cx="137160" cy="219456"/>
          </a:xfrm>
          <a:prstGeom prst="lef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!!ag5"/>
          <p:cNvSpPr/>
          <p:nvPr/>
        </p:nvSpPr>
        <p:spPr>
          <a:xfrm>
            <a:off x="551383" y="5303520"/>
            <a:ext cx="1709928" cy="896112"/>
          </a:xfrm>
          <a:prstGeom prst="roundRect">
            <a:avLst>
              <a:gd name="adj" fmla="val 122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4" name="!!agi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0899" y="5394960"/>
            <a:ext cx="310896" cy="310896"/>
          </a:xfrm>
          <a:prstGeom prst="rect">
            <a:avLst/>
          </a:prstGeom>
        </p:spPr>
      </p:pic>
      <p:sp>
        <p:nvSpPr>
          <p:cNvPr id="45" name="!!agt5"/>
          <p:cNvSpPr txBox="1"/>
          <p:nvPr/>
        </p:nvSpPr>
        <p:spPr>
          <a:xfrm>
            <a:off x="597103" y="5742432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0A0E1A"/>
                </a:solidFill>
              </a:rPr>
              <a:t>التحسين والتطوير</a:t>
            </a:r>
            <a:endParaRPr lang="ar-SA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3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3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3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3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برهان الزمر  •  المنهجية 3 / 3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نطاق المشروع وحدوده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Project Scope &amp; Limits</a:t>
            </a:r>
            <a:endParaRPr lang="en-US" sz="1500" dirty="0"/>
          </a:p>
        </p:txBody>
      </p:sp>
      <p:sp>
        <p:nvSpPr>
          <p:cNvPr id="5" name="fx0|card#3d"/>
          <p:cNvSpPr/>
          <p:nvPr/>
        </p:nvSpPr>
        <p:spPr>
          <a:xfrm>
            <a:off x="6263640" y="1508760"/>
            <a:ext cx="5376672" cy="1783080"/>
          </a:xfrm>
          <a:prstGeom prst="roundRect">
            <a:avLst>
              <a:gd name="adj" fmla="val 7179"/>
            </a:avLst>
          </a:prstGeom>
          <a:solidFill>
            <a:schemeClr val="tx2">
              <a:alpha val="86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6" name="fx0|ic bg#3d"/>
          <p:cNvSpPr/>
          <p:nvPr/>
        </p:nvSpPr>
        <p:spPr>
          <a:xfrm>
            <a:off x="10863072" y="1664208"/>
            <a:ext cx="603504" cy="60350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7" name="fx0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3948" y="1815084"/>
            <a:ext cx="301752" cy="301752"/>
          </a:xfrm>
          <a:prstGeom prst="rect">
            <a:avLst/>
          </a:prstGeom>
        </p:spPr>
      </p:pic>
      <p:sp>
        <p:nvSpPr>
          <p:cNvPr id="8" name="fx0|head"/>
          <p:cNvSpPr txBox="1"/>
          <p:nvPr/>
        </p:nvSpPr>
        <p:spPr>
          <a:xfrm>
            <a:off x="6446520" y="1618488"/>
            <a:ext cx="4279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النطاق المكاني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E2BA52"/>
                </a:solidFill>
              </a:rPr>
              <a:t>Spatial</a:t>
            </a:r>
            <a:endParaRPr lang="ar-SA" sz="1800" dirty="0"/>
          </a:p>
        </p:txBody>
      </p:sp>
      <p:sp>
        <p:nvSpPr>
          <p:cNvPr id="9" name="fx1|items"/>
          <p:cNvSpPr txBox="1"/>
          <p:nvPr/>
        </p:nvSpPr>
        <p:spPr>
          <a:xfrm>
            <a:off x="6492240" y="2423160"/>
            <a:ext cx="4919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الطرق والمواقع التي تُثبّت فيها الهواتف في أماكن محددة مسبقاً</a:t>
            </a:r>
            <a:endParaRPr lang="ar-SA" sz="13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تحديد موقع كل جهاز وسرعته القانونية من لوحة التحكم</a:t>
            </a:r>
            <a:endParaRPr lang="ar-SA" sz="1300" dirty="0"/>
          </a:p>
        </p:txBody>
      </p:sp>
      <p:sp>
        <p:nvSpPr>
          <p:cNvPr id="10" name="fx2|card#3d"/>
          <p:cNvSpPr/>
          <p:nvPr/>
        </p:nvSpPr>
        <p:spPr>
          <a:xfrm>
            <a:off x="6263640" y="3429000"/>
            <a:ext cx="5376672" cy="1783080"/>
          </a:xfrm>
          <a:prstGeom prst="roundRect">
            <a:avLst>
              <a:gd name="adj" fmla="val 7179"/>
            </a:avLst>
          </a:prstGeom>
          <a:solidFill>
            <a:schemeClr val="tx2">
              <a:alpha val="86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1" name="fx2|ic bg#3d"/>
          <p:cNvSpPr/>
          <p:nvPr/>
        </p:nvSpPr>
        <p:spPr>
          <a:xfrm>
            <a:off x="10863072" y="3584448"/>
            <a:ext cx="603504" cy="60350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2" name="fx2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3948" y="3735324"/>
            <a:ext cx="301752" cy="301752"/>
          </a:xfrm>
          <a:prstGeom prst="rect">
            <a:avLst/>
          </a:prstGeom>
        </p:spPr>
      </p:pic>
      <p:sp>
        <p:nvSpPr>
          <p:cNvPr id="13" name="fx2|head"/>
          <p:cNvSpPr txBox="1"/>
          <p:nvPr/>
        </p:nvSpPr>
        <p:spPr>
          <a:xfrm>
            <a:off x="6446520" y="3538728"/>
            <a:ext cx="4279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النطاق الزمني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E2BA52"/>
                </a:solidFill>
              </a:rPr>
              <a:t>Temporal  •  2026</a:t>
            </a:r>
            <a:endParaRPr lang="ar-SA" sz="1800" dirty="0"/>
          </a:p>
        </p:txBody>
      </p:sp>
      <p:sp>
        <p:nvSpPr>
          <p:cNvPr id="14" name="fx3|items"/>
          <p:cNvSpPr txBox="1"/>
          <p:nvPr/>
        </p:nvSpPr>
        <p:spPr>
          <a:xfrm>
            <a:off x="6492240" y="4343400"/>
            <a:ext cx="4919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يُنفَّذ المشروع خلال عام 2026</a:t>
            </a:r>
            <a:endParaRPr lang="ar-SA" sz="13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التحليل، التصميم، التطوير، ربط الأنظمة، الاختبار والتقييم</a:t>
            </a:r>
            <a:endParaRPr lang="ar-SA" sz="1300" dirty="0"/>
          </a:p>
        </p:txBody>
      </p:sp>
      <p:sp>
        <p:nvSpPr>
          <p:cNvPr id="15" name="fx4|incl card#3d"/>
          <p:cNvSpPr/>
          <p:nvPr/>
        </p:nvSpPr>
        <p:spPr>
          <a:xfrm>
            <a:off x="548640" y="1508760"/>
            <a:ext cx="5486400" cy="3703320"/>
          </a:xfrm>
          <a:prstGeom prst="roundRect">
            <a:avLst>
              <a:gd name="adj" fmla="val 3457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6" name="fx4|incl head"/>
          <p:cNvSpPr txBox="1"/>
          <p:nvPr/>
        </p:nvSpPr>
        <p:spPr>
          <a:xfrm>
            <a:off x="731520" y="1600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accent4"/>
                </a:solidFill>
              </a:rPr>
              <a:t>يشمل المشروع  •  Includes</a:t>
            </a:r>
            <a:endParaRPr lang="ar-SA" sz="1700" dirty="0"/>
          </a:p>
        </p:txBody>
      </p:sp>
      <p:pic>
        <p:nvPicPr>
          <p:cNvPr id="17" name="fx5|o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194560"/>
            <a:ext cx="274320" cy="274320"/>
          </a:xfrm>
          <a:prstGeom prst="rect">
            <a:avLst/>
          </a:prstGeom>
        </p:spPr>
      </p:pic>
      <p:sp>
        <p:nvSpPr>
          <p:cNvPr id="18" name="fx5|t"/>
          <p:cNvSpPr txBox="1"/>
          <p:nvPr/>
        </p:nvSpPr>
        <p:spPr>
          <a:xfrm>
            <a:off x="73152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FFFFFF"/>
                </a:solidFill>
              </a:rPr>
              <a:t>تطبيق هاتف يعمل ككاميرا مراقبة مرورية</a:t>
            </a:r>
            <a:endParaRPr lang="ar-SA" sz="1300" dirty="0"/>
          </a:p>
        </p:txBody>
      </p:sp>
      <p:pic>
        <p:nvPicPr>
          <p:cNvPr id="19" name="fx6|o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706624"/>
            <a:ext cx="274320" cy="274320"/>
          </a:xfrm>
          <a:prstGeom prst="rect">
            <a:avLst/>
          </a:prstGeom>
        </p:spPr>
      </p:pic>
      <p:sp>
        <p:nvSpPr>
          <p:cNvPr id="20" name="fx6|t"/>
          <p:cNvSpPr txBox="1"/>
          <p:nvPr/>
        </p:nvSpPr>
        <p:spPr>
          <a:xfrm>
            <a:off x="731520" y="261518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FFFFFF"/>
                </a:solidFill>
              </a:rPr>
              <a:t>نموذج ذكاء اصطناعي للاكتشاف والتتبع وحساب السرعة</a:t>
            </a:r>
            <a:endParaRPr lang="ar-SA" sz="1300" dirty="0"/>
          </a:p>
        </p:txBody>
      </p:sp>
      <p:pic>
        <p:nvPicPr>
          <p:cNvPr id="21" name="fx7|o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3218688"/>
            <a:ext cx="274320" cy="274320"/>
          </a:xfrm>
          <a:prstGeom prst="rect">
            <a:avLst/>
          </a:prstGeom>
        </p:spPr>
      </p:pic>
      <p:sp>
        <p:nvSpPr>
          <p:cNvPr id="22" name="fx7|t"/>
          <p:cNvSpPr txBox="1"/>
          <p:nvPr/>
        </p:nvSpPr>
        <p:spPr>
          <a:xfrm>
            <a:off x="731520" y="31272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FFFFFF"/>
                </a:solidFill>
              </a:rPr>
              <a:t>التعرف على أرقام اللوحات OCR</a:t>
            </a:r>
            <a:endParaRPr lang="ar-SA" sz="1300" dirty="0"/>
          </a:p>
        </p:txBody>
      </p:sp>
      <p:pic>
        <p:nvPicPr>
          <p:cNvPr id="23" name="fx8|o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3730752"/>
            <a:ext cx="274320" cy="274320"/>
          </a:xfrm>
          <a:prstGeom prst="rect">
            <a:avLst/>
          </a:prstGeom>
        </p:spPr>
      </p:pic>
      <p:sp>
        <p:nvSpPr>
          <p:cNvPr id="24" name="fx8|t"/>
          <p:cNvSpPr txBox="1"/>
          <p:nvPr/>
        </p:nvSpPr>
        <p:spPr>
          <a:xfrm>
            <a:off x="731520" y="36393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FFFFFF"/>
                </a:solidFill>
              </a:rPr>
              <a:t>قاعدة بيانات للمركبات ومالكيها وربط المخالفات</a:t>
            </a:r>
            <a:endParaRPr lang="ar-SA" sz="1300" dirty="0"/>
          </a:p>
        </p:txBody>
      </p:sp>
      <p:pic>
        <p:nvPicPr>
          <p:cNvPr id="25" name="fx9|ok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4242816"/>
            <a:ext cx="274320" cy="274320"/>
          </a:xfrm>
          <a:prstGeom prst="rect">
            <a:avLst/>
          </a:prstGeom>
        </p:spPr>
      </p:pic>
      <p:sp>
        <p:nvSpPr>
          <p:cNvPr id="26" name="fx9|t"/>
          <p:cNvSpPr txBox="1"/>
          <p:nvPr/>
        </p:nvSpPr>
        <p:spPr>
          <a:xfrm>
            <a:off x="731520" y="41513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FFFFFF"/>
                </a:solidFill>
              </a:rPr>
              <a:t>لوحة تحكم للمستخدمين والأجهزة والمواقع والسرعات</a:t>
            </a:r>
            <a:endParaRPr lang="ar-SA" sz="1300" dirty="0"/>
          </a:p>
        </p:txBody>
      </p:sp>
      <p:pic>
        <p:nvPicPr>
          <p:cNvPr id="27" name="fx10|ok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4754880"/>
            <a:ext cx="274320" cy="274320"/>
          </a:xfrm>
          <a:prstGeom prst="rect">
            <a:avLst/>
          </a:prstGeom>
        </p:spPr>
      </p:pic>
      <p:sp>
        <p:nvSpPr>
          <p:cNvPr id="28" name="fx10|t"/>
          <p:cNvSpPr txBox="1"/>
          <p:nvPr/>
        </p:nvSpPr>
        <p:spPr>
          <a:xfrm>
            <a:off x="731520" y="4663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FFFFFF"/>
                </a:solidFill>
              </a:rPr>
              <a:t>حفظ الأدلة الرقمية وإصدار التقارير والإحصائيات</a:t>
            </a:r>
            <a:endParaRPr lang="ar-SA" sz="1300" dirty="0"/>
          </a:p>
        </p:txBody>
      </p:sp>
      <p:sp>
        <p:nvSpPr>
          <p:cNvPr id="29" name="fx11@pop|not#3d"/>
          <p:cNvSpPr txBox="1"/>
          <p:nvPr/>
        </p:nvSpPr>
        <p:spPr>
          <a:xfrm>
            <a:off x="548640" y="5349240"/>
            <a:ext cx="11091672" cy="457200"/>
          </a:xfrm>
          <a:prstGeom prst="roundRect">
            <a:avLst>
              <a:gd name="adj" fmla="val 20000"/>
            </a:avLst>
          </a:prstGeom>
          <a:solidFill>
            <a:schemeClr val="tx2">
              <a:alpha val="90000"/>
            </a:schemeClr>
          </a:solidFill>
          <a:ln w="15875">
            <a:solidFill>
              <a:schemeClr val="accent5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2540" rIns="2540" bIns="0" rtlCol="0" anchor="ctr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F43F5E"/>
                </a:solidFill>
              </a:rPr>
              <a:t>لا يشمل: </a:t>
            </a:r>
            <a:pPr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</a:rPr>
              <a:t>إصدار المخالفات الرسمية أو التكامل المباشر مع الأنظمة الحكومية</a:t>
            </a:r>
            <a:endParaRPr lang="ar-SA" sz="1400" dirty="0"/>
          </a:p>
        </p:txBody>
      </p:sp>
      <p:sp>
        <p:nvSpPr>
          <p:cNvPr id="30" name="fx12|proto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accent2"/>
                </a:solidFill>
              </a:rPr>
              <a:t>نموذج أولي  Prototype  يثبت إمكانية تطبيق الفكرة بالذكاء الاصطناعي والرؤية الحاسوبية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53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3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3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301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29" grpId="0" animBg="1"/>
      <p:bldP spid="3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برهان الزمر  •  الأساسيات النظرية 1 / 2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الأساسيات النظرية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Computer Vision  •  Detection  •  Tracking</a:t>
            </a:r>
            <a:endParaRPr lang="en-US" sz="1500" dirty="0"/>
          </a:p>
        </p:txBody>
      </p:sp>
      <p:sp>
        <p:nvSpPr>
          <p:cNvPr id="5" name="Scene frame"/>
          <p:cNvSpPr/>
          <p:nvPr/>
        </p:nvSpPr>
        <p:spPr>
          <a:xfrm>
            <a:off x="502920" y="1463040"/>
            <a:ext cx="6492240" cy="3691890"/>
          </a:xfrm>
          <a:prstGeom prst="rect">
            <a:avLst/>
          </a:prstGeom>
          <a:solidFill>
            <a:srgbClr val="05070C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304800" dist="50800" dir="16200000">
              <a:srgbClr val="10B981">
                <a:alpha val="45000"/>
              </a:srgbClr>
            </a:outerShdw>
          </a:effectLst>
        </p:spPr>
      </p:sp>
      <p:pic>
        <p:nvPicPr>
          <p:cNvPr id="6" name="Traffic photo" descr="img/p_dete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400800" cy="3600450"/>
          </a:xfrm>
          <a:prstGeom prst="rect">
            <a:avLst/>
          </a:prstGeom>
        </p:spPr>
      </p:pic>
      <p:sp>
        <p:nvSpPr>
          <p:cNvPr id="7" name="fx1@zoom|box car4"/>
          <p:cNvSpPr/>
          <p:nvPr/>
        </p:nvSpPr>
        <p:spPr>
          <a:xfrm>
            <a:off x="2190445" y="3733038"/>
            <a:ext cx="412852" cy="336042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fx1@pop|lab car4"/>
          <p:cNvSpPr txBox="1"/>
          <p:nvPr/>
        </p:nvSpPr>
        <p:spPr>
          <a:xfrm>
            <a:off x="2190445" y="3550158"/>
            <a:ext cx="684703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1 CAR</a:t>
            </a:r>
            <a:endParaRPr lang="en-US" sz="700" dirty="0"/>
          </a:p>
        </p:txBody>
      </p:sp>
      <p:sp>
        <p:nvSpPr>
          <p:cNvPr id="9" name="fx1@zoom|box truck"/>
          <p:cNvSpPr/>
          <p:nvPr/>
        </p:nvSpPr>
        <p:spPr>
          <a:xfrm>
            <a:off x="2910535" y="3717036"/>
            <a:ext cx="428854" cy="492862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fx1@pop|lab truck"/>
          <p:cNvSpPr txBox="1"/>
          <p:nvPr/>
        </p:nvSpPr>
        <p:spPr>
          <a:xfrm>
            <a:off x="2910535" y="3534156"/>
            <a:ext cx="810158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2 TRUCK</a:t>
            </a:r>
            <a:endParaRPr lang="en-US" sz="700" dirty="0"/>
          </a:p>
        </p:txBody>
      </p:sp>
      <p:sp>
        <p:nvSpPr>
          <p:cNvPr id="11" name="fx2@zoom|box suv"/>
          <p:cNvSpPr/>
          <p:nvPr/>
        </p:nvSpPr>
        <p:spPr>
          <a:xfrm>
            <a:off x="5739689" y="4053078"/>
            <a:ext cx="672084" cy="502463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fx2@pop|lab suv"/>
          <p:cNvSpPr txBox="1"/>
          <p:nvPr/>
        </p:nvSpPr>
        <p:spPr>
          <a:xfrm>
            <a:off x="5739689" y="3870198"/>
            <a:ext cx="684703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3 CAR</a:t>
            </a:r>
            <a:endParaRPr lang="en-US" sz="700" dirty="0"/>
          </a:p>
        </p:txBody>
      </p:sp>
      <p:sp>
        <p:nvSpPr>
          <p:cNvPr id="13" name="fx2@zoom|box van"/>
          <p:cNvSpPr/>
          <p:nvPr/>
        </p:nvSpPr>
        <p:spPr>
          <a:xfrm>
            <a:off x="4725162" y="4113886"/>
            <a:ext cx="726491" cy="665683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fx2@pop|lab van"/>
          <p:cNvSpPr txBox="1"/>
          <p:nvPr/>
        </p:nvSpPr>
        <p:spPr>
          <a:xfrm>
            <a:off x="4725162" y="3931006"/>
            <a:ext cx="684703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4 VAN</a:t>
            </a:r>
            <a:endParaRPr lang="en-US" sz="700" dirty="0"/>
          </a:p>
        </p:txBody>
      </p:sp>
      <p:sp>
        <p:nvSpPr>
          <p:cNvPr id="15" name="fx4@pop|trk van"/>
          <p:cNvSpPr/>
          <p:nvPr/>
        </p:nvSpPr>
        <p:spPr>
          <a:xfrm>
            <a:off x="4980737" y="4272077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fx5@pop|trk van"/>
          <p:cNvSpPr/>
          <p:nvPr/>
        </p:nvSpPr>
        <p:spPr>
          <a:xfrm>
            <a:off x="5009083" y="4445813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fx6@pop|trk van"/>
          <p:cNvSpPr/>
          <p:nvPr/>
        </p:nvSpPr>
        <p:spPr>
          <a:xfrm>
            <a:off x="5034549" y="459486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fx4@pop|trk suv"/>
          <p:cNvSpPr/>
          <p:nvPr/>
        </p:nvSpPr>
        <p:spPr>
          <a:xfrm>
            <a:off x="6196889" y="4048049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fx5@pop|trk suv"/>
          <p:cNvSpPr/>
          <p:nvPr/>
        </p:nvSpPr>
        <p:spPr>
          <a:xfrm>
            <a:off x="6142025" y="4221785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fx6@pop|trk suv"/>
          <p:cNvSpPr/>
          <p:nvPr/>
        </p:nvSpPr>
        <p:spPr>
          <a:xfrm>
            <a:off x="6096762" y="437083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fx7@pop|trk tag"/>
          <p:cNvSpPr txBox="1"/>
          <p:nvPr/>
        </p:nvSpPr>
        <p:spPr>
          <a:xfrm>
            <a:off x="685800" y="1645920"/>
            <a:ext cx="2154326" cy="310896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TRACKING  •  ByteTrack</a:t>
            </a:r>
            <a:endParaRPr lang="en-US" sz="1000" dirty="0"/>
          </a:p>
        </p:txBody>
      </p:sp>
      <p:sp>
        <p:nvSpPr>
          <p:cNvPr id="22" name="fx2|class"/>
          <p:cNvSpPr txBox="1"/>
          <p:nvPr/>
        </p:nvSpPr>
        <p:spPr>
          <a:xfrm>
            <a:off x="5486400" y="5292090"/>
            <a:ext cx="1463040" cy="365760"/>
          </a:xfrm>
          <a:prstGeom prst="roundRect">
            <a:avLst>
              <a:gd name="adj" fmla="val 25000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</a:rPr>
              <a:t>السيارات</a:t>
            </a:r>
            <a:endParaRPr lang="ar-SA" sz="1200" dirty="0"/>
          </a:p>
        </p:txBody>
      </p:sp>
      <p:sp>
        <p:nvSpPr>
          <p:cNvPr id="23" name="fx2|class"/>
          <p:cNvSpPr txBox="1"/>
          <p:nvPr/>
        </p:nvSpPr>
        <p:spPr>
          <a:xfrm>
            <a:off x="3840480" y="5292090"/>
            <a:ext cx="1463040" cy="365760"/>
          </a:xfrm>
          <a:prstGeom prst="roundRect">
            <a:avLst>
              <a:gd name="adj" fmla="val 25000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</a:rPr>
              <a:t>الحافلات</a:t>
            </a:r>
            <a:endParaRPr lang="ar-SA" sz="1200" dirty="0"/>
          </a:p>
        </p:txBody>
      </p:sp>
      <p:sp>
        <p:nvSpPr>
          <p:cNvPr id="24" name="fx2|class"/>
          <p:cNvSpPr txBox="1"/>
          <p:nvPr/>
        </p:nvSpPr>
        <p:spPr>
          <a:xfrm>
            <a:off x="2194560" y="5292090"/>
            <a:ext cx="1463040" cy="365760"/>
          </a:xfrm>
          <a:prstGeom prst="roundRect">
            <a:avLst>
              <a:gd name="adj" fmla="val 25000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</a:rPr>
              <a:t>الشاحنات</a:t>
            </a:r>
            <a:endParaRPr lang="ar-SA" sz="1200" dirty="0"/>
          </a:p>
        </p:txBody>
      </p:sp>
      <p:sp>
        <p:nvSpPr>
          <p:cNvPr id="25" name="fx2|class"/>
          <p:cNvSpPr txBox="1"/>
          <p:nvPr/>
        </p:nvSpPr>
        <p:spPr>
          <a:xfrm>
            <a:off x="548640" y="5292090"/>
            <a:ext cx="1463040" cy="365760"/>
          </a:xfrm>
          <a:prstGeom prst="roundRect">
            <a:avLst>
              <a:gd name="adj" fmla="val 25000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</a:rPr>
              <a:t>الدراجات النارية</a:t>
            </a:r>
            <a:endParaRPr lang="ar-SA" sz="1200" dirty="0"/>
          </a:p>
        </p:txBody>
      </p:sp>
      <p:sp>
        <p:nvSpPr>
          <p:cNvPr id="26" name="fx8|note"/>
          <p:cNvSpPr txBox="1"/>
          <p:nvPr/>
        </p:nvSpPr>
        <p:spPr>
          <a:xfrm>
            <a:off x="548640" y="584073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accent2"/>
                </a:solidFill>
              </a:rPr>
              <a:t>لا تُسجَّل جميع المركبات — التوثيق وقراءة اللوحة فقط عند تجاوز السرعة</a:t>
            </a:r>
            <a:endParaRPr lang="ar-SA" sz="1300" dirty="0"/>
          </a:p>
        </p:txBody>
      </p:sp>
      <p:sp>
        <p:nvSpPr>
          <p:cNvPr id="27" name="fx1|row"/>
          <p:cNvSpPr/>
          <p:nvPr/>
        </p:nvSpPr>
        <p:spPr>
          <a:xfrm>
            <a:off x="7269480" y="1508760"/>
            <a:ext cx="4370832" cy="1371600"/>
          </a:xfrm>
          <a:prstGeom prst="roundRect">
            <a:avLst>
              <a:gd name="adj" fmla="val 933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28" name="fx1|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808" y="1984248"/>
            <a:ext cx="420624" cy="420624"/>
          </a:xfrm>
          <a:prstGeom prst="rect">
            <a:avLst/>
          </a:prstGeom>
        </p:spPr>
      </p:pic>
      <p:sp>
        <p:nvSpPr>
          <p:cNvPr id="29" name="fx1|t"/>
          <p:cNvSpPr txBox="1"/>
          <p:nvPr/>
        </p:nvSpPr>
        <p:spPr>
          <a:xfrm>
            <a:off x="7452360" y="1563624"/>
            <a:ext cx="34564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300"/>
              </a:spcAft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الرؤية الحاسوبية</a:t>
            </a:r>
            <a:endParaRPr lang="ar-SA" sz="17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SA" altLang="en-US" sz="1300" dirty="0">
                <a:solidFill>
                  <a:srgbClr val="B8C7E0"/>
                </a:solidFill>
              </a:rPr>
              <a:t>تحليل فيديو كاميرا الهاتف بشكل مستمر لاكتشاف المركبات وتتبعها وتقدير سرعتها</a:t>
            </a:r>
            <a:endParaRPr lang="ar-SA" sz="1700" dirty="0"/>
          </a:p>
        </p:txBody>
      </p:sp>
      <p:sp>
        <p:nvSpPr>
          <p:cNvPr id="30" name="fx3|row"/>
          <p:cNvSpPr/>
          <p:nvPr/>
        </p:nvSpPr>
        <p:spPr>
          <a:xfrm>
            <a:off x="7269480" y="3017520"/>
            <a:ext cx="4370832" cy="1371600"/>
          </a:xfrm>
          <a:prstGeom prst="roundRect">
            <a:avLst>
              <a:gd name="adj" fmla="val 933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31" name="fx3|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6808" y="3493008"/>
            <a:ext cx="420624" cy="420624"/>
          </a:xfrm>
          <a:prstGeom prst="rect">
            <a:avLst/>
          </a:prstGeom>
        </p:spPr>
      </p:pic>
      <p:sp>
        <p:nvSpPr>
          <p:cNvPr id="32" name="fx3|t"/>
          <p:cNvSpPr txBox="1"/>
          <p:nvPr/>
        </p:nvSpPr>
        <p:spPr>
          <a:xfrm>
            <a:off x="7452360" y="3072384"/>
            <a:ext cx="34564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300"/>
              </a:spcAft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اكتشاف المركبات</a:t>
            </a:r>
            <a:endParaRPr lang="ar-SA" sz="17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SA" altLang="en-US" sz="1300" dirty="0">
                <a:solidFill>
                  <a:srgbClr val="B8C7E0"/>
                </a:solidFill>
              </a:rPr>
              <a:t>تحليل كل إطار وتحديد كل مركبة داخل الصورة وتسجيل موقعها</a:t>
            </a:r>
            <a:endParaRPr lang="ar-SA" sz="1700" dirty="0"/>
          </a:p>
        </p:txBody>
      </p:sp>
      <p:sp>
        <p:nvSpPr>
          <p:cNvPr id="33" name="fx5|row"/>
          <p:cNvSpPr/>
          <p:nvPr/>
        </p:nvSpPr>
        <p:spPr>
          <a:xfrm>
            <a:off x="7269480" y="4526280"/>
            <a:ext cx="4370832" cy="1691640"/>
          </a:xfrm>
          <a:prstGeom prst="roundRect">
            <a:avLst>
              <a:gd name="adj" fmla="val 7568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34" name="fx5|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808" y="5161788"/>
            <a:ext cx="420624" cy="420624"/>
          </a:xfrm>
          <a:prstGeom prst="rect">
            <a:avLst/>
          </a:prstGeom>
        </p:spPr>
      </p:pic>
      <p:sp>
        <p:nvSpPr>
          <p:cNvPr id="35" name="fx5|t"/>
          <p:cNvSpPr txBox="1"/>
          <p:nvPr/>
        </p:nvSpPr>
        <p:spPr>
          <a:xfrm>
            <a:off x="7452360" y="4581144"/>
            <a:ext cx="3456432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300"/>
              </a:spcAft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تتبع المركبات</a:t>
            </a:r>
            <a:endParaRPr lang="ar-SA" sz="170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SA" altLang="en-US" sz="1300" dirty="0">
                <a:solidFill>
                  <a:srgbClr val="B8C7E0"/>
                </a:solidFill>
              </a:rPr>
              <a:t>الحفاظ على هوية المركبة عبر الإطارات: نقطة البداية، الموقع أثناء الحركة، نقطة الوصول، المسافة والزمن</a:t>
            </a:r>
            <a:endParaRPr lang="ar-SA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3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3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3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3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3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3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3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3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3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3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2" grpId="0" animBg="1"/>
      <p:bldP spid="33" grpId="0" animBg="1"/>
      <p:bldP spid="3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برهان الزمر  •  الأساسيات النظرية 2 / 2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الأساسيات النظرية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Calibration  •  Speed Estimation  •  Plate Recognition</a:t>
            </a:r>
            <a:endParaRPr lang="en-US" sz="1500" dirty="0"/>
          </a:p>
        </p:txBody>
      </p:sp>
      <p:sp>
        <p:nvSpPr>
          <p:cNvPr id="5" name="fx0|col#3d"/>
          <p:cNvSpPr/>
          <p:nvPr/>
        </p:nvSpPr>
        <p:spPr>
          <a:xfrm>
            <a:off x="8092440" y="1508760"/>
            <a:ext cx="3547872" cy="4709160"/>
          </a:xfrm>
          <a:prstGeom prst="roundRect">
            <a:avLst>
              <a:gd name="adj" fmla="val 3608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6" name="fx4|col#3d"/>
          <p:cNvSpPr/>
          <p:nvPr/>
        </p:nvSpPr>
        <p:spPr>
          <a:xfrm>
            <a:off x="4315968" y="1508760"/>
            <a:ext cx="3547872" cy="4709160"/>
          </a:xfrm>
          <a:prstGeom prst="roundRect">
            <a:avLst>
              <a:gd name="adj" fmla="val 3608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7" name="fx8|col#3d"/>
          <p:cNvSpPr/>
          <p:nvPr/>
        </p:nvSpPr>
        <p:spPr>
          <a:xfrm>
            <a:off x="548640" y="1508760"/>
            <a:ext cx="3547872" cy="4709160"/>
          </a:xfrm>
          <a:prstGeom prst="roundRect">
            <a:avLst>
              <a:gd name="adj" fmla="val 3608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8" name="fx0|road"/>
          <p:cNvSpPr/>
          <p:nvPr/>
        </p:nvSpPr>
        <p:spPr>
          <a:xfrm>
            <a:off x="8503920" y="1783080"/>
            <a:ext cx="2724912" cy="1737360"/>
          </a:xfrm>
          <a:prstGeom prst="trapezoid">
            <a:avLst/>
          </a:prstGeom>
          <a:solidFill>
            <a:srgbClr val="1A2236"/>
          </a:solidFill>
          <a:ln w="12700">
            <a:solidFill>
              <a:srgbClr val="B8C7E0"/>
            </a:solidFill>
            <a:prstDash val="solid"/>
          </a:ln>
        </p:spPr>
      </p:sp>
      <p:sp>
        <p:nvSpPr>
          <p:cNvPr id="9" name="fx1|ref REF A"/>
          <p:cNvSpPr/>
          <p:nvPr/>
        </p:nvSpPr>
        <p:spPr>
          <a:xfrm>
            <a:off x="8903970" y="2468880"/>
            <a:ext cx="1924812" cy="0"/>
          </a:xfrm>
          <a:prstGeom prst="line">
            <a:avLst/>
          </a:prstGeom>
          <a:noFill/>
          <a:ln w="31750">
            <a:solidFill>
              <a:srgbClr val="E2BA52"/>
            </a:solidFill>
            <a:prstDash val="dash"/>
          </a:ln>
        </p:spPr>
      </p:sp>
      <p:sp>
        <p:nvSpPr>
          <p:cNvPr id="10" name="fx1|reft REF A"/>
          <p:cNvSpPr txBox="1"/>
          <p:nvPr/>
        </p:nvSpPr>
        <p:spPr>
          <a:xfrm>
            <a:off x="8183880" y="2359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900" b="1" dirty="0">
                <a:solidFill>
                  <a:srgbClr val="E2B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 A</a:t>
            </a:r>
            <a:endParaRPr lang="en-US" sz="900" dirty="0"/>
          </a:p>
        </p:txBody>
      </p:sp>
      <p:sp>
        <p:nvSpPr>
          <p:cNvPr id="11" name="fx1|ref REF B"/>
          <p:cNvSpPr/>
          <p:nvPr/>
        </p:nvSpPr>
        <p:spPr>
          <a:xfrm>
            <a:off x="8721090" y="3200400"/>
            <a:ext cx="2290572" cy="0"/>
          </a:xfrm>
          <a:prstGeom prst="line">
            <a:avLst/>
          </a:prstGeom>
          <a:noFill/>
          <a:ln w="31750">
            <a:solidFill>
              <a:srgbClr val="E2BA52"/>
            </a:solidFill>
            <a:prstDash val="dash"/>
          </a:ln>
        </p:spPr>
      </p:sp>
      <p:sp>
        <p:nvSpPr>
          <p:cNvPr id="12" name="fx1|reft REF B"/>
          <p:cNvSpPr txBox="1"/>
          <p:nvPr/>
        </p:nvSpPr>
        <p:spPr>
          <a:xfrm>
            <a:off x="8183880" y="30906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900" b="1" dirty="0">
                <a:solidFill>
                  <a:srgbClr val="E2B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 B</a:t>
            </a:r>
            <a:endParaRPr lang="en-US" sz="900" dirty="0"/>
          </a:p>
        </p:txBody>
      </p:sp>
      <p:sp>
        <p:nvSpPr>
          <p:cNvPr id="13" name="fx2|dist"/>
          <p:cNvSpPr/>
          <p:nvPr/>
        </p:nvSpPr>
        <p:spPr>
          <a:xfrm>
            <a:off x="9866376" y="2468880"/>
            <a:ext cx="0" cy="73152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triangle"/>
            <a:tailEnd type="triangle"/>
          </a:ln>
        </p:spPr>
      </p:sp>
      <p:sp>
        <p:nvSpPr>
          <p:cNvPr id="14" name="fx2|D"/>
          <p:cNvSpPr txBox="1"/>
          <p:nvPr/>
        </p:nvSpPr>
        <p:spPr>
          <a:xfrm>
            <a:off x="9912096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15" name="fx3|cal t"/>
          <p:cNvSpPr txBox="1"/>
          <p:nvPr/>
        </p:nvSpPr>
        <p:spPr>
          <a:xfrm>
            <a:off x="8275320" y="3703320"/>
            <a:ext cx="318211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500"/>
              </a:spcAft>
              <a:buNone/>
            </a:pPr>
            <a:r>
              <a:rPr lang="ar-SA" altLang="en-US" sz="1700" b="1" dirty="0">
                <a:solidFill>
                  <a:srgbClr val="E2BA52"/>
                </a:solidFill>
              </a:rPr>
              <a:t>معايرة الطريق</a:t>
            </a:r>
            <a:endParaRPr lang="ar-SA" sz="17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تحديد نقاط مرجعية ومسافات معروفة على الطريق</a:t>
            </a:r>
            <a:endParaRPr lang="ar-SA" sz="17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تحويل حركة المركبة في الصورة إلى مسافة حقيقية</a:t>
            </a:r>
            <a:endParaRPr lang="ar-SA" sz="17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جودة المعايرة تؤثر مباشرة في دقة السرعة</a:t>
            </a:r>
            <a:endParaRPr lang="ar-SA" sz="1700" dirty="0"/>
          </a:p>
        </p:txBody>
      </p:sp>
      <p:sp>
        <p:nvSpPr>
          <p:cNvPr id="16" name="fx4@zoom|formula#3d"/>
          <p:cNvSpPr txBox="1"/>
          <p:nvPr/>
        </p:nvSpPr>
        <p:spPr>
          <a:xfrm>
            <a:off x="4681728" y="1828800"/>
            <a:ext cx="2816352" cy="731520"/>
          </a:xfrm>
          <a:prstGeom prst="rect">
            <a:avLst/>
          </a:prstGeom>
          <a:solidFill>
            <a:srgbClr val="05070C">
              <a:alpha val="80000"/>
            </a:srgbClr>
          </a:solidFill>
          <a:ln w="15875">
            <a:solidFill>
              <a:srgbClr val="22D3E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D / T</a:t>
            </a:r>
            <a:endParaRPr lang="en-US" sz="2800" dirty="0"/>
          </a:p>
        </p:txBody>
      </p:sp>
      <p:sp>
        <p:nvSpPr>
          <p:cNvPr id="17" name="fx5@pop|ex"/>
          <p:cNvSpPr txBox="1"/>
          <p:nvPr/>
        </p:nvSpPr>
        <p:spPr>
          <a:xfrm>
            <a:off x="4681728" y="269748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 / 1 s  =  72 km/h</a:t>
            </a:r>
            <a:endParaRPr lang="en-US" sz="1500" dirty="0"/>
          </a:p>
        </p:txBody>
      </p:sp>
      <p:sp>
        <p:nvSpPr>
          <p:cNvPr id="18" name="fx6|limits"/>
          <p:cNvSpPr txBox="1"/>
          <p:nvPr/>
        </p:nvSpPr>
        <p:spPr>
          <a:xfrm>
            <a:off x="4681728" y="320040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E2B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A: 60   •   LIMIT B: 80</a:t>
            </a:r>
            <a:endParaRPr lang="en-US" sz="1100" dirty="0"/>
          </a:p>
        </p:txBody>
      </p:sp>
      <p:sp>
        <p:nvSpPr>
          <p:cNvPr id="19" name="fx7|speed t"/>
          <p:cNvSpPr txBox="1"/>
          <p:nvPr/>
        </p:nvSpPr>
        <p:spPr>
          <a:xfrm>
            <a:off x="4498848" y="3703320"/>
            <a:ext cx="318211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500"/>
              </a:spcAft>
              <a:buNone/>
            </a:pPr>
            <a:r>
              <a:rPr lang="ar-SA" altLang="en-US" sz="1700" b="1" dirty="0">
                <a:solidFill>
                  <a:srgbClr val="22D3EE"/>
                </a:solidFill>
              </a:rPr>
              <a:t>تقدير سرعة المركبات</a:t>
            </a:r>
            <a:endParaRPr lang="ar-SA" sz="17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السرعة = المسافة ÷ الزمن، وتُحسب باستمرار أثناء الحركة</a:t>
            </a:r>
            <a:endParaRPr lang="ar-SA" sz="17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لكل موقع سرعة قانونية محددة مسبقاً</a:t>
            </a:r>
            <a:endParaRPr lang="ar-SA" sz="17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تجاوز السرعة القانونية يعني وجود مخالفة</a:t>
            </a:r>
            <a:endParaRPr lang="ar-SA" sz="1700" dirty="0"/>
          </a:p>
        </p:txBody>
      </p:sp>
      <p:pic>
        <p:nvPicPr>
          <p:cNvPr id="20" name="fx8@zoom|plate" descr="img/p_pla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2999232" cy="810603"/>
          </a:xfrm>
          <a:prstGeom prst="rect">
            <a:avLst/>
          </a:prstGeom>
        </p:spPr>
      </p:pic>
      <p:sp>
        <p:nvSpPr>
          <p:cNvPr id="21" name="fx9@zoom|pbox"/>
          <p:cNvSpPr/>
          <p:nvPr/>
        </p:nvSpPr>
        <p:spPr>
          <a:xfrm>
            <a:off x="822960" y="1920240"/>
            <a:ext cx="2999232" cy="810603"/>
          </a:xfrm>
          <a:prstGeom prst="rect">
            <a:avLst/>
          </a:prstGeom>
          <a:solidFill>
            <a:srgbClr val="F43F5E">
              <a:alpha val="0"/>
            </a:srgbClr>
          </a:solidFill>
          <a:ln w="31750">
            <a:solidFill>
              <a:srgbClr val="F43F5E"/>
            </a:solidFill>
            <a:prstDash val="solid"/>
          </a:ln>
        </p:spPr>
      </p:sp>
      <p:sp>
        <p:nvSpPr>
          <p:cNvPr id="22" name="fx10@pop|only#3d"/>
          <p:cNvSpPr txBox="1"/>
          <p:nvPr/>
        </p:nvSpPr>
        <p:spPr>
          <a:xfrm>
            <a:off x="822960" y="2880360"/>
            <a:ext cx="2999232" cy="365760"/>
          </a:xfrm>
          <a:prstGeom prst="rect">
            <a:avLst/>
          </a:prstGeom>
          <a:solidFill>
            <a:srgbClr val="F43F5E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ON VIOLATION</a:t>
            </a:r>
            <a:endParaRPr lang="en-US" sz="1200" dirty="0"/>
          </a:p>
        </p:txBody>
      </p:sp>
      <p:sp>
        <p:nvSpPr>
          <p:cNvPr id="23" name="fx11|plate t"/>
          <p:cNvSpPr txBox="1"/>
          <p:nvPr/>
        </p:nvSpPr>
        <p:spPr>
          <a:xfrm>
            <a:off x="731520" y="3703320"/>
            <a:ext cx="318211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500"/>
              </a:spcAft>
              <a:buNone/>
            </a:pPr>
            <a:r>
              <a:rPr lang="ar-SA" altLang="en-US" sz="1700" b="1" dirty="0">
                <a:solidFill>
                  <a:srgbClr val="F43F5E"/>
                </a:solidFill>
              </a:rPr>
              <a:t>التعرف على لوحات المركبات</a:t>
            </a:r>
            <a:endParaRPr lang="ar-SA" sz="17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تحديد منطقة اللوحة في صورة المركبة واستخراج رقمها</a:t>
            </a:r>
            <a:endParaRPr lang="ar-SA" sz="17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لا يتم لجميع المركبات، بل عند اكتشاف مخالفة سرعة</a:t>
            </a:r>
            <a:endParaRPr lang="ar-SA" sz="17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تقليل المعالجة غير الضرورية والتركيز على المخالفين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3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3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3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x0@move(0,-0.09,1500)|bar top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fx0@move(0,0.09,1500)|bar bottom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fx1|scene"/>
          <p:cNvSpPr txBox="1"/>
          <p:nvPr/>
        </p:nvSpPr>
        <p:spPr>
          <a:xfrm>
            <a:off x="548640" y="658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b="1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 04  •  TEAM 04</a:t>
            </a:r>
            <a:endParaRPr lang="en-US" sz="1300" dirty="0"/>
          </a:p>
        </p:txBody>
      </p:sp>
      <p:sp>
        <p:nvSpPr>
          <p:cNvPr id="5" name="fx1|kicker"/>
          <p:cNvSpPr txBox="1"/>
          <p:nvPr/>
        </p:nvSpPr>
        <p:spPr>
          <a:xfrm>
            <a:off x="5760720" y="658368"/>
            <a:ext cx="5879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4"/>
                </a:solidFill>
              </a:rPr>
              <a:t>IDENTITY VERIFIED  •  تم التعرّف على العضو</a:t>
            </a:r>
            <a:endParaRPr lang="ar-SA" sz="1400" dirty="0"/>
          </a:p>
        </p:txBody>
      </p:sp>
      <p:sp>
        <p:nvSpPr>
          <p:cNvPr id="6" name="Photo frame"/>
          <p:cNvSpPr/>
          <p:nvPr/>
        </p:nvSpPr>
        <p:spPr>
          <a:xfrm>
            <a:off x="777240" y="1188720"/>
            <a:ext cx="4297680" cy="4297680"/>
          </a:xfrm>
          <a:prstGeom prst="rect">
            <a:avLst/>
          </a:prstGeom>
          <a:solidFill>
            <a:srgbClr val="05070C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304800" dist="50800" dir="16200000">
              <a:srgbClr val="6366F1">
                <a:alpha val="45000"/>
              </a:srgbClr>
            </a:outerShdw>
          </a:effectLst>
        </p:spPr>
      </p:sp>
      <p:pic>
        <p:nvPicPr>
          <p:cNvPr id="7" name="fx1@zoom|photo s4" descr="مازن عبد المع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4206240" cy="4206240"/>
          </a:xfrm>
          <a:prstGeom prst="rect">
            <a:avLst/>
          </a:prstGeom>
        </p:spPr>
      </p:pic>
      <p:sp>
        <p:nvSpPr>
          <p:cNvPr id="8" name="fx2|brackets h0"/>
          <p:cNvSpPr/>
          <p:nvPr/>
        </p:nvSpPr>
        <p:spPr>
          <a:xfrm>
            <a:off x="594360" y="1005840"/>
            <a:ext cx="320040" cy="0"/>
          </a:xfrm>
          <a:prstGeom prst="line">
            <a:avLst/>
          </a:prstGeom>
          <a:noFill/>
          <a:ln w="31750">
            <a:solidFill>
              <a:srgbClr val="6366F1"/>
            </a:solidFill>
            <a:prstDash val="solid"/>
          </a:ln>
        </p:spPr>
      </p:sp>
      <p:sp>
        <p:nvSpPr>
          <p:cNvPr id="9" name="fx2|brackets v0"/>
          <p:cNvSpPr/>
          <p:nvPr/>
        </p:nvSpPr>
        <p:spPr>
          <a:xfrm>
            <a:off x="594360" y="1005840"/>
            <a:ext cx="0" cy="320040"/>
          </a:xfrm>
          <a:prstGeom prst="line">
            <a:avLst/>
          </a:prstGeom>
          <a:noFill/>
          <a:ln w="31750">
            <a:solidFill>
              <a:srgbClr val="6366F1"/>
            </a:solidFill>
            <a:prstDash val="solid"/>
          </a:ln>
        </p:spPr>
      </p:sp>
      <p:sp>
        <p:nvSpPr>
          <p:cNvPr id="10" name="fx2|brackets h1"/>
          <p:cNvSpPr/>
          <p:nvPr/>
        </p:nvSpPr>
        <p:spPr>
          <a:xfrm>
            <a:off x="4937760" y="1005840"/>
            <a:ext cx="320040" cy="0"/>
          </a:xfrm>
          <a:prstGeom prst="line">
            <a:avLst/>
          </a:prstGeom>
          <a:noFill/>
          <a:ln w="31750">
            <a:solidFill>
              <a:srgbClr val="6366F1"/>
            </a:solidFill>
            <a:prstDash val="solid"/>
          </a:ln>
        </p:spPr>
      </p:sp>
      <p:sp>
        <p:nvSpPr>
          <p:cNvPr id="11" name="fx2|brackets v1"/>
          <p:cNvSpPr/>
          <p:nvPr/>
        </p:nvSpPr>
        <p:spPr>
          <a:xfrm>
            <a:off x="5257800" y="1005840"/>
            <a:ext cx="0" cy="320040"/>
          </a:xfrm>
          <a:prstGeom prst="line">
            <a:avLst/>
          </a:prstGeom>
          <a:noFill/>
          <a:ln w="31750">
            <a:solidFill>
              <a:srgbClr val="6366F1"/>
            </a:solidFill>
            <a:prstDash val="solid"/>
          </a:ln>
        </p:spPr>
      </p:sp>
      <p:sp>
        <p:nvSpPr>
          <p:cNvPr id="12" name="fx2|brackets h2"/>
          <p:cNvSpPr/>
          <p:nvPr/>
        </p:nvSpPr>
        <p:spPr>
          <a:xfrm>
            <a:off x="594360" y="5669280"/>
            <a:ext cx="320040" cy="0"/>
          </a:xfrm>
          <a:prstGeom prst="line">
            <a:avLst/>
          </a:prstGeom>
          <a:noFill/>
          <a:ln w="31750">
            <a:solidFill>
              <a:srgbClr val="6366F1"/>
            </a:solidFill>
            <a:prstDash val="solid"/>
          </a:ln>
        </p:spPr>
      </p:sp>
      <p:sp>
        <p:nvSpPr>
          <p:cNvPr id="13" name="fx2|brackets v2"/>
          <p:cNvSpPr/>
          <p:nvPr/>
        </p:nvSpPr>
        <p:spPr>
          <a:xfrm>
            <a:off x="594360" y="5349240"/>
            <a:ext cx="0" cy="320040"/>
          </a:xfrm>
          <a:prstGeom prst="line">
            <a:avLst/>
          </a:prstGeom>
          <a:noFill/>
          <a:ln w="31750">
            <a:solidFill>
              <a:srgbClr val="6366F1"/>
            </a:solidFill>
            <a:prstDash val="solid"/>
          </a:ln>
        </p:spPr>
      </p:sp>
      <p:sp>
        <p:nvSpPr>
          <p:cNvPr id="14" name="fx2|brackets h3"/>
          <p:cNvSpPr/>
          <p:nvPr/>
        </p:nvSpPr>
        <p:spPr>
          <a:xfrm>
            <a:off x="4937760" y="5669280"/>
            <a:ext cx="320040" cy="0"/>
          </a:xfrm>
          <a:prstGeom prst="line">
            <a:avLst/>
          </a:prstGeom>
          <a:noFill/>
          <a:ln w="31750">
            <a:solidFill>
              <a:srgbClr val="6366F1"/>
            </a:solidFill>
            <a:prstDash val="solid"/>
          </a:ln>
        </p:spPr>
      </p:sp>
      <p:sp>
        <p:nvSpPr>
          <p:cNvPr id="15" name="fx2|brackets v3"/>
          <p:cNvSpPr/>
          <p:nvPr/>
        </p:nvSpPr>
        <p:spPr>
          <a:xfrm>
            <a:off x="5257800" y="5349240"/>
            <a:ext cx="0" cy="320040"/>
          </a:xfrm>
          <a:prstGeom prst="line">
            <a:avLst/>
          </a:prstGeom>
          <a:noFill/>
          <a:ln w="31750">
            <a:solidFill>
              <a:srgbClr val="6366F1"/>
            </a:solidFill>
            <a:prstDash val="solid"/>
          </a:ln>
        </p:spPr>
      </p:sp>
      <p:pic>
        <p:nvPicPr>
          <p:cNvPr id="16" name="fx2@move(0,0.6,1800)|scan" descr="img/scan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4206240" cy="457200"/>
          </a:xfrm>
          <a:prstGeom prst="rect">
            <a:avLst/>
          </a:prstGeom>
        </p:spPr>
      </p:pic>
      <p:sp>
        <p:nvSpPr>
          <p:cNvPr id="17" name="fx4@zoom|face box"/>
          <p:cNvSpPr/>
          <p:nvPr/>
        </p:nvSpPr>
        <p:spPr>
          <a:xfrm>
            <a:off x="1664208" y="1486814"/>
            <a:ext cx="2523744" cy="2944368"/>
          </a:xfrm>
          <a:prstGeom prst="rect">
            <a:avLst/>
          </a:prstGeom>
          <a:solidFill>
            <a:srgbClr val="10B981">
              <a:alpha val="0"/>
            </a:srgbClr>
          </a:solidFill>
          <a:ln w="31750">
            <a:solidFill>
              <a:srgbClr val="10B981"/>
            </a:solidFill>
            <a:prstDash val="solid"/>
          </a:ln>
        </p:spPr>
      </p:sp>
      <p:sp>
        <p:nvSpPr>
          <p:cNvPr id="18" name="fx5@pop|face tag"/>
          <p:cNvSpPr txBox="1"/>
          <p:nvPr/>
        </p:nvSpPr>
        <p:spPr>
          <a:xfrm>
            <a:off x="1664208" y="1212494"/>
            <a:ext cx="2844333" cy="33467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 04  •  MATCH 0.99</a:t>
            </a:r>
            <a:endParaRPr lang="en-US" sz="1100" dirty="0"/>
          </a:p>
        </p:txBody>
      </p:sp>
      <p:sp>
        <p:nvSpPr>
          <p:cNvPr id="19" name="fx3|card#3d"/>
          <p:cNvSpPr/>
          <p:nvPr/>
        </p:nvSpPr>
        <p:spPr>
          <a:xfrm>
            <a:off x="5760720" y="1234440"/>
            <a:ext cx="5879592" cy="4709160"/>
          </a:xfrm>
          <a:prstGeom prst="roundRect">
            <a:avLst>
              <a:gd name="adj" fmla="val 2718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3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0" name="fx3|card head"/>
          <p:cNvSpPr txBox="1"/>
          <p:nvPr/>
        </p:nvSpPr>
        <p:spPr>
          <a:xfrm>
            <a:off x="5760720" y="1234440"/>
            <a:ext cx="5879592" cy="548640"/>
          </a:xfrm>
          <a:prstGeom prst="roundRect">
            <a:avLst>
              <a:gd name="adj" fmla="val 23333"/>
            </a:avLst>
          </a:prstGeom>
          <a:solidFill>
            <a:srgbClr val="6366F1"/>
          </a:solidFill>
          <a:ln/>
        </p:spPr>
        <p:txBody>
          <a:bodyPr wrap="square" lIns="0" tIns="3810" rIns="3810" bIns="0" rtlCol="0" anchor="ctr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0A0E1A"/>
                </a:solidFill>
              </a:rPr>
              <a:t>بطاقة عضو الفريق</a:t>
            </a:r>
            <a:endParaRPr lang="ar-SA" sz="1700" dirty="0"/>
          </a:p>
        </p:txBody>
      </p:sp>
      <p:sp>
        <p:nvSpPr>
          <p:cNvPr id="21" name="fx3|card head en"/>
          <p:cNvSpPr txBox="1"/>
          <p:nvPr/>
        </p:nvSpPr>
        <p:spPr>
          <a:xfrm>
            <a:off x="6035040" y="13441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MEMBER ID</a:t>
            </a:r>
            <a:endParaRPr lang="en-US" sz="1200" dirty="0"/>
          </a:p>
        </p:txBody>
      </p:sp>
      <p:sp>
        <p:nvSpPr>
          <p:cNvPr id="22" name="fx6|lab1"/>
          <p:cNvSpPr txBox="1"/>
          <p:nvPr/>
        </p:nvSpPr>
        <p:spPr>
          <a:xfrm>
            <a:off x="6035040" y="196596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الاسم  •  Name</a:t>
            </a:r>
            <a:endParaRPr lang="ar-SA" sz="1200" dirty="0"/>
          </a:p>
        </p:txBody>
      </p:sp>
      <p:sp>
        <p:nvSpPr>
          <p:cNvPr id="23" name="fx6|name"/>
          <p:cNvSpPr txBox="1"/>
          <p:nvPr/>
        </p:nvSpPr>
        <p:spPr>
          <a:xfrm>
            <a:off x="6035040" y="2240280"/>
            <a:ext cx="5330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FFFFFF"/>
                </a:solidFill>
              </a:rPr>
              <a:t>مازن عبد المعز</a:t>
            </a:r>
            <a:endParaRPr lang="ar-SA" sz="2600" dirty="0"/>
          </a:p>
        </p:txBody>
      </p:sp>
      <p:sp>
        <p:nvSpPr>
          <p:cNvPr id="24" name="fx6|en"/>
          <p:cNvSpPr txBox="1"/>
          <p:nvPr/>
        </p:nvSpPr>
        <p:spPr>
          <a:xfrm>
            <a:off x="6035040" y="2743200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6366F1"/>
                </a:solidFill>
              </a:rPr>
              <a:t>Mazen Abdulmoez</a:t>
            </a:r>
            <a:endParaRPr lang="en-US" sz="1300" dirty="0"/>
          </a:p>
        </p:txBody>
      </p:sp>
      <p:sp>
        <p:nvSpPr>
          <p:cNvPr id="25" name="fx7|lab2"/>
          <p:cNvSpPr txBox="1"/>
          <p:nvPr/>
        </p:nvSpPr>
        <p:spPr>
          <a:xfrm>
            <a:off x="6035040" y="32461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الجزء الذي يعرضه  •  Presenting</a:t>
            </a:r>
            <a:endParaRPr lang="ar-SA" sz="1200" dirty="0"/>
          </a:p>
        </p:txBody>
      </p:sp>
      <p:sp>
        <p:nvSpPr>
          <p:cNvPr id="26" name="fx8@pop|part#3d"/>
          <p:cNvSpPr txBox="1"/>
          <p:nvPr/>
        </p:nvSpPr>
        <p:spPr>
          <a:xfrm>
            <a:off x="6035040" y="3611880"/>
            <a:ext cx="5330952" cy="475488"/>
          </a:xfrm>
          <a:prstGeom prst="roundRect">
            <a:avLst>
              <a:gd name="adj" fmla="val 19231"/>
            </a:avLst>
          </a:prstGeom>
          <a:solidFill>
            <a:srgbClr val="0B1426"/>
          </a:solidFill>
          <a:ln w="12700">
            <a:solidFill>
              <a:srgbClr val="6366F1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2540" rIns="254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الخوارزميات والتقنيات المعتمدة</a:t>
            </a:r>
            <a:endParaRPr lang="ar-SA" sz="1700" dirty="0"/>
          </a:p>
        </p:txBody>
      </p:sp>
      <p:sp>
        <p:nvSpPr>
          <p:cNvPr id="27" name="fx9@pop|part#3d"/>
          <p:cNvSpPr txBox="1"/>
          <p:nvPr/>
        </p:nvSpPr>
        <p:spPr>
          <a:xfrm>
            <a:off x="6035040" y="4178808"/>
            <a:ext cx="5330952" cy="475488"/>
          </a:xfrm>
          <a:prstGeom prst="roundRect">
            <a:avLst>
              <a:gd name="adj" fmla="val 19231"/>
            </a:avLst>
          </a:prstGeom>
          <a:solidFill>
            <a:srgbClr val="0B1426"/>
          </a:solidFill>
          <a:ln w="12700">
            <a:solidFill>
              <a:srgbClr val="6366F1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2540" rIns="254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الدراسات السابقة</a:t>
            </a:r>
            <a:endParaRPr lang="ar-SA" sz="1700" dirty="0"/>
          </a:p>
        </p:txBody>
      </p:sp>
      <p:sp>
        <p:nvSpPr>
          <p:cNvPr id="28" name="fx10@pop|plate#3d"/>
          <p:cNvSpPr txBox="1"/>
          <p:nvPr/>
        </p:nvSpPr>
        <p:spPr>
          <a:xfrm>
            <a:off x="6035040" y="5047488"/>
            <a:ext cx="2286000" cy="694944"/>
          </a:xfrm>
          <a:prstGeom prst="roundRect">
            <a:avLst>
              <a:gd name="adj" fmla="val 7895"/>
            </a:avLst>
          </a:prstGeom>
          <a:solidFill>
            <a:srgbClr val="F5F5F0"/>
          </a:solidFill>
          <a:ln w="25400">
            <a:solidFill>
              <a:srgbClr val="111111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04</a:t>
            </a:r>
            <a:endParaRPr lang="en-US" sz="24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333333"/>
                </a:solidFill>
              </a:rPr>
              <a:t>YEMEN  •  اليمن</a:t>
            </a:r>
            <a:endParaRPr lang="en-US" sz="2400" dirty="0"/>
          </a:p>
        </p:txBody>
      </p:sp>
      <p:sp>
        <p:nvSpPr>
          <p:cNvPr id="29" name="fx10|code"/>
          <p:cNvSpPr txBox="1"/>
          <p:nvPr/>
        </p:nvSpPr>
        <p:spPr>
          <a:xfrm>
            <a:off x="9262872" y="5257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UST-IBB  •  2026</a:t>
            </a:r>
            <a:endParaRPr lang="en-US" sz="1200" dirty="0"/>
          </a:p>
        </p:txBody>
      </p:sp>
      <p:sp>
        <p:nvSpPr>
          <p:cNvPr id="31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2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 -0.09 E" pathEditMode="relative" ptsTypes="AA">
                                      <p:cBhvr>
                                        <p:cTn id="6" dur="1500" accel="20000" decel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 0.09 E" pathEditMode="relative" ptsTypes="AA">
                                      <p:cBhvr>
                                        <p:cTn id="8" dur="1500" accel="20000" decel="3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0" presetClass="path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animMotion origin="layout" path="M 0 0 L 0 0.6 E" pathEditMode="relative" ptsTypes="AA">
                                      <p:cBhvr>
                                        <p:cTn id="55" dur="1800" accel="20000" decel="3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3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3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3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3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3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3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818CF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مازن عبد المعز  •  الخوارزميات 1 / 3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الخوارزميات والتقنيات المعتمدة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YOLO  •  ByteTrack</a:t>
            </a:r>
            <a:endParaRPr lang="en-US" sz="1500" dirty="0"/>
          </a:p>
        </p:txBody>
      </p:sp>
      <p:sp>
        <p:nvSpPr>
          <p:cNvPr id="5" name="!!pp0"/>
          <p:cNvSpPr txBox="1"/>
          <p:nvPr/>
        </p:nvSpPr>
        <p:spPr>
          <a:xfrm>
            <a:off x="548640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818CF8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YOLO</a:t>
            </a:r>
            <a:endParaRPr lang="en-US" sz="1100" dirty="0"/>
          </a:p>
        </p:txBody>
      </p:sp>
      <p:sp>
        <p:nvSpPr>
          <p:cNvPr id="6" name="!!ppa0"/>
          <p:cNvSpPr/>
          <p:nvPr/>
        </p:nvSpPr>
        <p:spPr>
          <a:xfrm>
            <a:off x="1947672" y="1627632"/>
            <a:ext cx="146304" cy="164592"/>
          </a:xfrm>
          <a:prstGeom prst="rightArrow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!!pp1"/>
          <p:cNvSpPr txBox="1"/>
          <p:nvPr/>
        </p:nvSpPr>
        <p:spPr>
          <a:xfrm>
            <a:off x="2121408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818CF8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ByteTrack</a:t>
            </a:r>
            <a:endParaRPr lang="en-US" sz="1100" dirty="0"/>
          </a:p>
        </p:txBody>
      </p:sp>
      <p:sp>
        <p:nvSpPr>
          <p:cNvPr id="8" name="!!ppa1"/>
          <p:cNvSpPr/>
          <p:nvPr/>
        </p:nvSpPr>
        <p:spPr>
          <a:xfrm>
            <a:off x="3520440" y="1627632"/>
            <a:ext cx="146304" cy="164592"/>
          </a:xfrm>
          <a:prstGeom prst="rightArrow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!!pp2"/>
          <p:cNvSpPr txBox="1"/>
          <p:nvPr/>
        </p:nvSpPr>
        <p:spPr>
          <a:xfrm>
            <a:off x="3694176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B1426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B8C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Homography</a:t>
            </a:r>
            <a:endParaRPr lang="en-US" sz="1100" dirty="0"/>
          </a:p>
        </p:txBody>
      </p:sp>
      <p:sp>
        <p:nvSpPr>
          <p:cNvPr id="10" name="!!ppa2"/>
          <p:cNvSpPr/>
          <p:nvPr/>
        </p:nvSpPr>
        <p:spPr>
          <a:xfrm>
            <a:off x="5093208" y="1627632"/>
            <a:ext cx="146304" cy="164592"/>
          </a:xfrm>
          <a:prstGeom prst="rightArrow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!!pp3"/>
          <p:cNvSpPr txBox="1"/>
          <p:nvPr/>
        </p:nvSpPr>
        <p:spPr>
          <a:xfrm>
            <a:off x="5266944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B1426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B8C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Est.</a:t>
            </a:r>
            <a:endParaRPr lang="en-US" sz="1100" dirty="0"/>
          </a:p>
        </p:txBody>
      </p:sp>
      <p:sp>
        <p:nvSpPr>
          <p:cNvPr id="12" name="!!ppa3"/>
          <p:cNvSpPr/>
          <p:nvPr/>
        </p:nvSpPr>
        <p:spPr>
          <a:xfrm>
            <a:off x="6665976" y="1627632"/>
            <a:ext cx="146304" cy="164592"/>
          </a:xfrm>
          <a:prstGeom prst="rightArrow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!!pp4"/>
          <p:cNvSpPr txBox="1"/>
          <p:nvPr/>
        </p:nvSpPr>
        <p:spPr>
          <a:xfrm>
            <a:off x="6839712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B1426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B8C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14" name="!!ppa4"/>
          <p:cNvSpPr/>
          <p:nvPr/>
        </p:nvSpPr>
        <p:spPr>
          <a:xfrm>
            <a:off x="8238744" y="1627632"/>
            <a:ext cx="146304" cy="164592"/>
          </a:xfrm>
          <a:prstGeom prst="rightArrow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!!pp5"/>
          <p:cNvSpPr txBox="1"/>
          <p:nvPr/>
        </p:nvSpPr>
        <p:spPr>
          <a:xfrm>
            <a:off x="8412480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B1426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B8C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PaddleOCR</a:t>
            </a:r>
            <a:endParaRPr lang="en-US" sz="1100" dirty="0"/>
          </a:p>
        </p:txBody>
      </p:sp>
      <p:sp>
        <p:nvSpPr>
          <p:cNvPr id="16" name="!!ppa5"/>
          <p:cNvSpPr/>
          <p:nvPr/>
        </p:nvSpPr>
        <p:spPr>
          <a:xfrm>
            <a:off x="9811512" y="1627632"/>
            <a:ext cx="146304" cy="164592"/>
          </a:xfrm>
          <a:prstGeom prst="rightArrow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!!pp6"/>
          <p:cNvSpPr txBox="1"/>
          <p:nvPr/>
        </p:nvSpPr>
        <p:spPr>
          <a:xfrm>
            <a:off x="9985248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B1426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B8C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Match</a:t>
            </a:r>
            <a:endParaRPr lang="en-US" sz="1100" dirty="0"/>
          </a:p>
        </p:txBody>
      </p:sp>
      <p:sp>
        <p:nvSpPr>
          <p:cNvPr id="18" name="!!ppend"/>
          <p:cNvSpPr txBox="1"/>
          <p:nvPr/>
        </p:nvSpPr>
        <p:spPr>
          <a:xfrm>
            <a:off x="11539728" y="1481328"/>
            <a:ext cx="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altLang="en-US" dirty="0">
                <a:solidFill>
                  <a:srgbClr val="000000"/>
                </a:solidFill>
              </a:rPr>
              <a:t>REC</a:t>
            </a:r>
            <a:endParaRPr lang="en-US" dirty="0"/>
          </a:p>
        </p:txBody>
      </p:sp>
      <p:sp>
        <p:nvSpPr>
          <p:cNvPr id="19" name="fx1|card#3d"/>
          <p:cNvSpPr/>
          <p:nvPr/>
        </p:nvSpPr>
        <p:spPr>
          <a:xfrm>
            <a:off x="6172200" y="2148840"/>
            <a:ext cx="5468112" cy="4069080"/>
          </a:xfrm>
          <a:prstGeom prst="roundRect">
            <a:avLst>
              <a:gd name="adj" fmla="val 3146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0" name="fx1|en"/>
          <p:cNvSpPr txBox="1"/>
          <p:nvPr/>
        </p:nvSpPr>
        <p:spPr>
          <a:xfrm>
            <a:off x="6400800" y="2240280"/>
            <a:ext cx="5010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800" b="1" dirty="0">
                <a:solidFill>
                  <a:srgbClr val="FFFFFF"/>
                </a:solidFill>
              </a:rPr>
              <a:t>YOLO</a:t>
            </a:r>
            <a:endParaRPr lang="en-US" sz="2800" dirty="0"/>
          </a:p>
        </p:txBody>
      </p:sp>
      <p:sp>
        <p:nvSpPr>
          <p:cNvPr id="21" name="fx1|ar"/>
          <p:cNvSpPr txBox="1"/>
          <p:nvPr/>
        </p:nvSpPr>
        <p:spPr>
          <a:xfrm>
            <a:off x="6400800" y="281635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22D3EE"/>
                </a:solidFill>
              </a:rPr>
              <a:t>You Only Look Once — اكتشاف المركبات</a:t>
            </a:r>
            <a:endParaRPr lang="ar-SA" sz="1400" dirty="0"/>
          </a:p>
        </p:txBody>
      </p:sp>
      <p:sp>
        <p:nvSpPr>
          <p:cNvPr id="22" name="fx2|q"/>
          <p:cNvSpPr txBox="1"/>
          <p:nvPr/>
        </p:nvSpPr>
        <p:spPr>
          <a:xfrm>
            <a:off x="6400800" y="3246120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E2BA52"/>
                </a:solidFill>
              </a:rPr>
              <a:t>«ما المركبات الموجودة في الصورة وأين توجد؟»</a:t>
            </a:r>
            <a:endParaRPr lang="ar-SA" sz="1400" dirty="0"/>
          </a:p>
        </p:txBody>
      </p:sp>
      <p:sp>
        <p:nvSpPr>
          <p:cNvPr id="23" name="fx3|items"/>
          <p:cNvSpPr txBox="1"/>
          <p:nvPr/>
        </p:nvSpPr>
        <p:spPr>
          <a:xfrm>
            <a:off x="6400800" y="3794760"/>
            <a:ext cx="50109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Bounding Box: مربع الإحاطة يحدد موقع المركبة</a:t>
            </a:r>
            <a:endParaRPr lang="ar-SA" sz="135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Class: نوع المركبة Car • Bus • Truck • Motorcycle</a:t>
            </a:r>
            <a:endParaRPr lang="ar-SA" sz="135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Confidence: درجة الثقة في صحة الاكتشاف</a:t>
            </a:r>
            <a:endParaRPr lang="ar-SA" sz="135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إرسال نتائج الاكتشاف إلى ByteTrack</a:t>
            </a:r>
            <a:endParaRPr lang="ar-SA" sz="1350" dirty="0"/>
          </a:p>
        </p:txBody>
      </p:sp>
      <p:sp>
        <p:nvSpPr>
          <p:cNvPr id="24" name="fx4|card#3d"/>
          <p:cNvSpPr/>
          <p:nvPr/>
        </p:nvSpPr>
        <p:spPr>
          <a:xfrm>
            <a:off x="548640" y="2148840"/>
            <a:ext cx="5468112" cy="4069080"/>
          </a:xfrm>
          <a:prstGeom prst="roundRect">
            <a:avLst>
              <a:gd name="adj" fmla="val 3146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E2BA52">
                <a:alpha val="55000"/>
              </a:srgb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5" name="fx4|en"/>
          <p:cNvSpPr txBox="1"/>
          <p:nvPr/>
        </p:nvSpPr>
        <p:spPr>
          <a:xfrm>
            <a:off x="777240" y="2240280"/>
            <a:ext cx="5010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800" b="1" dirty="0">
                <a:solidFill>
                  <a:srgbClr val="FFFFFF"/>
                </a:solidFill>
              </a:rPr>
              <a:t>ByteTrack</a:t>
            </a:r>
            <a:endParaRPr lang="en-US" sz="2800" dirty="0"/>
          </a:p>
        </p:txBody>
      </p:sp>
      <p:sp>
        <p:nvSpPr>
          <p:cNvPr id="26" name="fx4|ar"/>
          <p:cNvSpPr txBox="1"/>
          <p:nvPr/>
        </p:nvSpPr>
        <p:spPr>
          <a:xfrm>
            <a:off x="777240" y="281635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E2BA52"/>
                </a:solidFill>
              </a:rPr>
              <a:t>تتبع المركبات بين الإطارات</a:t>
            </a:r>
            <a:endParaRPr lang="ar-SA" sz="1400" dirty="0"/>
          </a:p>
        </p:txBody>
      </p:sp>
      <p:sp>
        <p:nvSpPr>
          <p:cNvPr id="27" name="fx5|q"/>
          <p:cNvSpPr txBox="1"/>
          <p:nvPr/>
        </p:nvSpPr>
        <p:spPr>
          <a:xfrm>
            <a:off x="777240" y="3246120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E2BA52"/>
                </a:solidFill>
              </a:rPr>
              <a:t>«أين تحركت المركبة نفسها خلال فترة زمنية محددة؟»</a:t>
            </a:r>
            <a:endParaRPr lang="ar-SA" sz="1400" dirty="0"/>
          </a:p>
        </p:txBody>
      </p:sp>
      <p:sp>
        <p:nvSpPr>
          <p:cNvPr id="28" name="fx6|items"/>
          <p:cNvSpPr txBox="1"/>
          <p:nvPr/>
        </p:nvSpPr>
        <p:spPr>
          <a:xfrm>
            <a:off x="777240" y="3794760"/>
            <a:ext cx="50109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Track ID: معرّف خاص ثابت لكل مركبة</a:t>
            </a:r>
            <a:endParaRPr lang="ar-SA" sz="135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إنشاء مسار حركة المركبة عبر الإطارات</a:t>
            </a:r>
            <a:endParaRPr lang="ar-SA" sz="135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تتبع عدة مركبات في الوقت نفسه دون خلط</a:t>
            </a:r>
            <a:endParaRPr lang="ar-SA" sz="135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توفير بيانات التتبع اللازمة لحساب السرعة</a:t>
            </a:r>
            <a:endParaRPr lang="ar-SA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818CF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مازن عبد المعز  •  الخوارزميات 2 / 3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الخوارزميات والتقنيات المعتمدة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Homography  •  Speed Estimation  •  Speed Threshold</a:t>
            </a:r>
            <a:endParaRPr lang="en-US" sz="1500" dirty="0"/>
          </a:p>
        </p:txBody>
      </p:sp>
      <p:sp>
        <p:nvSpPr>
          <p:cNvPr id="5" name="!!pp0"/>
          <p:cNvSpPr txBox="1"/>
          <p:nvPr/>
        </p:nvSpPr>
        <p:spPr>
          <a:xfrm>
            <a:off x="548640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B1426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B8C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YOLO</a:t>
            </a:r>
            <a:endParaRPr lang="en-US" sz="1100" dirty="0"/>
          </a:p>
        </p:txBody>
      </p:sp>
      <p:sp>
        <p:nvSpPr>
          <p:cNvPr id="6" name="!!ppa0"/>
          <p:cNvSpPr/>
          <p:nvPr/>
        </p:nvSpPr>
        <p:spPr>
          <a:xfrm>
            <a:off x="1947672" y="1627632"/>
            <a:ext cx="146304" cy="164592"/>
          </a:xfrm>
          <a:prstGeom prst="rightArrow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!!pp1"/>
          <p:cNvSpPr txBox="1"/>
          <p:nvPr/>
        </p:nvSpPr>
        <p:spPr>
          <a:xfrm>
            <a:off x="2121408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B1426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B8C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ByteTrack</a:t>
            </a:r>
            <a:endParaRPr lang="en-US" sz="1100" dirty="0"/>
          </a:p>
        </p:txBody>
      </p:sp>
      <p:sp>
        <p:nvSpPr>
          <p:cNvPr id="8" name="!!ppa1"/>
          <p:cNvSpPr/>
          <p:nvPr/>
        </p:nvSpPr>
        <p:spPr>
          <a:xfrm>
            <a:off x="3520440" y="1627632"/>
            <a:ext cx="146304" cy="164592"/>
          </a:xfrm>
          <a:prstGeom prst="rightArrow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!!pp2"/>
          <p:cNvSpPr txBox="1"/>
          <p:nvPr/>
        </p:nvSpPr>
        <p:spPr>
          <a:xfrm>
            <a:off x="3694176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818CF8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Homography</a:t>
            </a:r>
            <a:endParaRPr lang="en-US" sz="1100" dirty="0"/>
          </a:p>
        </p:txBody>
      </p:sp>
      <p:sp>
        <p:nvSpPr>
          <p:cNvPr id="10" name="!!ppa2"/>
          <p:cNvSpPr/>
          <p:nvPr/>
        </p:nvSpPr>
        <p:spPr>
          <a:xfrm>
            <a:off x="5093208" y="1627632"/>
            <a:ext cx="146304" cy="164592"/>
          </a:xfrm>
          <a:prstGeom prst="rightArrow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!!pp3"/>
          <p:cNvSpPr txBox="1"/>
          <p:nvPr/>
        </p:nvSpPr>
        <p:spPr>
          <a:xfrm>
            <a:off x="5266944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818CF8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Est.</a:t>
            </a:r>
            <a:endParaRPr lang="en-US" sz="1100" dirty="0"/>
          </a:p>
        </p:txBody>
      </p:sp>
      <p:sp>
        <p:nvSpPr>
          <p:cNvPr id="12" name="!!ppa3"/>
          <p:cNvSpPr/>
          <p:nvPr/>
        </p:nvSpPr>
        <p:spPr>
          <a:xfrm>
            <a:off x="6665976" y="1627632"/>
            <a:ext cx="146304" cy="164592"/>
          </a:xfrm>
          <a:prstGeom prst="rightArrow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!!pp4"/>
          <p:cNvSpPr txBox="1"/>
          <p:nvPr/>
        </p:nvSpPr>
        <p:spPr>
          <a:xfrm>
            <a:off x="6839712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818CF8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14" name="!!ppa4"/>
          <p:cNvSpPr/>
          <p:nvPr/>
        </p:nvSpPr>
        <p:spPr>
          <a:xfrm>
            <a:off x="8238744" y="1627632"/>
            <a:ext cx="146304" cy="164592"/>
          </a:xfrm>
          <a:prstGeom prst="rightArrow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!!pp5"/>
          <p:cNvSpPr txBox="1"/>
          <p:nvPr/>
        </p:nvSpPr>
        <p:spPr>
          <a:xfrm>
            <a:off x="8412480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B1426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B8C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PaddleOCR</a:t>
            </a:r>
            <a:endParaRPr lang="en-US" sz="1100" dirty="0"/>
          </a:p>
        </p:txBody>
      </p:sp>
      <p:sp>
        <p:nvSpPr>
          <p:cNvPr id="16" name="!!ppa5"/>
          <p:cNvSpPr/>
          <p:nvPr/>
        </p:nvSpPr>
        <p:spPr>
          <a:xfrm>
            <a:off x="9811512" y="1627632"/>
            <a:ext cx="146304" cy="164592"/>
          </a:xfrm>
          <a:prstGeom prst="rightArrow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!!pp6"/>
          <p:cNvSpPr txBox="1"/>
          <p:nvPr/>
        </p:nvSpPr>
        <p:spPr>
          <a:xfrm>
            <a:off x="9985248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B1426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B8C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Match</a:t>
            </a:r>
            <a:endParaRPr lang="en-US" sz="1100" dirty="0"/>
          </a:p>
        </p:txBody>
      </p:sp>
      <p:sp>
        <p:nvSpPr>
          <p:cNvPr id="18" name="!!ppend"/>
          <p:cNvSpPr txBox="1"/>
          <p:nvPr/>
        </p:nvSpPr>
        <p:spPr>
          <a:xfrm>
            <a:off x="11539728" y="1481328"/>
            <a:ext cx="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altLang="en-US" dirty="0">
                <a:solidFill>
                  <a:srgbClr val="000000"/>
                </a:solidFill>
              </a:rPr>
              <a:t>REC</a:t>
            </a:r>
            <a:endParaRPr lang="en-US" dirty="0"/>
          </a:p>
        </p:txBody>
      </p:sp>
      <p:sp>
        <p:nvSpPr>
          <p:cNvPr id="19" name="fx1|card#3d"/>
          <p:cNvSpPr/>
          <p:nvPr/>
        </p:nvSpPr>
        <p:spPr>
          <a:xfrm>
            <a:off x="8092440" y="2148840"/>
            <a:ext cx="3547872" cy="4069080"/>
          </a:xfrm>
          <a:prstGeom prst="roundRect">
            <a:avLst>
              <a:gd name="adj" fmla="val 3608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22D3EE">
                <a:alpha val="55000"/>
              </a:srgb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0" name="fx1|en"/>
          <p:cNvSpPr txBox="1"/>
          <p:nvPr/>
        </p:nvSpPr>
        <p:spPr>
          <a:xfrm>
            <a:off x="8321040" y="2240280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800" b="1" dirty="0">
                <a:solidFill>
                  <a:srgbClr val="FFFFFF"/>
                </a:solidFill>
              </a:rPr>
              <a:t>Homography</a:t>
            </a:r>
            <a:endParaRPr lang="en-US" sz="2800" dirty="0"/>
          </a:p>
        </p:txBody>
      </p:sp>
      <p:sp>
        <p:nvSpPr>
          <p:cNvPr id="21" name="fx1|ar"/>
          <p:cNvSpPr txBox="1"/>
          <p:nvPr/>
        </p:nvSpPr>
        <p:spPr>
          <a:xfrm>
            <a:off x="8321040" y="281635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22D3EE"/>
                </a:solidFill>
              </a:rPr>
              <a:t>التحويل المنظوري</a:t>
            </a:r>
            <a:endParaRPr lang="ar-SA" sz="1400" dirty="0"/>
          </a:p>
        </p:txBody>
      </p:sp>
      <p:sp>
        <p:nvSpPr>
          <p:cNvPr id="22" name="fx3|items"/>
          <p:cNvSpPr txBox="1"/>
          <p:nvPr/>
        </p:nvSpPr>
        <p:spPr>
          <a:xfrm>
            <a:off x="8321040" y="3291840"/>
            <a:ext cx="309067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تحويل إحداثيات الصورة إلى مستوى الطريق</a:t>
            </a:r>
            <a:endParaRPr lang="ar-SA" sz="15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لدعم تقدير المسافة الفعلية</a:t>
            </a:r>
            <a:endParaRPr lang="ar-SA" sz="15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يعتمد على معايرة الطريق</a:t>
            </a:r>
            <a:endParaRPr lang="ar-SA" sz="1500" dirty="0"/>
          </a:p>
        </p:txBody>
      </p:sp>
      <p:sp>
        <p:nvSpPr>
          <p:cNvPr id="23" name="fx4|card#3d"/>
          <p:cNvSpPr/>
          <p:nvPr/>
        </p:nvSpPr>
        <p:spPr>
          <a:xfrm>
            <a:off x="4315968" y="2148840"/>
            <a:ext cx="3547872" cy="4069080"/>
          </a:xfrm>
          <a:prstGeom prst="roundRect">
            <a:avLst>
              <a:gd name="adj" fmla="val 3608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E2BA52">
                <a:alpha val="55000"/>
              </a:srgb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4" name="fx4|en"/>
          <p:cNvSpPr txBox="1"/>
          <p:nvPr/>
        </p:nvSpPr>
        <p:spPr>
          <a:xfrm>
            <a:off x="4544568" y="2240280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800" b="1" dirty="0">
                <a:solidFill>
                  <a:srgbClr val="FFFFFF"/>
                </a:solidFill>
              </a:rPr>
              <a:t>Speed Estimation</a:t>
            </a:r>
            <a:endParaRPr lang="en-US" sz="2800" dirty="0"/>
          </a:p>
        </p:txBody>
      </p:sp>
      <p:sp>
        <p:nvSpPr>
          <p:cNvPr id="25" name="fx4|ar"/>
          <p:cNvSpPr txBox="1"/>
          <p:nvPr/>
        </p:nvSpPr>
        <p:spPr>
          <a:xfrm>
            <a:off x="4544568" y="281635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E2BA52"/>
                </a:solidFill>
              </a:rPr>
              <a:t>حساب السرعة</a:t>
            </a:r>
            <a:endParaRPr lang="ar-SA" sz="1400" dirty="0"/>
          </a:p>
        </p:txBody>
      </p:sp>
      <p:sp>
        <p:nvSpPr>
          <p:cNvPr id="26" name="fx6|items"/>
          <p:cNvSpPr txBox="1"/>
          <p:nvPr/>
        </p:nvSpPr>
        <p:spPr>
          <a:xfrm>
            <a:off x="4544568" y="3291840"/>
            <a:ext cx="309067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V = D / T</a:t>
            </a:r>
            <a:endParaRPr lang="ar-SA" sz="15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V: سرعة المركبة</a:t>
            </a:r>
            <a:endParaRPr lang="ar-SA" sz="15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D: المسافة الحقيقية المقطوعة</a:t>
            </a:r>
            <a:endParaRPr lang="ar-SA" sz="15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T: الزمن المستغرق</a:t>
            </a:r>
            <a:endParaRPr lang="ar-SA" sz="15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تحويل الناتج إلى km/h</a:t>
            </a:r>
            <a:endParaRPr lang="ar-SA" sz="1500" dirty="0"/>
          </a:p>
        </p:txBody>
      </p:sp>
      <p:sp>
        <p:nvSpPr>
          <p:cNvPr id="27" name="fx7|card#3d"/>
          <p:cNvSpPr/>
          <p:nvPr/>
        </p:nvSpPr>
        <p:spPr>
          <a:xfrm>
            <a:off x="548640" y="2148840"/>
            <a:ext cx="3547872" cy="4069080"/>
          </a:xfrm>
          <a:prstGeom prst="roundRect">
            <a:avLst>
              <a:gd name="adj" fmla="val 3608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F43F5E">
                <a:alpha val="55000"/>
              </a:srgb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8" name="fx7|en"/>
          <p:cNvSpPr txBox="1"/>
          <p:nvPr/>
        </p:nvSpPr>
        <p:spPr>
          <a:xfrm>
            <a:off x="777240" y="2240280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800" b="1" dirty="0">
                <a:solidFill>
                  <a:srgbClr val="FFFFFF"/>
                </a:solidFill>
              </a:rPr>
              <a:t>Speed Threshold</a:t>
            </a:r>
            <a:endParaRPr lang="en-US" sz="2800" dirty="0"/>
          </a:p>
        </p:txBody>
      </p:sp>
      <p:sp>
        <p:nvSpPr>
          <p:cNvPr id="29" name="fx7|ar"/>
          <p:cNvSpPr txBox="1"/>
          <p:nvPr/>
        </p:nvSpPr>
        <p:spPr>
          <a:xfrm>
            <a:off x="777240" y="281635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43F5E"/>
                </a:solidFill>
              </a:rPr>
              <a:t>مقارنة بالحد القانوني</a:t>
            </a:r>
            <a:endParaRPr lang="ar-SA" sz="1400" dirty="0"/>
          </a:p>
        </p:txBody>
      </p:sp>
      <p:sp>
        <p:nvSpPr>
          <p:cNvPr id="30" name="fx9|items"/>
          <p:cNvSpPr txBox="1"/>
          <p:nvPr/>
        </p:nvSpPr>
        <p:spPr>
          <a:xfrm>
            <a:off x="777240" y="3291840"/>
            <a:ext cx="309067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مقارنة السرعة المحسوبة بالحد القانوني للموقع</a:t>
            </a:r>
            <a:endParaRPr lang="ar-SA" sz="15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عند تجاوز الحد: مخالفة ثم توثيق</a:t>
            </a:r>
            <a:endParaRPr lang="ar-SA" sz="15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ضمن الحد: لا مخالفة واستمرار المراقبة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818CF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مازن عبد المعز  •  الخوارزميات 3 / 3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الخوارزميات والتقنيات المعتمدة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PaddleOCR  •  Database Matching</a:t>
            </a:r>
            <a:endParaRPr lang="en-US" sz="1500" dirty="0"/>
          </a:p>
        </p:txBody>
      </p:sp>
      <p:sp>
        <p:nvSpPr>
          <p:cNvPr id="5" name="!!pp0"/>
          <p:cNvSpPr txBox="1"/>
          <p:nvPr/>
        </p:nvSpPr>
        <p:spPr>
          <a:xfrm>
            <a:off x="548640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B1426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B8C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YOLO</a:t>
            </a:r>
            <a:endParaRPr lang="en-US" sz="1100" dirty="0"/>
          </a:p>
        </p:txBody>
      </p:sp>
      <p:sp>
        <p:nvSpPr>
          <p:cNvPr id="6" name="!!ppa0"/>
          <p:cNvSpPr/>
          <p:nvPr/>
        </p:nvSpPr>
        <p:spPr>
          <a:xfrm>
            <a:off x="1947672" y="1627632"/>
            <a:ext cx="146304" cy="164592"/>
          </a:xfrm>
          <a:prstGeom prst="rightArrow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!!pp1"/>
          <p:cNvSpPr txBox="1"/>
          <p:nvPr/>
        </p:nvSpPr>
        <p:spPr>
          <a:xfrm>
            <a:off x="2121408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B1426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B8C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ByteTrack</a:t>
            </a:r>
            <a:endParaRPr lang="en-US" sz="1100" dirty="0"/>
          </a:p>
        </p:txBody>
      </p:sp>
      <p:sp>
        <p:nvSpPr>
          <p:cNvPr id="8" name="!!ppa1"/>
          <p:cNvSpPr/>
          <p:nvPr/>
        </p:nvSpPr>
        <p:spPr>
          <a:xfrm>
            <a:off x="3520440" y="1627632"/>
            <a:ext cx="146304" cy="164592"/>
          </a:xfrm>
          <a:prstGeom prst="rightArrow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!!pp2"/>
          <p:cNvSpPr txBox="1"/>
          <p:nvPr/>
        </p:nvSpPr>
        <p:spPr>
          <a:xfrm>
            <a:off x="3694176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B1426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B8C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Homography</a:t>
            </a:r>
            <a:endParaRPr lang="en-US" sz="1100" dirty="0"/>
          </a:p>
        </p:txBody>
      </p:sp>
      <p:sp>
        <p:nvSpPr>
          <p:cNvPr id="10" name="!!ppa2"/>
          <p:cNvSpPr/>
          <p:nvPr/>
        </p:nvSpPr>
        <p:spPr>
          <a:xfrm>
            <a:off x="5093208" y="1627632"/>
            <a:ext cx="146304" cy="164592"/>
          </a:xfrm>
          <a:prstGeom prst="rightArrow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!!pp3"/>
          <p:cNvSpPr txBox="1"/>
          <p:nvPr/>
        </p:nvSpPr>
        <p:spPr>
          <a:xfrm>
            <a:off x="5266944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B1426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B8C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Est.</a:t>
            </a:r>
            <a:endParaRPr lang="en-US" sz="1100" dirty="0"/>
          </a:p>
        </p:txBody>
      </p:sp>
      <p:sp>
        <p:nvSpPr>
          <p:cNvPr id="12" name="!!ppa3"/>
          <p:cNvSpPr/>
          <p:nvPr/>
        </p:nvSpPr>
        <p:spPr>
          <a:xfrm>
            <a:off x="6665976" y="1627632"/>
            <a:ext cx="146304" cy="164592"/>
          </a:xfrm>
          <a:prstGeom prst="rightArrow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!!pp4"/>
          <p:cNvSpPr txBox="1"/>
          <p:nvPr/>
        </p:nvSpPr>
        <p:spPr>
          <a:xfrm>
            <a:off x="6839712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B1426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B8C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14" name="!!ppa4"/>
          <p:cNvSpPr/>
          <p:nvPr/>
        </p:nvSpPr>
        <p:spPr>
          <a:xfrm>
            <a:off x="8238744" y="1627632"/>
            <a:ext cx="146304" cy="164592"/>
          </a:xfrm>
          <a:prstGeom prst="rightArrow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!!pp5"/>
          <p:cNvSpPr txBox="1"/>
          <p:nvPr/>
        </p:nvSpPr>
        <p:spPr>
          <a:xfrm>
            <a:off x="8412480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818CF8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PaddleOCR</a:t>
            </a:r>
            <a:endParaRPr lang="en-US" sz="1100" dirty="0"/>
          </a:p>
        </p:txBody>
      </p:sp>
      <p:sp>
        <p:nvSpPr>
          <p:cNvPr id="16" name="!!ppa5"/>
          <p:cNvSpPr/>
          <p:nvPr/>
        </p:nvSpPr>
        <p:spPr>
          <a:xfrm>
            <a:off x="9811512" y="1627632"/>
            <a:ext cx="146304" cy="164592"/>
          </a:xfrm>
          <a:prstGeom prst="rightArrow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!!pp6"/>
          <p:cNvSpPr txBox="1"/>
          <p:nvPr/>
        </p:nvSpPr>
        <p:spPr>
          <a:xfrm>
            <a:off x="9985248" y="1481328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818CF8"/>
          </a:solidFill>
          <a:ln w="12700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Match</a:t>
            </a:r>
            <a:endParaRPr lang="en-US" sz="1100" dirty="0"/>
          </a:p>
        </p:txBody>
      </p:sp>
      <p:sp>
        <p:nvSpPr>
          <p:cNvPr id="18" name="!!ppend"/>
          <p:cNvSpPr txBox="1"/>
          <p:nvPr/>
        </p:nvSpPr>
        <p:spPr>
          <a:xfrm>
            <a:off x="11539728" y="1481328"/>
            <a:ext cx="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altLang="en-US" dirty="0">
                <a:solidFill>
                  <a:srgbClr val="000000"/>
                </a:solidFill>
              </a:rPr>
              <a:t>REC</a:t>
            </a:r>
            <a:endParaRPr lang="en-US" dirty="0"/>
          </a:p>
        </p:txBody>
      </p:sp>
      <p:sp>
        <p:nvSpPr>
          <p:cNvPr id="19" name="fx1|card#3d"/>
          <p:cNvSpPr/>
          <p:nvPr/>
        </p:nvSpPr>
        <p:spPr>
          <a:xfrm>
            <a:off x="6172200" y="2148840"/>
            <a:ext cx="5468112" cy="4069080"/>
          </a:xfrm>
          <a:prstGeom prst="roundRect">
            <a:avLst>
              <a:gd name="adj" fmla="val 3146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E2BA52">
                <a:alpha val="55000"/>
              </a:srgb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0" name="fx1|en"/>
          <p:cNvSpPr txBox="1"/>
          <p:nvPr/>
        </p:nvSpPr>
        <p:spPr>
          <a:xfrm>
            <a:off x="6400800" y="2240280"/>
            <a:ext cx="5010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800" b="1" dirty="0">
                <a:solidFill>
                  <a:srgbClr val="FFFFFF"/>
                </a:solidFill>
              </a:rPr>
              <a:t>PaddleOCR</a:t>
            </a:r>
            <a:endParaRPr lang="en-US" sz="2800" dirty="0"/>
          </a:p>
        </p:txBody>
      </p:sp>
      <p:sp>
        <p:nvSpPr>
          <p:cNvPr id="21" name="fx1|ar"/>
          <p:cNvSpPr txBox="1"/>
          <p:nvPr/>
        </p:nvSpPr>
        <p:spPr>
          <a:xfrm>
            <a:off x="6400800" y="281635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E2BA52"/>
                </a:solidFill>
              </a:rPr>
              <a:t>قراءة رقم لوحة المركبة</a:t>
            </a:r>
            <a:endParaRPr lang="ar-SA" sz="1400" dirty="0"/>
          </a:p>
        </p:txBody>
      </p:sp>
      <p:sp>
        <p:nvSpPr>
          <p:cNvPr id="22" name="fx3|items"/>
          <p:cNvSpPr txBox="1"/>
          <p:nvPr/>
        </p:nvSpPr>
        <p:spPr>
          <a:xfrm>
            <a:off x="6400800" y="3291840"/>
            <a:ext cx="50109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قراءة رقم اللوحة عند اكتشاف تجاوز السرعة</a:t>
            </a:r>
            <a:endParaRPr lang="ar-SA" sz="15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لا يعمل لجميع المركبات — بعد المخالفة فقط</a:t>
            </a:r>
            <a:endParaRPr lang="ar-SA" sz="1500" dirty="0"/>
          </a:p>
        </p:txBody>
      </p:sp>
      <p:pic>
        <p:nvPicPr>
          <p:cNvPr id="23" name="fx4@zoom|plate" descr="img/p_pla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4572000"/>
            <a:ext cx="2834640" cy="766119"/>
          </a:xfrm>
          <a:prstGeom prst="rect">
            <a:avLst/>
          </a:prstGeom>
        </p:spPr>
      </p:pic>
      <p:sp>
        <p:nvSpPr>
          <p:cNvPr id="24" name="fx5@pop|ocr"/>
          <p:cNvSpPr txBox="1"/>
          <p:nvPr/>
        </p:nvSpPr>
        <p:spPr>
          <a:xfrm>
            <a:off x="9555480" y="4572000"/>
            <a:ext cx="1874520" cy="768096"/>
          </a:xfrm>
          <a:prstGeom prst="rect">
            <a:avLst/>
          </a:prstGeom>
          <a:solidFill>
            <a:srgbClr val="05070C">
              <a:alpha val="85000"/>
            </a:srgbClr>
          </a:solidFill>
          <a:ln w="12700">
            <a:solidFill>
              <a:srgbClr val="E2BA5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rgbClr val="E2B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H604BH 323</a:t>
            </a:r>
            <a:endParaRPr lang="en-US" sz="1500" dirty="0"/>
          </a:p>
        </p:txBody>
      </p:sp>
      <p:sp>
        <p:nvSpPr>
          <p:cNvPr id="25" name="fx6|card#3d"/>
          <p:cNvSpPr/>
          <p:nvPr/>
        </p:nvSpPr>
        <p:spPr>
          <a:xfrm>
            <a:off x="548640" y="2148840"/>
            <a:ext cx="5468112" cy="4069080"/>
          </a:xfrm>
          <a:prstGeom prst="roundRect">
            <a:avLst>
              <a:gd name="adj" fmla="val 3146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0B981">
                <a:alpha val="55000"/>
              </a:srgb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6" name="fx6|en"/>
          <p:cNvSpPr txBox="1"/>
          <p:nvPr/>
        </p:nvSpPr>
        <p:spPr>
          <a:xfrm>
            <a:off x="777240" y="2240280"/>
            <a:ext cx="5010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800" b="1" dirty="0">
                <a:solidFill>
                  <a:srgbClr val="FFFFFF"/>
                </a:solidFill>
              </a:rPr>
              <a:t>Database Matching</a:t>
            </a:r>
            <a:endParaRPr lang="en-US" sz="2800" dirty="0"/>
          </a:p>
        </p:txBody>
      </p:sp>
      <p:sp>
        <p:nvSpPr>
          <p:cNvPr id="27" name="fx6|ar"/>
          <p:cNvSpPr txBox="1"/>
          <p:nvPr/>
        </p:nvSpPr>
        <p:spPr>
          <a:xfrm>
            <a:off x="777240" y="281635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0B981"/>
                </a:solidFill>
              </a:rPr>
              <a:t>مطابقة رقم اللوحة</a:t>
            </a:r>
            <a:endParaRPr lang="ar-SA" sz="1400" dirty="0"/>
          </a:p>
        </p:txBody>
      </p:sp>
      <p:sp>
        <p:nvSpPr>
          <p:cNvPr id="28" name="fx8|items"/>
          <p:cNvSpPr txBox="1"/>
          <p:nvPr/>
        </p:nvSpPr>
        <p:spPr>
          <a:xfrm>
            <a:off x="777240" y="3291840"/>
            <a:ext cx="50109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مطابقة رقم اللوحة مع بيانات المركبة ومالكها في قاعدة البيانات</a:t>
            </a:r>
            <a:endParaRPr lang="ar-SA" sz="15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500" dirty="0">
                <a:solidFill>
                  <a:srgbClr val="FFFFFF"/>
                </a:solidFill>
              </a:rPr>
              <a:t>تسجيل المخالفة باسم صاحب المركبة</a:t>
            </a:r>
            <a:endParaRPr lang="ar-SA" sz="1500" dirty="0"/>
          </a:p>
        </p:txBody>
      </p:sp>
      <p:sp>
        <p:nvSpPr>
          <p:cNvPr id="29" name="fx9@pop|chain#3d"/>
          <p:cNvSpPr txBox="1"/>
          <p:nvPr/>
        </p:nvSpPr>
        <p:spPr>
          <a:xfrm>
            <a:off x="4645152" y="47091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0B1426"/>
          </a:solidFill>
          <a:ln w="12700">
            <a:solidFill>
              <a:srgbClr val="10B981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FFFFFF"/>
                </a:solidFill>
              </a:rPr>
              <a:t>رقم اللوحة</a:t>
            </a:r>
            <a:endParaRPr lang="ar-SA" sz="1100" dirty="0"/>
          </a:p>
        </p:txBody>
      </p:sp>
      <p:sp>
        <p:nvSpPr>
          <p:cNvPr id="30" name="fx9|a"/>
          <p:cNvSpPr/>
          <p:nvPr/>
        </p:nvSpPr>
        <p:spPr>
          <a:xfrm>
            <a:off x="4498848" y="4901184"/>
            <a:ext cx="128016" cy="164592"/>
          </a:xfrm>
          <a:prstGeom prst="lef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fx10@pop|chain#3d"/>
          <p:cNvSpPr txBox="1"/>
          <p:nvPr/>
        </p:nvSpPr>
        <p:spPr>
          <a:xfrm>
            <a:off x="3383280" y="47091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0B1426"/>
          </a:solidFill>
          <a:ln w="12700">
            <a:solidFill>
              <a:srgbClr val="10B981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FFFFFF"/>
                </a:solidFill>
              </a:rPr>
              <a:t>بيانات المركبة</a:t>
            </a:r>
            <a:endParaRPr lang="ar-SA" sz="1100" dirty="0"/>
          </a:p>
        </p:txBody>
      </p:sp>
      <p:sp>
        <p:nvSpPr>
          <p:cNvPr id="32" name="fx10|a"/>
          <p:cNvSpPr/>
          <p:nvPr/>
        </p:nvSpPr>
        <p:spPr>
          <a:xfrm>
            <a:off x="3236976" y="4901184"/>
            <a:ext cx="128016" cy="164592"/>
          </a:xfrm>
          <a:prstGeom prst="lef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fx11@pop|chain#3d"/>
          <p:cNvSpPr txBox="1"/>
          <p:nvPr/>
        </p:nvSpPr>
        <p:spPr>
          <a:xfrm>
            <a:off x="2121408" y="47091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0B1426"/>
          </a:solidFill>
          <a:ln w="12700">
            <a:solidFill>
              <a:srgbClr val="10B981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FFFFFF"/>
                </a:solidFill>
              </a:rPr>
              <a:t>بيانات المالك</a:t>
            </a:r>
            <a:endParaRPr lang="ar-SA" sz="1100" dirty="0"/>
          </a:p>
        </p:txBody>
      </p:sp>
      <p:sp>
        <p:nvSpPr>
          <p:cNvPr id="34" name="fx11|a"/>
          <p:cNvSpPr/>
          <p:nvPr/>
        </p:nvSpPr>
        <p:spPr>
          <a:xfrm>
            <a:off x="1975104" y="4901184"/>
            <a:ext cx="128016" cy="164592"/>
          </a:xfrm>
          <a:prstGeom prst="lef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fx12@pop|chain#3d"/>
          <p:cNvSpPr txBox="1"/>
          <p:nvPr/>
        </p:nvSpPr>
        <p:spPr>
          <a:xfrm>
            <a:off x="859536" y="47091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43F5E"/>
          </a:solidFill>
          <a:ln w="12700">
            <a:solidFill>
              <a:srgbClr val="10B981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FFFFFF"/>
                </a:solidFill>
              </a:rPr>
              <a:t>تسجيل المخالفة</a:t>
            </a:r>
            <a:endParaRPr lang="ar-SA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3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3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3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3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3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grpId="0" nodeType="withEffect">
                                  <p:stCondLst>
                                    <p:cond delay="30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35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35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818CF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مازن عبد المعز  •  الدراسات السابقة 1 / 2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الدراسات السابقة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Related Work — Comparison</a:t>
            </a:r>
            <a:endParaRPr lang="en-US" sz="1500" dirty="0"/>
          </a:p>
        </p:txBody>
      </p:sp>
      <p:graphicFrame>
        <p:nvGraphicFramePr>
          <p:cNvPr id="28" name="fx0|studi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3017520"/>
                <a:gridCol w="1600200"/>
                <a:gridCol w="731520"/>
                <a:gridCol w="2496312"/>
              </a:tblGrid>
              <a:tr h="438912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E1A"/>
                          </a:solidFill>
                        </a:rPr>
                        <a:t>العلاقة بالمشروع الحالي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E1A"/>
                          </a:solidFill>
                        </a:rPr>
                        <a:t>المنهجية / الأسلوب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E1A"/>
                          </a:solidFill>
                        </a:rPr>
                        <a:t>المجال الرئيسي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E1A"/>
                          </a:solidFill>
                        </a:rPr>
                        <a:t>السنة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E1A"/>
                          </a:solidFill>
                        </a:rPr>
                        <a:t>الدراسة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8C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اكتشاف وتتبع المركبات وتقدير السرعة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D3EE"/>
                          </a:solidFill>
                        </a:rPr>
                        <a:t>YOLOv5 + DeepSORT + Digital Twin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B8C7E0"/>
                          </a:solidFill>
                        </a:rPr>
                        <a:t>إدارة المرور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A52"/>
                          </a:solidFill>
                        </a:rPr>
                        <a:t>2024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Kan et al.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تقدير السرعة وقراءة اللوحات وربط بيانات المركبة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D3EE"/>
                          </a:solidFill>
                        </a:rPr>
                        <a:t>YOLOv8 + CNN/Transformer + OCR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B8C7E0"/>
                          </a:solidFill>
                        </a:rPr>
                        <a:t>المراقبة المرورية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A52"/>
                          </a:solidFill>
                        </a:rPr>
                        <a:t>2026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Katumba et al.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كشف مخالفات السرعة والتعرف على اللوحات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D3EE"/>
                          </a:solidFill>
                        </a:rPr>
                        <a:t>PP-YOLO + OpenALPR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B8C7E0"/>
                          </a:solidFill>
                        </a:rPr>
                        <a:t>مخالفات السرعة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A52"/>
                          </a:solidFill>
                        </a:rPr>
                        <a:t>2022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Cypto &amp; Karthikeyan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استخدام الهاتف وتقدير سرعة المركبات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D3EE"/>
                          </a:solidFill>
                        </a:rPr>
                        <a:t>Smartphone + Computer Vision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B8C7E0"/>
                          </a:solidFill>
                        </a:rPr>
                        <a:t>معايير المرور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A52"/>
                          </a:solidFill>
                        </a:rPr>
                        <a:t>2022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Obaidat &amp; Kwaylih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يدعم استخدام الهاتف وتقدير السرعة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D3EE"/>
                          </a:solidFill>
                        </a:rPr>
                        <a:t>Phone camera + Tracking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B8C7E0"/>
                          </a:solidFill>
                        </a:rPr>
                        <a:t>تقدير السرعة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A52"/>
                          </a:solidFill>
                        </a:rPr>
                        <a:t>2017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Salahat et al.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اكتشاف وتتبع المركبات وتقدير السرعة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D3EE"/>
                          </a:solidFill>
                        </a:rPr>
                        <a:t>YOLO + Kalman Filter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B8C7E0"/>
                          </a:solidFill>
                        </a:rPr>
                        <a:t>تقدير السرعة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A52"/>
                          </a:solidFill>
                        </a:rPr>
                        <a:t>2022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Peralta-Peñuñuri et al.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إنشاء مخالفات السرعة وقراءة اللوحات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D3EE"/>
                          </a:solidFill>
                        </a:rPr>
                        <a:t>YOLOv9 + DeepSORT + OpenALPR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B8C7E0"/>
                          </a:solidFill>
                        </a:rPr>
                        <a:t>المخالفات المرورية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A52"/>
                          </a:solidFill>
                        </a:rPr>
                        <a:t>2024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Rambarki Sai Akshit et al.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كشف المخالفات والتعرف على اللوحات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D3EE"/>
                          </a:solidFill>
                        </a:rPr>
                        <a:t>YOLO + CRNN + OCR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B8C7E0"/>
                          </a:solidFill>
                        </a:rPr>
                        <a:t>المخالفات المتعددة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A52"/>
                          </a:solidFill>
                        </a:rPr>
                        <a:t>2024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Ali Q. Abd Ali et al.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تقدير السرعة من الفيديو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D3EE"/>
                          </a:solidFill>
                        </a:rPr>
                        <a:t>YOLOv4 + DeepSORT + IPP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B8C7E0"/>
                          </a:solidFill>
                        </a:rPr>
                        <a:t>تقدير السرعة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A52"/>
                          </a:solidFill>
                        </a:rPr>
                        <a:t>2022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Wang et al.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818CF8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مازن عبد المعز  •  الدراسات السابقة 2 / 2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الدراسات السابقة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Key Results  •  Lessons  •  Our Contribution</a:t>
            </a:r>
            <a:endParaRPr lang="en-US" sz="1500" dirty="0"/>
          </a:p>
        </p:txBody>
      </p:sp>
      <p:sp>
        <p:nvSpPr>
          <p:cNvPr id="5" name="fx0|res card"/>
          <p:cNvSpPr/>
          <p:nvPr/>
        </p:nvSpPr>
        <p:spPr>
          <a:xfrm>
            <a:off x="6035040" y="1508760"/>
            <a:ext cx="5605272" cy="4709160"/>
          </a:xfrm>
          <a:prstGeom prst="roundRect">
            <a:avLst>
              <a:gd name="adj" fmla="val 2718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818CF8">
                <a:alpha val="55000"/>
              </a:srgb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6" name="fx0|res head"/>
          <p:cNvSpPr txBox="1"/>
          <p:nvPr/>
        </p:nvSpPr>
        <p:spPr>
          <a:xfrm>
            <a:off x="6217920" y="1572768"/>
            <a:ext cx="5239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A5B4FC"/>
                </a:solidFill>
              </a:rPr>
              <a:t>أبرز النتائج  •  Key Results</a:t>
            </a:r>
            <a:endParaRPr lang="ar-SA" sz="1600" dirty="0"/>
          </a:p>
        </p:txBody>
      </p:sp>
      <p:sp>
        <p:nvSpPr>
          <p:cNvPr id="7" name="fx1|val"/>
          <p:cNvSpPr txBox="1"/>
          <p:nvPr/>
        </p:nvSpPr>
        <p:spPr>
          <a:xfrm>
            <a:off x="6217920" y="2057400"/>
            <a:ext cx="3246120" cy="493776"/>
          </a:xfrm>
          <a:prstGeom prst="roundRect">
            <a:avLst>
              <a:gd name="adj" fmla="val 14815"/>
            </a:avLst>
          </a:prstGeom>
          <a:solidFill>
            <a:srgbClr val="0B1426"/>
          </a:solidFill>
          <a:ln w="9525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98.8% violations  •  99.3% plates</a:t>
            </a:r>
            <a:endParaRPr lang="en-US" sz="1050" dirty="0"/>
          </a:p>
        </p:txBody>
      </p:sp>
      <p:sp>
        <p:nvSpPr>
          <p:cNvPr id="8" name="fx1|who"/>
          <p:cNvSpPr txBox="1"/>
          <p:nvPr/>
        </p:nvSpPr>
        <p:spPr>
          <a:xfrm>
            <a:off x="9555480" y="205740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</a:rPr>
              <a:t>Cypto &amp; Karthikeyan</a:t>
            </a:r>
            <a:endParaRPr lang="en-US" sz="1200" dirty="0"/>
          </a:p>
        </p:txBody>
      </p:sp>
      <p:sp>
        <p:nvSpPr>
          <p:cNvPr id="9" name="fx1|val"/>
          <p:cNvSpPr txBox="1"/>
          <p:nvPr/>
        </p:nvSpPr>
        <p:spPr>
          <a:xfrm>
            <a:off x="6217920" y="2642616"/>
            <a:ext cx="3246120" cy="493776"/>
          </a:xfrm>
          <a:prstGeom prst="roundRect">
            <a:avLst>
              <a:gd name="adj" fmla="val 14815"/>
            </a:avLst>
          </a:prstGeom>
          <a:solidFill>
            <a:srgbClr val="0B1426"/>
          </a:solidFill>
          <a:ln w="9525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98.06% violations  •  98.22% plates</a:t>
            </a:r>
            <a:endParaRPr lang="en-US" sz="1050" dirty="0"/>
          </a:p>
        </p:txBody>
      </p:sp>
      <p:sp>
        <p:nvSpPr>
          <p:cNvPr id="10" name="fx1|who"/>
          <p:cNvSpPr txBox="1"/>
          <p:nvPr/>
        </p:nvSpPr>
        <p:spPr>
          <a:xfrm>
            <a:off x="9555480" y="2642616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</a:rPr>
              <a:t>Ali Q. Abd Ali</a:t>
            </a:r>
            <a:endParaRPr lang="en-US" sz="1200" dirty="0"/>
          </a:p>
        </p:txBody>
      </p:sp>
      <p:sp>
        <p:nvSpPr>
          <p:cNvPr id="11" name="fx2|val"/>
          <p:cNvSpPr txBox="1"/>
          <p:nvPr/>
        </p:nvSpPr>
        <p:spPr>
          <a:xfrm>
            <a:off x="6217920" y="3227832"/>
            <a:ext cx="3246120" cy="493776"/>
          </a:xfrm>
          <a:prstGeom prst="roundRect">
            <a:avLst>
              <a:gd name="adj" fmla="val 14815"/>
            </a:avLst>
          </a:prstGeom>
          <a:solidFill>
            <a:srgbClr val="0B1426"/>
          </a:solidFill>
          <a:ln w="9525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 97.9%  •  speed ±10 km/h</a:t>
            </a:r>
            <a:endParaRPr lang="en-US" sz="1050" dirty="0"/>
          </a:p>
        </p:txBody>
      </p:sp>
      <p:sp>
        <p:nvSpPr>
          <p:cNvPr id="12" name="fx2|who"/>
          <p:cNvSpPr txBox="1"/>
          <p:nvPr/>
        </p:nvSpPr>
        <p:spPr>
          <a:xfrm>
            <a:off x="9555480" y="322783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</a:rPr>
              <a:t>Katumba</a:t>
            </a:r>
            <a:endParaRPr lang="en-US" sz="1200" dirty="0"/>
          </a:p>
        </p:txBody>
      </p:sp>
      <p:sp>
        <p:nvSpPr>
          <p:cNvPr id="13" name="fx2|val"/>
          <p:cNvSpPr txBox="1"/>
          <p:nvPr/>
        </p:nvSpPr>
        <p:spPr>
          <a:xfrm>
            <a:off x="6217920" y="3813048"/>
            <a:ext cx="3246120" cy="493776"/>
          </a:xfrm>
          <a:prstGeom prst="roundRect">
            <a:avLst>
              <a:gd name="adj" fmla="val 14815"/>
            </a:avLst>
          </a:prstGeom>
          <a:solidFill>
            <a:srgbClr val="0B1426"/>
          </a:solidFill>
          <a:ln w="9525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worst accuracy ≈ 96%</a:t>
            </a:r>
            <a:endParaRPr lang="en-US" sz="1050" dirty="0"/>
          </a:p>
        </p:txBody>
      </p:sp>
      <p:sp>
        <p:nvSpPr>
          <p:cNvPr id="14" name="fx2|who"/>
          <p:cNvSpPr txBox="1"/>
          <p:nvPr/>
        </p:nvSpPr>
        <p:spPr>
          <a:xfrm>
            <a:off x="9555480" y="381304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</a:rPr>
              <a:t>Salahat</a:t>
            </a:r>
            <a:endParaRPr lang="en-US" sz="1200" dirty="0"/>
          </a:p>
        </p:txBody>
      </p:sp>
      <p:sp>
        <p:nvSpPr>
          <p:cNvPr id="15" name="fx3|val"/>
          <p:cNvSpPr txBox="1"/>
          <p:nvPr/>
        </p:nvSpPr>
        <p:spPr>
          <a:xfrm>
            <a:off x="6217920" y="4398264"/>
            <a:ext cx="3246120" cy="493776"/>
          </a:xfrm>
          <a:prstGeom prst="roundRect">
            <a:avLst>
              <a:gd name="adj" fmla="val 14815"/>
            </a:avLst>
          </a:prstGeom>
          <a:solidFill>
            <a:srgbClr val="0B1426"/>
          </a:solidFill>
          <a:ln w="9525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 &amp; tracking 93.6%</a:t>
            </a:r>
            <a:endParaRPr lang="en-US" sz="1050" dirty="0"/>
          </a:p>
        </p:txBody>
      </p:sp>
      <p:sp>
        <p:nvSpPr>
          <p:cNvPr id="16" name="fx3|who"/>
          <p:cNvSpPr txBox="1"/>
          <p:nvPr/>
        </p:nvSpPr>
        <p:spPr>
          <a:xfrm>
            <a:off x="9555480" y="4398264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</a:rPr>
              <a:t>Kan</a:t>
            </a:r>
            <a:endParaRPr lang="en-US" sz="1200" dirty="0"/>
          </a:p>
        </p:txBody>
      </p:sp>
      <p:sp>
        <p:nvSpPr>
          <p:cNvPr id="17" name="fx3|val"/>
          <p:cNvSpPr txBox="1"/>
          <p:nvPr/>
        </p:nvSpPr>
        <p:spPr>
          <a:xfrm>
            <a:off x="6217920" y="4983480"/>
            <a:ext cx="3246120" cy="493776"/>
          </a:xfrm>
          <a:prstGeom prst="roundRect">
            <a:avLst>
              <a:gd name="adj" fmla="val 14815"/>
            </a:avLst>
          </a:prstGeom>
          <a:solidFill>
            <a:srgbClr val="0B1426"/>
          </a:solidFill>
          <a:ln w="9525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0.956 – 1.694 km/h</a:t>
            </a:r>
            <a:endParaRPr lang="en-US" sz="1050" dirty="0"/>
          </a:p>
        </p:txBody>
      </p:sp>
      <p:sp>
        <p:nvSpPr>
          <p:cNvPr id="18" name="fx3|who"/>
          <p:cNvSpPr txBox="1"/>
          <p:nvPr/>
        </p:nvSpPr>
        <p:spPr>
          <a:xfrm>
            <a:off x="9555480" y="498348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</a:rPr>
              <a:t>Peralta-Peñuñuri</a:t>
            </a:r>
            <a:endParaRPr lang="en-US" sz="1200" dirty="0"/>
          </a:p>
        </p:txBody>
      </p:sp>
      <p:sp>
        <p:nvSpPr>
          <p:cNvPr id="19" name="fx4|val"/>
          <p:cNvSpPr txBox="1"/>
          <p:nvPr/>
        </p:nvSpPr>
        <p:spPr>
          <a:xfrm>
            <a:off x="6217920" y="5568696"/>
            <a:ext cx="3246120" cy="493776"/>
          </a:xfrm>
          <a:prstGeom prst="roundRect">
            <a:avLst>
              <a:gd name="adj" fmla="val 14815"/>
            </a:avLst>
          </a:prstGeom>
          <a:solidFill>
            <a:srgbClr val="0B1426"/>
          </a:solidFill>
          <a:ln w="9525">
            <a:solidFill>
              <a:srgbClr val="818C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error 1.4% – 10%</a:t>
            </a:r>
            <a:endParaRPr lang="en-US" sz="1050" dirty="0"/>
          </a:p>
        </p:txBody>
      </p:sp>
      <p:sp>
        <p:nvSpPr>
          <p:cNvPr id="20" name="fx4|who"/>
          <p:cNvSpPr txBox="1"/>
          <p:nvPr/>
        </p:nvSpPr>
        <p:spPr>
          <a:xfrm>
            <a:off x="9555480" y="5568696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</a:rPr>
              <a:t>Obaidat &amp; Kwaylih</a:t>
            </a:r>
            <a:endParaRPr lang="en-US" sz="1200" dirty="0"/>
          </a:p>
        </p:txBody>
      </p:sp>
      <p:sp>
        <p:nvSpPr>
          <p:cNvPr id="21" name="fx5|card#3d"/>
          <p:cNvSpPr/>
          <p:nvPr/>
        </p:nvSpPr>
        <p:spPr>
          <a:xfrm>
            <a:off x="548640" y="1508760"/>
            <a:ext cx="5257800" cy="2240280"/>
          </a:xfrm>
          <a:prstGeom prst="roundRect">
            <a:avLst>
              <a:gd name="adj" fmla="val 5714"/>
            </a:avLst>
          </a:prstGeom>
          <a:solidFill>
            <a:schemeClr val="tx2">
              <a:alpha val="86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2" name="fx5|ic bg#3d"/>
          <p:cNvSpPr/>
          <p:nvPr/>
        </p:nvSpPr>
        <p:spPr>
          <a:xfrm>
            <a:off x="5029200" y="1664208"/>
            <a:ext cx="603504" cy="60350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3" name="fx5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0076" y="1815084"/>
            <a:ext cx="301752" cy="301752"/>
          </a:xfrm>
          <a:prstGeom prst="rect">
            <a:avLst/>
          </a:prstGeom>
        </p:spPr>
      </p:pic>
      <p:sp>
        <p:nvSpPr>
          <p:cNvPr id="24" name="fx5|head"/>
          <p:cNvSpPr txBox="1"/>
          <p:nvPr/>
        </p:nvSpPr>
        <p:spPr>
          <a:xfrm>
            <a:off x="731520" y="1618488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أوجه الاستفادة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E2BA52"/>
                </a:solidFill>
              </a:rPr>
              <a:t>What we learned</a:t>
            </a:r>
            <a:endParaRPr lang="ar-SA" sz="1800" dirty="0"/>
          </a:p>
        </p:txBody>
      </p:sp>
      <p:sp>
        <p:nvSpPr>
          <p:cNvPr id="25" name="fx6|items"/>
          <p:cNvSpPr txBox="1"/>
          <p:nvPr/>
        </p:nvSpPr>
        <p:spPr>
          <a:xfrm>
            <a:off x="777240" y="242316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YOLO للاكتشاف و DeepSORT/ByteTrack للتتبع</a:t>
            </a:r>
            <a:endParaRPr lang="ar-SA" sz="13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الهاتف الذكي أداة فعّالة لتقدير السرعة</a:t>
            </a:r>
            <a:endParaRPr lang="ar-SA" sz="13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OCR وقاعدة بيانات لربط المخالفة بالمالك</a:t>
            </a:r>
            <a:endParaRPr lang="ar-SA" sz="1300" dirty="0"/>
          </a:p>
        </p:txBody>
      </p:sp>
      <p:sp>
        <p:nvSpPr>
          <p:cNvPr id="26" name="fx7|card#3d"/>
          <p:cNvSpPr/>
          <p:nvPr/>
        </p:nvSpPr>
        <p:spPr>
          <a:xfrm>
            <a:off x="548640" y="3886200"/>
            <a:ext cx="5257800" cy="2331720"/>
          </a:xfrm>
          <a:prstGeom prst="roundRect">
            <a:avLst>
              <a:gd name="adj" fmla="val 5490"/>
            </a:avLst>
          </a:prstGeom>
          <a:solidFill>
            <a:schemeClr val="tx2">
              <a:alpha val="86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7" name="fx7|ic bg#3d"/>
          <p:cNvSpPr/>
          <p:nvPr/>
        </p:nvSpPr>
        <p:spPr>
          <a:xfrm>
            <a:off x="5029200" y="4041648"/>
            <a:ext cx="603504" cy="60350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8" name="fx7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6" y="4192524"/>
            <a:ext cx="301752" cy="301752"/>
          </a:xfrm>
          <a:prstGeom prst="rect">
            <a:avLst/>
          </a:prstGeom>
        </p:spPr>
      </p:pic>
      <p:sp>
        <p:nvSpPr>
          <p:cNvPr id="29" name="fx7|head"/>
          <p:cNvSpPr txBox="1"/>
          <p:nvPr/>
        </p:nvSpPr>
        <p:spPr>
          <a:xfrm>
            <a:off x="731520" y="3995928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ما يميز المشروع الحالي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10B981"/>
                </a:solidFill>
              </a:rPr>
              <a:t>Our contribution</a:t>
            </a:r>
            <a:endParaRPr lang="ar-SA" sz="1800" dirty="0"/>
          </a:p>
        </p:txBody>
      </p:sp>
      <p:sp>
        <p:nvSpPr>
          <p:cNvPr id="30" name="fx8|items"/>
          <p:cNvSpPr txBox="1"/>
          <p:nvPr/>
        </p:nvSpPr>
        <p:spPr>
          <a:xfrm>
            <a:off x="777240" y="480060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معظم الدراسات ركزت على تقدير السرعة فقط</a:t>
            </a:r>
            <a:endParaRPr lang="ar-SA" sz="13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مشروعنا يضيف: اكتشاف المخالفة وتوثيقها وقراءة اللوحة</a:t>
            </a:r>
            <a:endParaRPr lang="ar-SA" sz="130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00" dirty="0">
                <a:solidFill>
                  <a:srgbClr val="FFFFFF"/>
                </a:solidFill>
              </a:rPr>
              <a:t>وتسجيل بيانات المركبة ومالكها باستخدام الهاتف الذكي</a:t>
            </a:r>
            <a:endParaRPr lang="ar-SA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x0@move(0,-0.09,1500)|bar top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fx0@move(0,0.09,1500)|bar bottom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fx1|scene"/>
          <p:cNvSpPr txBox="1"/>
          <p:nvPr/>
        </p:nvSpPr>
        <p:spPr>
          <a:xfrm>
            <a:off x="548640" y="658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300" b="1" dirty="0">
                <a:solidFill>
                  <a:srgbClr val="E2B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 05  •  TEAM 05</a:t>
            </a:r>
            <a:endParaRPr lang="en-US" sz="1300" dirty="0"/>
          </a:p>
        </p:txBody>
      </p:sp>
      <p:sp>
        <p:nvSpPr>
          <p:cNvPr id="5" name="fx1|kicker"/>
          <p:cNvSpPr txBox="1"/>
          <p:nvPr/>
        </p:nvSpPr>
        <p:spPr>
          <a:xfrm>
            <a:off x="5760720" y="658368"/>
            <a:ext cx="5879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4"/>
                </a:solidFill>
              </a:rPr>
              <a:t>IDENTITY VERIFIED  •  تم التعرّف على العضو</a:t>
            </a:r>
            <a:endParaRPr lang="ar-SA" sz="1400" dirty="0"/>
          </a:p>
        </p:txBody>
      </p:sp>
      <p:sp>
        <p:nvSpPr>
          <p:cNvPr id="6" name="Photo frame"/>
          <p:cNvSpPr/>
          <p:nvPr/>
        </p:nvSpPr>
        <p:spPr>
          <a:xfrm>
            <a:off x="777240" y="1188720"/>
            <a:ext cx="4297680" cy="4297680"/>
          </a:xfrm>
          <a:prstGeom prst="rect">
            <a:avLst/>
          </a:prstGeom>
          <a:solidFill>
            <a:srgbClr val="05070C"/>
          </a:solidFill>
          <a:ln w="19050">
            <a:solidFill>
              <a:srgbClr val="E2BA52"/>
            </a:solidFill>
            <a:prstDash val="solid"/>
          </a:ln>
          <a:effectLst>
            <a:outerShdw sx="100000" sy="100000" kx="0" ky="0" algn="bl" rotWithShape="0" blurRad="304800" dist="50800" dir="16200000">
              <a:srgbClr val="E2BA52">
                <a:alpha val="45000"/>
              </a:srgbClr>
            </a:outerShdw>
          </a:effectLst>
        </p:spPr>
      </p:sp>
      <p:pic>
        <p:nvPicPr>
          <p:cNvPr id="7" name="fx1@zoom|photo s5" descr="محمد عادل قاسم قائ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4206240" cy="4206240"/>
          </a:xfrm>
          <a:prstGeom prst="rect">
            <a:avLst/>
          </a:prstGeom>
        </p:spPr>
      </p:pic>
      <p:sp>
        <p:nvSpPr>
          <p:cNvPr id="8" name="fx2|brackets h0"/>
          <p:cNvSpPr/>
          <p:nvPr/>
        </p:nvSpPr>
        <p:spPr>
          <a:xfrm>
            <a:off x="594360" y="1005840"/>
            <a:ext cx="320040" cy="0"/>
          </a:xfrm>
          <a:prstGeom prst="line">
            <a:avLst/>
          </a:prstGeom>
          <a:noFill/>
          <a:ln w="31750">
            <a:solidFill>
              <a:srgbClr val="E2BA52"/>
            </a:solidFill>
            <a:prstDash val="solid"/>
          </a:ln>
        </p:spPr>
      </p:sp>
      <p:sp>
        <p:nvSpPr>
          <p:cNvPr id="9" name="fx2|brackets v0"/>
          <p:cNvSpPr/>
          <p:nvPr/>
        </p:nvSpPr>
        <p:spPr>
          <a:xfrm>
            <a:off x="594360" y="1005840"/>
            <a:ext cx="0" cy="320040"/>
          </a:xfrm>
          <a:prstGeom prst="line">
            <a:avLst/>
          </a:prstGeom>
          <a:noFill/>
          <a:ln w="31750">
            <a:solidFill>
              <a:srgbClr val="E2BA52"/>
            </a:solidFill>
            <a:prstDash val="solid"/>
          </a:ln>
        </p:spPr>
      </p:sp>
      <p:sp>
        <p:nvSpPr>
          <p:cNvPr id="10" name="fx2|brackets h1"/>
          <p:cNvSpPr/>
          <p:nvPr/>
        </p:nvSpPr>
        <p:spPr>
          <a:xfrm>
            <a:off x="4937760" y="1005840"/>
            <a:ext cx="320040" cy="0"/>
          </a:xfrm>
          <a:prstGeom prst="line">
            <a:avLst/>
          </a:prstGeom>
          <a:noFill/>
          <a:ln w="31750">
            <a:solidFill>
              <a:srgbClr val="E2BA52"/>
            </a:solidFill>
            <a:prstDash val="solid"/>
          </a:ln>
        </p:spPr>
      </p:sp>
      <p:sp>
        <p:nvSpPr>
          <p:cNvPr id="11" name="fx2|brackets v1"/>
          <p:cNvSpPr/>
          <p:nvPr/>
        </p:nvSpPr>
        <p:spPr>
          <a:xfrm>
            <a:off x="5257800" y="1005840"/>
            <a:ext cx="0" cy="320040"/>
          </a:xfrm>
          <a:prstGeom prst="line">
            <a:avLst/>
          </a:prstGeom>
          <a:noFill/>
          <a:ln w="31750">
            <a:solidFill>
              <a:srgbClr val="E2BA52"/>
            </a:solidFill>
            <a:prstDash val="solid"/>
          </a:ln>
        </p:spPr>
      </p:sp>
      <p:sp>
        <p:nvSpPr>
          <p:cNvPr id="12" name="fx2|brackets h2"/>
          <p:cNvSpPr/>
          <p:nvPr/>
        </p:nvSpPr>
        <p:spPr>
          <a:xfrm>
            <a:off x="594360" y="5669280"/>
            <a:ext cx="320040" cy="0"/>
          </a:xfrm>
          <a:prstGeom prst="line">
            <a:avLst/>
          </a:prstGeom>
          <a:noFill/>
          <a:ln w="31750">
            <a:solidFill>
              <a:srgbClr val="E2BA52"/>
            </a:solidFill>
            <a:prstDash val="solid"/>
          </a:ln>
        </p:spPr>
      </p:sp>
      <p:sp>
        <p:nvSpPr>
          <p:cNvPr id="13" name="fx2|brackets v2"/>
          <p:cNvSpPr/>
          <p:nvPr/>
        </p:nvSpPr>
        <p:spPr>
          <a:xfrm>
            <a:off x="594360" y="5349240"/>
            <a:ext cx="0" cy="320040"/>
          </a:xfrm>
          <a:prstGeom prst="line">
            <a:avLst/>
          </a:prstGeom>
          <a:noFill/>
          <a:ln w="31750">
            <a:solidFill>
              <a:srgbClr val="E2BA52"/>
            </a:solidFill>
            <a:prstDash val="solid"/>
          </a:ln>
        </p:spPr>
      </p:sp>
      <p:sp>
        <p:nvSpPr>
          <p:cNvPr id="14" name="fx2|brackets h3"/>
          <p:cNvSpPr/>
          <p:nvPr/>
        </p:nvSpPr>
        <p:spPr>
          <a:xfrm>
            <a:off x="4937760" y="5669280"/>
            <a:ext cx="320040" cy="0"/>
          </a:xfrm>
          <a:prstGeom prst="line">
            <a:avLst/>
          </a:prstGeom>
          <a:noFill/>
          <a:ln w="31750">
            <a:solidFill>
              <a:srgbClr val="E2BA52"/>
            </a:solidFill>
            <a:prstDash val="solid"/>
          </a:ln>
        </p:spPr>
      </p:sp>
      <p:sp>
        <p:nvSpPr>
          <p:cNvPr id="15" name="fx2|brackets v3"/>
          <p:cNvSpPr/>
          <p:nvPr/>
        </p:nvSpPr>
        <p:spPr>
          <a:xfrm>
            <a:off x="5257800" y="5349240"/>
            <a:ext cx="0" cy="320040"/>
          </a:xfrm>
          <a:prstGeom prst="line">
            <a:avLst/>
          </a:prstGeom>
          <a:noFill/>
          <a:ln w="31750">
            <a:solidFill>
              <a:srgbClr val="E2BA52"/>
            </a:solidFill>
            <a:prstDash val="solid"/>
          </a:ln>
        </p:spPr>
      </p:sp>
      <p:pic>
        <p:nvPicPr>
          <p:cNvPr id="16" name="fx2@move(0,0.6,1800)|scan" descr="img/scan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4206240" cy="457200"/>
          </a:xfrm>
          <a:prstGeom prst="rect">
            <a:avLst/>
          </a:prstGeom>
        </p:spPr>
      </p:pic>
      <p:sp>
        <p:nvSpPr>
          <p:cNvPr id="17" name="fx4@zoom|face box"/>
          <p:cNvSpPr/>
          <p:nvPr/>
        </p:nvSpPr>
        <p:spPr>
          <a:xfrm>
            <a:off x="1664208" y="1486814"/>
            <a:ext cx="2523744" cy="2944368"/>
          </a:xfrm>
          <a:prstGeom prst="rect">
            <a:avLst/>
          </a:prstGeom>
          <a:solidFill>
            <a:srgbClr val="10B981">
              <a:alpha val="0"/>
            </a:srgbClr>
          </a:solidFill>
          <a:ln w="31750">
            <a:solidFill>
              <a:srgbClr val="10B981"/>
            </a:solidFill>
            <a:prstDash val="solid"/>
          </a:ln>
        </p:spPr>
      </p:sp>
      <p:sp>
        <p:nvSpPr>
          <p:cNvPr id="18" name="fx5@pop|face tag"/>
          <p:cNvSpPr txBox="1"/>
          <p:nvPr/>
        </p:nvSpPr>
        <p:spPr>
          <a:xfrm>
            <a:off x="1664208" y="1212494"/>
            <a:ext cx="2844333" cy="33467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 05  •  MATCH 0.99</a:t>
            </a:r>
            <a:endParaRPr lang="en-US" sz="1100" dirty="0"/>
          </a:p>
        </p:txBody>
      </p:sp>
      <p:sp>
        <p:nvSpPr>
          <p:cNvPr id="19" name="fx3|card#3d"/>
          <p:cNvSpPr/>
          <p:nvPr/>
        </p:nvSpPr>
        <p:spPr>
          <a:xfrm>
            <a:off x="5760720" y="1234440"/>
            <a:ext cx="5879592" cy="4709160"/>
          </a:xfrm>
          <a:prstGeom prst="roundRect">
            <a:avLst>
              <a:gd name="adj" fmla="val 2718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0" name="fx3|card head"/>
          <p:cNvSpPr txBox="1"/>
          <p:nvPr/>
        </p:nvSpPr>
        <p:spPr>
          <a:xfrm>
            <a:off x="5760720" y="1234440"/>
            <a:ext cx="5879592" cy="548640"/>
          </a:xfrm>
          <a:prstGeom prst="roundRect">
            <a:avLst>
              <a:gd name="adj" fmla="val 23333"/>
            </a:avLst>
          </a:prstGeom>
          <a:solidFill>
            <a:srgbClr val="E2BA52"/>
          </a:solidFill>
          <a:ln/>
        </p:spPr>
        <p:txBody>
          <a:bodyPr wrap="square" lIns="0" tIns="3810" rIns="3810" bIns="0" rtlCol="0" anchor="ctr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rgbClr val="0A0E1A"/>
                </a:solidFill>
              </a:rPr>
              <a:t>بطاقة عضو الفريق</a:t>
            </a:r>
            <a:endParaRPr lang="ar-SA" sz="1700" dirty="0"/>
          </a:p>
        </p:txBody>
      </p:sp>
      <p:sp>
        <p:nvSpPr>
          <p:cNvPr id="21" name="fx3|card head en"/>
          <p:cNvSpPr txBox="1"/>
          <p:nvPr/>
        </p:nvSpPr>
        <p:spPr>
          <a:xfrm>
            <a:off x="6035040" y="13441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MEMBER ID</a:t>
            </a:r>
            <a:endParaRPr lang="en-US" sz="1200" dirty="0"/>
          </a:p>
        </p:txBody>
      </p:sp>
      <p:sp>
        <p:nvSpPr>
          <p:cNvPr id="22" name="fx6|lab1"/>
          <p:cNvSpPr txBox="1"/>
          <p:nvPr/>
        </p:nvSpPr>
        <p:spPr>
          <a:xfrm>
            <a:off x="6035040" y="196596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الاسم  •  Name</a:t>
            </a:r>
            <a:endParaRPr lang="ar-SA" sz="1200" dirty="0"/>
          </a:p>
        </p:txBody>
      </p:sp>
      <p:sp>
        <p:nvSpPr>
          <p:cNvPr id="23" name="fx6|name"/>
          <p:cNvSpPr txBox="1"/>
          <p:nvPr/>
        </p:nvSpPr>
        <p:spPr>
          <a:xfrm>
            <a:off x="6035040" y="2240280"/>
            <a:ext cx="5330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FFFFFF"/>
                </a:solidFill>
              </a:rPr>
              <a:t>محمد عادل قاسم قائد</a:t>
            </a:r>
            <a:endParaRPr lang="ar-SA" sz="2600" dirty="0"/>
          </a:p>
        </p:txBody>
      </p:sp>
      <p:sp>
        <p:nvSpPr>
          <p:cNvPr id="24" name="fx6|en"/>
          <p:cNvSpPr txBox="1"/>
          <p:nvPr/>
        </p:nvSpPr>
        <p:spPr>
          <a:xfrm>
            <a:off x="6035040" y="2743200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E2BA52"/>
                </a:solidFill>
              </a:rPr>
              <a:t>Mohammed Adel Qasem Qaid</a:t>
            </a:r>
            <a:endParaRPr lang="en-US" sz="1300" dirty="0"/>
          </a:p>
        </p:txBody>
      </p:sp>
      <p:sp>
        <p:nvSpPr>
          <p:cNvPr id="25" name="fx7|lab2"/>
          <p:cNvSpPr txBox="1"/>
          <p:nvPr/>
        </p:nvSpPr>
        <p:spPr>
          <a:xfrm>
            <a:off x="6035040" y="32461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الجزء الذي يعرضه  •  Presenting</a:t>
            </a:r>
            <a:endParaRPr lang="ar-SA" sz="1200" dirty="0"/>
          </a:p>
        </p:txBody>
      </p:sp>
      <p:sp>
        <p:nvSpPr>
          <p:cNvPr id="26" name="fx8@pop|part#3d"/>
          <p:cNvSpPr txBox="1"/>
          <p:nvPr/>
        </p:nvSpPr>
        <p:spPr>
          <a:xfrm>
            <a:off x="6035040" y="3611880"/>
            <a:ext cx="5330952" cy="475488"/>
          </a:xfrm>
          <a:prstGeom prst="roundRect">
            <a:avLst>
              <a:gd name="adj" fmla="val 19231"/>
            </a:avLst>
          </a:prstGeom>
          <a:solidFill>
            <a:srgbClr val="0B1426"/>
          </a:solidFill>
          <a:ln w="12700">
            <a:solidFill>
              <a:srgbClr val="E2BA52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2540" rIns="254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معمارية النظام وآلية عمله</a:t>
            </a:r>
            <a:endParaRPr lang="ar-SA" sz="1700" dirty="0"/>
          </a:p>
        </p:txBody>
      </p:sp>
      <p:sp>
        <p:nvSpPr>
          <p:cNvPr id="27" name="fx9@pop|part#3d"/>
          <p:cNvSpPr txBox="1"/>
          <p:nvPr/>
        </p:nvSpPr>
        <p:spPr>
          <a:xfrm>
            <a:off x="6035040" y="4178808"/>
            <a:ext cx="5330952" cy="475488"/>
          </a:xfrm>
          <a:prstGeom prst="roundRect">
            <a:avLst>
              <a:gd name="adj" fmla="val 19231"/>
            </a:avLst>
          </a:prstGeom>
          <a:solidFill>
            <a:srgbClr val="0B1426"/>
          </a:solidFill>
          <a:ln w="12700">
            <a:solidFill>
              <a:srgbClr val="E2BA52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2540" rIns="254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</a:rPr>
              <a:t>تصميم قاعدة البيانات ومخرجات النظام</a:t>
            </a:r>
            <a:endParaRPr lang="ar-SA" sz="1700" dirty="0"/>
          </a:p>
        </p:txBody>
      </p:sp>
      <p:sp>
        <p:nvSpPr>
          <p:cNvPr id="28" name="fx10@pop|plate#3d"/>
          <p:cNvSpPr txBox="1"/>
          <p:nvPr/>
        </p:nvSpPr>
        <p:spPr>
          <a:xfrm>
            <a:off x="6035040" y="5047488"/>
            <a:ext cx="2286000" cy="694944"/>
          </a:xfrm>
          <a:prstGeom prst="roundRect">
            <a:avLst>
              <a:gd name="adj" fmla="val 7895"/>
            </a:avLst>
          </a:prstGeom>
          <a:solidFill>
            <a:srgbClr val="F5F5F0"/>
          </a:solidFill>
          <a:ln w="25400">
            <a:solidFill>
              <a:srgbClr val="111111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05</a:t>
            </a:r>
            <a:endParaRPr lang="en-US" sz="2400" dirty="0"/>
          </a:p>
          <a:p>
            <a:pPr algn="ctr" indent="0" marL="0">
              <a:buNone/>
            </a:pPr>
            <a:r>
              <a:rPr lang="en-US" altLang="en-US" sz="900" dirty="0">
                <a:solidFill>
                  <a:srgbClr val="333333"/>
                </a:solidFill>
              </a:rPr>
              <a:t>YEMEN  •  اليمن</a:t>
            </a:r>
            <a:endParaRPr lang="en-US" sz="2400" dirty="0"/>
          </a:p>
        </p:txBody>
      </p:sp>
      <p:sp>
        <p:nvSpPr>
          <p:cNvPr id="29" name="fx10|code"/>
          <p:cNvSpPr txBox="1"/>
          <p:nvPr/>
        </p:nvSpPr>
        <p:spPr>
          <a:xfrm>
            <a:off x="9262872" y="5257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UST-IBB  •  2026</a:t>
            </a:r>
            <a:endParaRPr lang="en-US" sz="1200" dirty="0"/>
          </a:p>
        </p:txBody>
      </p:sp>
      <p:sp>
        <p:nvSpPr>
          <p:cNvPr id="31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2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 -0.09 E" pathEditMode="relative" ptsTypes="AA">
                                      <p:cBhvr>
                                        <p:cTn id="6" dur="1500" accel="20000" decel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 0.09 E" pathEditMode="relative" ptsTypes="AA">
                                      <p:cBhvr>
                                        <p:cTn id="8" dur="1500" accel="20000" decel="3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0" presetClass="path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animMotion origin="layout" path="M 0 0 L 0 0.6 E" pathEditMode="relative" ptsTypes="AA">
                                      <p:cBhvr>
                                        <p:cTn id="55" dur="1800" accel="20000" decel="3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3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3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3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3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3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3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محمد عادل  •  معمارية النظام 1 / 3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معمارية النظام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Mobile App  •  AI Server  •  Central Server</a:t>
            </a:r>
            <a:endParaRPr lang="en-US" sz="1500" dirty="0"/>
          </a:p>
        </p:txBody>
      </p:sp>
      <p:sp>
        <p:nvSpPr>
          <p:cNvPr id="5" name="fx0@zoom|card#3d"/>
          <p:cNvSpPr/>
          <p:nvPr/>
        </p:nvSpPr>
        <p:spPr>
          <a:xfrm>
            <a:off x="8214055" y="1554480"/>
            <a:ext cx="3429000" cy="4663440"/>
          </a:xfrm>
          <a:prstGeom prst="roundRect">
            <a:avLst>
              <a:gd name="adj" fmla="val 3733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6" name="fx0|ic bg#3d"/>
          <p:cNvSpPr/>
          <p:nvPr/>
        </p:nvSpPr>
        <p:spPr>
          <a:xfrm>
            <a:off x="9471355" y="1737360"/>
            <a:ext cx="914400" cy="91440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7" name="fx0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9955" y="1965960"/>
            <a:ext cx="457200" cy="457200"/>
          </a:xfrm>
          <a:prstGeom prst="rect">
            <a:avLst/>
          </a:prstGeom>
        </p:spPr>
      </p:pic>
      <p:sp>
        <p:nvSpPr>
          <p:cNvPr id="8" name="fx1|head"/>
          <p:cNvSpPr txBox="1"/>
          <p:nvPr/>
        </p:nvSpPr>
        <p:spPr>
          <a:xfrm>
            <a:off x="8351215" y="27432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تطبيق الهاتف</a:t>
            </a:r>
            <a:endParaRPr lang="ar-SA" sz="1800" dirty="0"/>
          </a:p>
          <a:p>
            <a:pPr algn="ct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Mobile App</a:t>
            </a:r>
            <a:endParaRPr lang="ar-SA" sz="1800" dirty="0"/>
          </a:p>
        </p:txBody>
      </p:sp>
      <p:sp>
        <p:nvSpPr>
          <p:cNvPr id="9" name="fx2|items"/>
          <p:cNvSpPr txBox="1"/>
          <p:nvPr/>
        </p:nvSpPr>
        <p:spPr>
          <a:xfrm>
            <a:off x="8488375" y="3566160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تسجيل دخول المستخدم</a:t>
            </a:r>
            <a:endParaRPr lang="ar-SA" sz="14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تشغيل الكاميرا</a:t>
            </a:r>
            <a:endParaRPr lang="ar-SA" sz="14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تصوير الطريق</a:t>
            </a:r>
            <a:endParaRPr lang="ar-SA" sz="14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تحديد موقع الجهاز</a:t>
            </a:r>
            <a:endParaRPr lang="ar-SA" sz="14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إرسال البيانات</a:t>
            </a:r>
            <a:endParaRPr lang="ar-SA" sz="14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استقبال التنبيهات</a:t>
            </a:r>
            <a:endParaRPr lang="ar-SA" sz="1400" dirty="0"/>
          </a:p>
        </p:txBody>
      </p:sp>
      <p:sp>
        <p:nvSpPr>
          <p:cNvPr id="10" name="fx2|arrow"/>
          <p:cNvSpPr/>
          <p:nvPr/>
        </p:nvSpPr>
        <p:spPr>
          <a:xfrm>
            <a:off x="7857439" y="3657600"/>
            <a:ext cx="310896" cy="384048"/>
          </a:xfrm>
          <a:prstGeom prst="lef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x3@zoom|card#3d"/>
          <p:cNvSpPr/>
          <p:nvPr/>
        </p:nvSpPr>
        <p:spPr>
          <a:xfrm>
            <a:off x="4382719" y="1554480"/>
            <a:ext cx="3429000" cy="4663440"/>
          </a:xfrm>
          <a:prstGeom prst="roundRect">
            <a:avLst>
              <a:gd name="adj" fmla="val 3733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3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2" name="fx3|ic bg#3d"/>
          <p:cNvSpPr/>
          <p:nvPr/>
        </p:nvSpPr>
        <p:spPr>
          <a:xfrm>
            <a:off x="5640019" y="1737360"/>
            <a:ext cx="914400" cy="91440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3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3" name="fx3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619" y="1965960"/>
            <a:ext cx="457200" cy="457200"/>
          </a:xfrm>
          <a:prstGeom prst="rect">
            <a:avLst/>
          </a:prstGeom>
        </p:spPr>
      </p:pic>
      <p:sp>
        <p:nvSpPr>
          <p:cNvPr id="14" name="fx4|head"/>
          <p:cNvSpPr txBox="1"/>
          <p:nvPr/>
        </p:nvSpPr>
        <p:spPr>
          <a:xfrm>
            <a:off x="4519879" y="27432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خادم الذكاء الاصطناعي</a:t>
            </a:r>
            <a:endParaRPr lang="ar-SA" sz="1800" dirty="0"/>
          </a:p>
          <a:p>
            <a:pPr algn="ctr" indent="0" marL="0">
              <a:buNone/>
            </a:pPr>
            <a:r>
              <a:rPr lang="ar-SA" altLang="en-US" sz="1100" dirty="0">
                <a:solidFill>
                  <a:srgbClr val="A5B4FC"/>
                </a:solidFill>
              </a:rPr>
              <a:t>AI Server</a:t>
            </a:r>
            <a:endParaRPr lang="ar-SA" sz="1800" dirty="0"/>
          </a:p>
        </p:txBody>
      </p:sp>
      <p:sp>
        <p:nvSpPr>
          <p:cNvPr id="15" name="fx5|items"/>
          <p:cNvSpPr txBox="1"/>
          <p:nvPr/>
        </p:nvSpPr>
        <p:spPr>
          <a:xfrm>
            <a:off x="4657039" y="3566160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معالجة الفيديو</a:t>
            </a:r>
            <a:endParaRPr lang="ar-SA" sz="14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اكتشاف المركبات</a:t>
            </a:r>
            <a:endParaRPr lang="ar-SA" sz="14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تتبع المركبات</a:t>
            </a:r>
            <a:endParaRPr lang="ar-SA" sz="14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حساب السرعة</a:t>
            </a:r>
            <a:endParaRPr lang="ar-SA" sz="14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تحديد المخالفات</a:t>
            </a:r>
            <a:endParaRPr lang="ar-SA" sz="14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التعرف على اللوحات</a:t>
            </a:r>
            <a:endParaRPr lang="ar-SA" sz="1400" dirty="0"/>
          </a:p>
        </p:txBody>
      </p:sp>
      <p:sp>
        <p:nvSpPr>
          <p:cNvPr id="16" name="fx5|arrow"/>
          <p:cNvSpPr/>
          <p:nvPr/>
        </p:nvSpPr>
        <p:spPr>
          <a:xfrm>
            <a:off x="4026103" y="3657600"/>
            <a:ext cx="310896" cy="384048"/>
          </a:xfrm>
          <a:prstGeom prst="lef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fx6@zoom|card#3d"/>
          <p:cNvSpPr/>
          <p:nvPr/>
        </p:nvSpPr>
        <p:spPr>
          <a:xfrm>
            <a:off x="551383" y="1554480"/>
            <a:ext cx="3429000" cy="4663440"/>
          </a:xfrm>
          <a:prstGeom prst="roundRect">
            <a:avLst>
              <a:gd name="adj" fmla="val 3733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8" name="fx6|ic bg#3d"/>
          <p:cNvSpPr/>
          <p:nvPr/>
        </p:nvSpPr>
        <p:spPr>
          <a:xfrm>
            <a:off x="1808683" y="1737360"/>
            <a:ext cx="914400" cy="914400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9" name="fx6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283" y="1965960"/>
            <a:ext cx="457200" cy="457200"/>
          </a:xfrm>
          <a:prstGeom prst="rect">
            <a:avLst/>
          </a:prstGeom>
        </p:spPr>
      </p:pic>
      <p:sp>
        <p:nvSpPr>
          <p:cNvPr id="20" name="fx7|head"/>
          <p:cNvSpPr txBox="1"/>
          <p:nvPr/>
        </p:nvSpPr>
        <p:spPr>
          <a:xfrm>
            <a:off x="688543" y="27432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الخادم المركزي</a:t>
            </a:r>
            <a:endParaRPr lang="ar-SA" sz="1800" dirty="0"/>
          </a:p>
          <a:p>
            <a:pPr algn="ctr" indent="0" marL="0">
              <a:buNone/>
            </a:pPr>
            <a:r>
              <a:rPr lang="ar-SA" altLang="en-US" sz="1100" dirty="0">
                <a:solidFill>
                  <a:srgbClr val="E2BA52"/>
                </a:solidFill>
              </a:rPr>
              <a:t>Central Server</a:t>
            </a:r>
            <a:endParaRPr lang="ar-SA" sz="1800" dirty="0"/>
          </a:p>
        </p:txBody>
      </p:sp>
      <p:sp>
        <p:nvSpPr>
          <p:cNvPr id="21" name="fx8|items"/>
          <p:cNvSpPr txBox="1"/>
          <p:nvPr/>
        </p:nvSpPr>
        <p:spPr>
          <a:xfrm>
            <a:off x="825703" y="3566160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إدارة المستخدمين</a:t>
            </a:r>
            <a:endParaRPr lang="ar-SA" sz="14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إدارة أجهزة المراقبة</a:t>
            </a:r>
            <a:endParaRPr lang="ar-SA" sz="14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إدارة المواقع والسرعات القانونية</a:t>
            </a:r>
            <a:endParaRPr lang="ar-SA" sz="14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إدارة المركبات ومالكيها</a:t>
            </a:r>
            <a:endParaRPr lang="ar-SA" sz="1400" dirty="0"/>
          </a:p>
          <a:p>
            <a:pPr algn="r" marL="342900" indent="-342900">
              <a:spcAft>
                <a:spcPts val="500"/>
              </a:spcAft>
              <a:buSzPct val="100000"/>
              <a:buChar char="◆"/>
            </a:pPr>
            <a:r>
              <a:rPr lang="ar-SA" altLang="en-US" sz="1400" dirty="0">
                <a:solidFill>
                  <a:srgbClr val="FFFFFF"/>
                </a:solidFill>
              </a:rPr>
              <a:t>إدارة المخالفات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محمد عادل  •  معمارية النظام 2 / 3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معمارية النظام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Database  •  Control Panel  •  Multiple Devices</a:t>
            </a:r>
            <a:endParaRPr lang="en-US" sz="1500" dirty="0"/>
          </a:p>
        </p:txBody>
      </p:sp>
      <p:sp>
        <p:nvSpPr>
          <p:cNvPr id="5" name="fx0|diag"/>
          <p:cNvSpPr/>
          <p:nvPr/>
        </p:nvSpPr>
        <p:spPr>
          <a:xfrm>
            <a:off x="548640" y="1508760"/>
            <a:ext cx="5852160" cy="4709160"/>
          </a:xfrm>
          <a:prstGeom prst="roundRect">
            <a:avLst>
              <a:gd name="adj" fmla="val 2718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6" name="fx1@zoom|hub#3d"/>
          <p:cNvSpPr txBox="1"/>
          <p:nvPr/>
        </p:nvSpPr>
        <p:spPr>
          <a:xfrm>
            <a:off x="2286000" y="182880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E2BA5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0A0E1A"/>
                </a:solidFill>
              </a:rPr>
              <a:t>النظام المركزي</a:t>
            </a:r>
            <a:endParaRPr lang="ar-SA" sz="1600" dirty="0"/>
          </a:p>
        </p:txBody>
      </p:sp>
      <p:sp>
        <p:nvSpPr>
          <p:cNvPr id="7" name="fx2|link"/>
          <p:cNvSpPr/>
          <p:nvPr/>
        </p:nvSpPr>
        <p:spPr>
          <a:xfrm>
            <a:off x="3474720" y="2468880"/>
            <a:ext cx="1645920" cy="1325880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  <a:headEnd type="triangle"/>
          </a:ln>
        </p:spPr>
      </p:sp>
      <p:pic>
        <p:nvPicPr>
          <p:cNvPr id="8" name="fx2@zoom|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3794760"/>
            <a:ext cx="548640" cy="548640"/>
          </a:xfrm>
          <a:prstGeom prst="rect">
            <a:avLst/>
          </a:prstGeom>
        </p:spPr>
      </p:pic>
      <p:sp>
        <p:nvSpPr>
          <p:cNvPr id="9" name="fx2|ph t"/>
          <p:cNvSpPr txBox="1"/>
          <p:nvPr/>
        </p:nvSpPr>
        <p:spPr>
          <a:xfrm>
            <a:off x="4389120" y="4389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</a:rPr>
              <a:t>هاتف 1</a:t>
            </a:r>
            <a:endParaRPr lang="ar-SA" sz="1300" dirty="0"/>
          </a:p>
        </p:txBody>
      </p:sp>
      <p:sp>
        <p:nvSpPr>
          <p:cNvPr id="10" name="fx2|loc"/>
          <p:cNvSpPr txBox="1"/>
          <p:nvPr/>
        </p:nvSpPr>
        <p:spPr>
          <a:xfrm>
            <a:off x="4389120" y="4709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B8C7E0"/>
                </a:solidFill>
              </a:rPr>
              <a:t>موقع A</a:t>
            </a:r>
            <a:endParaRPr lang="ar-SA" sz="1200" dirty="0"/>
          </a:p>
        </p:txBody>
      </p:sp>
      <p:sp>
        <p:nvSpPr>
          <p:cNvPr id="11" name="fx2@pop|lim"/>
          <p:cNvSpPr txBox="1"/>
          <p:nvPr/>
        </p:nvSpPr>
        <p:spPr>
          <a:xfrm>
            <a:off x="4526280" y="5029200"/>
            <a:ext cx="1188720" cy="329184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km/h</a:t>
            </a:r>
            <a:endParaRPr lang="en-US" sz="1200" dirty="0"/>
          </a:p>
        </p:txBody>
      </p:sp>
      <p:sp>
        <p:nvSpPr>
          <p:cNvPr id="12" name="fx3|link"/>
          <p:cNvSpPr/>
          <p:nvPr/>
        </p:nvSpPr>
        <p:spPr>
          <a:xfrm>
            <a:off x="3474720" y="2468880"/>
            <a:ext cx="914" cy="1325880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  <a:headEnd type="triangle"/>
          </a:ln>
        </p:spPr>
      </p:sp>
      <p:pic>
        <p:nvPicPr>
          <p:cNvPr id="13" name="fx3@zoom|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794760"/>
            <a:ext cx="548640" cy="548640"/>
          </a:xfrm>
          <a:prstGeom prst="rect">
            <a:avLst/>
          </a:prstGeom>
        </p:spPr>
      </p:pic>
      <p:sp>
        <p:nvSpPr>
          <p:cNvPr id="14" name="fx3|ph t"/>
          <p:cNvSpPr txBox="1"/>
          <p:nvPr/>
        </p:nvSpPr>
        <p:spPr>
          <a:xfrm>
            <a:off x="2743200" y="4389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</a:rPr>
              <a:t>هاتف 2</a:t>
            </a:r>
            <a:endParaRPr lang="ar-SA" sz="1300" dirty="0"/>
          </a:p>
        </p:txBody>
      </p:sp>
      <p:sp>
        <p:nvSpPr>
          <p:cNvPr id="15" name="fx3|loc"/>
          <p:cNvSpPr txBox="1"/>
          <p:nvPr/>
        </p:nvSpPr>
        <p:spPr>
          <a:xfrm>
            <a:off x="2743200" y="4709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B8C7E0"/>
                </a:solidFill>
              </a:rPr>
              <a:t>موقع B</a:t>
            </a:r>
            <a:endParaRPr lang="ar-SA" sz="1200" dirty="0"/>
          </a:p>
        </p:txBody>
      </p:sp>
      <p:sp>
        <p:nvSpPr>
          <p:cNvPr id="16" name="fx3@pop|lim"/>
          <p:cNvSpPr txBox="1"/>
          <p:nvPr/>
        </p:nvSpPr>
        <p:spPr>
          <a:xfrm>
            <a:off x="2880360" y="5029200"/>
            <a:ext cx="1188720" cy="329184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km/h</a:t>
            </a:r>
            <a:endParaRPr lang="en-US" sz="1200" dirty="0"/>
          </a:p>
        </p:txBody>
      </p:sp>
      <p:sp>
        <p:nvSpPr>
          <p:cNvPr id="17" name="fx4|link"/>
          <p:cNvSpPr/>
          <p:nvPr/>
        </p:nvSpPr>
        <p:spPr>
          <a:xfrm flipH="1">
            <a:off x="1828800" y="2468880"/>
            <a:ext cx="1645920" cy="1325880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  <a:headEnd type="triangle"/>
          </a:ln>
        </p:spPr>
      </p:sp>
      <p:pic>
        <p:nvPicPr>
          <p:cNvPr id="18" name="fx4@zoom|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794760"/>
            <a:ext cx="548640" cy="548640"/>
          </a:xfrm>
          <a:prstGeom prst="rect">
            <a:avLst/>
          </a:prstGeom>
        </p:spPr>
      </p:pic>
      <p:sp>
        <p:nvSpPr>
          <p:cNvPr id="19" name="fx4|ph t"/>
          <p:cNvSpPr txBox="1"/>
          <p:nvPr/>
        </p:nvSpPr>
        <p:spPr>
          <a:xfrm>
            <a:off x="1097280" y="4389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</a:rPr>
              <a:t>هاتف 3</a:t>
            </a:r>
            <a:endParaRPr lang="ar-SA" sz="1300" dirty="0"/>
          </a:p>
        </p:txBody>
      </p:sp>
      <p:sp>
        <p:nvSpPr>
          <p:cNvPr id="20" name="fx4|loc"/>
          <p:cNvSpPr txBox="1"/>
          <p:nvPr/>
        </p:nvSpPr>
        <p:spPr>
          <a:xfrm>
            <a:off x="1097280" y="4709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B8C7E0"/>
                </a:solidFill>
              </a:rPr>
              <a:t>موقع C</a:t>
            </a:r>
            <a:endParaRPr lang="ar-SA" sz="1200" dirty="0"/>
          </a:p>
        </p:txBody>
      </p:sp>
      <p:sp>
        <p:nvSpPr>
          <p:cNvPr id="21" name="fx4@pop|lim"/>
          <p:cNvSpPr txBox="1"/>
          <p:nvPr/>
        </p:nvSpPr>
        <p:spPr>
          <a:xfrm>
            <a:off x="1234440" y="5029200"/>
            <a:ext cx="1188720" cy="329184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km/h</a:t>
            </a:r>
            <a:endParaRPr lang="en-US" sz="1200" dirty="0"/>
          </a:p>
        </p:txBody>
      </p:sp>
      <p:sp>
        <p:nvSpPr>
          <p:cNvPr id="22" name="fx5|note"/>
          <p:cNvSpPr txBox="1"/>
          <p:nvPr/>
        </p:nvSpPr>
        <p:spPr>
          <a:xfrm>
            <a:off x="731520" y="5623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chemeClr val="accent2"/>
                </a:solidFill>
              </a:rPr>
              <a:t>المخالفات من جميع الأجهزة تصل إلى النظام المركزي لإدارتها ومراجعتها</a:t>
            </a:r>
            <a:endParaRPr lang="ar-SA" sz="1250" dirty="0"/>
          </a:p>
        </p:txBody>
      </p:sp>
      <p:sp>
        <p:nvSpPr>
          <p:cNvPr id="23" name="fx6|card#3d"/>
          <p:cNvSpPr/>
          <p:nvPr/>
        </p:nvSpPr>
        <p:spPr>
          <a:xfrm>
            <a:off x="6675120" y="1508760"/>
            <a:ext cx="4965192" cy="2286000"/>
          </a:xfrm>
          <a:prstGeom prst="roundRect">
            <a:avLst>
              <a:gd name="adj" fmla="val 5600"/>
            </a:avLst>
          </a:prstGeom>
          <a:solidFill>
            <a:schemeClr val="tx2">
              <a:alpha val="86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4" name="fx6|ic bg#3d"/>
          <p:cNvSpPr/>
          <p:nvPr/>
        </p:nvSpPr>
        <p:spPr>
          <a:xfrm>
            <a:off x="10863072" y="1664208"/>
            <a:ext cx="603504" cy="60350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5" name="fx6|ic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948" y="1815084"/>
            <a:ext cx="301752" cy="301752"/>
          </a:xfrm>
          <a:prstGeom prst="rect">
            <a:avLst/>
          </a:prstGeom>
        </p:spPr>
      </p:pic>
      <p:sp>
        <p:nvSpPr>
          <p:cNvPr id="26" name="fx6|head"/>
          <p:cNvSpPr txBox="1"/>
          <p:nvPr/>
        </p:nvSpPr>
        <p:spPr>
          <a:xfrm>
            <a:off x="6858000" y="1618488"/>
            <a:ext cx="3867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قاعدة البيانات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Database — stores</a:t>
            </a:r>
            <a:endParaRPr lang="ar-SA" sz="1800" dirty="0"/>
          </a:p>
        </p:txBody>
      </p:sp>
      <p:sp>
        <p:nvSpPr>
          <p:cNvPr id="27" name="fx7|items"/>
          <p:cNvSpPr txBox="1"/>
          <p:nvPr/>
        </p:nvSpPr>
        <p:spPr>
          <a:xfrm>
            <a:off x="6903720" y="2423160"/>
            <a:ext cx="4507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المستخدمون • المركبات • المالكون • المواقع</a:t>
            </a:r>
            <a:endParaRPr lang="ar-SA" sz="135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السرعات القانونية • المخالفات • الأدلة والصور</a:t>
            </a:r>
            <a:endParaRPr lang="ar-SA" sz="1350" dirty="0"/>
          </a:p>
        </p:txBody>
      </p:sp>
      <p:sp>
        <p:nvSpPr>
          <p:cNvPr id="28" name="fx8|card#3d"/>
          <p:cNvSpPr/>
          <p:nvPr/>
        </p:nvSpPr>
        <p:spPr>
          <a:xfrm>
            <a:off x="6675120" y="3931920"/>
            <a:ext cx="4965192" cy="2286000"/>
          </a:xfrm>
          <a:prstGeom prst="roundRect">
            <a:avLst>
              <a:gd name="adj" fmla="val 5600"/>
            </a:avLst>
          </a:prstGeom>
          <a:solidFill>
            <a:schemeClr val="tx2">
              <a:alpha val="86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9" name="fx8|ic bg#3d"/>
          <p:cNvSpPr/>
          <p:nvPr/>
        </p:nvSpPr>
        <p:spPr>
          <a:xfrm>
            <a:off x="10863072" y="4087368"/>
            <a:ext cx="603504" cy="60350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30" name="fx8|ic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3948" y="4238244"/>
            <a:ext cx="301752" cy="301752"/>
          </a:xfrm>
          <a:prstGeom prst="rect">
            <a:avLst/>
          </a:prstGeom>
        </p:spPr>
      </p:pic>
      <p:sp>
        <p:nvSpPr>
          <p:cNvPr id="31" name="fx8|head"/>
          <p:cNvSpPr txBox="1"/>
          <p:nvPr/>
        </p:nvSpPr>
        <p:spPr>
          <a:xfrm>
            <a:off x="6858000" y="4041648"/>
            <a:ext cx="3867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لوحة التحكم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10B981"/>
                </a:solidFill>
              </a:rPr>
              <a:t>Control Panel — manage &amp; review</a:t>
            </a:r>
            <a:endParaRPr lang="ar-SA" sz="1800" dirty="0"/>
          </a:p>
        </p:txBody>
      </p:sp>
      <p:sp>
        <p:nvSpPr>
          <p:cNvPr id="32" name="fx9|items"/>
          <p:cNvSpPr txBox="1"/>
          <p:nvPr/>
        </p:nvSpPr>
        <p:spPr>
          <a:xfrm>
            <a:off x="6903720" y="4846320"/>
            <a:ext cx="4507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المستخدمون • الأجهزة • المواقع • المركبات</a:t>
            </a:r>
            <a:endParaRPr lang="ar-SA" sz="135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المخالفات • التقارير والإحصائيات</a:t>
            </a:r>
            <a:endParaRPr lang="ar-SA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3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3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3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3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محمد عادل  •  معمارية النظام 3 / 3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مخطط تدفق عمل النظام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Activity Diagram</a:t>
            </a:r>
            <a:endParaRPr lang="en-US" sz="1500" dirty="0"/>
          </a:p>
        </p:txBody>
      </p:sp>
      <p:sp>
        <p:nvSpPr>
          <p:cNvPr id="5" name="fx0@pop|start"/>
          <p:cNvSpPr/>
          <p:nvPr/>
        </p:nvSpPr>
        <p:spPr>
          <a:xfrm>
            <a:off x="11320272" y="182880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fx1@pop|node#3d"/>
          <p:cNvSpPr txBox="1"/>
          <p:nvPr/>
        </p:nvSpPr>
        <p:spPr>
          <a:xfrm>
            <a:off x="9692640" y="1691640"/>
            <a:ext cx="1463040" cy="566928"/>
          </a:xfrm>
          <a:prstGeom prst="roundRect">
            <a:avLst>
              <a:gd name="adj" fmla="val 19355"/>
            </a:avLst>
          </a:prstGeom>
          <a:solidFill>
            <a:srgbClr val="0B1426"/>
          </a:solidFill>
          <a:ln w="15875">
            <a:solidFill>
              <a:srgbClr val="22D3E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381" tIns="381" rIns="381" bIns="381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</a:rPr>
              <a:t>كاميرا الهاتف: تصوير الطريق</a:t>
            </a:r>
            <a:endParaRPr lang="ar-SA" sz="1150" dirty="0"/>
          </a:p>
        </p:txBody>
      </p:sp>
      <p:sp>
        <p:nvSpPr>
          <p:cNvPr id="7" name="fx1|a"/>
          <p:cNvSpPr/>
          <p:nvPr/>
        </p:nvSpPr>
        <p:spPr>
          <a:xfrm flipH="1">
            <a:off x="11173968" y="1975104"/>
            <a:ext cx="146304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8" name="fx2@pop|node#3d"/>
          <p:cNvSpPr txBox="1"/>
          <p:nvPr/>
        </p:nvSpPr>
        <p:spPr>
          <a:xfrm>
            <a:off x="7936992" y="1691640"/>
            <a:ext cx="1463040" cy="566928"/>
          </a:xfrm>
          <a:prstGeom prst="roundRect">
            <a:avLst>
              <a:gd name="adj" fmla="val 19355"/>
            </a:avLst>
          </a:prstGeom>
          <a:solidFill>
            <a:srgbClr val="0B1426"/>
          </a:solidFill>
          <a:ln w="15875">
            <a:solidFill>
              <a:srgbClr val="22D3E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381" tIns="381" rIns="381" bIns="381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</a:rPr>
              <a:t>اكتشاف المركبات</a:t>
            </a:r>
            <a:endParaRPr lang="ar-SA" sz="1150" dirty="0"/>
          </a:p>
        </p:txBody>
      </p:sp>
      <p:sp>
        <p:nvSpPr>
          <p:cNvPr id="9" name="fx2|a"/>
          <p:cNvSpPr/>
          <p:nvPr/>
        </p:nvSpPr>
        <p:spPr>
          <a:xfrm flipH="1">
            <a:off x="9418320" y="1975104"/>
            <a:ext cx="25603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0" name="fx3@pop|node#3d"/>
          <p:cNvSpPr txBox="1"/>
          <p:nvPr/>
        </p:nvSpPr>
        <p:spPr>
          <a:xfrm>
            <a:off x="6181344" y="1691640"/>
            <a:ext cx="1463040" cy="566928"/>
          </a:xfrm>
          <a:prstGeom prst="roundRect">
            <a:avLst>
              <a:gd name="adj" fmla="val 19355"/>
            </a:avLst>
          </a:prstGeom>
          <a:solidFill>
            <a:srgbClr val="0B1426"/>
          </a:solidFill>
          <a:ln w="15875">
            <a:solidFill>
              <a:srgbClr val="22D3E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381" tIns="381" rIns="381" bIns="381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</a:rPr>
              <a:t>تتبع المركبات</a:t>
            </a:r>
            <a:endParaRPr lang="ar-SA" sz="1150" dirty="0"/>
          </a:p>
        </p:txBody>
      </p:sp>
      <p:sp>
        <p:nvSpPr>
          <p:cNvPr id="11" name="fx3|a"/>
          <p:cNvSpPr/>
          <p:nvPr/>
        </p:nvSpPr>
        <p:spPr>
          <a:xfrm flipH="1">
            <a:off x="7662672" y="1975104"/>
            <a:ext cx="25603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2" name="fx4@pop|node#3d"/>
          <p:cNvSpPr txBox="1"/>
          <p:nvPr/>
        </p:nvSpPr>
        <p:spPr>
          <a:xfrm>
            <a:off x="4425696" y="1691640"/>
            <a:ext cx="1463040" cy="566928"/>
          </a:xfrm>
          <a:prstGeom prst="roundRect">
            <a:avLst>
              <a:gd name="adj" fmla="val 19355"/>
            </a:avLst>
          </a:prstGeom>
          <a:solidFill>
            <a:srgbClr val="0B1426"/>
          </a:solidFill>
          <a:ln w="15875">
            <a:solidFill>
              <a:srgbClr val="22D3E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381" tIns="381" rIns="381" bIns="381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</a:rPr>
              <a:t>معايرة الطريق</a:t>
            </a:r>
            <a:endParaRPr lang="ar-SA" sz="1150" dirty="0"/>
          </a:p>
        </p:txBody>
      </p:sp>
      <p:sp>
        <p:nvSpPr>
          <p:cNvPr id="13" name="fx4|a"/>
          <p:cNvSpPr/>
          <p:nvPr/>
        </p:nvSpPr>
        <p:spPr>
          <a:xfrm flipH="1">
            <a:off x="5907024" y="1975104"/>
            <a:ext cx="25603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4" name="fx5@pop|node#3d"/>
          <p:cNvSpPr txBox="1"/>
          <p:nvPr/>
        </p:nvSpPr>
        <p:spPr>
          <a:xfrm>
            <a:off x="2670048" y="1691640"/>
            <a:ext cx="1463040" cy="566928"/>
          </a:xfrm>
          <a:prstGeom prst="roundRect">
            <a:avLst>
              <a:gd name="adj" fmla="val 19355"/>
            </a:avLst>
          </a:prstGeom>
          <a:solidFill>
            <a:srgbClr val="0B1426"/>
          </a:solidFill>
          <a:ln w="15875">
            <a:solidFill>
              <a:srgbClr val="22D3E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381" tIns="381" rIns="381" bIns="381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</a:rPr>
              <a:t>حساب المسافة والزمن</a:t>
            </a:r>
            <a:endParaRPr lang="ar-SA" sz="1150" dirty="0"/>
          </a:p>
        </p:txBody>
      </p:sp>
      <p:sp>
        <p:nvSpPr>
          <p:cNvPr id="15" name="fx5|a"/>
          <p:cNvSpPr/>
          <p:nvPr/>
        </p:nvSpPr>
        <p:spPr>
          <a:xfrm flipH="1">
            <a:off x="4151376" y="1975104"/>
            <a:ext cx="25603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6" name="fx6@pop|node#3d"/>
          <p:cNvSpPr txBox="1"/>
          <p:nvPr/>
        </p:nvSpPr>
        <p:spPr>
          <a:xfrm>
            <a:off x="914400" y="1691640"/>
            <a:ext cx="1463040" cy="566928"/>
          </a:xfrm>
          <a:prstGeom prst="roundRect">
            <a:avLst>
              <a:gd name="adj" fmla="val 19355"/>
            </a:avLst>
          </a:prstGeom>
          <a:solidFill>
            <a:srgbClr val="0B1426"/>
          </a:solidFill>
          <a:ln w="15875">
            <a:solidFill>
              <a:srgbClr val="22D3E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381" tIns="381" rIns="381" bIns="381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</a:rPr>
              <a:t>حساب السرعة</a:t>
            </a:r>
            <a:endParaRPr lang="ar-SA" sz="1150" dirty="0"/>
          </a:p>
        </p:txBody>
      </p:sp>
      <p:sp>
        <p:nvSpPr>
          <p:cNvPr id="17" name="fx6|a"/>
          <p:cNvSpPr/>
          <p:nvPr/>
        </p:nvSpPr>
        <p:spPr>
          <a:xfrm flipH="1">
            <a:off x="2395728" y="1975104"/>
            <a:ext cx="256032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8" name="fx7|down1"/>
          <p:cNvSpPr/>
          <p:nvPr/>
        </p:nvSpPr>
        <p:spPr>
          <a:xfrm>
            <a:off x="1645920" y="2276856"/>
            <a:ext cx="0" cy="493776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fx7@pop|node#3d"/>
          <p:cNvSpPr txBox="1"/>
          <p:nvPr/>
        </p:nvSpPr>
        <p:spPr>
          <a:xfrm>
            <a:off x="914400" y="2788920"/>
            <a:ext cx="1463040" cy="566928"/>
          </a:xfrm>
          <a:prstGeom prst="roundRect">
            <a:avLst>
              <a:gd name="adj" fmla="val 19355"/>
            </a:avLst>
          </a:prstGeom>
          <a:solidFill>
            <a:srgbClr val="0B1426"/>
          </a:solidFill>
          <a:ln w="15875">
            <a:solidFill>
              <a:srgbClr val="22D3E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381" tIns="381" rIns="381" bIns="381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</a:rPr>
              <a:t>مقارنة بالسرعة القانونية</a:t>
            </a:r>
            <a:endParaRPr lang="ar-SA" sz="1150" dirty="0"/>
          </a:p>
        </p:txBody>
      </p:sp>
      <p:sp>
        <p:nvSpPr>
          <p:cNvPr id="20" name="fx8|toD"/>
          <p:cNvSpPr/>
          <p:nvPr/>
        </p:nvSpPr>
        <p:spPr>
          <a:xfrm>
            <a:off x="2395728" y="3072384"/>
            <a:ext cx="374904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fx8@zoom|decision#3d"/>
          <p:cNvSpPr txBox="1"/>
          <p:nvPr/>
        </p:nvSpPr>
        <p:spPr>
          <a:xfrm>
            <a:off x="2788920" y="2592324"/>
            <a:ext cx="1828800" cy="960120"/>
          </a:xfrm>
          <a:prstGeom prst="diamond">
            <a:avLst/>
          </a:prstGeom>
          <a:solidFill>
            <a:srgbClr val="2A1F05"/>
          </a:solidFill>
          <a:ln w="19050">
            <a:solidFill>
              <a:srgbClr val="E2BA52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</a:rPr>
              <a:t>هل توجد مخالفة؟</a:t>
            </a:r>
            <a:endParaRPr lang="ar-SA" sz="1150" dirty="0"/>
          </a:p>
        </p:txBody>
      </p:sp>
      <p:sp>
        <p:nvSpPr>
          <p:cNvPr id="22" name="fx9|no a"/>
          <p:cNvSpPr/>
          <p:nvPr/>
        </p:nvSpPr>
        <p:spPr>
          <a:xfrm>
            <a:off x="4636008" y="3072384"/>
            <a:ext cx="877824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3" name="fx9|no"/>
          <p:cNvSpPr txBox="1"/>
          <p:nvPr/>
        </p:nvSpPr>
        <p:spPr>
          <a:xfrm>
            <a:off x="484632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0B981"/>
                </a:solidFill>
              </a:rPr>
              <a:t>لا</a:t>
            </a:r>
            <a:endParaRPr lang="ar-SA" sz="1200" dirty="0"/>
          </a:p>
        </p:txBody>
      </p:sp>
      <p:sp>
        <p:nvSpPr>
          <p:cNvPr id="24" name="fx9@pop|node#3d"/>
          <p:cNvSpPr txBox="1"/>
          <p:nvPr/>
        </p:nvSpPr>
        <p:spPr>
          <a:xfrm>
            <a:off x="5532120" y="2788920"/>
            <a:ext cx="1463040" cy="566928"/>
          </a:xfrm>
          <a:prstGeom prst="roundRect">
            <a:avLst>
              <a:gd name="adj" fmla="val 19355"/>
            </a:avLst>
          </a:prstGeom>
          <a:solidFill>
            <a:srgbClr val="0B2A1E"/>
          </a:solidFill>
          <a:ln w="15875">
            <a:solidFill>
              <a:srgbClr val="10B981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381" tIns="381" rIns="381" bIns="381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</a:rPr>
              <a:t>استمرار المراقبة</a:t>
            </a:r>
            <a:endParaRPr lang="ar-SA" sz="1150" dirty="0"/>
          </a:p>
        </p:txBody>
      </p:sp>
      <p:sp>
        <p:nvSpPr>
          <p:cNvPr id="25" name="fx9|loop"/>
          <p:cNvSpPr txBox="1"/>
          <p:nvPr/>
        </p:nvSpPr>
        <p:spPr>
          <a:xfrm>
            <a:off x="7086600" y="28803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10B981"/>
                </a:solidFill>
              </a:rPr>
              <a:t>↺  العودة لتصوير الطريق</a:t>
            </a:r>
            <a:endParaRPr lang="ar-SA" sz="1200" dirty="0"/>
          </a:p>
        </p:txBody>
      </p:sp>
      <p:sp>
        <p:nvSpPr>
          <p:cNvPr id="26" name="fx10|yes a"/>
          <p:cNvSpPr/>
          <p:nvPr/>
        </p:nvSpPr>
        <p:spPr>
          <a:xfrm>
            <a:off x="3703320" y="3570732"/>
            <a:ext cx="0" cy="57150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  <a:tailEnd type="triangle"/>
          </a:ln>
        </p:spPr>
      </p:sp>
      <p:sp>
        <p:nvSpPr>
          <p:cNvPr id="27" name="fx10|yes"/>
          <p:cNvSpPr txBox="1"/>
          <p:nvPr/>
        </p:nvSpPr>
        <p:spPr>
          <a:xfrm>
            <a:off x="3776472" y="35981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200" b="1" dirty="0">
                <a:solidFill>
                  <a:srgbClr val="F43F5E"/>
                </a:solidFill>
              </a:rPr>
              <a:t>نعم</a:t>
            </a:r>
            <a:endParaRPr lang="ar-SA" sz="1200" dirty="0"/>
          </a:p>
        </p:txBody>
      </p:sp>
      <p:sp>
        <p:nvSpPr>
          <p:cNvPr id="28" name="fx11@pop|node#3d"/>
          <p:cNvSpPr txBox="1"/>
          <p:nvPr/>
        </p:nvSpPr>
        <p:spPr>
          <a:xfrm>
            <a:off x="2971800" y="4160520"/>
            <a:ext cx="1463040" cy="566928"/>
          </a:xfrm>
          <a:prstGeom prst="roundRect">
            <a:avLst>
              <a:gd name="adj" fmla="val 19355"/>
            </a:avLst>
          </a:prstGeom>
          <a:solidFill>
            <a:srgbClr val="1F0B12"/>
          </a:solidFill>
          <a:ln w="15875">
            <a:solidFill>
              <a:srgbClr val="F43F5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381" tIns="381" rIns="381" bIns="381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</a:rPr>
              <a:t>توثيق المخالفة: صورة المركبة</a:t>
            </a:r>
            <a:endParaRPr lang="ar-SA" sz="1150" dirty="0"/>
          </a:p>
        </p:txBody>
      </p:sp>
      <p:sp>
        <p:nvSpPr>
          <p:cNvPr id="29" name="fx12|a3"/>
          <p:cNvSpPr/>
          <p:nvPr/>
        </p:nvSpPr>
        <p:spPr>
          <a:xfrm>
            <a:off x="4453128" y="4443984"/>
            <a:ext cx="256032" cy="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  <a:tailEnd type="triangle"/>
          </a:ln>
        </p:spPr>
      </p:sp>
      <p:sp>
        <p:nvSpPr>
          <p:cNvPr id="30" name="fx12@pop|node#3d"/>
          <p:cNvSpPr txBox="1"/>
          <p:nvPr/>
        </p:nvSpPr>
        <p:spPr>
          <a:xfrm>
            <a:off x="4727448" y="4160520"/>
            <a:ext cx="1463040" cy="566928"/>
          </a:xfrm>
          <a:prstGeom prst="roundRect">
            <a:avLst>
              <a:gd name="adj" fmla="val 19355"/>
            </a:avLst>
          </a:prstGeom>
          <a:solidFill>
            <a:srgbClr val="1F0B12"/>
          </a:solidFill>
          <a:ln w="15875">
            <a:solidFill>
              <a:srgbClr val="F43F5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381" tIns="381" rIns="381" bIns="381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</a:rPr>
              <a:t>قراءة اللوحة OCR</a:t>
            </a:r>
            <a:endParaRPr lang="ar-SA" sz="1150" dirty="0"/>
          </a:p>
        </p:txBody>
      </p:sp>
      <p:sp>
        <p:nvSpPr>
          <p:cNvPr id="31" name="fx13|a3"/>
          <p:cNvSpPr/>
          <p:nvPr/>
        </p:nvSpPr>
        <p:spPr>
          <a:xfrm>
            <a:off x="6208776" y="4443984"/>
            <a:ext cx="256032" cy="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  <a:tailEnd type="triangle"/>
          </a:ln>
        </p:spPr>
      </p:sp>
      <p:sp>
        <p:nvSpPr>
          <p:cNvPr id="32" name="fx13@pop|node#3d"/>
          <p:cNvSpPr txBox="1"/>
          <p:nvPr/>
        </p:nvSpPr>
        <p:spPr>
          <a:xfrm>
            <a:off x="6483096" y="4160520"/>
            <a:ext cx="1463040" cy="566928"/>
          </a:xfrm>
          <a:prstGeom prst="roundRect">
            <a:avLst>
              <a:gd name="adj" fmla="val 19355"/>
            </a:avLst>
          </a:prstGeom>
          <a:solidFill>
            <a:srgbClr val="1F0B12"/>
          </a:solidFill>
          <a:ln w="15875">
            <a:solidFill>
              <a:srgbClr val="F43F5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381" tIns="381" rIns="381" bIns="381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</a:rPr>
              <a:t>البحث في قاعدة البيانات</a:t>
            </a:r>
            <a:endParaRPr lang="ar-SA" sz="1150" dirty="0"/>
          </a:p>
        </p:txBody>
      </p:sp>
      <p:sp>
        <p:nvSpPr>
          <p:cNvPr id="33" name="fx14|a3"/>
          <p:cNvSpPr/>
          <p:nvPr/>
        </p:nvSpPr>
        <p:spPr>
          <a:xfrm>
            <a:off x="7964424" y="4443984"/>
            <a:ext cx="256032" cy="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  <a:tailEnd type="triangle"/>
          </a:ln>
        </p:spPr>
      </p:sp>
      <p:sp>
        <p:nvSpPr>
          <p:cNvPr id="34" name="fx14@pop|node#3d"/>
          <p:cNvSpPr txBox="1"/>
          <p:nvPr/>
        </p:nvSpPr>
        <p:spPr>
          <a:xfrm>
            <a:off x="8238744" y="4160520"/>
            <a:ext cx="1463040" cy="566928"/>
          </a:xfrm>
          <a:prstGeom prst="roundRect">
            <a:avLst>
              <a:gd name="adj" fmla="val 19355"/>
            </a:avLst>
          </a:prstGeom>
          <a:solidFill>
            <a:srgbClr val="1F0B12"/>
          </a:solidFill>
          <a:ln w="15875">
            <a:solidFill>
              <a:srgbClr val="F43F5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381" tIns="381" rIns="381" bIns="381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</a:rPr>
              <a:t>بيانات المالك</a:t>
            </a:r>
            <a:endParaRPr lang="ar-SA" sz="1150" dirty="0"/>
          </a:p>
        </p:txBody>
      </p:sp>
      <p:sp>
        <p:nvSpPr>
          <p:cNvPr id="35" name="fx15|a3"/>
          <p:cNvSpPr/>
          <p:nvPr/>
        </p:nvSpPr>
        <p:spPr>
          <a:xfrm>
            <a:off x="9720072" y="4443984"/>
            <a:ext cx="256032" cy="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  <a:tailEnd type="triangle"/>
          </a:ln>
        </p:spPr>
      </p:sp>
      <p:sp>
        <p:nvSpPr>
          <p:cNvPr id="36" name="fx15@pop|node#3d"/>
          <p:cNvSpPr txBox="1"/>
          <p:nvPr/>
        </p:nvSpPr>
        <p:spPr>
          <a:xfrm>
            <a:off x="9994392" y="4160520"/>
            <a:ext cx="1463040" cy="566928"/>
          </a:xfrm>
          <a:prstGeom prst="roundRect">
            <a:avLst>
              <a:gd name="adj" fmla="val 19355"/>
            </a:avLst>
          </a:prstGeom>
          <a:solidFill>
            <a:srgbClr val="1F0B12"/>
          </a:solidFill>
          <a:ln w="15875">
            <a:solidFill>
              <a:srgbClr val="F43F5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381" tIns="381" rIns="381" bIns="381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</a:rPr>
              <a:t>تسجيل المخالفة</a:t>
            </a:r>
            <a:endParaRPr lang="ar-SA" sz="1150" dirty="0"/>
          </a:p>
        </p:txBody>
      </p:sp>
      <p:sp>
        <p:nvSpPr>
          <p:cNvPr id="37" name="fx16|a4"/>
          <p:cNvSpPr/>
          <p:nvPr/>
        </p:nvSpPr>
        <p:spPr>
          <a:xfrm>
            <a:off x="10725912" y="4745736"/>
            <a:ext cx="0" cy="585216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  <a:tailEnd type="triangle"/>
          </a:ln>
        </p:spPr>
      </p:sp>
      <p:sp>
        <p:nvSpPr>
          <p:cNvPr id="38" name="fx16@pop|node#3d"/>
          <p:cNvSpPr txBox="1"/>
          <p:nvPr/>
        </p:nvSpPr>
        <p:spPr>
          <a:xfrm>
            <a:off x="9994392" y="5349240"/>
            <a:ext cx="1463040" cy="566928"/>
          </a:xfrm>
          <a:prstGeom prst="roundRect">
            <a:avLst>
              <a:gd name="adj" fmla="val 19355"/>
            </a:avLst>
          </a:prstGeom>
          <a:solidFill>
            <a:srgbClr val="2A1F05"/>
          </a:solidFill>
          <a:ln w="15875">
            <a:solidFill>
              <a:srgbClr val="F43F5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381" tIns="381" rIns="381" bIns="381" rtlCol="0" anchor="ctr"/>
          <a:lstStyle/>
          <a:p>
            <a:pPr rtl="1" algn="ctr" indent="0" marL="0">
              <a:buNone/>
            </a:pPr>
            <a:r>
              <a:rPr lang="ar-SA" altLang="en-US" sz="1150" b="1" dirty="0">
                <a:solidFill>
                  <a:srgbClr val="FFFFFF"/>
                </a:solidFill>
              </a:rPr>
              <a:t>الخادم المركزي</a:t>
            </a:r>
            <a:endParaRPr lang="ar-SA" sz="1150" dirty="0"/>
          </a:p>
        </p:txBody>
      </p:sp>
      <p:sp>
        <p:nvSpPr>
          <p:cNvPr id="39" name="fx18@pop|end ring"/>
          <p:cNvSpPr/>
          <p:nvPr/>
        </p:nvSpPr>
        <p:spPr>
          <a:xfrm>
            <a:off x="9491472" y="5477256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0" name="fx18@pop|end dot"/>
          <p:cNvSpPr/>
          <p:nvPr/>
        </p:nvSpPr>
        <p:spPr>
          <a:xfrm>
            <a:off x="9564624" y="5550408"/>
            <a:ext cx="164592" cy="164592"/>
          </a:xfrm>
          <a:prstGeom prst="ellipse">
            <a:avLst/>
          </a:prstGeom>
          <a:solidFill>
            <a:srgbClr val="080B14"/>
          </a:solidFill>
          <a:ln w="12700">
            <a:solidFill>
              <a:srgbClr val="080B14"/>
            </a:solidFill>
            <a:prstDash val="solid"/>
          </a:ln>
        </p:spPr>
      </p:sp>
      <p:sp>
        <p:nvSpPr>
          <p:cNvPr id="41" name="fx19|note"/>
          <p:cNvSpPr txBox="1"/>
          <p:nvPr/>
        </p:nvSpPr>
        <p:spPr>
          <a:xfrm>
            <a:off x="548640" y="6355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chemeClr val="accent2"/>
                </a:solidFill>
              </a:rPr>
              <a:t>PaddleOCR يعمل فقط في مسار «نعم» — بعد اكتشاف المخالفة</a:t>
            </a:r>
            <a:endParaRPr lang="ar-SA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3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3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3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3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3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3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3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3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3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53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3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3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301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53" presetClass="entr" presetSubtype="0" fill="hold" grpId="0" nodeType="withEffect">
                                  <p:stCondLst>
                                    <p:cond delay="301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3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3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32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53" presetClass="entr" presetSubtype="0" fill="hold" grpId="0" nodeType="withEffect">
                                  <p:stCondLst>
                                    <p:cond delay="32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3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3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347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53" presetClass="entr" presetSubtype="0" fill="hold" grpId="0" nodeType="withEffect">
                                  <p:stCondLst>
                                    <p:cond delay="347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3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3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53" presetClass="entr" presetSubtype="0" fill="hold" grpId="0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3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3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393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0" fill="hold" grpId="0" nodeType="withEffect">
                                  <p:stCondLst>
                                    <p:cond delay="393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35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35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53" presetClass="entr" presetSubtype="0" fill="hold" grpId="0" nodeType="withEffect">
                                  <p:stCondLst>
                                    <p:cond delay="439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35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35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53" presetClass="entr" presetSubtype="0" fill="hold" grpId="0" nodeType="withEffect">
                                  <p:stCondLst>
                                    <p:cond delay="439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3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3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6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محمد عادل  •  قاعدة البيانات 1 / 2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تصميم قاعدة البيانات والمستخدمين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ERD  •  Use Case Diagram</a:t>
            </a:r>
            <a:endParaRPr lang="en-US" sz="1500" dirty="0"/>
          </a:p>
        </p:txBody>
      </p:sp>
      <p:sp>
        <p:nvSpPr>
          <p:cNvPr id="5" name="fx0|erd card"/>
          <p:cNvSpPr/>
          <p:nvPr/>
        </p:nvSpPr>
        <p:spPr>
          <a:xfrm>
            <a:off x="6355080" y="1508760"/>
            <a:ext cx="5285232" cy="4709160"/>
          </a:xfrm>
          <a:prstGeom prst="roundRect">
            <a:avLst>
              <a:gd name="adj" fmla="val 2718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6" name="fx0|erd t"/>
          <p:cNvSpPr txBox="1"/>
          <p:nvPr/>
        </p:nvSpPr>
        <p:spPr>
          <a:xfrm>
            <a:off x="6492240" y="15727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ERD</a:t>
            </a:r>
            <a:endParaRPr lang="en-US" sz="1600" dirty="0"/>
          </a:p>
        </p:txBody>
      </p:sp>
      <p:sp>
        <p:nvSpPr>
          <p:cNvPr id="7" name="fx0|erd ar"/>
          <p:cNvSpPr txBox="1"/>
          <p:nvPr/>
        </p:nvSpPr>
        <p:spPr>
          <a:xfrm>
            <a:off x="7680960" y="15727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</a:rPr>
              <a:t>الجداول الرئيسية والعلاقات</a:t>
            </a:r>
            <a:endParaRPr lang="ar-SA" sz="1400" dirty="0"/>
          </a:p>
        </p:txBody>
      </p:sp>
      <p:sp>
        <p:nvSpPr>
          <p:cNvPr id="8" name="fx3|rel Users-Monitoring_Devices"/>
          <p:cNvSpPr/>
          <p:nvPr/>
        </p:nvSpPr>
        <p:spPr>
          <a:xfrm>
            <a:off x="10721340" y="2523744"/>
            <a:ext cx="0" cy="1143000"/>
          </a:xfrm>
          <a:prstGeom prst="line">
            <a:avLst/>
          </a:prstGeom>
          <a:noFill/>
          <a:ln w="25400">
            <a:solidFill>
              <a:srgbClr val="E2BA52"/>
            </a:solidFill>
            <a:prstDash val="solid"/>
          </a:ln>
        </p:spPr>
      </p:sp>
      <p:sp>
        <p:nvSpPr>
          <p:cNvPr id="9" name="fx3|rel Monitoring_Devices-Locations"/>
          <p:cNvSpPr/>
          <p:nvPr/>
        </p:nvSpPr>
        <p:spPr>
          <a:xfrm>
            <a:off x="10721340" y="3666744"/>
            <a:ext cx="0" cy="1143000"/>
          </a:xfrm>
          <a:prstGeom prst="line">
            <a:avLst/>
          </a:prstGeom>
          <a:noFill/>
          <a:ln w="25400">
            <a:solidFill>
              <a:srgbClr val="E2BA52"/>
            </a:solidFill>
            <a:prstDash val="solid"/>
          </a:ln>
        </p:spPr>
      </p:sp>
      <p:sp>
        <p:nvSpPr>
          <p:cNvPr id="10" name="fx4|rel Vehicles-Violations"/>
          <p:cNvSpPr/>
          <p:nvPr/>
        </p:nvSpPr>
        <p:spPr>
          <a:xfrm>
            <a:off x="7338060" y="3666744"/>
            <a:ext cx="1691640" cy="0"/>
          </a:xfrm>
          <a:prstGeom prst="line">
            <a:avLst/>
          </a:prstGeom>
          <a:noFill/>
          <a:ln w="25400">
            <a:solidFill>
              <a:srgbClr val="E2BA52"/>
            </a:solidFill>
            <a:prstDash val="solid"/>
          </a:ln>
        </p:spPr>
      </p:sp>
      <p:sp>
        <p:nvSpPr>
          <p:cNvPr id="11" name="fx4|rel Violations-Evidence"/>
          <p:cNvSpPr/>
          <p:nvPr/>
        </p:nvSpPr>
        <p:spPr>
          <a:xfrm>
            <a:off x="9029700" y="3666744"/>
            <a:ext cx="0" cy="1143000"/>
          </a:xfrm>
          <a:prstGeom prst="line">
            <a:avLst/>
          </a:prstGeom>
          <a:noFill/>
          <a:ln w="25400">
            <a:solidFill>
              <a:srgbClr val="E2BA52"/>
            </a:solidFill>
            <a:prstDash val="solid"/>
          </a:ln>
        </p:spPr>
      </p:sp>
      <p:sp>
        <p:nvSpPr>
          <p:cNvPr id="12" name="fx4|rel Vehicle_Owners-Vehicles"/>
          <p:cNvSpPr/>
          <p:nvPr/>
        </p:nvSpPr>
        <p:spPr>
          <a:xfrm>
            <a:off x="7338060" y="2523744"/>
            <a:ext cx="0" cy="1143000"/>
          </a:xfrm>
          <a:prstGeom prst="line">
            <a:avLst/>
          </a:prstGeom>
          <a:noFill/>
          <a:ln w="25400">
            <a:solidFill>
              <a:srgbClr val="E2BA52"/>
            </a:solidFill>
            <a:prstDash val="solid"/>
          </a:ln>
        </p:spPr>
      </p:sp>
      <p:sp>
        <p:nvSpPr>
          <p:cNvPr id="13" name="fx5|rel Violations-Monitoring_Devices"/>
          <p:cNvSpPr/>
          <p:nvPr/>
        </p:nvSpPr>
        <p:spPr>
          <a:xfrm>
            <a:off x="9029700" y="3666744"/>
            <a:ext cx="1691640" cy="0"/>
          </a:xfrm>
          <a:prstGeom prst="line">
            <a:avLst/>
          </a:prstGeom>
          <a:noFill/>
          <a:ln w="25400">
            <a:solidFill>
              <a:srgbClr val="E2BA52"/>
            </a:solidFill>
            <a:prstDash val="solid"/>
          </a:ln>
        </p:spPr>
      </p:sp>
      <p:sp>
        <p:nvSpPr>
          <p:cNvPr id="14" name="fx1@zoom|tb Users#3d"/>
          <p:cNvSpPr/>
          <p:nvPr/>
        </p:nvSpPr>
        <p:spPr>
          <a:xfrm>
            <a:off x="9966960" y="2148840"/>
            <a:ext cx="1508760" cy="749808"/>
          </a:xfrm>
          <a:prstGeom prst="rect">
            <a:avLst/>
          </a:prstGeom>
          <a:solidFill>
            <a:srgbClr val="0B1426"/>
          </a:solidFill>
          <a:ln w="15875">
            <a:solidFill>
              <a:srgbClr val="22D3EE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5" name="fx1|tbh Users"/>
          <p:cNvSpPr/>
          <p:nvPr/>
        </p:nvSpPr>
        <p:spPr>
          <a:xfrm>
            <a:off x="9966960" y="2148840"/>
            <a:ext cx="1508760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fx1|tbn Users"/>
          <p:cNvSpPr txBox="1"/>
          <p:nvPr/>
        </p:nvSpPr>
        <p:spPr>
          <a:xfrm>
            <a:off x="9966960" y="21488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5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050" dirty="0"/>
          </a:p>
        </p:txBody>
      </p:sp>
      <p:sp>
        <p:nvSpPr>
          <p:cNvPr id="17" name="fx1|tba Users"/>
          <p:cNvSpPr txBox="1"/>
          <p:nvPr/>
        </p:nvSpPr>
        <p:spPr>
          <a:xfrm>
            <a:off x="9966960" y="24963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FFFFFF"/>
                </a:solidFill>
              </a:rPr>
              <a:t>المستخدمون</a:t>
            </a:r>
            <a:endParaRPr lang="ar-SA" sz="1200" dirty="0"/>
          </a:p>
        </p:txBody>
      </p:sp>
      <p:sp>
        <p:nvSpPr>
          <p:cNvPr id="18" name="fx1@zoom|tb Monitoring_Devices#3d"/>
          <p:cNvSpPr/>
          <p:nvPr/>
        </p:nvSpPr>
        <p:spPr>
          <a:xfrm>
            <a:off x="9966960" y="3291840"/>
            <a:ext cx="1508760" cy="749808"/>
          </a:xfrm>
          <a:prstGeom prst="rect">
            <a:avLst/>
          </a:prstGeom>
          <a:solidFill>
            <a:srgbClr val="0B1426"/>
          </a:solidFill>
          <a:ln w="15875">
            <a:solidFill>
              <a:srgbClr val="22D3EE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9" name="fx1|tbh Monitoring_Devices"/>
          <p:cNvSpPr/>
          <p:nvPr/>
        </p:nvSpPr>
        <p:spPr>
          <a:xfrm>
            <a:off x="9966960" y="3291840"/>
            <a:ext cx="1508760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fx1|tbn Monitoring_Devices"/>
          <p:cNvSpPr txBox="1"/>
          <p:nvPr/>
        </p:nvSpPr>
        <p:spPr>
          <a:xfrm>
            <a:off x="9966960" y="32918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85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Monitoring_Devices</a:t>
            </a:r>
            <a:endParaRPr lang="en-US" sz="850" dirty="0"/>
          </a:p>
        </p:txBody>
      </p:sp>
      <p:sp>
        <p:nvSpPr>
          <p:cNvPr id="21" name="fx1|tba Monitoring_Devices"/>
          <p:cNvSpPr txBox="1"/>
          <p:nvPr/>
        </p:nvSpPr>
        <p:spPr>
          <a:xfrm>
            <a:off x="9966960" y="36393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FFFFFF"/>
                </a:solidFill>
              </a:rPr>
              <a:t>أجهزة المراقبة</a:t>
            </a:r>
            <a:endParaRPr lang="ar-SA" sz="1200" dirty="0"/>
          </a:p>
        </p:txBody>
      </p:sp>
      <p:sp>
        <p:nvSpPr>
          <p:cNvPr id="22" name="fx1@zoom|tb Locations#3d"/>
          <p:cNvSpPr/>
          <p:nvPr/>
        </p:nvSpPr>
        <p:spPr>
          <a:xfrm>
            <a:off x="9966960" y="4434840"/>
            <a:ext cx="1508760" cy="749808"/>
          </a:xfrm>
          <a:prstGeom prst="rect">
            <a:avLst/>
          </a:prstGeom>
          <a:solidFill>
            <a:srgbClr val="0B1426"/>
          </a:solidFill>
          <a:ln w="15875">
            <a:solidFill>
              <a:srgbClr val="22D3EE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3" name="fx1|tbh Locations"/>
          <p:cNvSpPr/>
          <p:nvPr/>
        </p:nvSpPr>
        <p:spPr>
          <a:xfrm>
            <a:off x="9966960" y="4434840"/>
            <a:ext cx="1508760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fx1|tbn Locations"/>
          <p:cNvSpPr txBox="1"/>
          <p:nvPr/>
        </p:nvSpPr>
        <p:spPr>
          <a:xfrm>
            <a:off x="9966960" y="44348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5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Locations</a:t>
            </a:r>
            <a:endParaRPr lang="en-US" sz="1050" dirty="0"/>
          </a:p>
        </p:txBody>
      </p:sp>
      <p:sp>
        <p:nvSpPr>
          <p:cNvPr id="25" name="fx1|tba Locations"/>
          <p:cNvSpPr txBox="1"/>
          <p:nvPr/>
        </p:nvSpPr>
        <p:spPr>
          <a:xfrm>
            <a:off x="9966960" y="47823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FFFFFF"/>
                </a:solidFill>
              </a:rPr>
              <a:t>المواقع</a:t>
            </a:r>
            <a:endParaRPr lang="ar-SA" sz="1200" dirty="0"/>
          </a:p>
        </p:txBody>
      </p:sp>
      <p:sp>
        <p:nvSpPr>
          <p:cNvPr id="26" name="fx1@zoom|tb Violations#3d"/>
          <p:cNvSpPr/>
          <p:nvPr/>
        </p:nvSpPr>
        <p:spPr>
          <a:xfrm>
            <a:off x="8275320" y="3291840"/>
            <a:ext cx="1508760" cy="749808"/>
          </a:xfrm>
          <a:prstGeom prst="rect">
            <a:avLst/>
          </a:prstGeom>
          <a:solidFill>
            <a:srgbClr val="0B1426"/>
          </a:solidFill>
          <a:ln w="15875">
            <a:solidFill>
              <a:srgbClr val="22D3EE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7" name="fx1|tbh Violations"/>
          <p:cNvSpPr/>
          <p:nvPr/>
        </p:nvSpPr>
        <p:spPr>
          <a:xfrm>
            <a:off x="8275320" y="3291840"/>
            <a:ext cx="1508760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fx1|tbn Violations"/>
          <p:cNvSpPr txBox="1"/>
          <p:nvPr/>
        </p:nvSpPr>
        <p:spPr>
          <a:xfrm>
            <a:off x="8275320" y="32918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5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Violations</a:t>
            </a:r>
            <a:endParaRPr lang="en-US" sz="1050" dirty="0"/>
          </a:p>
        </p:txBody>
      </p:sp>
      <p:sp>
        <p:nvSpPr>
          <p:cNvPr id="29" name="fx1|tba Violations"/>
          <p:cNvSpPr txBox="1"/>
          <p:nvPr/>
        </p:nvSpPr>
        <p:spPr>
          <a:xfrm>
            <a:off x="8275320" y="36393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FFFFFF"/>
                </a:solidFill>
              </a:rPr>
              <a:t>المخالفات</a:t>
            </a:r>
            <a:endParaRPr lang="ar-SA" sz="1200" dirty="0"/>
          </a:p>
        </p:txBody>
      </p:sp>
      <p:sp>
        <p:nvSpPr>
          <p:cNvPr id="30" name="fx2@zoom|tb Evidence#3d"/>
          <p:cNvSpPr/>
          <p:nvPr/>
        </p:nvSpPr>
        <p:spPr>
          <a:xfrm>
            <a:off x="8275320" y="4434840"/>
            <a:ext cx="1508760" cy="749808"/>
          </a:xfrm>
          <a:prstGeom prst="rect">
            <a:avLst/>
          </a:prstGeom>
          <a:solidFill>
            <a:srgbClr val="0B1426"/>
          </a:solidFill>
          <a:ln w="15875">
            <a:solidFill>
              <a:srgbClr val="22D3EE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31" name="fx2|tbh Evidence"/>
          <p:cNvSpPr/>
          <p:nvPr/>
        </p:nvSpPr>
        <p:spPr>
          <a:xfrm>
            <a:off x="8275320" y="4434840"/>
            <a:ext cx="1508760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fx2|tbn Evidence"/>
          <p:cNvSpPr txBox="1"/>
          <p:nvPr/>
        </p:nvSpPr>
        <p:spPr>
          <a:xfrm>
            <a:off x="8275320" y="44348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5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050" dirty="0"/>
          </a:p>
        </p:txBody>
      </p:sp>
      <p:sp>
        <p:nvSpPr>
          <p:cNvPr id="33" name="fx2|tba Evidence"/>
          <p:cNvSpPr txBox="1"/>
          <p:nvPr/>
        </p:nvSpPr>
        <p:spPr>
          <a:xfrm>
            <a:off x="8275320" y="47823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FFFFFF"/>
                </a:solidFill>
              </a:rPr>
              <a:t>الأدلة والصور</a:t>
            </a:r>
            <a:endParaRPr lang="ar-SA" sz="1200" dirty="0"/>
          </a:p>
        </p:txBody>
      </p:sp>
      <p:sp>
        <p:nvSpPr>
          <p:cNvPr id="34" name="fx2@zoom|tb Vehicles#3d"/>
          <p:cNvSpPr/>
          <p:nvPr/>
        </p:nvSpPr>
        <p:spPr>
          <a:xfrm>
            <a:off x="6583680" y="3291840"/>
            <a:ext cx="1508760" cy="749808"/>
          </a:xfrm>
          <a:prstGeom prst="rect">
            <a:avLst/>
          </a:prstGeom>
          <a:solidFill>
            <a:srgbClr val="0B1426"/>
          </a:solidFill>
          <a:ln w="15875">
            <a:solidFill>
              <a:srgbClr val="22D3EE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35" name="fx2|tbh Vehicles"/>
          <p:cNvSpPr/>
          <p:nvPr/>
        </p:nvSpPr>
        <p:spPr>
          <a:xfrm>
            <a:off x="6583680" y="3291840"/>
            <a:ext cx="1508760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fx2|tbn Vehicles"/>
          <p:cNvSpPr txBox="1"/>
          <p:nvPr/>
        </p:nvSpPr>
        <p:spPr>
          <a:xfrm>
            <a:off x="6583680" y="32918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5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Vehicles</a:t>
            </a:r>
            <a:endParaRPr lang="en-US" sz="1050" dirty="0"/>
          </a:p>
        </p:txBody>
      </p:sp>
      <p:sp>
        <p:nvSpPr>
          <p:cNvPr id="37" name="fx2|tba Vehicles"/>
          <p:cNvSpPr txBox="1"/>
          <p:nvPr/>
        </p:nvSpPr>
        <p:spPr>
          <a:xfrm>
            <a:off x="6583680" y="36393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FFFFFF"/>
                </a:solidFill>
              </a:rPr>
              <a:t>المركبات</a:t>
            </a:r>
            <a:endParaRPr lang="ar-SA" sz="1200" dirty="0"/>
          </a:p>
        </p:txBody>
      </p:sp>
      <p:sp>
        <p:nvSpPr>
          <p:cNvPr id="38" name="fx2@zoom|tb Vehicle_Owners#3d"/>
          <p:cNvSpPr/>
          <p:nvPr/>
        </p:nvSpPr>
        <p:spPr>
          <a:xfrm>
            <a:off x="6583680" y="2148840"/>
            <a:ext cx="1508760" cy="749808"/>
          </a:xfrm>
          <a:prstGeom prst="rect">
            <a:avLst/>
          </a:prstGeom>
          <a:solidFill>
            <a:srgbClr val="0B1426"/>
          </a:solidFill>
          <a:ln w="15875">
            <a:solidFill>
              <a:srgbClr val="22D3EE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39" name="fx2|tbh Vehicle_Owners"/>
          <p:cNvSpPr/>
          <p:nvPr/>
        </p:nvSpPr>
        <p:spPr>
          <a:xfrm>
            <a:off x="6583680" y="2148840"/>
            <a:ext cx="1508760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0" name="fx2|tbn Vehicle_Owners"/>
          <p:cNvSpPr txBox="1"/>
          <p:nvPr/>
        </p:nvSpPr>
        <p:spPr>
          <a:xfrm>
            <a:off x="6583680" y="21488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5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Vehicle_Owners</a:t>
            </a:r>
            <a:endParaRPr lang="en-US" sz="1050" dirty="0"/>
          </a:p>
        </p:txBody>
      </p:sp>
      <p:sp>
        <p:nvSpPr>
          <p:cNvPr id="41" name="fx2|tba Vehicle_Owners"/>
          <p:cNvSpPr txBox="1"/>
          <p:nvPr/>
        </p:nvSpPr>
        <p:spPr>
          <a:xfrm>
            <a:off x="6583680" y="24963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FFFFFF"/>
                </a:solidFill>
              </a:rPr>
              <a:t>مالكو المركبات</a:t>
            </a:r>
            <a:endParaRPr lang="ar-SA" sz="1200" dirty="0"/>
          </a:p>
        </p:txBody>
      </p:sp>
      <p:sp>
        <p:nvSpPr>
          <p:cNvPr id="42" name="fx6|rel t"/>
          <p:cNvSpPr txBox="1"/>
          <p:nvPr/>
        </p:nvSpPr>
        <p:spPr>
          <a:xfrm>
            <a:off x="6583680" y="54864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E2B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 &gt; Owner &gt; Violations</a:t>
            </a:r>
            <a:endParaRPr lang="en-US" sz="1300" dirty="0"/>
          </a:p>
        </p:txBody>
      </p:sp>
      <p:sp>
        <p:nvSpPr>
          <p:cNvPr id="43" name="fx0|uc card"/>
          <p:cNvSpPr/>
          <p:nvPr/>
        </p:nvSpPr>
        <p:spPr>
          <a:xfrm>
            <a:off x="548640" y="1508760"/>
            <a:ext cx="5623560" cy="4709160"/>
          </a:xfrm>
          <a:prstGeom prst="roundRect">
            <a:avLst>
              <a:gd name="adj" fmla="val 2718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44" name="fx0|uc t"/>
          <p:cNvSpPr txBox="1"/>
          <p:nvPr/>
        </p:nvSpPr>
        <p:spPr>
          <a:xfrm>
            <a:off x="68580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Case</a:t>
            </a:r>
            <a:endParaRPr lang="en-US" sz="1600" dirty="0"/>
          </a:p>
        </p:txBody>
      </p:sp>
      <p:sp>
        <p:nvSpPr>
          <p:cNvPr id="45" name="fx0|uc ar"/>
          <p:cNvSpPr txBox="1"/>
          <p:nvPr/>
        </p:nvSpPr>
        <p:spPr>
          <a:xfrm>
            <a:off x="2194560" y="1572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</a:rPr>
              <a:t>المستخدمون والصلاحيات</a:t>
            </a:r>
            <a:endParaRPr lang="ar-SA" sz="1400" dirty="0"/>
          </a:p>
        </p:txBody>
      </p:sp>
      <p:pic>
        <p:nvPicPr>
          <p:cNvPr id="46" name="fx7@zoom|acto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011680"/>
            <a:ext cx="457200" cy="457200"/>
          </a:xfrm>
          <a:prstGeom prst="rect">
            <a:avLst/>
          </a:prstGeom>
        </p:spPr>
      </p:pic>
      <p:sp>
        <p:nvSpPr>
          <p:cNvPr id="47" name="fx7|who"/>
          <p:cNvSpPr txBox="1"/>
          <p:nvPr/>
        </p:nvSpPr>
        <p:spPr>
          <a:xfrm>
            <a:off x="4297680" y="24871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E2BA52"/>
                </a:solidFill>
              </a:rPr>
              <a:t>مدير النظام</a:t>
            </a:r>
            <a:endParaRPr lang="ar-SA" sz="1200" dirty="0"/>
          </a:p>
        </p:txBody>
      </p:sp>
      <p:sp>
        <p:nvSpPr>
          <p:cNvPr id="48" name="fx8|uc"/>
          <p:cNvSpPr txBox="1"/>
          <p:nvPr/>
        </p:nvSpPr>
        <p:spPr>
          <a:xfrm>
            <a:off x="4325112" y="2971800"/>
            <a:ext cx="1682496" cy="393192"/>
          </a:xfrm>
          <a:prstGeom prst="ellipse">
            <a:avLst/>
          </a:prstGeom>
          <a:solidFill>
            <a:srgbClr val="0B1426"/>
          </a:solidFill>
          <a:ln w="12700">
            <a:solidFill>
              <a:srgbClr val="E2BA52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FFFFFF"/>
                </a:solidFill>
              </a:rPr>
              <a:t>إدارة المستخدمين</a:t>
            </a:r>
            <a:endParaRPr lang="ar-SA" sz="1000" dirty="0"/>
          </a:p>
        </p:txBody>
      </p:sp>
      <p:sp>
        <p:nvSpPr>
          <p:cNvPr id="49" name="fx8|uc"/>
          <p:cNvSpPr txBox="1"/>
          <p:nvPr/>
        </p:nvSpPr>
        <p:spPr>
          <a:xfrm>
            <a:off x="4325112" y="3419856"/>
            <a:ext cx="1682496" cy="393192"/>
          </a:xfrm>
          <a:prstGeom prst="ellipse">
            <a:avLst/>
          </a:prstGeom>
          <a:solidFill>
            <a:srgbClr val="0B1426"/>
          </a:solidFill>
          <a:ln w="12700">
            <a:solidFill>
              <a:srgbClr val="E2BA52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FFFFFF"/>
                </a:solidFill>
              </a:rPr>
              <a:t>إضافة الأجهزة</a:t>
            </a:r>
            <a:endParaRPr lang="ar-SA" sz="1000" dirty="0"/>
          </a:p>
        </p:txBody>
      </p:sp>
      <p:sp>
        <p:nvSpPr>
          <p:cNvPr id="50" name="fx8|uc"/>
          <p:cNvSpPr txBox="1"/>
          <p:nvPr/>
        </p:nvSpPr>
        <p:spPr>
          <a:xfrm>
            <a:off x="4325112" y="3867912"/>
            <a:ext cx="1682496" cy="393192"/>
          </a:xfrm>
          <a:prstGeom prst="ellipse">
            <a:avLst/>
          </a:prstGeom>
          <a:solidFill>
            <a:srgbClr val="0B1426"/>
          </a:solidFill>
          <a:ln w="12700">
            <a:solidFill>
              <a:srgbClr val="E2BA52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FFFFFF"/>
                </a:solidFill>
              </a:rPr>
              <a:t>تحديد المواقع</a:t>
            </a:r>
            <a:endParaRPr lang="ar-SA" sz="1000" dirty="0"/>
          </a:p>
        </p:txBody>
      </p:sp>
      <p:sp>
        <p:nvSpPr>
          <p:cNvPr id="51" name="fx8|uc"/>
          <p:cNvSpPr txBox="1"/>
          <p:nvPr/>
        </p:nvSpPr>
        <p:spPr>
          <a:xfrm>
            <a:off x="4325112" y="4315968"/>
            <a:ext cx="1682496" cy="393192"/>
          </a:xfrm>
          <a:prstGeom prst="ellipse">
            <a:avLst/>
          </a:prstGeom>
          <a:solidFill>
            <a:srgbClr val="0B1426"/>
          </a:solidFill>
          <a:ln w="12700">
            <a:solidFill>
              <a:srgbClr val="E2BA52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FFFFFF"/>
                </a:solidFill>
              </a:rPr>
              <a:t>تحديد السرعات القانونية</a:t>
            </a:r>
            <a:endParaRPr lang="ar-SA" sz="1000" dirty="0"/>
          </a:p>
        </p:txBody>
      </p:sp>
      <p:sp>
        <p:nvSpPr>
          <p:cNvPr id="52" name="fx8|uc"/>
          <p:cNvSpPr txBox="1"/>
          <p:nvPr/>
        </p:nvSpPr>
        <p:spPr>
          <a:xfrm>
            <a:off x="4325112" y="4764024"/>
            <a:ext cx="1682496" cy="393192"/>
          </a:xfrm>
          <a:prstGeom prst="ellipse">
            <a:avLst/>
          </a:prstGeom>
          <a:solidFill>
            <a:srgbClr val="0B1426"/>
          </a:solidFill>
          <a:ln w="12700">
            <a:solidFill>
              <a:srgbClr val="E2BA52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FFFFFF"/>
                </a:solidFill>
              </a:rPr>
              <a:t>إدارة المركبات</a:t>
            </a:r>
            <a:endParaRPr lang="ar-SA" sz="1000" dirty="0"/>
          </a:p>
        </p:txBody>
      </p:sp>
      <p:sp>
        <p:nvSpPr>
          <p:cNvPr id="53" name="fx8|uc"/>
          <p:cNvSpPr txBox="1"/>
          <p:nvPr/>
        </p:nvSpPr>
        <p:spPr>
          <a:xfrm>
            <a:off x="4325112" y="5212080"/>
            <a:ext cx="1682496" cy="393192"/>
          </a:xfrm>
          <a:prstGeom prst="ellipse">
            <a:avLst/>
          </a:prstGeom>
          <a:solidFill>
            <a:srgbClr val="0B1426"/>
          </a:solidFill>
          <a:ln w="12700">
            <a:solidFill>
              <a:srgbClr val="E2BA52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FFFFFF"/>
                </a:solidFill>
              </a:rPr>
              <a:t>مراجعة المخالفات</a:t>
            </a:r>
            <a:endParaRPr lang="ar-SA" sz="1000" dirty="0"/>
          </a:p>
        </p:txBody>
      </p:sp>
      <p:sp>
        <p:nvSpPr>
          <p:cNvPr id="54" name="fx8|uc"/>
          <p:cNvSpPr txBox="1"/>
          <p:nvPr/>
        </p:nvSpPr>
        <p:spPr>
          <a:xfrm>
            <a:off x="4325112" y="5660136"/>
            <a:ext cx="1682496" cy="393192"/>
          </a:xfrm>
          <a:prstGeom prst="ellipse">
            <a:avLst/>
          </a:prstGeom>
          <a:solidFill>
            <a:srgbClr val="0B1426"/>
          </a:solidFill>
          <a:ln w="12700">
            <a:solidFill>
              <a:srgbClr val="E2BA52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FFFFFF"/>
                </a:solidFill>
              </a:rPr>
              <a:t>مشاهدة التقارير</a:t>
            </a:r>
            <a:endParaRPr lang="ar-SA" sz="1000" dirty="0"/>
          </a:p>
        </p:txBody>
      </p:sp>
      <p:pic>
        <p:nvPicPr>
          <p:cNvPr id="55" name="fx9@zoom|act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2011680"/>
            <a:ext cx="457200" cy="457200"/>
          </a:xfrm>
          <a:prstGeom prst="rect">
            <a:avLst/>
          </a:prstGeom>
        </p:spPr>
      </p:pic>
      <p:sp>
        <p:nvSpPr>
          <p:cNvPr id="56" name="fx9|who"/>
          <p:cNvSpPr txBox="1"/>
          <p:nvPr/>
        </p:nvSpPr>
        <p:spPr>
          <a:xfrm>
            <a:off x="2468880" y="24871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22D3EE"/>
                </a:solidFill>
              </a:rPr>
              <a:t>مستخدم جهاز المراقبة</a:t>
            </a:r>
            <a:endParaRPr lang="ar-SA" sz="1200" dirty="0"/>
          </a:p>
        </p:txBody>
      </p:sp>
      <p:sp>
        <p:nvSpPr>
          <p:cNvPr id="57" name="fx10|uc"/>
          <p:cNvSpPr txBox="1"/>
          <p:nvPr/>
        </p:nvSpPr>
        <p:spPr>
          <a:xfrm>
            <a:off x="2496312" y="2971800"/>
            <a:ext cx="1682496" cy="393192"/>
          </a:xfrm>
          <a:prstGeom prst="ellipse">
            <a:avLst/>
          </a:prstGeom>
          <a:solidFill>
            <a:srgbClr val="0B1426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FFFFFF"/>
                </a:solidFill>
              </a:rPr>
              <a:t>تسجيل الدخول</a:t>
            </a:r>
            <a:endParaRPr lang="ar-SA" sz="1000" dirty="0"/>
          </a:p>
        </p:txBody>
      </p:sp>
      <p:sp>
        <p:nvSpPr>
          <p:cNvPr id="58" name="fx10|uc"/>
          <p:cNvSpPr txBox="1"/>
          <p:nvPr/>
        </p:nvSpPr>
        <p:spPr>
          <a:xfrm>
            <a:off x="2496312" y="3419856"/>
            <a:ext cx="1682496" cy="393192"/>
          </a:xfrm>
          <a:prstGeom prst="ellipse">
            <a:avLst/>
          </a:prstGeom>
          <a:solidFill>
            <a:srgbClr val="0B1426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FFFFFF"/>
                </a:solidFill>
              </a:rPr>
              <a:t>تشغيل كاميرا الهاتف</a:t>
            </a:r>
            <a:endParaRPr lang="ar-SA" sz="1000" dirty="0"/>
          </a:p>
        </p:txBody>
      </p:sp>
      <p:sp>
        <p:nvSpPr>
          <p:cNvPr id="59" name="fx10|uc"/>
          <p:cNvSpPr txBox="1"/>
          <p:nvPr/>
        </p:nvSpPr>
        <p:spPr>
          <a:xfrm>
            <a:off x="2496312" y="3867912"/>
            <a:ext cx="1682496" cy="393192"/>
          </a:xfrm>
          <a:prstGeom prst="ellipse">
            <a:avLst/>
          </a:prstGeom>
          <a:solidFill>
            <a:srgbClr val="0B1426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FFFFFF"/>
                </a:solidFill>
              </a:rPr>
              <a:t>بدء وإيقاف المراقبة</a:t>
            </a:r>
            <a:endParaRPr lang="ar-SA" sz="1000" dirty="0"/>
          </a:p>
        </p:txBody>
      </p:sp>
      <p:sp>
        <p:nvSpPr>
          <p:cNvPr id="60" name="fx10|uc"/>
          <p:cNvSpPr txBox="1"/>
          <p:nvPr/>
        </p:nvSpPr>
        <p:spPr>
          <a:xfrm>
            <a:off x="2496312" y="4315968"/>
            <a:ext cx="1682496" cy="393192"/>
          </a:xfrm>
          <a:prstGeom prst="ellipse">
            <a:avLst/>
          </a:prstGeom>
          <a:solidFill>
            <a:srgbClr val="0B1426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FFFFFF"/>
                </a:solidFill>
              </a:rPr>
              <a:t>مشاهدة حالة الجهاز</a:t>
            </a:r>
            <a:endParaRPr lang="ar-SA" sz="1000" dirty="0"/>
          </a:p>
        </p:txBody>
      </p:sp>
      <p:pic>
        <p:nvPicPr>
          <p:cNvPr id="61" name="fx11@zoom|acto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011680"/>
            <a:ext cx="457200" cy="457200"/>
          </a:xfrm>
          <a:prstGeom prst="rect">
            <a:avLst/>
          </a:prstGeom>
        </p:spPr>
      </p:pic>
      <p:sp>
        <p:nvSpPr>
          <p:cNvPr id="62" name="fx11|who"/>
          <p:cNvSpPr txBox="1"/>
          <p:nvPr/>
        </p:nvSpPr>
        <p:spPr>
          <a:xfrm>
            <a:off x="640080" y="24871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0B981"/>
                </a:solidFill>
              </a:rPr>
              <a:t>مراجع المخالفات</a:t>
            </a:r>
            <a:endParaRPr lang="ar-SA" sz="1200" dirty="0"/>
          </a:p>
        </p:txBody>
      </p:sp>
      <p:sp>
        <p:nvSpPr>
          <p:cNvPr id="63" name="fx12|uc"/>
          <p:cNvSpPr txBox="1"/>
          <p:nvPr/>
        </p:nvSpPr>
        <p:spPr>
          <a:xfrm>
            <a:off x="667512" y="2971800"/>
            <a:ext cx="1682496" cy="393192"/>
          </a:xfrm>
          <a:prstGeom prst="ellipse">
            <a:avLst/>
          </a:prstGeom>
          <a:solidFill>
            <a:srgbClr val="0B1426"/>
          </a:solidFill>
          <a:ln w="12700">
            <a:solidFill>
              <a:srgbClr val="10B981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FFFFFF"/>
                </a:solidFill>
              </a:rPr>
              <a:t>مراجعة المخالفات</a:t>
            </a:r>
            <a:endParaRPr lang="ar-SA" sz="1000" dirty="0"/>
          </a:p>
        </p:txBody>
      </p:sp>
      <p:sp>
        <p:nvSpPr>
          <p:cNvPr id="64" name="fx12|uc"/>
          <p:cNvSpPr txBox="1"/>
          <p:nvPr/>
        </p:nvSpPr>
        <p:spPr>
          <a:xfrm>
            <a:off x="667512" y="3419856"/>
            <a:ext cx="1682496" cy="393192"/>
          </a:xfrm>
          <a:prstGeom prst="ellipse">
            <a:avLst/>
          </a:prstGeom>
          <a:solidFill>
            <a:srgbClr val="0B1426"/>
          </a:solidFill>
          <a:ln w="12700">
            <a:solidFill>
              <a:srgbClr val="10B981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FFFFFF"/>
                </a:solidFill>
              </a:rPr>
              <a:t>مشاهدة الأدلة</a:t>
            </a:r>
            <a:endParaRPr lang="ar-SA" sz="1000" dirty="0"/>
          </a:p>
        </p:txBody>
      </p:sp>
      <p:sp>
        <p:nvSpPr>
          <p:cNvPr id="65" name="fx12|uc"/>
          <p:cNvSpPr txBox="1"/>
          <p:nvPr/>
        </p:nvSpPr>
        <p:spPr>
          <a:xfrm>
            <a:off x="667512" y="3867912"/>
            <a:ext cx="1682496" cy="393192"/>
          </a:xfrm>
          <a:prstGeom prst="ellipse">
            <a:avLst/>
          </a:prstGeom>
          <a:solidFill>
            <a:srgbClr val="0B1426"/>
          </a:solidFill>
          <a:ln w="12700">
            <a:solidFill>
              <a:srgbClr val="10B981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FFFFFF"/>
                </a:solidFill>
              </a:rPr>
              <a:t>التحقق من بيانات المركبة</a:t>
            </a:r>
            <a:endParaRPr lang="ar-SA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6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6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6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6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65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65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6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6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6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6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6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65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65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6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4" dur="6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8" dur="6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2" dur="6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6" dur="6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0" dur="6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4" dur="6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8" dur="6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2" dur="6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65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65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7" dur="6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1" dur="6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5" dur="6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9" dur="6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3" dur="600" decel="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7" dur="600" decel="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8" presetID="53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650" decel="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650" decel="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2" dur="6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6" dur="600" decel="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301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0" dur="600" decel="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301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4" dur="600" decel="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301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8" dur="600" decel="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kicker"/>
          <p:cNvSpPr txBox="1"/>
          <p:nvPr/>
        </p:nvSpPr>
        <p:spPr>
          <a:xfrm>
            <a:off x="548640" y="457200"/>
            <a:ext cx="4206240" cy="329184"/>
          </a:xfrm>
          <a:prstGeom prst="rect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محمد عادل  •  قاعدة البيانات 2 / 2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مخرجات النظام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System Outputs</a:t>
            </a:r>
            <a:endParaRPr lang="en-US" sz="1500" dirty="0"/>
          </a:p>
        </p:txBody>
      </p:sp>
      <p:sp>
        <p:nvSpPr>
          <p:cNvPr id="5" name="fx0@zoom|violation body#3d"/>
          <p:cNvSpPr/>
          <p:nvPr/>
        </p:nvSpPr>
        <p:spPr>
          <a:xfrm>
            <a:off x="777240" y="1545336"/>
            <a:ext cx="2145323" cy="4544568"/>
          </a:xfrm>
          <a:prstGeom prst="roundRect">
            <a:avLst>
              <a:gd name="adj" fmla="val 9377"/>
            </a:avLst>
          </a:prstGeom>
          <a:solidFill>
            <a:srgbClr val="05070C"/>
          </a:solidFill>
          <a:ln w="19050">
            <a:solidFill>
              <a:srgbClr val="B8C7E0"/>
            </a:solidFill>
            <a:prstDash val="solid"/>
          </a:ln>
          <a:effectLst>
            <a:outerShdw sx="100000" sy="100000" kx="0" ky="0" algn="bl" rotWithShape="0" blurRad="279400" dist="50800" dir="16200000">
              <a:srgbClr val="22D3EE">
                <a:alpha val="4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6" name="fx0@zoom|violation screen" descr="img/screen_viol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1962443" cy="4251960"/>
          </a:xfrm>
          <a:prstGeom prst="rect">
            <a:avLst/>
          </a:prstGeom>
        </p:spPr>
      </p:pic>
      <p:sp>
        <p:nvSpPr>
          <p:cNvPr id="7" name="fx1@pop|proposed"/>
          <p:cNvSpPr txBox="1"/>
          <p:nvPr/>
        </p:nvSpPr>
        <p:spPr>
          <a:xfrm>
            <a:off x="685800" y="6217920"/>
            <a:ext cx="2328203" cy="292608"/>
          </a:xfrm>
          <a:prstGeom prst="rect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تصوّر مقترح للواجهات</a:t>
            </a:r>
            <a:endParaRPr lang="ar-SA" sz="1100" dirty="0"/>
          </a:p>
        </p:txBody>
      </p:sp>
      <p:sp>
        <p:nvSpPr>
          <p:cNvPr id="8" name="fx2|card#3d"/>
          <p:cNvSpPr/>
          <p:nvPr/>
        </p:nvSpPr>
        <p:spPr>
          <a:xfrm>
            <a:off x="7626096" y="1508760"/>
            <a:ext cx="4014216" cy="2240280"/>
          </a:xfrm>
          <a:prstGeom prst="roundRect">
            <a:avLst>
              <a:gd name="adj" fmla="val 5714"/>
            </a:avLst>
          </a:prstGeom>
          <a:solidFill>
            <a:schemeClr val="tx2">
              <a:alpha val="86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9" name="fx2|ic bg#3d"/>
          <p:cNvSpPr/>
          <p:nvPr/>
        </p:nvSpPr>
        <p:spPr>
          <a:xfrm>
            <a:off x="10863072" y="1664208"/>
            <a:ext cx="603504" cy="60350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0" name="fx2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3948" y="1815084"/>
            <a:ext cx="301752" cy="301752"/>
          </a:xfrm>
          <a:prstGeom prst="rect">
            <a:avLst/>
          </a:prstGeom>
        </p:spPr>
      </p:pic>
      <p:sp>
        <p:nvSpPr>
          <p:cNvPr id="11" name="fx2|head"/>
          <p:cNvSpPr txBox="1"/>
          <p:nvPr/>
        </p:nvSpPr>
        <p:spPr>
          <a:xfrm>
            <a:off x="7808976" y="1618488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بيانات المركبات والمالكين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Vehicles &amp; Owners</a:t>
            </a:r>
            <a:endParaRPr lang="ar-SA" sz="1800" dirty="0"/>
          </a:p>
        </p:txBody>
      </p:sp>
      <p:sp>
        <p:nvSpPr>
          <p:cNvPr id="12" name="fx3|items"/>
          <p:cNvSpPr txBox="1"/>
          <p:nvPr/>
        </p:nvSpPr>
        <p:spPr>
          <a:xfrm>
            <a:off x="7854696" y="2423160"/>
            <a:ext cx="3557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رقم لوحة المركبة</a:t>
            </a:r>
            <a:endParaRPr lang="ar-SA" sz="135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نوع المركبة: سيارة، شاحنة، حافلة...</a:t>
            </a:r>
            <a:endParaRPr lang="ar-SA" sz="135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صاحب المركبة المسجل</a:t>
            </a:r>
            <a:endParaRPr lang="ar-SA" sz="1350" dirty="0"/>
          </a:p>
        </p:txBody>
      </p:sp>
      <p:sp>
        <p:nvSpPr>
          <p:cNvPr id="13" name="fx4|card#3d"/>
          <p:cNvSpPr/>
          <p:nvPr/>
        </p:nvSpPr>
        <p:spPr>
          <a:xfrm>
            <a:off x="3337560" y="1508760"/>
            <a:ext cx="4014216" cy="2240280"/>
          </a:xfrm>
          <a:prstGeom prst="roundRect">
            <a:avLst>
              <a:gd name="adj" fmla="val 5714"/>
            </a:avLst>
          </a:prstGeom>
          <a:solidFill>
            <a:schemeClr val="tx2">
              <a:alpha val="86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4" name="fx4|ic bg#3d"/>
          <p:cNvSpPr/>
          <p:nvPr/>
        </p:nvSpPr>
        <p:spPr>
          <a:xfrm>
            <a:off x="6574536" y="1664208"/>
            <a:ext cx="603504" cy="60350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5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5" name="fx4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412" y="1815084"/>
            <a:ext cx="301752" cy="301752"/>
          </a:xfrm>
          <a:prstGeom prst="rect">
            <a:avLst/>
          </a:prstGeom>
        </p:spPr>
      </p:pic>
      <p:sp>
        <p:nvSpPr>
          <p:cNvPr id="16" name="fx4|head"/>
          <p:cNvSpPr txBox="1"/>
          <p:nvPr/>
        </p:nvSpPr>
        <p:spPr>
          <a:xfrm>
            <a:off x="3520440" y="1618488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سجلات المخالفات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F43F5E"/>
                </a:solidFill>
              </a:rPr>
              <a:t>Violation Records</a:t>
            </a:r>
            <a:endParaRPr lang="ar-SA" sz="1800" dirty="0"/>
          </a:p>
        </p:txBody>
      </p:sp>
      <p:sp>
        <p:nvSpPr>
          <p:cNvPr id="17" name="fx5|items"/>
          <p:cNvSpPr txBox="1"/>
          <p:nvPr/>
        </p:nvSpPr>
        <p:spPr>
          <a:xfrm>
            <a:off x="3566160" y="2423160"/>
            <a:ext cx="3557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السرعة الفعلية والقانونية ومقدار التجاوز</a:t>
            </a:r>
            <a:endParaRPr lang="ar-SA" sz="135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التاريخ والوقت</a:t>
            </a:r>
            <a:endParaRPr lang="ar-SA" sz="135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موقع كاميرا المراقبة</a:t>
            </a:r>
            <a:endParaRPr lang="ar-SA" sz="1350" dirty="0"/>
          </a:p>
        </p:txBody>
      </p:sp>
      <p:sp>
        <p:nvSpPr>
          <p:cNvPr id="18" name="fx6|card#3d"/>
          <p:cNvSpPr/>
          <p:nvPr/>
        </p:nvSpPr>
        <p:spPr>
          <a:xfrm>
            <a:off x="7626096" y="3977640"/>
            <a:ext cx="4014216" cy="2240280"/>
          </a:xfrm>
          <a:prstGeom prst="roundRect">
            <a:avLst>
              <a:gd name="adj" fmla="val 5714"/>
            </a:avLst>
          </a:prstGeom>
          <a:solidFill>
            <a:schemeClr val="tx2">
              <a:alpha val="86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9" name="fx6|ic bg#3d"/>
          <p:cNvSpPr/>
          <p:nvPr/>
        </p:nvSpPr>
        <p:spPr>
          <a:xfrm>
            <a:off x="10863072" y="4133088"/>
            <a:ext cx="603504" cy="60350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0" name="fx6|ic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948" y="4283964"/>
            <a:ext cx="301752" cy="301752"/>
          </a:xfrm>
          <a:prstGeom prst="rect">
            <a:avLst/>
          </a:prstGeom>
        </p:spPr>
      </p:pic>
      <p:sp>
        <p:nvSpPr>
          <p:cNvPr id="21" name="fx6|head"/>
          <p:cNvSpPr txBox="1"/>
          <p:nvPr/>
        </p:nvSpPr>
        <p:spPr>
          <a:xfrm>
            <a:off x="7808976" y="4087368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الصور والأدلة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E2BA52"/>
                </a:solidFill>
              </a:rPr>
              <a:t>Images &amp; Evidence</a:t>
            </a:r>
            <a:endParaRPr lang="ar-SA" sz="1800" dirty="0"/>
          </a:p>
        </p:txBody>
      </p:sp>
      <p:sp>
        <p:nvSpPr>
          <p:cNvPr id="22" name="fx7|items"/>
          <p:cNvSpPr txBox="1"/>
          <p:nvPr/>
        </p:nvSpPr>
        <p:spPr>
          <a:xfrm>
            <a:off x="7854696" y="4892040"/>
            <a:ext cx="3557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صورة المركبة المخالفة</a:t>
            </a:r>
            <a:endParaRPr lang="ar-SA" sz="135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المقطع أو الإطار المرتبط بالمخالفة</a:t>
            </a:r>
            <a:endParaRPr lang="ar-SA" sz="1350" dirty="0"/>
          </a:p>
        </p:txBody>
      </p:sp>
      <p:sp>
        <p:nvSpPr>
          <p:cNvPr id="23" name="fx8|card#3d"/>
          <p:cNvSpPr/>
          <p:nvPr/>
        </p:nvSpPr>
        <p:spPr>
          <a:xfrm>
            <a:off x="3337560" y="3977640"/>
            <a:ext cx="4014216" cy="2240280"/>
          </a:xfrm>
          <a:prstGeom prst="roundRect">
            <a:avLst>
              <a:gd name="adj" fmla="val 5714"/>
            </a:avLst>
          </a:prstGeom>
          <a:solidFill>
            <a:schemeClr val="tx2">
              <a:alpha val="86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24" name="fx8|ic bg#3d"/>
          <p:cNvSpPr/>
          <p:nvPr/>
        </p:nvSpPr>
        <p:spPr>
          <a:xfrm>
            <a:off x="6574536" y="4133088"/>
            <a:ext cx="603504" cy="603504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5" name="fx8|ic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5412" y="4283964"/>
            <a:ext cx="301752" cy="301752"/>
          </a:xfrm>
          <a:prstGeom prst="rect">
            <a:avLst/>
          </a:prstGeom>
        </p:spPr>
      </p:pic>
      <p:sp>
        <p:nvSpPr>
          <p:cNvPr id="26" name="fx8|head"/>
          <p:cNvSpPr txBox="1"/>
          <p:nvPr/>
        </p:nvSpPr>
        <p:spPr>
          <a:xfrm>
            <a:off x="3520440" y="4087368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التقارير والإحصائيات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10B981"/>
                </a:solidFill>
              </a:rPr>
              <a:t>Reports &amp; Statistics</a:t>
            </a:r>
            <a:endParaRPr lang="ar-SA" sz="1800" dirty="0"/>
          </a:p>
        </p:txBody>
      </p:sp>
      <p:sp>
        <p:nvSpPr>
          <p:cNvPr id="27" name="fx9|items"/>
          <p:cNvSpPr txBox="1"/>
          <p:nvPr/>
        </p:nvSpPr>
        <p:spPr>
          <a:xfrm>
            <a:off x="3566160" y="4892040"/>
            <a:ext cx="3557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إحصائيات وتقارير عن المخالفات</a:t>
            </a:r>
            <a:endParaRPr lang="ar-SA" sz="1350" dirty="0"/>
          </a:p>
          <a:p>
            <a:pPr algn="r" marL="342900" indent="-342900">
              <a:spcAft>
                <a:spcPts val="600"/>
              </a:spcAft>
              <a:buSzPct val="100000"/>
              <a:buChar char="◆"/>
            </a:pPr>
            <a:r>
              <a:rPr lang="ar-SA" altLang="en-US" sz="1350" dirty="0">
                <a:solidFill>
                  <a:srgbClr val="FFFFFF"/>
                </a:solidFill>
              </a:rPr>
              <a:t>دعم اتخاذ القرار لتحسين السلامة المرورية</a:t>
            </a:r>
            <a:endParaRPr lang="ar-SA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x0@move(1.5,0,2400)|car" descr="img/car_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0" y="5806440"/>
            <a:ext cx="3931920" cy="914400"/>
          </a:xfrm>
          <a:prstGeom prst="rect">
            <a:avLst/>
          </a:prstGeom>
        </p:spPr>
      </p:pic>
      <p:sp>
        <p:nvSpPr>
          <p:cNvPr id="3" name="fx1@zoom|thanks"/>
          <p:cNvSpPr txBox="1"/>
          <p:nvPr/>
        </p:nvSpPr>
        <p:spPr>
          <a:xfrm>
            <a:off x="1371600" y="731520"/>
            <a:ext cx="9445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b="1" dirty="0">
                <a:solidFill>
                  <a:schemeClr val="bg1"/>
                </a:solidFill>
              </a:rPr>
              <a:t>شكراً لحسن استماعكم</a:t>
            </a:r>
            <a:endParaRPr lang="ar-SA" sz="5400" dirty="0"/>
          </a:p>
        </p:txBody>
      </p:sp>
      <p:sp>
        <p:nvSpPr>
          <p:cNvPr id="4" name="fx2|ty"/>
          <p:cNvSpPr txBox="1"/>
          <p:nvPr/>
        </p:nvSpPr>
        <p:spPr>
          <a:xfrm>
            <a:off x="1371600" y="182880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200" b="1" spc="600" kern="0" dirty="0">
                <a:solidFill>
                  <a:schemeClr val="accent2"/>
                </a:solidFill>
              </a:rPr>
              <a:t>Thank You</a:t>
            </a:r>
            <a:endParaRPr lang="en-US" sz="3200" dirty="0"/>
          </a:p>
        </p:txBody>
      </p:sp>
      <p:sp>
        <p:nvSpPr>
          <p:cNvPr id="5" name="fx3|q"/>
          <p:cNvSpPr txBox="1"/>
          <p:nvPr/>
        </p:nvSpPr>
        <p:spPr>
          <a:xfrm>
            <a:off x="1371600" y="25146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chemeClr val="bg1"/>
                </a:solidFill>
              </a:rPr>
              <a:t>نسعد بأسئلتكم وملاحظاتكم</a:t>
            </a:r>
            <a:endParaRPr lang="ar-SA" sz="1800" dirty="0"/>
          </a:p>
        </p:txBody>
      </p:sp>
      <p:sp>
        <p:nvSpPr>
          <p:cNvPr id="6" name="fx4@zoom|ring"/>
          <p:cNvSpPr/>
          <p:nvPr/>
        </p:nvSpPr>
        <p:spPr>
          <a:xfrm>
            <a:off x="9501988" y="333756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7" name="fx4@zoom|photo" descr="عيسى إبراهيم شاي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7708" y="3383280"/>
            <a:ext cx="1097280" cy="1097280"/>
          </a:xfrm>
          <a:prstGeom prst="ellipse">
            <a:avLst/>
          </a:prstGeom>
        </p:spPr>
      </p:pic>
      <p:sp>
        <p:nvSpPr>
          <p:cNvPr id="8" name="fx4|name"/>
          <p:cNvSpPr txBox="1"/>
          <p:nvPr/>
        </p:nvSpPr>
        <p:spPr>
          <a:xfrm>
            <a:off x="9273388" y="4590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عيسى شايع</a:t>
            </a:r>
            <a:endParaRPr lang="ar-SA" sz="1200" dirty="0"/>
          </a:p>
        </p:txBody>
      </p:sp>
      <p:sp>
        <p:nvSpPr>
          <p:cNvPr id="9" name="fx5@zoom|ring"/>
          <p:cNvSpPr/>
          <p:nvPr/>
        </p:nvSpPr>
        <p:spPr>
          <a:xfrm>
            <a:off x="7901788" y="333756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10" name="fx5@zoom|photo" descr="محمد عبدالإله قر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508" y="3383280"/>
            <a:ext cx="1097280" cy="1097280"/>
          </a:xfrm>
          <a:prstGeom prst="ellipse">
            <a:avLst/>
          </a:prstGeom>
        </p:spPr>
      </p:pic>
      <p:sp>
        <p:nvSpPr>
          <p:cNvPr id="11" name="fx5|name"/>
          <p:cNvSpPr txBox="1"/>
          <p:nvPr/>
        </p:nvSpPr>
        <p:spPr>
          <a:xfrm>
            <a:off x="7673188" y="4590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محمد قريع</a:t>
            </a:r>
            <a:endParaRPr lang="ar-SA" sz="1200" dirty="0"/>
          </a:p>
        </p:txBody>
      </p:sp>
      <p:sp>
        <p:nvSpPr>
          <p:cNvPr id="12" name="fx6@zoom|ring"/>
          <p:cNvSpPr/>
          <p:nvPr/>
        </p:nvSpPr>
        <p:spPr>
          <a:xfrm>
            <a:off x="6301588" y="333756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13" name="fx6@zoom|photo" descr="برهان الزمر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308" y="3383280"/>
            <a:ext cx="1097280" cy="1097280"/>
          </a:xfrm>
          <a:prstGeom prst="ellipse">
            <a:avLst/>
          </a:prstGeom>
        </p:spPr>
      </p:pic>
      <p:sp>
        <p:nvSpPr>
          <p:cNvPr id="14" name="fx6|name"/>
          <p:cNvSpPr txBox="1"/>
          <p:nvPr/>
        </p:nvSpPr>
        <p:spPr>
          <a:xfrm>
            <a:off x="6072988" y="4590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برهان الزمر</a:t>
            </a:r>
            <a:endParaRPr lang="ar-SA" sz="1200" dirty="0"/>
          </a:p>
        </p:txBody>
      </p:sp>
      <p:sp>
        <p:nvSpPr>
          <p:cNvPr id="15" name="fx7@zoom|ring"/>
          <p:cNvSpPr/>
          <p:nvPr/>
        </p:nvSpPr>
        <p:spPr>
          <a:xfrm>
            <a:off x="4701388" y="333756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16" name="fx7@zoom|photo" descr="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7108" y="3383280"/>
            <a:ext cx="1097280" cy="1097280"/>
          </a:xfrm>
          <a:prstGeom prst="ellipse">
            <a:avLst/>
          </a:prstGeom>
        </p:spPr>
      </p:pic>
      <p:sp>
        <p:nvSpPr>
          <p:cNvPr id="17" name="fx7|name"/>
          <p:cNvSpPr txBox="1"/>
          <p:nvPr/>
        </p:nvSpPr>
        <p:spPr>
          <a:xfrm>
            <a:off x="4472788" y="4590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مازن عبد المعز</a:t>
            </a:r>
            <a:endParaRPr lang="ar-SA" sz="1200" dirty="0"/>
          </a:p>
        </p:txBody>
      </p:sp>
      <p:sp>
        <p:nvSpPr>
          <p:cNvPr id="18" name="fx8@zoom|ring"/>
          <p:cNvSpPr/>
          <p:nvPr/>
        </p:nvSpPr>
        <p:spPr>
          <a:xfrm>
            <a:off x="3101188" y="333756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19" name="fx8@zoom|photo" descr="محمد عادل قاسم قائد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6908" y="3383280"/>
            <a:ext cx="1097280" cy="1097280"/>
          </a:xfrm>
          <a:prstGeom prst="ellipse">
            <a:avLst/>
          </a:prstGeom>
        </p:spPr>
      </p:pic>
      <p:sp>
        <p:nvSpPr>
          <p:cNvPr id="20" name="fx8|name"/>
          <p:cNvSpPr txBox="1"/>
          <p:nvPr/>
        </p:nvSpPr>
        <p:spPr>
          <a:xfrm>
            <a:off x="2872588" y="4590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محمد عادل</a:t>
            </a:r>
            <a:endParaRPr lang="ar-SA" sz="1200" dirty="0"/>
          </a:p>
        </p:txBody>
      </p:sp>
      <p:sp>
        <p:nvSpPr>
          <p:cNvPr id="21" name="fx9@zoom|ring"/>
          <p:cNvSpPr/>
          <p:nvPr/>
        </p:nvSpPr>
        <p:spPr>
          <a:xfrm>
            <a:off x="1500988" y="333756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203200" dist="50800" dir="16200000">
              <a:srgbClr val="E2BA52">
                <a:alpha val="60000"/>
              </a:srgbClr>
            </a:outerShdw>
          </a:effectLst>
        </p:spPr>
      </p:sp>
      <p:pic>
        <p:nvPicPr>
          <p:cNvPr id="22" name="fx9@zoom|photo" descr="د. مطيع الجعفري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6708" y="3383280"/>
            <a:ext cx="1097280" cy="1097280"/>
          </a:xfrm>
          <a:prstGeom prst="ellipse">
            <a:avLst/>
          </a:prstGeom>
        </p:spPr>
      </p:pic>
      <p:sp>
        <p:nvSpPr>
          <p:cNvPr id="23" name="fx9|name"/>
          <p:cNvSpPr txBox="1"/>
          <p:nvPr/>
        </p:nvSpPr>
        <p:spPr>
          <a:xfrm>
            <a:off x="1272388" y="4590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د. مطيع الجعفري</a:t>
            </a:r>
            <a:endParaRPr lang="ar-SA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2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1.5 0 E" pathEditMode="relative" ptsTypes="AA">
                                      <p:cBhvr>
                                        <p:cTn id="6" dur="2400" accel="20000" decel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</p:bldLst>
  </p:timing>
</p:sld>
</file>

<file path=ppt/theme/theme1.xml><?xml version="1.0" encoding="utf-8"?>
<a:theme xmlns:a="http://schemas.openxmlformats.org/drawingml/2006/main" name="Night Enforcement">
  <a:themeElements>
    <a:clrScheme name="Night Enforcement">
      <a:dk1>
        <a:srgbClr val="0A0E1A"/>
      </a:dk1>
      <a:lt1>
        <a:srgbClr val="FFFFFF"/>
      </a:lt1>
      <a:dk2>
        <a:srgbClr val="121A2E"/>
      </a:dk2>
      <a:lt2>
        <a:srgbClr val="B8C7E0"/>
      </a:lt2>
      <a:accent1>
        <a:srgbClr val="22D3EE"/>
      </a:accent1>
      <a:accent2>
        <a:srgbClr val="E2BA52"/>
      </a:accent2>
      <a:accent3>
        <a:srgbClr val="6366F1"/>
      </a:accent3>
      <a:accent4>
        <a:srgbClr val="10B981"/>
      </a:accent4>
      <a:accent5>
        <a:srgbClr val="F43F5E"/>
      </a:accent5>
      <a:accent6>
        <a:srgbClr val="A7F3D0"/>
      </a:accent6>
      <a:hlink>
        <a:srgbClr val="22D3EE"/>
      </a:hlink>
      <a:folHlink>
        <a:srgbClr val="E2BA52"/>
      </a:folHlink>
    </a:clrScheme>
    <a:fontScheme name="Night Enforcem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نظام ذكي لرصد وحساب سرعة المركبات وتسجيل المخالفات المرورية</dc:title>
  <dc:subject>PptxGenJS Presentation</dc:subject>
  <dc:creator>PptxGenJS</dc:creator>
  <cp:lastModifiedBy>PptxGenJS</cp:lastModifiedBy>
  <cp:revision>1</cp:revision>
  <dcterms:created xsi:type="dcterms:W3CDTF">2026-10-17T23:47:51Z</dcterms:created>
  <dcterms:modified xsi:type="dcterms:W3CDTF">2026-10-17T23:47:51Z</dcterms:modified>
</cp:coreProperties>
</file>