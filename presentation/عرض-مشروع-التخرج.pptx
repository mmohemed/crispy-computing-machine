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افتتاح" id="{282ab71e-e83c-b638-d588-0a9abef26bed}">
          <p14:sldIdLst>
            <p14:sldId id="256"/>
            <p14:sldId id="257"/>
          </p14:sldIdLst>
        </p14:section>
        <p14:section name="تشكيلة الفريق" id="{e9994b27-6243-d498-8c80-4267e4d68412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المشروع" id="{e3ab5cfa-3e21-14ba-f174-6674e8ec3cbb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0:30 — السلام عليكم. نرحّب بلجنة المناقشة. نقدّم لكم مشروع تخرجنا: تطبيق إدارة الاختبارات الإلكترونية.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0:30 — نرحّب بأعضاء لجنة المناقشة: د. رضوان الديلمي، ود. رضوان شداد، ونشكر مشرفنا د. مطيع الجعفري.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1:30 للقسم كاملاً — «اسمحوا لنا أن نقدّم لكم تشكيلة فريقنا».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عيسى شايع: يعرّف بنفسه ودوره في جملة واحدة.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محمد قريع: يعرّف بنفسه ودوره في جملة واحدة.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مازن عبد المعز: يعرّف بنفسه ودوره في جملة واحدة.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برهان الزمر: يعرّف بنفسه ودوره في جملة واحدة.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محمد عادل: يعرّف بنفسه ودوره في جملة واحدة.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قدّم المشرف كمدرب الفريق واشكره على التوجيه.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«هذا فريقنا… والآن ننتقل إلى المشروع».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0:20 — نستعرض سريعاً محاور العرض.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 — اشرح الفكرة في جملتين: من يستخدم التطبيق وماذا يقدّم.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 — ركّز على المعاناة الحقيقية: الوقت، الأخطاء، تأخر النتائج، غياب التحليل.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0:50 — اقرأ الأهداف بسرعة، وكل هدف يقابل مشكلة من الشريحة السابقة.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0:50 — ثلاث صلاحيات؛ لكل مستخدم لوحة تحكم خاصة.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 — اذكر أبرز ميزتين بتفصيل: التصحيح الآلي والمؤقت.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0:40 — اذكر لماذا اخترتم Flutter: تطبيق واحد يعمل على Android و 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0:40 — اشتغلنا بأسلوب تكراري: كل مرحلة تُختبر قبل الانتقال للتالية.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0:50 — الطبقات من الأعلى للأسفل: الواجهة ← المنطق ← البيانات.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0:50 — ثلاثة فاعلين؛ وتسجيل الدخول مشترك بينهم.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0:50 — خمسة جداول رئيسية؛ الاختبار يرتبط بالمادة، والأسئلة بالاختبار، والنتيجة بالطالب والاختبار. (عدّل الحقول بحسب قاعدتكم الفعلية)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0:40 — بدّل هذه الصور بلقطات حقيقية من تطبيقكم (كليك يمين ← تغيير الصورة).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2:00 — شغّل الفيديو أو التطبيق مباشرة. اتبع السيناريو المكتوب. (الفيديو احتياطي إذا تعطّل التطبيق)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0:30 — (عدّل النتائج بحسب ما اختبرتموه فعلاً)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0:40 — اذكر تحدياً واحداً بالتفصيل وكيف تغلّبتم عليه.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0:30 — المشروع قابل للتطوير؛ اذكر أهم فكرتين.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0:30 — جملة ختامية قوية ثم انتقل للشكر.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اشكر اللجنة والمشرف، وافتح باب الأسئلة.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STADIUM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PITCH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TECH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DIUM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TCH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CH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6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image" Target="../media/image-4-1.pn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image" Target="../media/image-5-1.png"/><Relationship Id="rId4" Type="http://schemas.openxmlformats.org/officeDocument/2006/relationships/image" Target="../media/image-5-4.jpg"/><Relationship Id="rId5" Type="http://schemas.openxmlformats.org/officeDocument/2006/relationships/image" Target="../media/image-5-1.png"/><Relationship Id="rId6" Type="http://schemas.openxmlformats.org/officeDocument/2006/relationships/image" Target="../media/image-5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image" Target="../media/image-6-1.png"/><Relationship Id="rId4" Type="http://schemas.openxmlformats.org/officeDocument/2006/relationships/image" Target="../media/image-6-4.jpg"/><Relationship Id="rId5" Type="http://schemas.openxmlformats.org/officeDocument/2006/relationships/image" Target="../media/image-6-1.png"/><Relationship Id="rId6" Type="http://schemas.openxmlformats.org/officeDocument/2006/relationships/image" Target="../media/image-6-6.jpg"/><Relationship Id="rId7" Type="http://schemas.openxmlformats.org/officeDocument/2006/relationships/image" Target="../media/image-6-1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image" Target="../media/image-7-1.png"/><Relationship Id="rId4" Type="http://schemas.openxmlformats.org/officeDocument/2006/relationships/image" Target="../media/image-7-4.jpg"/><Relationship Id="rId5" Type="http://schemas.openxmlformats.org/officeDocument/2006/relationships/image" Target="../media/image-7-1.png"/><Relationship Id="rId6" Type="http://schemas.openxmlformats.org/officeDocument/2006/relationships/image" Target="../media/image-7-6.jpg"/><Relationship Id="rId7" Type="http://schemas.openxmlformats.org/officeDocument/2006/relationships/image" Target="../media/image-7-1.png"/><Relationship Id="rId8" Type="http://schemas.openxmlformats.org/officeDocument/2006/relationships/image" Target="../media/image-7-8.png"/><Relationship Id="rId9" Type="http://schemas.openxmlformats.org/officeDocument/2006/relationships/image" Target="../media/image-7-1.png"/><Relationship Id="rId10" Type="http://schemas.openxmlformats.org/officeDocument/2006/relationships/image" Target="../media/image-7-8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image" Target="../media/image-8-1.png"/><Relationship Id="rId4" Type="http://schemas.openxmlformats.org/officeDocument/2006/relationships/image" Target="../media/image-8-4.jpg"/><Relationship Id="rId5" Type="http://schemas.openxmlformats.org/officeDocument/2006/relationships/image" Target="../media/image-8-1.png"/><Relationship Id="rId6" Type="http://schemas.openxmlformats.org/officeDocument/2006/relationships/image" Target="../media/image-8-6.jpg"/><Relationship Id="rId7" Type="http://schemas.openxmlformats.org/officeDocument/2006/relationships/image" Target="../media/image-8-1.png"/><Relationship Id="rId8" Type="http://schemas.openxmlformats.org/officeDocument/2006/relationships/image" Target="../media/image-8-8.png"/><Relationship Id="rId9" Type="http://schemas.openxmlformats.org/officeDocument/2006/relationships/image" Target="../media/image-8-1.png"/><Relationship Id="rId10" Type="http://schemas.openxmlformats.org/officeDocument/2006/relationships/image" Target="../media/image-8-8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jp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image" Target="../media/image-9-1.png"/><Relationship Id="rId4" Type="http://schemas.openxmlformats.org/officeDocument/2006/relationships/image" Target="../media/image-9-4.jpg"/><Relationship Id="rId5" Type="http://schemas.openxmlformats.org/officeDocument/2006/relationships/image" Target="../media/image-9-1.png"/><Relationship Id="rId6" Type="http://schemas.openxmlformats.org/officeDocument/2006/relationships/image" Target="../media/image-9-6.jpg"/><Relationship Id="rId7" Type="http://schemas.openxmlformats.org/officeDocument/2006/relationships/image" Target="../media/image-9-1.png"/><Relationship Id="rId8" Type="http://schemas.openxmlformats.org/officeDocument/2006/relationships/image" Target="../media/image-9-8.png"/><Relationship Id="rId9" Type="http://schemas.openxmlformats.org/officeDocument/2006/relationships/image" Target="../media/image-9-1.png"/><Relationship Id="rId10" Type="http://schemas.openxmlformats.org/officeDocument/2006/relationships/image" Target="../media/image-9-8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jp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image" Target="../media/image-10-1.png"/><Relationship Id="rId4" Type="http://schemas.openxmlformats.org/officeDocument/2006/relationships/image" Target="../media/image-10-4.jpg"/><Relationship Id="rId5" Type="http://schemas.openxmlformats.org/officeDocument/2006/relationships/image" Target="../media/image-10-1.png"/><Relationship Id="rId6" Type="http://schemas.openxmlformats.org/officeDocument/2006/relationships/image" Target="../media/image-10-6.jpg"/><Relationship Id="rId7" Type="http://schemas.openxmlformats.org/officeDocument/2006/relationships/image" Target="../media/image-10-1.png"/><Relationship Id="rId8" Type="http://schemas.openxmlformats.org/officeDocument/2006/relationships/image" Target="../media/image-10-8.png"/><Relationship Id="rId9" Type="http://schemas.openxmlformats.org/officeDocument/2006/relationships/image" Target="../media/image-10-1.png"/><Relationship Id="rId10" Type="http://schemas.openxmlformats.org/officeDocument/2006/relationships/image" Target="../media/image-10-8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jp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jpg"/><Relationship Id="rId3" Type="http://schemas.openxmlformats.org/officeDocument/2006/relationships/image" Target="../media/image-22-1.png"/><Relationship Id="rId4" Type="http://schemas.openxmlformats.org/officeDocument/2006/relationships/image" Target="../media/image-22-4.jpg"/><Relationship Id="rId5" Type="http://schemas.openxmlformats.org/officeDocument/2006/relationships/image" Target="../media/image-22-1.png"/><Relationship Id="rId6" Type="http://schemas.openxmlformats.org/officeDocument/2006/relationships/image" Target="../media/image-22-6.jp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image" Target="../media/image-28-3.jpg"/><Relationship Id="rId4" Type="http://schemas.openxmlformats.org/officeDocument/2006/relationships/image" Target="../media/image-28-4.png"/><Relationship Id="rId5" Type="http://schemas.openxmlformats.org/officeDocument/2006/relationships/image" Target="../media/image-28-4.png"/><Relationship Id="rId6" Type="http://schemas.openxmlformats.org/officeDocument/2006/relationships/image" Target="../media/image-28-6.jp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niversity logo" descr="شعار الجامعة — بدّله من: تغيير الصور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41148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852160" y="502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[ اسم الجامعة ]</a:t>
            </a:r>
            <a:endParaRPr lang="ar-SA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5852160" y="914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bg2"/>
                </a:solidFill>
              </a:rPr>
              <a:t>[ كلية الحاسوب — قسم ... ]</a:t>
            </a:r>
            <a:endParaRPr lang="ar-SA" sz="1500" dirty="0"/>
          </a:p>
        </p:txBody>
      </p:sp>
      <p:sp>
        <p:nvSpPr>
          <p:cNvPr id="5" name="fx0|kicker"/>
          <p:cNvSpPr txBox="1"/>
          <p:nvPr/>
        </p:nvSpPr>
        <p:spPr>
          <a:xfrm>
            <a:off x="5852160" y="1965960"/>
            <a:ext cx="5806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accent1"/>
                </a:solidFill>
              </a:rPr>
              <a:t>مشروع تخرج  •  Graduation Project</a:t>
            </a:r>
            <a:endParaRPr lang="ar-SA" sz="1600" dirty="0"/>
          </a:p>
        </p:txBody>
      </p:sp>
      <p:sp>
        <p:nvSpPr>
          <p:cNvPr id="6" name="!!projtitle"/>
          <p:cNvSpPr txBox="1"/>
          <p:nvPr/>
        </p:nvSpPr>
        <p:spPr>
          <a:xfrm>
            <a:off x="5486400" y="2423160"/>
            <a:ext cx="6172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تطبيق إدارة الاختبارات الإلكترونية</a:t>
            </a:r>
            <a:endParaRPr lang="ar-SA" sz="4000" dirty="0"/>
          </a:p>
        </p:txBody>
      </p:sp>
      <p:sp>
        <p:nvSpPr>
          <p:cNvPr id="7" name="!!projen"/>
          <p:cNvSpPr txBox="1"/>
          <p:nvPr/>
        </p:nvSpPr>
        <p:spPr>
          <a:xfrm>
            <a:off x="5486400" y="3886200"/>
            <a:ext cx="6172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2400" b="1" dirty="0">
                <a:solidFill>
                  <a:schemeClr val="accent2"/>
                </a:solidFill>
              </a:rPr>
              <a:t>E-Exam Management App</a:t>
            </a:r>
            <a:endParaRPr lang="en-US" sz="2400" dirty="0"/>
          </a:p>
        </p:txBody>
      </p:sp>
      <p:sp>
        <p:nvSpPr>
          <p:cNvPr id="8" name="fx1|supervisor"/>
          <p:cNvSpPr txBox="1"/>
          <p:nvPr/>
        </p:nvSpPr>
        <p:spPr>
          <a:xfrm>
            <a:off x="5486400" y="4800600"/>
            <a:ext cx="6172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600" dirty="0">
                <a:solidFill>
                  <a:schemeClr val="bg2"/>
                </a:solidFill>
              </a:rPr>
              <a:t>إشراف: </a:t>
            </a:r>
            <a:pPr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د. مطيع الجعفري</a:t>
            </a:r>
            <a:endParaRPr lang="ar-SA" sz="1600" dirty="0"/>
          </a:p>
          <a:p>
            <a:pPr algn="r" indent="0" marL="0">
              <a:buNone/>
            </a:pPr>
            <a:r>
              <a:rPr lang="ar-SA" altLang="en-US" sz="1600" dirty="0">
                <a:solidFill>
                  <a:schemeClr val="bg2"/>
                </a:solidFill>
              </a:rPr>
              <a:t>Supervised by: </a:t>
            </a:r>
            <a:pPr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Dr. Mutee Al-Jaafari</a:t>
            </a:r>
            <a:endParaRPr lang="ar-SA" sz="1600" dirty="0"/>
          </a:p>
        </p:txBody>
      </p:sp>
      <p:sp>
        <p:nvSpPr>
          <p:cNvPr id="9" name="fx2|year"/>
          <p:cNvSpPr txBox="1"/>
          <p:nvPr/>
        </p:nvSpPr>
        <p:spPr>
          <a:xfrm>
            <a:off x="5486400" y="5852160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[ العام الجامعي 2025 / 2026 ]</a:t>
            </a:r>
            <a:endParaRPr lang="ar-SA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أعضاء لجنة المناقشة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Examination Committee</a:t>
            </a:r>
            <a:endParaRPr lang="en-US" sz="1600" dirty="0"/>
          </a:p>
        </p:txBody>
      </p:sp>
      <p:sp>
        <p:nvSpPr>
          <p:cNvPr id="4" name="fx0|ring"/>
          <p:cNvSpPr/>
          <p:nvPr/>
        </p:nvSpPr>
        <p:spPr>
          <a:xfrm>
            <a:off x="8156448" y="1709928"/>
            <a:ext cx="2340864" cy="234086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79400" dist="50800" dir="16200000">
              <a:srgbClr val="22D3EE">
                <a:alpha val="80000"/>
              </a:srgbClr>
            </a:outerShdw>
          </a:effectLst>
        </p:spPr>
      </p:sp>
      <p:pic>
        <p:nvPicPr>
          <p:cNvPr id="5" name="fx0|photo" descr="د. رضوان الديلمي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783080"/>
            <a:ext cx="2194560" cy="2194560"/>
          </a:xfrm>
          <a:prstGeom prst="ellipse">
            <a:avLst/>
          </a:prstGeom>
        </p:spPr>
      </p:pic>
      <p:sp>
        <p:nvSpPr>
          <p:cNvPr id="6" name="fx0|name"/>
          <p:cNvSpPr txBox="1"/>
          <p:nvPr/>
        </p:nvSpPr>
        <p:spPr>
          <a:xfrm>
            <a:off x="7680960" y="4343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chemeClr val="bg1"/>
                </a:solidFill>
              </a:rPr>
              <a:t>د. رضوان الديلمي</a:t>
            </a:r>
            <a:endParaRPr lang="ar-SA" sz="2200" dirty="0"/>
          </a:p>
        </p:txBody>
      </p:sp>
      <p:sp>
        <p:nvSpPr>
          <p:cNvPr id="7" name="fx0|name en"/>
          <p:cNvSpPr txBox="1"/>
          <p:nvPr/>
        </p:nvSpPr>
        <p:spPr>
          <a:xfrm>
            <a:off x="7680960" y="48280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chemeClr val="bg2"/>
                </a:solidFill>
              </a:rPr>
              <a:t>Dr. Radwan Al-Dailami</a:t>
            </a:r>
            <a:endParaRPr lang="en-US" sz="1400" dirty="0"/>
          </a:p>
        </p:txBody>
      </p:sp>
      <p:sp>
        <p:nvSpPr>
          <p:cNvPr id="8" name="fx0|role"/>
          <p:cNvSpPr txBox="1"/>
          <p:nvPr/>
        </p:nvSpPr>
        <p:spPr>
          <a:xfrm>
            <a:off x="7863840" y="5257800"/>
            <a:ext cx="292608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tx1"/>
                </a:solidFill>
              </a:rPr>
              <a:t>عضو لجنة المناقشة  •  Examiner</a:t>
            </a:r>
            <a:endParaRPr lang="ar-SA" sz="1200" dirty="0"/>
          </a:p>
        </p:txBody>
      </p:sp>
      <p:sp>
        <p:nvSpPr>
          <p:cNvPr id="9" name="fx1|ring"/>
          <p:cNvSpPr/>
          <p:nvPr/>
        </p:nvSpPr>
        <p:spPr>
          <a:xfrm>
            <a:off x="4788713" y="1527048"/>
            <a:ext cx="2615184" cy="261518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279400" dist="50800" dir="16200000">
              <a:srgbClr val="E2BA52">
                <a:alpha val="80000"/>
              </a:srgbClr>
            </a:outerShdw>
          </a:effectLst>
        </p:spPr>
      </p:sp>
      <p:pic>
        <p:nvPicPr>
          <p:cNvPr id="10" name="fx1|photo" descr="د. مطيع الجعفري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865" y="1600200"/>
            <a:ext cx="2468880" cy="2468880"/>
          </a:xfrm>
          <a:prstGeom prst="ellipse">
            <a:avLst/>
          </a:prstGeom>
        </p:spPr>
      </p:pic>
      <p:sp>
        <p:nvSpPr>
          <p:cNvPr id="11" name="fx1|name"/>
          <p:cNvSpPr txBox="1"/>
          <p:nvPr/>
        </p:nvSpPr>
        <p:spPr>
          <a:xfrm>
            <a:off x="4450385" y="4343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chemeClr val="bg1"/>
                </a:solidFill>
              </a:rPr>
              <a:t>د. مطيع الجعفري</a:t>
            </a:r>
            <a:endParaRPr lang="ar-SA" sz="2200" dirty="0"/>
          </a:p>
        </p:txBody>
      </p:sp>
      <p:sp>
        <p:nvSpPr>
          <p:cNvPr id="12" name="fx1|name en"/>
          <p:cNvSpPr txBox="1"/>
          <p:nvPr/>
        </p:nvSpPr>
        <p:spPr>
          <a:xfrm>
            <a:off x="4450385" y="48280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chemeClr val="bg2"/>
                </a:solidFill>
              </a:rPr>
              <a:t>Dr. Mutee Al-Jaafari</a:t>
            </a:r>
            <a:endParaRPr lang="en-US" sz="1400" dirty="0"/>
          </a:p>
        </p:txBody>
      </p:sp>
      <p:sp>
        <p:nvSpPr>
          <p:cNvPr id="13" name="fx1|role"/>
          <p:cNvSpPr txBox="1"/>
          <p:nvPr/>
        </p:nvSpPr>
        <p:spPr>
          <a:xfrm>
            <a:off x="4633265" y="5257800"/>
            <a:ext cx="2926080" cy="384048"/>
          </a:xfrm>
          <a:prstGeom prst="roundRect">
            <a:avLst>
              <a:gd name="adj" fmla="val 2381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tx1"/>
                </a:solidFill>
              </a:rPr>
              <a:t>المشرف  •  Supervisor</a:t>
            </a:r>
            <a:endParaRPr lang="ar-SA" sz="1200" dirty="0"/>
          </a:p>
        </p:txBody>
      </p:sp>
      <p:sp>
        <p:nvSpPr>
          <p:cNvPr id="14" name="fx2|ring"/>
          <p:cNvSpPr/>
          <p:nvPr/>
        </p:nvSpPr>
        <p:spPr>
          <a:xfrm>
            <a:off x="1691640" y="1709928"/>
            <a:ext cx="2340864" cy="2340864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79400" dist="50800" dir="16200000">
              <a:srgbClr val="22D3EE">
                <a:alpha val="80000"/>
              </a:srgbClr>
            </a:outerShdw>
          </a:effectLst>
        </p:spPr>
      </p:sp>
      <p:pic>
        <p:nvPicPr>
          <p:cNvPr id="15" name="fx2|photo" descr="د. رضوان شداد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792" y="1783080"/>
            <a:ext cx="2194560" cy="2194560"/>
          </a:xfrm>
          <a:prstGeom prst="ellipse">
            <a:avLst/>
          </a:prstGeom>
        </p:spPr>
      </p:pic>
      <p:sp>
        <p:nvSpPr>
          <p:cNvPr id="16" name="fx2|name"/>
          <p:cNvSpPr txBox="1"/>
          <p:nvPr/>
        </p:nvSpPr>
        <p:spPr>
          <a:xfrm>
            <a:off x="1216152" y="4343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chemeClr val="bg1"/>
                </a:solidFill>
              </a:rPr>
              <a:t>د. رضوان شداد</a:t>
            </a:r>
            <a:endParaRPr lang="ar-SA" sz="2200" dirty="0"/>
          </a:p>
        </p:txBody>
      </p:sp>
      <p:sp>
        <p:nvSpPr>
          <p:cNvPr id="17" name="fx2|name en"/>
          <p:cNvSpPr txBox="1"/>
          <p:nvPr/>
        </p:nvSpPr>
        <p:spPr>
          <a:xfrm>
            <a:off x="1216152" y="48280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chemeClr val="bg2"/>
                </a:solidFill>
              </a:rPr>
              <a:t>Dr. Radwan Shaddad</a:t>
            </a:r>
            <a:endParaRPr lang="en-US" sz="1400" dirty="0"/>
          </a:p>
        </p:txBody>
      </p:sp>
      <p:sp>
        <p:nvSpPr>
          <p:cNvPr id="18" name="fx2|role"/>
          <p:cNvSpPr txBox="1"/>
          <p:nvPr/>
        </p:nvSpPr>
        <p:spPr>
          <a:xfrm>
            <a:off x="1399032" y="5257800"/>
            <a:ext cx="292608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tx1"/>
                </a:solidFill>
              </a:rPr>
              <a:t>عضو لجنة المناقشة  •  Examiner</a:t>
            </a:r>
            <a:endParaRPr lang="ar-SA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x0|title"/>
          <p:cNvSpPr txBox="1"/>
          <p:nvPr/>
        </p:nvSpPr>
        <p:spPr>
          <a:xfrm>
            <a:off x="1371600" y="914400"/>
            <a:ext cx="9445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b="1" dirty="0">
                <a:solidFill>
                  <a:schemeClr val="bg1"/>
                </a:solidFill>
              </a:rPr>
              <a:t>تشكيلة الفريق</a:t>
            </a:r>
            <a:endParaRPr lang="ar-SA" sz="6000" dirty="0"/>
          </a:p>
        </p:txBody>
      </p:sp>
      <p:sp>
        <p:nvSpPr>
          <p:cNvPr id="3" name="fx1|en"/>
          <p:cNvSpPr txBox="1"/>
          <p:nvPr/>
        </p:nvSpPr>
        <p:spPr>
          <a:xfrm>
            <a:off x="1371600" y="201168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600" b="1" spc="1000" kern="0" dirty="0">
                <a:solidFill>
                  <a:schemeClr val="accent2"/>
                </a:solidFill>
              </a:rPr>
              <a:t>THE SQUAD</a:t>
            </a:r>
            <a:endParaRPr lang="en-US" sz="2600" dirty="0"/>
          </a:p>
        </p:txBody>
      </p:sp>
      <p:sp>
        <p:nvSpPr>
          <p:cNvPr id="4" name="fx2|line"/>
          <p:cNvSpPr txBox="1"/>
          <p:nvPr/>
        </p:nvSpPr>
        <p:spPr>
          <a:xfrm>
            <a:off x="1371600" y="269748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chemeClr val="bg2"/>
                </a:solidFill>
              </a:rPr>
              <a:t>اللاعبون الذين صنعوا هذا المشروع  •  The players behind the project</a:t>
            </a:r>
            <a:endParaRPr lang="ar-SA" sz="1800" dirty="0"/>
          </a:p>
        </p:txBody>
      </p:sp>
      <p:pic>
        <p:nvPicPr>
          <p:cNvPr id="5" name="!!card_p1" descr="بطاقة عيسى شا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6" name="!!photo_p1" descr="صورة عيسى شايع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8777" y="1234440"/>
            <a:ext cx="1959429" cy="1959429"/>
          </a:xfrm>
          <a:prstGeom prst="ellipse">
            <a:avLst/>
          </a:prstGeom>
        </p:spPr>
      </p:pic>
      <p:sp>
        <p:nvSpPr>
          <p:cNvPr id="7" name="!!pos_p1"/>
          <p:cNvSpPr txBox="1"/>
          <p:nvPr/>
        </p:nvSpPr>
        <p:spPr>
          <a:xfrm>
            <a:off x="13493931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600" b="1" dirty="0">
                <a:solidFill>
                  <a:schemeClr val="tx2"/>
                </a:solidFill>
              </a:rPr>
              <a:t>PM</a:t>
            </a:r>
            <a:endParaRPr lang="en-US" sz="3600" dirty="0"/>
          </a:p>
        </p:txBody>
      </p:sp>
      <p:sp>
        <p:nvSpPr>
          <p:cNvPr id="8" name="!!name_p1"/>
          <p:cNvSpPr txBox="1"/>
          <p:nvPr/>
        </p:nvSpPr>
        <p:spPr>
          <a:xfrm>
            <a:off x="1353312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عيسى شايع</a:t>
            </a:r>
            <a:endParaRPr lang="ar-SA" sz="2400" dirty="0"/>
          </a:p>
        </p:txBody>
      </p:sp>
      <p:sp>
        <p:nvSpPr>
          <p:cNvPr id="9" name="!!role_p1"/>
          <p:cNvSpPr txBox="1"/>
          <p:nvPr/>
        </p:nvSpPr>
        <p:spPr>
          <a:xfrm>
            <a:off x="1365068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قائد الفريق ومدير المشروع</a:t>
            </a:r>
            <a:endParaRPr lang="ar-SA" sz="1400" dirty="0"/>
          </a:p>
        </p:txBody>
      </p:sp>
      <p:sp>
        <p:nvSpPr>
          <p:cNvPr id="10" name="!!cap_p1"/>
          <p:cNvSpPr txBox="1"/>
          <p:nvPr/>
        </p:nvSpPr>
        <p:spPr>
          <a:xfrm>
            <a:off x="14904720" y="5074920"/>
            <a:ext cx="627017" cy="627017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©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rd_p1" descr="بطاقة عيسى شا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3" name="!!photo_p1" descr="صورة عيسى شايع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257" y="1234440"/>
            <a:ext cx="1959429" cy="1959429"/>
          </a:xfrm>
          <a:prstGeom prst="ellipse">
            <a:avLst/>
          </a:prstGeom>
        </p:spPr>
      </p:pic>
      <p:sp>
        <p:nvSpPr>
          <p:cNvPr id="4" name="!!pos_p1"/>
          <p:cNvSpPr txBox="1"/>
          <p:nvPr/>
        </p:nvSpPr>
        <p:spPr>
          <a:xfrm>
            <a:off x="1332411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600" b="1" dirty="0">
                <a:solidFill>
                  <a:schemeClr val="tx2"/>
                </a:solidFill>
              </a:rPr>
              <a:t>PM</a:t>
            </a:r>
            <a:endParaRPr lang="en-US" sz="3600" dirty="0"/>
          </a:p>
        </p:txBody>
      </p:sp>
      <p:sp>
        <p:nvSpPr>
          <p:cNvPr id="5" name="!!name_p1"/>
          <p:cNvSpPr txBox="1"/>
          <p:nvPr/>
        </p:nvSpPr>
        <p:spPr>
          <a:xfrm>
            <a:off x="137160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عيسى شايع</a:t>
            </a:r>
            <a:endParaRPr lang="ar-SA" sz="2400" dirty="0"/>
          </a:p>
        </p:txBody>
      </p:sp>
      <p:sp>
        <p:nvSpPr>
          <p:cNvPr id="6" name="!!role_p1"/>
          <p:cNvSpPr txBox="1"/>
          <p:nvPr/>
        </p:nvSpPr>
        <p:spPr>
          <a:xfrm>
            <a:off x="148916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قائد الفريق ومدير المشروع</a:t>
            </a:r>
            <a:endParaRPr lang="ar-SA" sz="1400" dirty="0"/>
          </a:p>
        </p:txBody>
      </p:sp>
      <p:sp>
        <p:nvSpPr>
          <p:cNvPr id="7" name="!!cap_p1"/>
          <p:cNvSpPr txBox="1"/>
          <p:nvPr/>
        </p:nvSpPr>
        <p:spPr>
          <a:xfrm>
            <a:off x="2743200" y="5074920"/>
            <a:ext cx="627017" cy="627017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©</a:t>
            </a:r>
            <a:endParaRPr lang="en-US" sz="1800" dirty="0"/>
          </a:p>
        </p:txBody>
      </p:sp>
      <p:pic>
        <p:nvPicPr>
          <p:cNvPr id="8" name="!!card_p2" descr="بطاقة محمد قري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9" name="!!photo_p2" descr="صورة محمد قريع — بدّلها من: تغيير الصور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8777" y="1234440"/>
            <a:ext cx="1959429" cy="1959429"/>
          </a:xfrm>
          <a:prstGeom prst="ellipse">
            <a:avLst/>
          </a:prstGeom>
        </p:spPr>
      </p:pic>
      <p:sp>
        <p:nvSpPr>
          <p:cNvPr id="10" name="!!pos_p2"/>
          <p:cNvSpPr txBox="1"/>
          <p:nvPr/>
        </p:nvSpPr>
        <p:spPr>
          <a:xfrm>
            <a:off x="13493931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600" b="1" dirty="0">
                <a:solidFill>
                  <a:schemeClr val="tx2"/>
                </a:solidFill>
              </a:rPr>
              <a:t>DEV</a:t>
            </a:r>
            <a:endParaRPr lang="en-US" sz="3600" dirty="0"/>
          </a:p>
        </p:txBody>
      </p:sp>
      <p:sp>
        <p:nvSpPr>
          <p:cNvPr id="11" name="!!name_p2"/>
          <p:cNvSpPr txBox="1"/>
          <p:nvPr/>
        </p:nvSpPr>
        <p:spPr>
          <a:xfrm>
            <a:off x="1353312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محمد قريع</a:t>
            </a:r>
            <a:endParaRPr lang="ar-SA" sz="2400" dirty="0"/>
          </a:p>
        </p:txBody>
      </p:sp>
      <p:sp>
        <p:nvSpPr>
          <p:cNvPr id="12" name="!!role_p2"/>
          <p:cNvSpPr txBox="1"/>
          <p:nvPr/>
        </p:nvSpPr>
        <p:spPr>
          <a:xfrm>
            <a:off x="1365068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تطبيقات Flutter</a:t>
            </a:r>
            <a:endParaRPr lang="ar-SA" sz="1400" dirty="0"/>
          </a:p>
        </p:txBody>
      </p:sp>
      <p:sp>
        <p:nvSpPr>
          <p:cNvPr id="13" name="Info panel"/>
          <p:cNvSpPr/>
          <p:nvPr/>
        </p:nvSpPr>
        <p:spPr>
          <a:xfrm>
            <a:off x="5394960" y="1005840"/>
            <a:ext cx="6355080" cy="4023360"/>
          </a:xfrm>
          <a:prstGeom prst="roundRect">
            <a:avLst>
              <a:gd name="adj" fmla="val 4545"/>
            </a:avLst>
          </a:prstGeom>
          <a:solidFill>
            <a:schemeClr val="tx1">
              <a:alpha val="7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5669280" y="12344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اللاعب  •  PLAYER  •  الكابتن ©</a:t>
            </a:r>
            <a:endParaRPr lang="ar-SA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5669280" y="17373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b="1" dirty="0">
                <a:solidFill>
                  <a:schemeClr val="bg1"/>
                </a:solidFill>
              </a:rPr>
              <a:t>عيسى شايع</a:t>
            </a:r>
            <a:endParaRPr lang="ar-SA" sz="4800" dirty="0"/>
          </a:p>
        </p:txBody>
      </p:sp>
      <p:sp>
        <p:nvSpPr>
          <p:cNvPr id="16" name="Text 10"/>
          <p:cNvSpPr txBox="1"/>
          <p:nvPr/>
        </p:nvSpPr>
        <p:spPr>
          <a:xfrm>
            <a:off x="5669280" y="26517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2000" b="1" dirty="0">
                <a:solidFill>
                  <a:schemeClr val="accent2"/>
                </a:solidFill>
              </a:rPr>
              <a:t>Eisa Shaye</a:t>
            </a:r>
            <a:endParaRPr lang="en-US" sz="2000" dirty="0"/>
          </a:p>
        </p:txBody>
      </p:sp>
      <p:sp>
        <p:nvSpPr>
          <p:cNvPr id="17" name="Text 11"/>
          <p:cNvSpPr txBox="1"/>
          <p:nvPr/>
        </p:nvSpPr>
        <p:spPr>
          <a:xfrm>
            <a:off x="5669280" y="32461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dirty="0">
                <a:solidFill>
                  <a:schemeClr val="bg1"/>
                </a:solidFill>
              </a:rPr>
              <a:t>قائد الفريق ومدير المشروع</a:t>
            </a:r>
            <a:endParaRPr lang="ar-SA" sz="2600" dirty="0"/>
          </a:p>
        </p:txBody>
      </p:sp>
      <p:sp>
        <p:nvSpPr>
          <p:cNvPr id="18" name="Text 12"/>
          <p:cNvSpPr txBox="1"/>
          <p:nvPr/>
        </p:nvSpPr>
        <p:spPr>
          <a:xfrm>
            <a:off x="5669280" y="37947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chemeClr val="bg2"/>
                </a:solidFill>
              </a:rPr>
              <a:t>Team Leader &amp; Project Manager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5669280" y="43434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accent6"/>
                </a:solidFill>
              </a:rPr>
              <a:t>تخطيط المشروع وتوزيع المهام ومتابعة سير العمل</a:t>
            </a:r>
            <a:endParaRPr lang="ar-SA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rd_p1" descr="بطاقة عيسى شا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3" name="!!photo_p1" descr="صورة عيسى شايع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4" name="!!pos_p1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600" b="1" dirty="0">
                <a:solidFill>
                  <a:schemeClr val="tx2"/>
                </a:solidFill>
              </a:rPr>
              <a:t>PM</a:t>
            </a:r>
            <a:endParaRPr lang="en-US" sz="3600" dirty="0"/>
          </a:p>
        </p:txBody>
      </p:sp>
      <p:sp>
        <p:nvSpPr>
          <p:cNvPr id="5" name="!!name_p1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عيسى شايع</a:t>
            </a:r>
            <a:endParaRPr lang="ar-SA" sz="2400" dirty="0"/>
          </a:p>
        </p:txBody>
      </p:sp>
      <p:sp>
        <p:nvSpPr>
          <p:cNvPr id="6" name="!!role_p1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قائد الفريق ومدير المشروع</a:t>
            </a:r>
            <a:endParaRPr lang="ar-SA" sz="1400" dirty="0"/>
          </a:p>
        </p:txBody>
      </p:sp>
      <p:sp>
        <p:nvSpPr>
          <p:cNvPr id="7" name="!!cap_p1"/>
          <p:cNvSpPr txBox="1"/>
          <p:nvPr/>
        </p:nvSpPr>
        <p:spPr>
          <a:xfrm>
            <a:off x="-3840480" y="5074920"/>
            <a:ext cx="627017" cy="627017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©</a:t>
            </a:r>
            <a:endParaRPr lang="en-US" sz="1800" dirty="0"/>
          </a:p>
        </p:txBody>
      </p:sp>
      <p:pic>
        <p:nvPicPr>
          <p:cNvPr id="8" name="!!card_p2" descr="بطاقة محمد قري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9" name="!!photo_p2" descr="صورة محمد قريع — بدّلها من: تغيير الصور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7257" y="1234440"/>
            <a:ext cx="1959429" cy="1959429"/>
          </a:xfrm>
          <a:prstGeom prst="ellipse">
            <a:avLst/>
          </a:prstGeom>
        </p:spPr>
      </p:pic>
      <p:sp>
        <p:nvSpPr>
          <p:cNvPr id="10" name="!!pos_p2"/>
          <p:cNvSpPr txBox="1"/>
          <p:nvPr/>
        </p:nvSpPr>
        <p:spPr>
          <a:xfrm>
            <a:off x="1332411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600" b="1" dirty="0">
                <a:solidFill>
                  <a:schemeClr val="tx2"/>
                </a:solidFill>
              </a:rPr>
              <a:t>DEV</a:t>
            </a:r>
            <a:endParaRPr lang="en-US" sz="3600" dirty="0"/>
          </a:p>
        </p:txBody>
      </p:sp>
      <p:sp>
        <p:nvSpPr>
          <p:cNvPr id="11" name="!!name_p2"/>
          <p:cNvSpPr txBox="1"/>
          <p:nvPr/>
        </p:nvSpPr>
        <p:spPr>
          <a:xfrm>
            <a:off x="137160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محمد قريع</a:t>
            </a:r>
            <a:endParaRPr lang="ar-SA" sz="2400" dirty="0"/>
          </a:p>
        </p:txBody>
      </p:sp>
      <p:sp>
        <p:nvSpPr>
          <p:cNvPr id="12" name="!!role_p2"/>
          <p:cNvSpPr txBox="1"/>
          <p:nvPr/>
        </p:nvSpPr>
        <p:spPr>
          <a:xfrm>
            <a:off x="148916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تطبيقات Flutter</a:t>
            </a:r>
            <a:endParaRPr lang="ar-SA" sz="1400" dirty="0"/>
          </a:p>
        </p:txBody>
      </p:sp>
      <p:pic>
        <p:nvPicPr>
          <p:cNvPr id="13" name="!!card_p3" descr="بطاقة مازن عبد المعز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14" name="!!photo_p3" descr="صورة مازن عبد المعز — بدّلها من: تغيير الصورة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08777" y="1234440"/>
            <a:ext cx="1959429" cy="1959429"/>
          </a:xfrm>
          <a:prstGeom prst="ellipse">
            <a:avLst/>
          </a:prstGeom>
        </p:spPr>
      </p:pic>
      <p:sp>
        <p:nvSpPr>
          <p:cNvPr id="15" name="!!pos_p3"/>
          <p:cNvSpPr txBox="1"/>
          <p:nvPr/>
        </p:nvSpPr>
        <p:spPr>
          <a:xfrm>
            <a:off x="13493931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600" b="1" dirty="0">
                <a:solidFill>
                  <a:schemeClr val="tx2"/>
                </a:solidFill>
              </a:rPr>
              <a:t>UI</a:t>
            </a:r>
            <a:endParaRPr lang="en-US" sz="3600" dirty="0"/>
          </a:p>
        </p:txBody>
      </p:sp>
      <p:sp>
        <p:nvSpPr>
          <p:cNvPr id="16" name="!!name_p3"/>
          <p:cNvSpPr txBox="1"/>
          <p:nvPr/>
        </p:nvSpPr>
        <p:spPr>
          <a:xfrm>
            <a:off x="1353312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مازن عبد المعز</a:t>
            </a:r>
            <a:endParaRPr lang="ar-SA" sz="2400" dirty="0"/>
          </a:p>
        </p:txBody>
      </p:sp>
      <p:sp>
        <p:nvSpPr>
          <p:cNvPr id="17" name="!!role_p3"/>
          <p:cNvSpPr txBox="1"/>
          <p:nvPr/>
        </p:nvSpPr>
        <p:spPr>
          <a:xfrm>
            <a:off x="1365068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مصمّم واجهات وتجربة المستخدم</a:t>
            </a:r>
            <a:endParaRPr lang="ar-SA" sz="1400" dirty="0"/>
          </a:p>
        </p:txBody>
      </p:sp>
      <p:sp>
        <p:nvSpPr>
          <p:cNvPr id="18" name="Info panel"/>
          <p:cNvSpPr/>
          <p:nvPr/>
        </p:nvSpPr>
        <p:spPr>
          <a:xfrm>
            <a:off x="5394960" y="1005840"/>
            <a:ext cx="6355080" cy="4023360"/>
          </a:xfrm>
          <a:prstGeom prst="roundRect">
            <a:avLst>
              <a:gd name="adj" fmla="val 4545"/>
            </a:avLst>
          </a:prstGeom>
          <a:solidFill>
            <a:schemeClr val="tx1">
              <a:alpha val="7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5669280" y="12344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اللاعب  •  PLAYER</a:t>
            </a:r>
            <a:endParaRPr lang="ar-SA" sz="1800" dirty="0"/>
          </a:p>
        </p:txBody>
      </p:sp>
      <p:sp>
        <p:nvSpPr>
          <p:cNvPr id="20" name="Text 12"/>
          <p:cNvSpPr txBox="1"/>
          <p:nvPr/>
        </p:nvSpPr>
        <p:spPr>
          <a:xfrm>
            <a:off x="5669280" y="17373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b="1" dirty="0">
                <a:solidFill>
                  <a:schemeClr val="bg1"/>
                </a:solidFill>
              </a:rPr>
              <a:t>محمد قريع</a:t>
            </a:r>
            <a:endParaRPr lang="ar-SA" sz="4800" dirty="0"/>
          </a:p>
        </p:txBody>
      </p:sp>
      <p:sp>
        <p:nvSpPr>
          <p:cNvPr id="21" name="Text 13"/>
          <p:cNvSpPr txBox="1"/>
          <p:nvPr/>
        </p:nvSpPr>
        <p:spPr>
          <a:xfrm>
            <a:off x="5669280" y="26517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2000" b="1" dirty="0">
                <a:solidFill>
                  <a:schemeClr val="accent2"/>
                </a:solidFill>
              </a:rPr>
              <a:t>Mohammed Qurai</a:t>
            </a:r>
            <a:endParaRPr lang="en-US" sz="2000" dirty="0"/>
          </a:p>
        </p:txBody>
      </p:sp>
      <p:sp>
        <p:nvSpPr>
          <p:cNvPr id="22" name="Text 14"/>
          <p:cNvSpPr txBox="1"/>
          <p:nvPr/>
        </p:nvSpPr>
        <p:spPr>
          <a:xfrm>
            <a:off x="5669280" y="32461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dirty="0">
                <a:solidFill>
                  <a:schemeClr val="bg1"/>
                </a:solidFill>
              </a:rPr>
              <a:t>مطوّر تطبيقات Flutter</a:t>
            </a:r>
            <a:endParaRPr lang="ar-SA" sz="2600" dirty="0"/>
          </a:p>
        </p:txBody>
      </p:sp>
      <p:sp>
        <p:nvSpPr>
          <p:cNvPr id="23" name="Text 15"/>
          <p:cNvSpPr txBox="1"/>
          <p:nvPr/>
        </p:nvSpPr>
        <p:spPr>
          <a:xfrm>
            <a:off x="5669280" y="37947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chemeClr val="bg2"/>
                </a:solidFill>
              </a:rPr>
              <a:t>Flutter Mobile Developer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5669280" y="43434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accent6"/>
                </a:solidFill>
              </a:rPr>
              <a:t>برمجة شاشات التطبيق ومنطق النظام</a:t>
            </a:r>
            <a:endParaRPr lang="ar-SA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rd_p1" descr="بطاقة عيسى شا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3" name="!!photo_p1" descr="صورة عيسى شايع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4" name="!!pos_p1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600" b="1" dirty="0">
                <a:solidFill>
                  <a:schemeClr val="tx2"/>
                </a:solidFill>
              </a:rPr>
              <a:t>PM</a:t>
            </a:r>
            <a:endParaRPr lang="en-US" sz="3600" dirty="0"/>
          </a:p>
        </p:txBody>
      </p:sp>
      <p:sp>
        <p:nvSpPr>
          <p:cNvPr id="5" name="!!name_p1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عيسى شايع</a:t>
            </a:r>
            <a:endParaRPr lang="ar-SA" sz="2400" dirty="0"/>
          </a:p>
        </p:txBody>
      </p:sp>
      <p:sp>
        <p:nvSpPr>
          <p:cNvPr id="6" name="!!role_p1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قائد الفريق ومدير المشروع</a:t>
            </a:r>
            <a:endParaRPr lang="ar-SA" sz="1400" dirty="0"/>
          </a:p>
        </p:txBody>
      </p:sp>
      <p:sp>
        <p:nvSpPr>
          <p:cNvPr id="7" name="!!cap_p1"/>
          <p:cNvSpPr txBox="1"/>
          <p:nvPr/>
        </p:nvSpPr>
        <p:spPr>
          <a:xfrm>
            <a:off x="-3840480" y="5074920"/>
            <a:ext cx="627017" cy="627017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©</a:t>
            </a:r>
            <a:endParaRPr lang="en-US" sz="1800" dirty="0"/>
          </a:p>
        </p:txBody>
      </p:sp>
      <p:pic>
        <p:nvPicPr>
          <p:cNvPr id="8" name="!!card_p2" descr="بطاقة محمد قري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9" name="!!photo_p2" descr="صورة محمد قريع — بدّلها من: تغيير الصور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10" name="!!pos_p2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600" b="1" dirty="0">
                <a:solidFill>
                  <a:schemeClr val="tx2"/>
                </a:solidFill>
              </a:rPr>
              <a:t>DEV</a:t>
            </a:r>
            <a:endParaRPr lang="en-US" sz="3600" dirty="0"/>
          </a:p>
        </p:txBody>
      </p:sp>
      <p:sp>
        <p:nvSpPr>
          <p:cNvPr id="11" name="!!name_p2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محمد قريع</a:t>
            </a:r>
            <a:endParaRPr lang="ar-SA" sz="2400" dirty="0"/>
          </a:p>
        </p:txBody>
      </p:sp>
      <p:sp>
        <p:nvSpPr>
          <p:cNvPr id="12" name="!!role_p2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تطبيقات Flutter</a:t>
            </a:r>
            <a:endParaRPr lang="ar-SA" sz="1400" dirty="0"/>
          </a:p>
        </p:txBody>
      </p:sp>
      <p:pic>
        <p:nvPicPr>
          <p:cNvPr id="13" name="!!card_p3" descr="بطاقة مازن عبد المعز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14" name="!!photo_p3" descr="صورة مازن عبد المعز — بدّلها من: تغيير الصورة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7257" y="1234440"/>
            <a:ext cx="1959429" cy="1959429"/>
          </a:xfrm>
          <a:prstGeom prst="ellipse">
            <a:avLst/>
          </a:prstGeom>
        </p:spPr>
      </p:pic>
      <p:sp>
        <p:nvSpPr>
          <p:cNvPr id="15" name="!!pos_p3"/>
          <p:cNvSpPr txBox="1"/>
          <p:nvPr/>
        </p:nvSpPr>
        <p:spPr>
          <a:xfrm>
            <a:off x="1332411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600" b="1" dirty="0">
                <a:solidFill>
                  <a:schemeClr val="tx2"/>
                </a:solidFill>
              </a:rPr>
              <a:t>UI</a:t>
            </a:r>
            <a:endParaRPr lang="en-US" sz="3600" dirty="0"/>
          </a:p>
        </p:txBody>
      </p:sp>
      <p:sp>
        <p:nvSpPr>
          <p:cNvPr id="16" name="!!name_p3"/>
          <p:cNvSpPr txBox="1"/>
          <p:nvPr/>
        </p:nvSpPr>
        <p:spPr>
          <a:xfrm>
            <a:off x="137160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مازن عبد المعز</a:t>
            </a:r>
            <a:endParaRPr lang="ar-SA" sz="2400" dirty="0"/>
          </a:p>
        </p:txBody>
      </p:sp>
      <p:sp>
        <p:nvSpPr>
          <p:cNvPr id="17" name="!!role_p3"/>
          <p:cNvSpPr txBox="1"/>
          <p:nvPr/>
        </p:nvSpPr>
        <p:spPr>
          <a:xfrm>
            <a:off x="148916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مصمّم واجهات وتجربة المستخدم</a:t>
            </a:r>
            <a:endParaRPr lang="ar-SA" sz="1400" dirty="0"/>
          </a:p>
        </p:txBody>
      </p:sp>
      <p:pic>
        <p:nvPicPr>
          <p:cNvPr id="18" name="!!card_p4" descr="بطاقة برهان الزمر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588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19" name="!!photo_p4" descr="صورة برهان الزمر — بدّلها من: تغيير الصورة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08777" y="1234440"/>
            <a:ext cx="1959429" cy="1959429"/>
          </a:xfrm>
          <a:prstGeom prst="ellipse">
            <a:avLst/>
          </a:prstGeom>
        </p:spPr>
      </p:pic>
      <p:sp>
        <p:nvSpPr>
          <p:cNvPr id="20" name="!!pos_p4"/>
          <p:cNvSpPr txBox="1"/>
          <p:nvPr/>
        </p:nvSpPr>
        <p:spPr>
          <a:xfrm>
            <a:off x="13493931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600" b="1" dirty="0">
                <a:solidFill>
                  <a:schemeClr val="tx2"/>
                </a:solidFill>
              </a:rPr>
              <a:t>FE</a:t>
            </a:r>
            <a:endParaRPr lang="en-US" sz="3600" dirty="0"/>
          </a:p>
        </p:txBody>
      </p:sp>
      <p:sp>
        <p:nvSpPr>
          <p:cNvPr id="21" name="!!name_p4"/>
          <p:cNvSpPr txBox="1"/>
          <p:nvPr/>
        </p:nvSpPr>
        <p:spPr>
          <a:xfrm>
            <a:off x="1353312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برهان الزمر</a:t>
            </a:r>
            <a:endParaRPr lang="ar-SA" sz="2400" dirty="0"/>
          </a:p>
        </p:txBody>
      </p:sp>
      <p:sp>
        <p:nvSpPr>
          <p:cNvPr id="22" name="!!role_p4"/>
          <p:cNvSpPr txBox="1"/>
          <p:nvPr/>
        </p:nvSpPr>
        <p:spPr>
          <a:xfrm>
            <a:off x="1365068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الواجهات الأمامية</a:t>
            </a:r>
            <a:endParaRPr lang="ar-SA" sz="1400" dirty="0"/>
          </a:p>
        </p:txBody>
      </p:sp>
      <p:sp>
        <p:nvSpPr>
          <p:cNvPr id="23" name="Info panel"/>
          <p:cNvSpPr/>
          <p:nvPr/>
        </p:nvSpPr>
        <p:spPr>
          <a:xfrm>
            <a:off x="5394960" y="1005840"/>
            <a:ext cx="6355080" cy="4023360"/>
          </a:xfrm>
          <a:prstGeom prst="roundRect">
            <a:avLst>
              <a:gd name="adj" fmla="val 4545"/>
            </a:avLst>
          </a:prstGeom>
          <a:solidFill>
            <a:schemeClr val="tx1">
              <a:alpha val="7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24" name="Text 14"/>
          <p:cNvSpPr txBox="1"/>
          <p:nvPr/>
        </p:nvSpPr>
        <p:spPr>
          <a:xfrm>
            <a:off x="5669280" y="12344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اللاعب  •  PLAYER</a:t>
            </a:r>
            <a:endParaRPr lang="ar-SA" sz="1800" dirty="0"/>
          </a:p>
        </p:txBody>
      </p:sp>
      <p:sp>
        <p:nvSpPr>
          <p:cNvPr id="25" name="Text 15"/>
          <p:cNvSpPr txBox="1"/>
          <p:nvPr/>
        </p:nvSpPr>
        <p:spPr>
          <a:xfrm>
            <a:off x="5669280" y="17373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b="1" dirty="0">
                <a:solidFill>
                  <a:schemeClr val="bg1"/>
                </a:solidFill>
              </a:rPr>
              <a:t>مازن عبد المعز</a:t>
            </a:r>
            <a:endParaRPr lang="ar-SA" sz="4800" dirty="0"/>
          </a:p>
        </p:txBody>
      </p:sp>
      <p:sp>
        <p:nvSpPr>
          <p:cNvPr id="26" name="Text 16"/>
          <p:cNvSpPr txBox="1"/>
          <p:nvPr/>
        </p:nvSpPr>
        <p:spPr>
          <a:xfrm>
            <a:off x="5669280" y="26517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2000" b="1" dirty="0">
                <a:solidFill>
                  <a:schemeClr val="accent2"/>
                </a:solidFill>
              </a:rPr>
              <a:t>Mazen Abdulmoez</a:t>
            </a:r>
            <a:endParaRPr lang="en-US" sz="2000" dirty="0"/>
          </a:p>
        </p:txBody>
      </p:sp>
      <p:sp>
        <p:nvSpPr>
          <p:cNvPr id="27" name="Text 17"/>
          <p:cNvSpPr txBox="1"/>
          <p:nvPr/>
        </p:nvSpPr>
        <p:spPr>
          <a:xfrm>
            <a:off x="5669280" y="32461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dirty="0">
                <a:solidFill>
                  <a:schemeClr val="bg1"/>
                </a:solidFill>
              </a:rPr>
              <a:t>مصمّم واجهات وتجربة المستخدم</a:t>
            </a:r>
            <a:endParaRPr lang="ar-SA" sz="2600" dirty="0"/>
          </a:p>
        </p:txBody>
      </p:sp>
      <p:sp>
        <p:nvSpPr>
          <p:cNvPr id="28" name="Text 18"/>
          <p:cNvSpPr txBox="1"/>
          <p:nvPr/>
        </p:nvSpPr>
        <p:spPr>
          <a:xfrm>
            <a:off x="5669280" y="37947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chemeClr val="bg2"/>
                </a:solidFill>
              </a:rPr>
              <a:t>UI / UX Designer</a:t>
            </a:r>
            <a:endParaRPr lang="en-US" sz="1600" dirty="0"/>
          </a:p>
        </p:txBody>
      </p:sp>
      <p:sp>
        <p:nvSpPr>
          <p:cNvPr id="29" name="Text 19"/>
          <p:cNvSpPr txBox="1"/>
          <p:nvPr/>
        </p:nvSpPr>
        <p:spPr>
          <a:xfrm>
            <a:off x="5669280" y="43434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accent6"/>
                </a:solidFill>
              </a:rPr>
              <a:t>تصميم الشاشات وتجربة الاستخدام</a:t>
            </a:r>
            <a:endParaRPr lang="ar-SA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rd_p1" descr="بطاقة عيسى شا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3" name="!!photo_p1" descr="صورة عيسى شايع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4" name="!!pos_p1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600" b="1" dirty="0">
                <a:solidFill>
                  <a:schemeClr val="tx2"/>
                </a:solidFill>
              </a:rPr>
              <a:t>PM</a:t>
            </a:r>
            <a:endParaRPr lang="en-US" sz="3600" dirty="0"/>
          </a:p>
        </p:txBody>
      </p:sp>
      <p:sp>
        <p:nvSpPr>
          <p:cNvPr id="5" name="!!name_p1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عيسى شايع</a:t>
            </a:r>
            <a:endParaRPr lang="ar-SA" sz="2400" dirty="0"/>
          </a:p>
        </p:txBody>
      </p:sp>
      <p:sp>
        <p:nvSpPr>
          <p:cNvPr id="6" name="!!role_p1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قائد الفريق ومدير المشروع</a:t>
            </a:r>
            <a:endParaRPr lang="ar-SA" sz="1400" dirty="0"/>
          </a:p>
        </p:txBody>
      </p:sp>
      <p:sp>
        <p:nvSpPr>
          <p:cNvPr id="7" name="!!cap_p1"/>
          <p:cNvSpPr txBox="1"/>
          <p:nvPr/>
        </p:nvSpPr>
        <p:spPr>
          <a:xfrm>
            <a:off x="-3840480" y="5074920"/>
            <a:ext cx="627017" cy="627017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©</a:t>
            </a:r>
            <a:endParaRPr lang="en-US" sz="1800" dirty="0"/>
          </a:p>
        </p:txBody>
      </p:sp>
      <p:pic>
        <p:nvPicPr>
          <p:cNvPr id="8" name="!!card_p2" descr="بطاقة محمد قري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9" name="!!photo_p2" descr="صورة محمد قريع — بدّلها من: تغيير الصور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10" name="!!pos_p2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600" b="1" dirty="0">
                <a:solidFill>
                  <a:schemeClr val="tx2"/>
                </a:solidFill>
              </a:rPr>
              <a:t>DEV</a:t>
            </a:r>
            <a:endParaRPr lang="en-US" sz="3600" dirty="0"/>
          </a:p>
        </p:txBody>
      </p:sp>
      <p:sp>
        <p:nvSpPr>
          <p:cNvPr id="11" name="!!name_p2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محمد قريع</a:t>
            </a:r>
            <a:endParaRPr lang="ar-SA" sz="2400" dirty="0"/>
          </a:p>
        </p:txBody>
      </p:sp>
      <p:sp>
        <p:nvSpPr>
          <p:cNvPr id="12" name="!!role_p2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تطبيقات Flutter</a:t>
            </a:r>
            <a:endParaRPr lang="ar-SA" sz="1400" dirty="0"/>
          </a:p>
        </p:txBody>
      </p:sp>
      <p:pic>
        <p:nvPicPr>
          <p:cNvPr id="13" name="!!card_p3" descr="بطاقة مازن عبد المعز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14" name="!!photo_p3" descr="صورة مازن عبد المعز — بدّلها من: تغيير الصورة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15" name="!!pos_p3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600" b="1" dirty="0">
                <a:solidFill>
                  <a:schemeClr val="tx2"/>
                </a:solidFill>
              </a:rPr>
              <a:t>UI</a:t>
            </a:r>
            <a:endParaRPr lang="en-US" sz="3600" dirty="0"/>
          </a:p>
        </p:txBody>
      </p:sp>
      <p:sp>
        <p:nvSpPr>
          <p:cNvPr id="16" name="!!name_p3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مازن عبد المعز</a:t>
            </a:r>
            <a:endParaRPr lang="ar-SA" sz="2400" dirty="0"/>
          </a:p>
        </p:txBody>
      </p:sp>
      <p:sp>
        <p:nvSpPr>
          <p:cNvPr id="17" name="!!role_p3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مصمّم واجهات وتجربة المستخدم</a:t>
            </a:r>
            <a:endParaRPr lang="ar-SA" sz="1400" dirty="0"/>
          </a:p>
        </p:txBody>
      </p:sp>
      <p:pic>
        <p:nvPicPr>
          <p:cNvPr id="18" name="!!card_p4" descr="بطاقة برهان الزمر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19" name="!!photo_p4" descr="صورة برهان الزمر — بدّلها من: تغيير الصورة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7257" y="1234440"/>
            <a:ext cx="1959429" cy="1959429"/>
          </a:xfrm>
          <a:prstGeom prst="ellipse">
            <a:avLst/>
          </a:prstGeom>
        </p:spPr>
      </p:pic>
      <p:sp>
        <p:nvSpPr>
          <p:cNvPr id="20" name="!!pos_p4"/>
          <p:cNvSpPr txBox="1"/>
          <p:nvPr/>
        </p:nvSpPr>
        <p:spPr>
          <a:xfrm>
            <a:off x="1332411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600" b="1" dirty="0">
                <a:solidFill>
                  <a:schemeClr val="tx2"/>
                </a:solidFill>
              </a:rPr>
              <a:t>FE</a:t>
            </a:r>
            <a:endParaRPr lang="en-US" sz="3600" dirty="0"/>
          </a:p>
        </p:txBody>
      </p:sp>
      <p:sp>
        <p:nvSpPr>
          <p:cNvPr id="21" name="!!name_p4"/>
          <p:cNvSpPr txBox="1"/>
          <p:nvPr/>
        </p:nvSpPr>
        <p:spPr>
          <a:xfrm>
            <a:off x="137160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برهان الزمر</a:t>
            </a:r>
            <a:endParaRPr lang="ar-SA" sz="2400" dirty="0"/>
          </a:p>
        </p:txBody>
      </p:sp>
      <p:sp>
        <p:nvSpPr>
          <p:cNvPr id="22" name="!!role_p4"/>
          <p:cNvSpPr txBox="1"/>
          <p:nvPr/>
        </p:nvSpPr>
        <p:spPr>
          <a:xfrm>
            <a:off x="148916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الواجهات الأمامية</a:t>
            </a:r>
            <a:endParaRPr lang="ar-SA" sz="1400" dirty="0"/>
          </a:p>
        </p:txBody>
      </p:sp>
      <p:pic>
        <p:nvPicPr>
          <p:cNvPr id="23" name="!!card_p5" descr="بطاقة محمد عادل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588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24" name="!!photo_p5" descr="صورة محمد عادل — بدّلها من: تغيير الصورة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08777" y="1234440"/>
            <a:ext cx="1959429" cy="1959429"/>
          </a:xfrm>
          <a:prstGeom prst="ellipse">
            <a:avLst/>
          </a:prstGeom>
        </p:spPr>
      </p:pic>
      <p:sp>
        <p:nvSpPr>
          <p:cNvPr id="25" name="!!pos_p5"/>
          <p:cNvSpPr txBox="1"/>
          <p:nvPr/>
        </p:nvSpPr>
        <p:spPr>
          <a:xfrm>
            <a:off x="13493931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600" b="1" dirty="0">
                <a:solidFill>
                  <a:schemeClr val="tx2"/>
                </a:solidFill>
              </a:rPr>
              <a:t>DB</a:t>
            </a:r>
            <a:endParaRPr lang="en-US" sz="3600" dirty="0"/>
          </a:p>
        </p:txBody>
      </p:sp>
      <p:sp>
        <p:nvSpPr>
          <p:cNvPr id="26" name="!!name_p5"/>
          <p:cNvSpPr txBox="1"/>
          <p:nvPr/>
        </p:nvSpPr>
        <p:spPr>
          <a:xfrm>
            <a:off x="1353312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محمد عادل</a:t>
            </a:r>
            <a:endParaRPr lang="ar-SA" sz="2400" dirty="0"/>
          </a:p>
        </p:txBody>
      </p:sp>
      <p:sp>
        <p:nvSpPr>
          <p:cNvPr id="27" name="!!role_p5"/>
          <p:cNvSpPr txBox="1"/>
          <p:nvPr/>
        </p:nvSpPr>
        <p:spPr>
          <a:xfrm>
            <a:off x="1365068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مسؤول قواعد البيانات والاختبار</a:t>
            </a:r>
            <a:endParaRPr lang="ar-SA" sz="1400" dirty="0"/>
          </a:p>
        </p:txBody>
      </p:sp>
      <p:sp>
        <p:nvSpPr>
          <p:cNvPr id="28" name="Info panel"/>
          <p:cNvSpPr/>
          <p:nvPr/>
        </p:nvSpPr>
        <p:spPr>
          <a:xfrm>
            <a:off x="5394960" y="1005840"/>
            <a:ext cx="6355080" cy="4023360"/>
          </a:xfrm>
          <a:prstGeom prst="roundRect">
            <a:avLst>
              <a:gd name="adj" fmla="val 4545"/>
            </a:avLst>
          </a:prstGeom>
          <a:solidFill>
            <a:schemeClr val="tx1">
              <a:alpha val="7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29" name="Text 17"/>
          <p:cNvSpPr txBox="1"/>
          <p:nvPr/>
        </p:nvSpPr>
        <p:spPr>
          <a:xfrm>
            <a:off x="5669280" y="12344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اللاعب  •  PLAYER</a:t>
            </a:r>
            <a:endParaRPr lang="ar-SA" sz="1800" dirty="0"/>
          </a:p>
        </p:txBody>
      </p:sp>
      <p:sp>
        <p:nvSpPr>
          <p:cNvPr id="30" name="Text 18"/>
          <p:cNvSpPr txBox="1"/>
          <p:nvPr/>
        </p:nvSpPr>
        <p:spPr>
          <a:xfrm>
            <a:off x="5669280" y="17373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b="1" dirty="0">
                <a:solidFill>
                  <a:schemeClr val="bg1"/>
                </a:solidFill>
              </a:rPr>
              <a:t>برهان الزمر</a:t>
            </a:r>
            <a:endParaRPr lang="ar-SA" sz="4800" dirty="0"/>
          </a:p>
        </p:txBody>
      </p:sp>
      <p:sp>
        <p:nvSpPr>
          <p:cNvPr id="31" name="Text 19"/>
          <p:cNvSpPr txBox="1"/>
          <p:nvPr/>
        </p:nvSpPr>
        <p:spPr>
          <a:xfrm>
            <a:off x="5669280" y="26517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2000" b="1" dirty="0">
                <a:solidFill>
                  <a:schemeClr val="accent2"/>
                </a:solidFill>
              </a:rPr>
              <a:t>Burhan Al-Zumar</a:t>
            </a:r>
            <a:endParaRPr lang="en-US" sz="2000" dirty="0"/>
          </a:p>
        </p:txBody>
      </p:sp>
      <p:sp>
        <p:nvSpPr>
          <p:cNvPr id="32" name="Text 20"/>
          <p:cNvSpPr txBox="1"/>
          <p:nvPr/>
        </p:nvSpPr>
        <p:spPr>
          <a:xfrm>
            <a:off x="5669280" y="32461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dirty="0">
                <a:solidFill>
                  <a:schemeClr val="bg1"/>
                </a:solidFill>
              </a:rPr>
              <a:t>مطوّر الواجهات الأمامية</a:t>
            </a:r>
            <a:endParaRPr lang="ar-SA" sz="2600" dirty="0"/>
          </a:p>
        </p:txBody>
      </p:sp>
      <p:sp>
        <p:nvSpPr>
          <p:cNvPr id="33" name="Text 21"/>
          <p:cNvSpPr txBox="1"/>
          <p:nvPr/>
        </p:nvSpPr>
        <p:spPr>
          <a:xfrm>
            <a:off x="5669280" y="37947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chemeClr val="bg2"/>
                </a:solidFill>
              </a:rPr>
              <a:t>Front-end Developer</a:t>
            </a:r>
            <a:endParaRPr lang="en-US" sz="1600" dirty="0"/>
          </a:p>
        </p:txBody>
      </p:sp>
      <p:sp>
        <p:nvSpPr>
          <p:cNvPr id="34" name="Text 22"/>
          <p:cNvSpPr txBox="1"/>
          <p:nvPr/>
        </p:nvSpPr>
        <p:spPr>
          <a:xfrm>
            <a:off x="5669280" y="43434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accent6"/>
                </a:solidFill>
              </a:rPr>
              <a:t>تحويل التصاميم إلى واجهات تفاعلية</a:t>
            </a:r>
            <a:endParaRPr lang="ar-SA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rd_p1" descr="بطاقة عيسى شا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3" name="!!photo_p1" descr="صورة عيسى شايع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4" name="!!pos_p1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600" b="1" dirty="0">
                <a:solidFill>
                  <a:schemeClr val="tx2"/>
                </a:solidFill>
              </a:rPr>
              <a:t>PM</a:t>
            </a:r>
            <a:endParaRPr lang="en-US" sz="3600" dirty="0"/>
          </a:p>
        </p:txBody>
      </p:sp>
      <p:sp>
        <p:nvSpPr>
          <p:cNvPr id="5" name="!!name_p1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عيسى شايع</a:t>
            </a:r>
            <a:endParaRPr lang="ar-SA" sz="2400" dirty="0"/>
          </a:p>
        </p:txBody>
      </p:sp>
      <p:sp>
        <p:nvSpPr>
          <p:cNvPr id="6" name="!!role_p1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قائد الفريق ومدير المشروع</a:t>
            </a:r>
            <a:endParaRPr lang="ar-SA" sz="1400" dirty="0"/>
          </a:p>
        </p:txBody>
      </p:sp>
      <p:sp>
        <p:nvSpPr>
          <p:cNvPr id="7" name="!!cap_p1"/>
          <p:cNvSpPr txBox="1"/>
          <p:nvPr/>
        </p:nvSpPr>
        <p:spPr>
          <a:xfrm>
            <a:off x="-3840480" y="5074920"/>
            <a:ext cx="627017" cy="627017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©</a:t>
            </a:r>
            <a:endParaRPr lang="en-US" sz="1800" dirty="0"/>
          </a:p>
        </p:txBody>
      </p:sp>
      <p:pic>
        <p:nvPicPr>
          <p:cNvPr id="8" name="!!card_p2" descr="بطاقة محمد قري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9" name="!!photo_p2" descr="صورة محمد قريع — بدّلها من: تغيير الصور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10" name="!!pos_p2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600" b="1" dirty="0">
                <a:solidFill>
                  <a:schemeClr val="tx2"/>
                </a:solidFill>
              </a:rPr>
              <a:t>DEV</a:t>
            </a:r>
            <a:endParaRPr lang="en-US" sz="3600" dirty="0"/>
          </a:p>
        </p:txBody>
      </p:sp>
      <p:sp>
        <p:nvSpPr>
          <p:cNvPr id="11" name="!!name_p2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محمد قريع</a:t>
            </a:r>
            <a:endParaRPr lang="ar-SA" sz="2400" dirty="0"/>
          </a:p>
        </p:txBody>
      </p:sp>
      <p:sp>
        <p:nvSpPr>
          <p:cNvPr id="12" name="!!role_p2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تطبيقات Flutter</a:t>
            </a:r>
            <a:endParaRPr lang="ar-SA" sz="1400" dirty="0"/>
          </a:p>
        </p:txBody>
      </p:sp>
      <p:pic>
        <p:nvPicPr>
          <p:cNvPr id="13" name="!!card_p3" descr="بطاقة مازن عبد المعز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14" name="!!photo_p3" descr="صورة مازن عبد المعز — بدّلها من: تغيير الصورة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15" name="!!pos_p3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600" b="1" dirty="0">
                <a:solidFill>
                  <a:schemeClr val="tx2"/>
                </a:solidFill>
              </a:rPr>
              <a:t>UI</a:t>
            </a:r>
            <a:endParaRPr lang="en-US" sz="3600" dirty="0"/>
          </a:p>
        </p:txBody>
      </p:sp>
      <p:sp>
        <p:nvSpPr>
          <p:cNvPr id="16" name="!!name_p3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مازن عبد المعز</a:t>
            </a:r>
            <a:endParaRPr lang="ar-SA" sz="2400" dirty="0"/>
          </a:p>
        </p:txBody>
      </p:sp>
      <p:sp>
        <p:nvSpPr>
          <p:cNvPr id="17" name="!!role_p3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مصمّم واجهات وتجربة المستخدم</a:t>
            </a:r>
            <a:endParaRPr lang="ar-SA" sz="1400" dirty="0"/>
          </a:p>
        </p:txBody>
      </p:sp>
      <p:pic>
        <p:nvPicPr>
          <p:cNvPr id="18" name="!!card_p4" descr="بطاقة برهان الزمر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19" name="!!photo_p4" descr="صورة برهان الزمر — بدّلها من: تغيير الصورة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20" name="!!pos_p4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600" b="1" dirty="0">
                <a:solidFill>
                  <a:schemeClr val="tx2"/>
                </a:solidFill>
              </a:rPr>
              <a:t>FE</a:t>
            </a:r>
            <a:endParaRPr lang="en-US" sz="3600" dirty="0"/>
          </a:p>
        </p:txBody>
      </p:sp>
      <p:sp>
        <p:nvSpPr>
          <p:cNvPr id="21" name="!!name_p4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برهان الزمر</a:t>
            </a:r>
            <a:endParaRPr lang="ar-SA" sz="2400" dirty="0"/>
          </a:p>
        </p:txBody>
      </p:sp>
      <p:sp>
        <p:nvSpPr>
          <p:cNvPr id="22" name="!!role_p4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الواجهات الأمامية</a:t>
            </a:r>
            <a:endParaRPr lang="ar-SA" sz="1400" dirty="0"/>
          </a:p>
        </p:txBody>
      </p:sp>
      <p:pic>
        <p:nvPicPr>
          <p:cNvPr id="23" name="!!card_p5" descr="بطاقة محمد عادل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728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24" name="!!photo_p5" descr="صورة محمد عادل — بدّلها من: تغيير الصورة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7257" y="1234440"/>
            <a:ext cx="1959429" cy="1959429"/>
          </a:xfrm>
          <a:prstGeom prst="ellipse">
            <a:avLst/>
          </a:prstGeom>
        </p:spPr>
      </p:pic>
      <p:sp>
        <p:nvSpPr>
          <p:cNvPr id="25" name="!!pos_p5"/>
          <p:cNvSpPr txBox="1"/>
          <p:nvPr/>
        </p:nvSpPr>
        <p:spPr>
          <a:xfrm>
            <a:off x="1332411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600" b="1" dirty="0">
                <a:solidFill>
                  <a:schemeClr val="tx2"/>
                </a:solidFill>
              </a:rPr>
              <a:t>DB</a:t>
            </a:r>
            <a:endParaRPr lang="en-US" sz="3600" dirty="0"/>
          </a:p>
        </p:txBody>
      </p:sp>
      <p:sp>
        <p:nvSpPr>
          <p:cNvPr id="26" name="!!name_p5"/>
          <p:cNvSpPr txBox="1"/>
          <p:nvPr/>
        </p:nvSpPr>
        <p:spPr>
          <a:xfrm>
            <a:off x="137160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محمد عادل</a:t>
            </a:r>
            <a:endParaRPr lang="ar-SA" sz="2400" dirty="0"/>
          </a:p>
        </p:txBody>
      </p:sp>
      <p:sp>
        <p:nvSpPr>
          <p:cNvPr id="27" name="!!role_p5"/>
          <p:cNvSpPr txBox="1"/>
          <p:nvPr/>
        </p:nvSpPr>
        <p:spPr>
          <a:xfrm>
            <a:off x="148916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مسؤول قواعد البيانات والاختبار</a:t>
            </a:r>
            <a:endParaRPr lang="ar-SA" sz="1400" dirty="0"/>
          </a:p>
        </p:txBody>
      </p:sp>
      <p:pic>
        <p:nvPicPr>
          <p:cNvPr id="28" name="!!card_coach" descr="بطاقة د. مطيع الجعفري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2588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29" name="!!photo_coach" descr="صورة د. مطيع الجعفري — بدّلها من: تغيير الصورة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708777" y="1234440"/>
            <a:ext cx="1959429" cy="1959429"/>
          </a:xfrm>
          <a:prstGeom prst="ellipse">
            <a:avLst/>
          </a:prstGeom>
        </p:spPr>
      </p:pic>
      <p:sp>
        <p:nvSpPr>
          <p:cNvPr id="30" name="!!pos_coach"/>
          <p:cNvSpPr txBox="1"/>
          <p:nvPr/>
        </p:nvSpPr>
        <p:spPr>
          <a:xfrm>
            <a:off x="13493931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5100" b="1" dirty="0">
                <a:solidFill>
                  <a:schemeClr val="accent2"/>
                </a:solidFill>
              </a:rPr>
              <a:t>C</a:t>
            </a:r>
            <a:endParaRPr lang="en-US" sz="5100" dirty="0"/>
          </a:p>
        </p:txBody>
      </p:sp>
      <p:sp>
        <p:nvSpPr>
          <p:cNvPr id="31" name="!!tag_coach"/>
          <p:cNvSpPr txBox="1"/>
          <p:nvPr/>
        </p:nvSpPr>
        <p:spPr>
          <a:xfrm>
            <a:off x="13493931" y="1892808"/>
            <a:ext cx="12932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accent2"/>
                </a:solidFill>
              </a:rPr>
              <a:t>COACH</a:t>
            </a:r>
            <a:endParaRPr lang="en-US" sz="1300" dirty="0"/>
          </a:p>
        </p:txBody>
      </p:sp>
      <p:sp>
        <p:nvSpPr>
          <p:cNvPr id="32" name="!!name_coach"/>
          <p:cNvSpPr txBox="1"/>
          <p:nvPr/>
        </p:nvSpPr>
        <p:spPr>
          <a:xfrm>
            <a:off x="1353312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د. مطيع الجعفري</a:t>
            </a:r>
            <a:endParaRPr lang="ar-SA" sz="2400" dirty="0"/>
          </a:p>
        </p:txBody>
      </p:sp>
      <p:sp>
        <p:nvSpPr>
          <p:cNvPr id="33" name="!!role_coach"/>
          <p:cNvSpPr txBox="1"/>
          <p:nvPr/>
        </p:nvSpPr>
        <p:spPr>
          <a:xfrm>
            <a:off x="1365068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المشرف على المشروع</a:t>
            </a:r>
            <a:endParaRPr lang="ar-SA" sz="1400" dirty="0"/>
          </a:p>
        </p:txBody>
      </p:sp>
      <p:sp>
        <p:nvSpPr>
          <p:cNvPr id="34" name="Info panel"/>
          <p:cNvSpPr/>
          <p:nvPr/>
        </p:nvSpPr>
        <p:spPr>
          <a:xfrm>
            <a:off x="5394960" y="1005840"/>
            <a:ext cx="6355080" cy="4023360"/>
          </a:xfrm>
          <a:prstGeom prst="roundRect">
            <a:avLst>
              <a:gd name="adj" fmla="val 4545"/>
            </a:avLst>
          </a:prstGeom>
          <a:solidFill>
            <a:schemeClr val="tx1">
              <a:alpha val="7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35" name="Text 21"/>
          <p:cNvSpPr txBox="1"/>
          <p:nvPr/>
        </p:nvSpPr>
        <p:spPr>
          <a:xfrm>
            <a:off x="5669280" y="12344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اللاعب  •  PLAYER</a:t>
            </a:r>
            <a:endParaRPr lang="ar-SA" sz="1800" dirty="0"/>
          </a:p>
        </p:txBody>
      </p:sp>
      <p:sp>
        <p:nvSpPr>
          <p:cNvPr id="36" name="Text 22"/>
          <p:cNvSpPr txBox="1"/>
          <p:nvPr/>
        </p:nvSpPr>
        <p:spPr>
          <a:xfrm>
            <a:off x="5669280" y="17373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b="1" dirty="0">
                <a:solidFill>
                  <a:schemeClr val="bg1"/>
                </a:solidFill>
              </a:rPr>
              <a:t>محمد عادل</a:t>
            </a:r>
            <a:endParaRPr lang="ar-SA" sz="4800" dirty="0"/>
          </a:p>
        </p:txBody>
      </p:sp>
      <p:sp>
        <p:nvSpPr>
          <p:cNvPr id="37" name="Text 23"/>
          <p:cNvSpPr txBox="1"/>
          <p:nvPr/>
        </p:nvSpPr>
        <p:spPr>
          <a:xfrm>
            <a:off x="5669280" y="26517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2000" b="1" dirty="0">
                <a:solidFill>
                  <a:schemeClr val="accent2"/>
                </a:solidFill>
              </a:rPr>
              <a:t>Mohammed Adel</a:t>
            </a:r>
            <a:endParaRPr lang="en-US" sz="2000" dirty="0"/>
          </a:p>
        </p:txBody>
      </p:sp>
      <p:sp>
        <p:nvSpPr>
          <p:cNvPr id="38" name="Text 24"/>
          <p:cNvSpPr txBox="1"/>
          <p:nvPr/>
        </p:nvSpPr>
        <p:spPr>
          <a:xfrm>
            <a:off x="5669280" y="32461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dirty="0">
                <a:solidFill>
                  <a:schemeClr val="bg1"/>
                </a:solidFill>
              </a:rPr>
              <a:t>مسؤول قواعد البيانات والاختبار</a:t>
            </a:r>
            <a:endParaRPr lang="ar-SA" sz="2600" dirty="0"/>
          </a:p>
        </p:txBody>
      </p:sp>
      <p:sp>
        <p:nvSpPr>
          <p:cNvPr id="39" name="Text 25"/>
          <p:cNvSpPr txBox="1"/>
          <p:nvPr/>
        </p:nvSpPr>
        <p:spPr>
          <a:xfrm>
            <a:off x="5669280" y="37947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chemeClr val="bg2"/>
                </a:solidFill>
              </a:rPr>
              <a:t>Database &amp; QA Engineer</a:t>
            </a:r>
            <a:endParaRPr lang="en-US" sz="1600" dirty="0"/>
          </a:p>
        </p:txBody>
      </p:sp>
      <p:sp>
        <p:nvSpPr>
          <p:cNvPr id="40" name="Text 26"/>
          <p:cNvSpPr txBox="1"/>
          <p:nvPr/>
        </p:nvSpPr>
        <p:spPr>
          <a:xfrm>
            <a:off x="5669280" y="43434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accent6"/>
                </a:solidFill>
              </a:rPr>
              <a:t>تصميم قاعدة البيانات واختبار جودة النظام</a:t>
            </a:r>
            <a:endParaRPr lang="ar-SA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rd_p1" descr="بطاقة عيسى شا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3" name="!!photo_p1" descr="صورة عيسى شايع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4" name="!!pos_p1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600" b="1" dirty="0">
                <a:solidFill>
                  <a:schemeClr val="tx2"/>
                </a:solidFill>
              </a:rPr>
              <a:t>PM</a:t>
            </a:r>
            <a:endParaRPr lang="en-US" sz="3600" dirty="0"/>
          </a:p>
        </p:txBody>
      </p:sp>
      <p:sp>
        <p:nvSpPr>
          <p:cNvPr id="5" name="!!name_p1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عيسى شايع</a:t>
            </a:r>
            <a:endParaRPr lang="ar-SA" sz="2400" dirty="0"/>
          </a:p>
        </p:txBody>
      </p:sp>
      <p:sp>
        <p:nvSpPr>
          <p:cNvPr id="6" name="!!role_p1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قائد الفريق ومدير المشروع</a:t>
            </a:r>
            <a:endParaRPr lang="ar-SA" sz="1400" dirty="0"/>
          </a:p>
        </p:txBody>
      </p:sp>
      <p:sp>
        <p:nvSpPr>
          <p:cNvPr id="7" name="!!cap_p1"/>
          <p:cNvSpPr txBox="1"/>
          <p:nvPr/>
        </p:nvSpPr>
        <p:spPr>
          <a:xfrm>
            <a:off x="-3840480" y="5074920"/>
            <a:ext cx="627017" cy="627017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©</a:t>
            </a:r>
            <a:endParaRPr lang="en-US" sz="1800" dirty="0"/>
          </a:p>
        </p:txBody>
      </p:sp>
      <p:pic>
        <p:nvPicPr>
          <p:cNvPr id="8" name="!!card_p2" descr="بطاقة محمد قري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9" name="!!photo_p2" descr="صورة محمد قريع — بدّلها من: تغيير الصور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10" name="!!pos_p2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600" b="1" dirty="0">
                <a:solidFill>
                  <a:schemeClr val="tx2"/>
                </a:solidFill>
              </a:rPr>
              <a:t>DEV</a:t>
            </a:r>
            <a:endParaRPr lang="en-US" sz="3600" dirty="0"/>
          </a:p>
        </p:txBody>
      </p:sp>
      <p:sp>
        <p:nvSpPr>
          <p:cNvPr id="11" name="!!name_p2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محمد قريع</a:t>
            </a:r>
            <a:endParaRPr lang="ar-SA" sz="2400" dirty="0"/>
          </a:p>
        </p:txBody>
      </p:sp>
      <p:sp>
        <p:nvSpPr>
          <p:cNvPr id="12" name="!!role_p2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تطبيقات Flutter</a:t>
            </a:r>
            <a:endParaRPr lang="ar-SA" sz="1400" dirty="0"/>
          </a:p>
        </p:txBody>
      </p:sp>
      <p:pic>
        <p:nvPicPr>
          <p:cNvPr id="13" name="!!card_p3" descr="بطاقة مازن عبد المعز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14" name="!!photo_p3" descr="صورة مازن عبد المعز — بدّلها من: تغيير الصورة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15" name="!!pos_p3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600" b="1" dirty="0">
                <a:solidFill>
                  <a:schemeClr val="tx2"/>
                </a:solidFill>
              </a:rPr>
              <a:t>UI</a:t>
            </a:r>
            <a:endParaRPr lang="en-US" sz="3600" dirty="0"/>
          </a:p>
        </p:txBody>
      </p:sp>
      <p:sp>
        <p:nvSpPr>
          <p:cNvPr id="16" name="!!name_p3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مازن عبد المعز</a:t>
            </a:r>
            <a:endParaRPr lang="ar-SA" sz="2400" dirty="0"/>
          </a:p>
        </p:txBody>
      </p:sp>
      <p:sp>
        <p:nvSpPr>
          <p:cNvPr id="17" name="!!role_p3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مصمّم واجهات وتجربة المستخدم</a:t>
            </a:r>
            <a:endParaRPr lang="ar-SA" sz="1400" dirty="0"/>
          </a:p>
        </p:txBody>
      </p:sp>
      <p:pic>
        <p:nvPicPr>
          <p:cNvPr id="18" name="!!card_p4" descr="بطاقة برهان الزمر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19" name="!!photo_p4" descr="صورة برهان الزمر — بدّلها من: تغيير الصورة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20" name="!!pos_p4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600" b="1" dirty="0">
                <a:solidFill>
                  <a:schemeClr val="tx2"/>
                </a:solidFill>
              </a:rPr>
              <a:t>FE</a:t>
            </a:r>
            <a:endParaRPr lang="en-US" sz="3600" dirty="0"/>
          </a:p>
        </p:txBody>
      </p:sp>
      <p:sp>
        <p:nvSpPr>
          <p:cNvPr id="21" name="!!name_p4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برهان الزمر</a:t>
            </a:r>
            <a:endParaRPr lang="ar-SA" sz="2400" dirty="0"/>
          </a:p>
        </p:txBody>
      </p:sp>
      <p:sp>
        <p:nvSpPr>
          <p:cNvPr id="22" name="!!role_p4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مطوّر الواجهات الأمامية</a:t>
            </a:r>
            <a:endParaRPr lang="ar-SA" sz="1400" dirty="0"/>
          </a:p>
        </p:txBody>
      </p:sp>
      <p:pic>
        <p:nvPicPr>
          <p:cNvPr id="23" name="!!card_p5" descr="بطاقة محمد عادل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548640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24" name="!!photo_p5" descr="صورة محمد عادل — بدّلها من: تغيير الصورة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4036423" y="1234440"/>
            <a:ext cx="1959429" cy="1959429"/>
          </a:xfrm>
          <a:prstGeom prst="ellipse">
            <a:avLst/>
          </a:prstGeom>
        </p:spPr>
      </p:pic>
      <p:sp>
        <p:nvSpPr>
          <p:cNvPr id="25" name="!!pos_p5"/>
          <p:cNvSpPr txBox="1"/>
          <p:nvPr/>
        </p:nvSpPr>
        <p:spPr>
          <a:xfrm>
            <a:off x="-5251269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3600" b="1" dirty="0">
                <a:solidFill>
                  <a:schemeClr val="tx2"/>
                </a:solidFill>
              </a:rPr>
              <a:t>DB</a:t>
            </a:r>
            <a:endParaRPr lang="en-US" sz="3600" dirty="0"/>
          </a:p>
        </p:txBody>
      </p:sp>
      <p:sp>
        <p:nvSpPr>
          <p:cNvPr id="26" name="!!name_p5"/>
          <p:cNvSpPr txBox="1"/>
          <p:nvPr/>
        </p:nvSpPr>
        <p:spPr>
          <a:xfrm>
            <a:off x="-521208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tx2"/>
                </a:solidFill>
              </a:rPr>
              <a:t>محمد عادل</a:t>
            </a:r>
            <a:endParaRPr lang="ar-SA" sz="2400" dirty="0"/>
          </a:p>
        </p:txBody>
      </p:sp>
      <p:sp>
        <p:nvSpPr>
          <p:cNvPr id="27" name="!!role_p5"/>
          <p:cNvSpPr txBox="1"/>
          <p:nvPr/>
        </p:nvSpPr>
        <p:spPr>
          <a:xfrm>
            <a:off x="-5094514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مسؤول قواعد البيانات والاختبار</a:t>
            </a:r>
            <a:endParaRPr lang="ar-SA" sz="1400" dirty="0"/>
          </a:p>
        </p:txBody>
      </p:sp>
      <p:pic>
        <p:nvPicPr>
          <p:cNvPr id="28" name="!!card_coach" descr="بطاقة د. مطيع الجعفري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7280" y="685800"/>
            <a:ext cx="3918857" cy="5486400"/>
          </a:xfrm>
          <a:prstGeom prst="rect">
            <a:avLst/>
          </a:prstGeom>
          <a:effectLst>
            <a:outerShdw sx="100000" sy="100000" kx="0" ky="0" algn="bl" rotWithShape="0" blurRad="228600" dist="121920" dir="5400000">
              <a:srgbClr val="000000">
                <a:alpha val="55000"/>
              </a:srgbClr>
            </a:outerShdw>
          </a:effectLst>
        </p:spPr>
      </p:pic>
      <p:pic>
        <p:nvPicPr>
          <p:cNvPr id="29" name="!!photo_coach" descr="صورة د. مطيع الجعفري — بدّلها من: تغيير الصورة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47257" y="1234440"/>
            <a:ext cx="1959429" cy="1959429"/>
          </a:xfrm>
          <a:prstGeom prst="ellipse">
            <a:avLst/>
          </a:prstGeom>
        </p:spPr>
      </p:pic>
      <p:sp>
        <p:nvSpPr>
          <p:cNvPr id="30" name="!!pos_coach"/>
          <p:cNvSpPr txBox="1"/>
          <p:nvPr/>
        </p:nvSpPr>
        <p:spPr>
          <a:xfrm>
            <a:off x="1332411" y="1234440"/>
            <a:ext cx="12932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5100" b="1" dirty="0">
                <a:solidFill>
                  <a:schemeClr val="accent2"/>
                </a:solidFill>
              </a:rPr>
              <a:t>C</a:t>
            </a:r>
            <a:endParaRPr lang="en-US" sz="5100" dirty="0"/>
          </a:p>
        </p:txBody>
      </p:sp>
      <p:sp>
        <p:nvSpPr>
          <p:cNvPr id="31" name="!!tag_coach"/>
          <p:cNvSpPr txBox="1"/>
          <p:nvPr/>
        </p:nvSpPr>
        <p:spPr>
          <a:xfrm>
            <a:off x="1332411" y="1892808"/>
            <a:ext cx="12932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accent2"/>
                </a:solidFill>
              </a:rPr>
              <a:t>COACH</a:t>
            </a:r>
            <a:endParaRPr lang="en-US" sz="1300" dirty="0"/>
          </a:p>
        </p:txBody>
      </p:sp>
      <p:sp>
        <p:nvSpPr>
          <p:cNvPr id="32" name="!!name_coach"/>
          <p:cNvSpPr txBox="1"/>
          <p:nvPr/>
        </p:nvSpPr>
        <p:spPr>
          <a:xfrm>
            <a:off x="1371600" y="3429000"/>
            <a:ext cx="33702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د. مطيع الجعفري</a:t>
            </a:r>
            <a:endParaRPr lang="ar-SA" sz="2400" dirty="0"/>
          </a:p>
        </p:txBody>
      </p:sp>
      <p:sp>
        <p:nvSpPr>
          <p:cNvPr id="33" name="!!role_coach"/>
          <p:cNvSpPr txBox="1"/>
          <p:nvPr/>
        </p:nvSpPr>
        <p:spPr>
          <a:xfrm>
            <a:off x="1489166" y="4251960"/>
            <a:ext cx="313508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المشرف على المشروع</a:t>
            </a:r>
            <a:endParaRPr lang="ar-SA" sz="1400" dirty="0"/>
          </a:p>
        </p:txBody>
      </p:sp>
      <p:sp>
        <p:nvSpPr>
          <p:cNvPr id="34" name="Info panel"/>
          <p:cNvSpPr/>
          <p:nvPr/>
        </p:nvSpPr>
        <p:spPr>
          <a:xfrm>
            <a:off x="5394960" y="1005840"/>
            <a:ext cx="6355080" cy="4023360"/>
          </a:xfrm>
          <a:prstGeom prst="roundRect">
            <a:avLst>
              <a:gd name="adj" fmla="val 4545"/>
            </a:avLst>
          </a:prstGeom>
          <a:solidFill>
            <a:schemeClr val="tx1">
              <a:alpha val="70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</p:spPr>
      </p:sp>
      <p:sp>
        <p:nvSpPr>
          <p:cNvPr id="35" name="Text 21"/>
          <p:cNvSpPr txBox="1"/>
          <p:nvPr/>
        </p:nvSpPr>
        <p:spPr>
          <a:xfrm>
            <a:off x="5669280" y="12344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المدرب  •  HEAD COACH</a:t>
            </a:r>
            <a:endParaRPr lang="ar-SA" sz="1800" dirty="0"/>
          </a:p>
        </p:txBody>
      </p:sp>
      <p:sp>
        <p:nvSpPr>
          <p:cNvPr id="36" name="Text 22"/>
          <p:cNvSpPr txBox="1"/>
          <p:nvPr/>
        </p:nvSpPr>
        <p:spPr>
          <a:xfrm>
            <a:off x="5669280" y="17373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b="1" dirty="0">
                <a:solidFill>
                  <a:schemeClr val="bg1"/>
                </a:solidFill>
              </a:rPr>
              <a:t>د. مطيع الجعفري</a:t>
            </a:r>
            <a:endParaRPr lang="ar-SA" sz="4800" dirty="0"/>
          </a:p>
        </p:txBody>
      </p:sp>
      <p:sp>
        <p:nvSpPr>
          <p:cNvPr id="37" name="Text 23"/>
          <p:cNvSpPr txBox="1"/>
          <p:nvPr/>
        </p:nvSpPr>
        <p:spPr>
          <a:xfrm>
            <a:off x="5669280" y="26517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2000" b="1" dirty="0">
                <a:solidFill>
                  <a:schemeClr val="accent2"/>
                </a:solidFill>
              </a:rPr>
              <a:t>Dr. Mutee Al-Jaafari</a:t>
            </a:r>
            <a:endParaRPr lang="en-US" sz="2000" dirty="0"/>
          </a:p>
        </p:txBody>
      </p:sp>
      <p:sp>
        <p:nvSpPr>
          <p:cNvPr id="38" name="Text 24"/>
          <p:cNvSpPr txBox="1"/>
          <p:nvPr/>
        </p:nvSpPr>
        <p:spPr>
          <a:xfrm>
            <a:off x="5669280" y="32461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dirty="0">
                <a:solidFill>
                  <a:schemeClr val="bg1"/>
                </a:solidFill>
              </a:rPr>
              <a:t>المشرف على المشروع</a:t>
            </a:r>
            <a:endParaRPr lang="ar-SA" sz="2600" dirty="0"/>
          </a:p>
        </p:txBody>
      </p:sp>
      <p:sp>
        <p:nvSpPr>
          <p:cNvPr id="39" name="Text 25"/>
          <p:cNvSpPr txBox="1"/>
          <p:nvPr/>
        </p:nvSpPr>
        <p:spPr>
          <a:xfrm>
            <a:off x="5669280" y="37947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chemeClr val="bg2"/>
                </a:solidFill>
              </a:rPr>
              <a:t>Project Supervisor</a:t>
            </a:r>
            <a:endParaRPr lang="en-US" sz="1600" dirty="0"/>
          </a:p>
        </p:txBody>
      </p:sp>
      <p:sp>
        <p:nvSpPr>
          <p:cNvPr id="40" name="Text 26"/>
          <p:cNvSpPr txBox="1"/>
          <p:nvPr/>
        </p:nvSpPr>
        <p:spPr>
          <a:xfrm>
            <a:off x="5669280" y="43434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accent6"/>
                </a:solidFill>
              </a:rPr>
              <a:t>التوجيه والإشراف ومتابعة الفريق في كل مراحل المشروع</a:t>
            </a:r>
            <a:endParaRPr lang="ar-SA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0" y="2743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bg1"/>
                </a:solidFill>
              </a:rPr>
              <a:t>تشكيلة الفريق</a:t>
            </a:r>
            <a:endParaRPr lang="ar-SA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675120" y="960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800" b="1" dirty="0">
                <a:solidFill>
                  <a:schemeClr val="accent2"/>
                </a:solidFill>
              </a:rPr>
              <a:t>Starting XI</a:t>
            </a:r>
            <a:endParaRPr lang="en-US" sz="1800" dirty="0"/>
          </a:p>
        </p:txBody>
      </p:sp>
      <p:pic>
        <p:nvPicPr>
          <p:cNvPr id="4" name="!!card_p2" descr="بطاقة محمد قر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31" y="1417320"/>
            <a:ext cx="1632857" cy="2286000"/>
          </a:xfrm>
          <a:prstGeom prst="rect">
            <a:avLst/>
          </a:prstGeom>
          <a:effectLst>
            <a:outerShdw sx="100000" sy="100000" kx="0" ky="0" algn="bl" rotWithShape="0" blurRad="95250" dist="50800" dir="5400000">
              <a:srgbClr val="000000">
                <a:alpha val="55000"/>
              </a:srgbClr>
            </a:outerShdw>
          </a:effectLst>
        </p:spPr>
      </p:pic>
      <p:pic>
        <p:nvPicPr>
          <p:cNvPr id="5" name="!!photo_p2" descr="صورة محمد قريع — بدّلها من: تغيير الصور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489" y="1645920"/>
            <a:ext cx="816429" cy="816429"/>
          </a:xfrm>
          <a:prstGeom prst="ellipse">
            <a:avLst/>
          </a:prstGeom>
        </p:spPr>
      </p:pic>
      <p:sp>
        <p:nvSpPr>
          <p:cNvPr id="6" name="!!pos_p2"/>
          <p:cNvSpPr txBox="1"/>
          <p:nvPr/>
        </p:nvSpPr>
        <p:spPr>
          <a:xfrm>
            <a:off x="3076303" y="1645920"/>
            <a:ext cx="5388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2"/>
                </a:solidFill>
              </a:rPr>
              <a:t>DEV</a:t>
            </a:r>
            <a:endParaRPr lang="en-US" sz="1500" dirty="0"/>
          </a:p>
        </p:txBody>
      </p:sp>
      <p:sp>
        <p:nvSpPr>
          <p:cNvPr id="7" name="!!name_p2"/>
          <p:cNvSpPr txBox="1"/>
          <p:nvPr/>
        </p:nvSpPr>
        <p:spPr>
          <a:xfrm>
            <a:off x="3092631" y="2560320"/>
            <a:ext cx="14042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tx2"/>
                </a:solidFill>
              </a:rPr>
              <a:t>محمد قريع</a:t>
            </a:r>
            <a:endParaRPr lang="ar-SA" sz="1000" dirty="0"/>
          </a:p>
        </p:txBody>
      </p:sp>
      <p:pic>
        <p:nvPicPr>
          <p:cNvPr id="8" name="!!card_p1" descr="بطاقة عيسى شاي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2619" y="1417320"/>
            <a:ext cx="1632857" cy="2286000"/>
          </a:xfrm>
          <a:prstGeom prst="rect">
            <a:avLst/>
          </a:prstGeom>
          <a:effectLst>
            <a:outerShdw sx="100000" sy="100000" kx="0" ky="0" algn="bl" rotWithShape="0" blurRad="95250" dist="50800" dir="5400000">
              <a:srgbClr val="000000">
                <a:alpha val="55000"/>
              </a:srgbClr>
            </a:outerShdw>
          </a:effectLst>
        </p:spPr>
      </p:pic>
      <p:pic>
        <p:nvPicPr>
          <p:cNvPr id="9" name="!!photo_p1" descr="صورة عيسى شايع — بدّلها من: تغيير الصورة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777" y="1645920"/>
            <a:ext cx="816429" cy="816429"/>
          </a:xfrm>
          <a:prstGeom prst="ellipse">
            <a:avLst/>
          </a:prstGeom>
        </p:spPr>
      </p:pic>
      <p:sp>
        <p:nvSpPr>
          <p:cNvPr id="10" name="!!pos_p1"/>
          <p:cNvSpPr txBox="1"/>
          <p:nvPr/>
        </p:nvSpPr>
        <p:spPr>
          <a:xfrm>
            <a:off x="5380591" y="1645920"/>
            <a:ext cx="5388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2"/>
                </a:solidFill>
              </a:rPr>
              <a:t>PM</a:t>
            </a:r>
            <a:endParaRPr lang="en-US" sz="1500" dirty="0"/>
          </a:p>
        </p:txBody>
      </p:sp>
      <p:sp>
        <p:nvSpPr>
          <p:cNvPr id="11" name="!!name_p1"/>
          <p:cNvSpPr txBox="1"/>
          <p:nvPr/>
        </p:nvSpPr>
        <p:spPr>
          <a:xfrm>
            <a:off x="5396919" y="2560320"/>
            <a:ext cx="14042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tx2"/>
                </a:solidFill>
              </a:rPr>
              <a:t>عيسى شايع</a:t>
            </a:r>
            <a:endParaRPr lang="ar-SA" sz="1000" dirty="0"/>
          </a:p>
        </p:txBody>
      </p:sp>
      <p:sp>
        <p:nvSpPr>
          <p:cNvPr id="12" name="!!cap_p1"/>
          <p:cNvSpPr txBox="1"/>
          <p:nvPr/>
        </p:nvSpPr>
        <p:spPr>
          <a:xfrm>
            <a:off x="5968419" y="3246120"/>
            <a:ext cx="261257" cy="261257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2"/>
                </a:solidFill>
              </a:rPr>
              <a:t>©</a:t>
            </a:r>
            <a:endParaRPr lang="en-US" sz="800" dirty="0"/>
          </a:p>
        </p:txBody>
      </p:sp>
      <p:pic>
        <p:nvPicPr>
          <p:cNvPr id="13" name="!!card_p3" descr="بطاقة مازن عبد المعز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6907" y="1417320"/>
            <a:ext cx="1632857" cy="2286000"/>
          </a:xfrm>
          <a:prstGeom prst="rect">
            <a:avLst/>
          </a:prstGeom>
          <a:effectLst>
            <a:outerShdw sx="100000" sy="100000" kx="0" ky="0" algn="bl" rotWithShape="0" blurRad="95250" dist="50800" dir="5400000">
              <a:srgbClr val="000000">
                <a:alpha val="55000"/>
              </a:srgbClr>
            </a:outerShdw>
          </a:effectLst>
        </p:spPr>
      </p:pic>
      <p:pic>
        <p:nvPicPr>
          <p:cNvPr id="14" name="!!photo_p3" descr="صورة مازن عبد المعز — بدّلها من: تغيير الصورة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065" y="1645920"/>
            <a:ext cx="816429" cy="816429"/>
          </a:xfrm>
          <a:prstGeom prst="ellipse">
            <a:avLst/>
          </a:prstGeom>
        </p:spPr>
      </p:pic>
      <p:sp>
        <p:nvSpPr>
          <p:cNvPr id="15" name="!!pos_p3"/>
          <p:cNvSpPr txBox="1"/>
          <p:nvPr/>
        </p:nvSpPr>
        <p:spPr>
          <a:xfrm>
            <a:off x="7684879" y="1645920"/>
            <a:ext cx="5388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2"/>
                </a:solidFill>
              </a:rPr>
              <a:t>UI</a:t>
            </a:r>
            <a:endParaRPr lang="en-US" sz="1500" dirty="0"/>
          </a:p>
        </p:txBody>
      </p:sp>
      <p:sp>
        <p:nvSpPr>
          <p:cNvPr id="16" name="!!name_p3"/>
          <p:cNvSpPr txBox="1"/>
          <p:nvPr/>
        </p:nvSpPr>
        <p:spPr>
          <a:xfrm>
            <a:off x="7701207" y="2560320"/>
            <a:ext cx="14042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tx2"/>
                </a:solidFill>
              </a:rPr>
              <a:t>مازن عبد المعز</a:t>
            </a:r>
            <a:endParaRPr lang="ar-SA" sz="1000" dirty="0"/>
          </a:p>
        </p:txBody>
      </p:sp>
      <p:pic>
        <p:nvPicPr>
          <p:cNvPr id="17" name="!!card_p4" descr="بطاقة برهان الزمر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8654" y="3886200"/>
            <a:ext cx="1926771" cy="2697480"/>
          </a:xfrm>
          <a:prstGeom prst="rect">
            <a:avLst/>
          </a:prstGeom>
          <a:effectLst>
            <a:outerShdw sx="100000" sy="100000" kx="0" ky="0" algn="bl" rotWithShape="0" blurRad="112395" dist="59944" dir="5400000">
              <a:srgbClr val="000000">
                <a:alpha val="55000"/>
              </a:srgbClr>
            </a:outerShdw>
          </a:effectLst>
        </p:spPr>
      </p:pic>
      <p:pic>
        <p:nvPicPr>
          <p:cNvPr id="18" name="!!photo_p4" descr="صورة برهان الزمر — بدّلها من: تغيير الصورة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1560" y="4155948"/>
            <a:ext cx="963386" cy="963386"/>
          </a:xfrm>
          <a:prstGeom prst="ellipse">
            <a:avLst/>
          </a:prstGeom>
        </p:spPr>
      </p:pic>
      <p:sp>
        <p:nvSpPr>
          <p:cNvPr id="19" name="!!pos_p4"/>
          <p:cNvSpPr txBox="1"/>
          <p:nvPr/>
        </p:nvSpPr>
        <p:spPr>
          <a:xfrm>
            <a:off x="4044261" y="4155948"/>
            <a:ext cx="635835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FE</a:t>
            </a:r>
            <a:endParaRPr lang="en-US" sz="1800" dirty="0"/>
          </a:p>
        </p:txBody>
      </p:sp>
      <p:sp>
        <p:nvSpPr>
          <p:cNvPr id="20" name="!!name_p4"/>
          <p:cNvSpPr txBox="1"/>
          <p:nvPr/>
        </p:nvSpPr>
        <p:spPr>
          <a:xfrm>
            <a:off x="4063528" y="5234940"/>
            <a:ext cx="1657023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tx2"/>
                </a:solidFill>
              </a:rPr>
              <a:t>برهان الزمر</a:t>
            </a:r>
            <a:endParaRPr lang="ar-SA" sz="1200" dirty="0"/>
          </a:p>
        </p:txBody>
      </p:sp>
      <p:pic>
        <p:nvPicPr>
          <p:cNvPr id="21" name="!!card_p5" descr="بطاقة محمد عادل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3526" y="3886200"/>
            <a:ext cx="1926771" cy="2697480"/>
          </a:xfrm>
          <a:prstGeom prst="rect">
            <a:avLst/>
          </a:prstGeom>
          <a:effectLst>
            <a:outerShdw sx="100000" sy="100000" kx="0" ky="0" algn="bl" rotWithShape="0" blurRad="112395" dist="59944" dir="5400000">
              <a:srgbClr val="000000">
                <a:alpha val="55000"/>
              </a:srgbClr>
            </a:outerShdw>
          </a:effectLst>
        </p:spPr>
      </p:pic>
      <p:pic>
        <p:nvPicPr>
          <p:cNvPr id="22" name="!!photo_p5" descr="صورة محمد عادل — بدّلها من: تغيير الصورة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6432" y="4155948"/>
            <a:ext cx="963386" cy="963386"/>
          </a:xfrm>
          <a:prstGeom prst="ellipse">
            <a:avLst/>
          </a:prstGeom>
        </p:spPr>
      </p:pic>
      <p:sp>
        <p:nvSpPr>
          <p:cNvPr id="23" name="!!pos_p5"/>
          <p:cNvSpPr txBox="1"/>
          <p:nvPr/>
        </p:nvSpPr>
        <p:spPr>
          <a:xfrm>
            <a:off x="6449133" y="4155948"/>
            <a:ext cx="635835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chemeClr val="tx2"/>
                </a:solidFill>
              </a:rPr>
              <a:t>DB</a:t>
            </a:r>
            <a:endParaRPr lang="en-US" sz="1800" dirty="0"/>
          </a:p>
        </p:txBody>
      </p:sp>
      <p:sp>
        <p:nvSpPr>
          <p:cNvPr id="24" name="!!name_p5"/>
          <p:cNvSpPr txBox="1"/>
          <p:nvPr/>
        </p:nvSpPr>
        <p:spPr>
          <a:xfrm>
            <a:off x="6468400" y="5234940"/>
            <a:ext cx="1657023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tx2"/>
                </a:solidFill>
              </a:rPr>
              <a:t>محمد عادل</a:t>
            </a:r>
            <a:endParaRPr lang="ar-SA" sz="1200" dirty="0"/>
          </a:p>
        </p:txBody>
      </p:sp>
      <p:pic>
        <p:nvPicPr>
          <p:cNvPr id="25" name="!!card_coach" descr="بطاقة د. مطيع الجعفري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3886200"/>
            <a:ext cx="1926771" cy="2697480"/>
          </a:xfrm>
          <a:prstGeom prst="rect">
            <a:avLst/>
          </a:prstGeom>
          <a:effectLst>
            <a:outerShdw sx="100000" sy="100000" kx="0" ky="0" algn="bl" rotWithShape="0" blurRad="112395" dist="59944" dir="5400000">
              <a:srgbClr val="000000">
                <a:alpha val="55000"/>
              </a:srgbClr>
            </a:outerShdw>
          </a:effectLst>
        </p:spPr>
      </p:pic>
      <p:pic>
        <p:nvPicPr>
          <p:cNvPr id="26" name="!!photo_coach" descr="صورة د. مطيع الجعفري — بدّلها من: تغيير الصورة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61545" y="4155948"/>
            <a:ext cx="963386" cy="963386"/>
          </a:xfrm>
          <a:prstGeom prst="ellipse">
            <a:avLst/>
          </a:prstGeom>
        </p:spPr>
      </p:pic>
      <p:sp>
        <p:nvSpPr>
          <p:cNvPr id="27" name="!!pos_coach"/>
          <p:cNvSpPr txBox="1"/>
          <p:nvPr/>
        </p:nvSpPr>
        <p:spPr>
          <a:xfrm>
            <a:off x="664246" y="4155948"/>
            <a:ext cx="635835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altLang="en-US" sz="2500" b="1" dirty="0">
                <a:solidFill>
                  <a:schemeClr val="accent2"/>
                </a:solidFill>
              </a:rPr>
              <a:t>C</a:t>
            </a:r>
            <a:endParaRPr lang="en-US" sz="2500" dirty="0"/>
          </a:p>
        </p:txBody>
      </p:sp>
      <p:sp>
        <p:nvSpPr>
          <p:cNvPr id="28" name="!!tag_coach"/>
          <p:cNvSpPr txBox="1"/>
          <p:nvPr/>
        </p:nvSpPr>
        <p:spPr>
          <a:xfrm>
            <a:off x="664246" y="4479646"/>
            <a:ext cx="635835" cy="161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00" b="1" dirty="0">
                <a:solidFill>
                  <a:schemeClr val="accent2"/>
                </a:solidFill>
              </a:rPr>
              <a:t>COACH</a:t>
            </a:r>
            <a:endParaRPr lang="en-US" sz="700" dirty="0"/>
          </a:p>
        </p:txBody>
      </p:sp>
      <p:sp>
        <p:nvSpPr>
          <p:cNvPr id="29" name="!!name_coach"/>
          <p:cNvSpPr txBox="1"/>
          <p:nvPr/>
        </p:nvSpPr>
        <p:spPr>
          <a:xfrm>
            <a:off x="683514" y="5234940"/>
            <a:ext cx="1657023" cy="3236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د. مطيع الجعفري</a:t>
            </a:r>
            <a:endParaRPr lang="ar-SA" sz="1200" dirty="0"/>
          </a:p>
        </p:txBody>
      </p:sp>
      <p:sp>
        <p:nvSpPr>
          <p:cNvPr id="30" name="Text 16"/>
          <p:cNvSpPr txBox="1"/>
          <p:nvPr/>
        </p:nvSpPr>
        <p:spPr>
          <a:xfrm>
            <a:off x="365760" y="3429000"/>
            <a:ext cx="22925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المدرب  •  Coach</a:t>
            </a:r>
            <a:endParaRPr lang="ar-SA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محتويات العرض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Agenda</a:t>
            </a:r>
            <a:endParaRPr lang="en-US" sz="1600" dirty="0"/>
          </a:p>
        </p:txBody>
      </p:sp>
      <p:sp>
        <p:nvSpPr>
          <p:cNvPr id="4" name="fx0|chip"/>
          <p:cNvSpPr/>
          <p:nvPr/>
        </p:nvSpPr>
        <p:spPr>
          <a:xfrm>
            <a:off x="8122615" y="1691640"/>
            <a:ext cx="3520440" cy="914400"/>
          </a:xfrm>
          <a:prstGeom prst="roundRect">
            <a:avLst>
              <a:gd name="adj" fmla="val 16000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fx0|num"/>
          <p:cNvSpPr txBox="1"/>
          <p:nvPr/>
        </p:nvSpPr>
        <p:spPr>
          <a:xfrm>
            <a:off x="10774375" y="184708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fx0|ar"/>
          <p:cNvSpPr txBox="1"/>
          <p:nvPr/>
        </p:nvSpPr>
        <p:spPr>
          <a:xfrm>
            <a:off x="8305495" y="18013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فكرة المشروع</a:t>
            </a:r>
            <a:endParaRPr lang="ar-SA" sz="1800" dirty="0"/>
          </a:p>
        </p:txBody>
      </p:sp>
      <p:sp>
        <p:nvSpPr>
          <p:cNvPr id="7" name="fx0|en"/>
          <p:cNvSpPr txBox="1"/>
          <p:nvPr/>
        </p:nvSpPr>
        <p:spPr>
          <a:xfrm>
            <a:off x="8305495" y="2194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chemeClr val="bg2"/>
                </a:solidFill>
              </a:rPr>
              <a:t>Overview</a:t>
            </a:r>
            <a:endParaRPr lang="en-US" sz="1300" dirty="0"/>
          </a:p>
        </p:txBody>
      </p:sp>
      <p:sp>
        <p:nvSpPr>
          <p:cNvPr id="8" name="fx1|chip"/>
          <p:cNvSpPr/>
          <p:nvPr/>
        </p:nvSpPr>
        <p:spPr>
          <a:xfrm>
            <a:off x="8122615" y="2788920"/>
            <a:ext cx="3520440" cy="914400"/>
          </a:xfrm>
          <a:prstGeom prst="roundRect">
            <a:avLst>
              <a:gd name="adj" fmla="val 16000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fx1|num"/>
          <p:cNvSpPr txBox="1"/>
          <p:nvPr/>
        </p:nvSpPr>
        <p:spPr>
          <a:xfrm>
            <a:off x="10774375" y="294436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fx1|ar"/>
          <p:cNvSpPr txBox="1"/>
          <p:nvPr/>
        </p:nvSpPr>
        <p:spPr>
          <a:xfrm>
            <a:off x="8305495" y="28986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المشكلة</a:t>
            </a:r>
            <a:endParaRPr lang="ar-SA" sz="1800" dirty="0"/>
          </a:p>
        </p:txBody>
      </p:sp>
      <p:sp>
        <p:nvSpPr>
          <p:cNvPr id="11" name="fx1|en"/>
          <p:cNvSpPr txBox="1"/>
          <p:nvPr/>
        </p:nvSpPr>
        <p:spPr>
          <a:xfrm>
            <a:off x="8305495" y="3291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chemeClr val="bg2"/>
                </a:solidFill>
              </a:rPr>
              <a:t>Problem</a:t>
            </a:r>
            <a:endParaRPr lang="en-US" sz="1300" dirty="0"/>
          </a:p>
        </p:txBody>
      </p:sp>
      <p:sp>
        <p:nvSpPr>
          <p:cNvPr id="12" name="fx2|chip"/>
          <p:cNvSpPr/>
          <p:nvPr/>
        </p:nvSpPr>
        <p:spPr>
          <a:xfrm>
            <a:off x="8122615" y="3886200"/>
            <a:ext cx="3520440" cy="914400"/>
          </a:xfrm>
          <a:prstGeom prst="roundRect">
            <a:avLst>
              <a:gd name="adj" fmla="val 16000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fx2|num"/>
          <p:cNvSpPr txBox="1"/>
          <p:nvPr/>
        </p:nvSpPr>
        <p:spPr>
          <a:xfrm>
            <a:off x="10774375" y="404164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fx2|ar"/>
          <p:cNvSpPr txBox="1"/>
          <p:nvPr/>
        </p:nvSpPr>
        <p:spPr>
          <a:xfrm>
            <a:off x="8305495" y="39959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الأهداف</a:t>
            </a:r>
            <a:endParaRPr lang="ar-SA" sz="1800" dirty="0"/>
          </a:p>
        </p:txBody>
      </p:sp>
      <p:sp>
        <p:nvSpPr>
          <p:cNvPr id="15" name="fx2|en"/>
          <p:cNvSpPr txBox="1"/>
          <p:nvPr/>
        </p:nvSpPr>
        <p:spPr>
          <a:xfrm>
            <a:off x="8305495" y="4389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chemeClr val="bg2"/>
                </a:solidFill>
              </a:rPr>
              <a:t>Objectives</a:t>
            </a:r>
            <a:endParaRPr lang="en-US" sz="1300" dirty="0"/>
          </a:p>
        </p:txBody>
      </p:sp>
      <p:sp>
        <p:nvSpPr>
          <p:cNvPr id="16" name="fx3|chip"/>
          <p:cNvSpPr/>
          <p:nvPr/>
        </p:nvSpPr>
        <p:spPr>
          <a:xfrm>
            <a:off x="8122615" y="4983480"/>
            <a:ext cx="3520440" cy="914400"/>
          </a:xfrm>
          <a:prstGeom prst="roundRect">
            <a:avLst>
              <a:gd name="adj" fmla="val 16000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fx3|num"/>
          <p:cNvSpPr txBox="1"/>
          <p:nvPr/>
        </p:nvSpPr>
        <p:spPr>
          <a:xfrm>
            <a:off x="10774375" y="513892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04</a:t>
            </a:r>
            <a:endParaRPr lang="en-US" sz="1600" dirty="0"/>
          </a:p>
        </p:txBody>
      </p:sp>
      <p:sp>
        <p:nvSpPr>
          <p:cNvPr id="18" name="fx3|ar"/>
          <p:cNvSpPr txBox="1"/>
          <p:nvPr/>
        </p:nvSpPr>
        <p:spPr>
          <a:xfrm>
            <a:off x="8305495" y="50932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المستخدمون</a:t>
            </a:r>
            <a:endParaRPr lang="ar-SA" sz="1800" dirty="0"/>
          </a:p>
        </p:txBody>
      </p:sp>
      <p:sp>
        <p:nvSpPr>
          <p:cNvPr id="19" name="fx3|en"/>
          <p:cNvSpPr txBox="1"/>
          <p:nvPr/>
        </p:nvSpPr>
        <p:spPr>
          <a:xfrm>
            <a:off x="8305495" y="5486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chemeClr val="bg2"/>
                </a:solidFill>
              </a:rPr>
              <a:t>Users</a:t>
            </a:r>
            <a:endParaRPr lang="en-US" sz="1300" dirty="0"/>
          </a:p>
        </p:txBody>
      </p:sp>
      <p:sp>
        <p:nvSpPr>
          <p:cNvPr id="20" name="fx4|chip"/>
          <p:cNvSpPr/>
          <p:nvPr/>
        </p:nvSpPr>
        <p:spPr>
          <a:xfrm>
            <a:off x="4336999" y="1691640"/>
            <a:ext cx="3520440" cy="914400"/>
          </a:xfrm>
          <a:prstGeom prst="roundRect">
            <a:avLst>
              <a:gd name="adj" fmla="val 16000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21" name="fx4|num"/>
          <p:cNvSpPr txBox="1"/>
          <p:nvPr/>
        </p:nvSpPr>
        <p:spPr>
          <a:xfrm>
            <a:off x="6988759" y="1847088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05</a:t>
            </a:r>
            <a:endParaRPr lang="en-US" sz="1600" dirty="0"/>
          </a:p>
        </p:txBody>
      </p:sp>
      <p:sp>
        <p:nvSpPr>
          <p:cNvPr id="22" name="fx4|ar"/>
          <p:cNvSpPr txBox="1"/>
          <p:nvPr/>
        </p:nvSpPr>
        <p:spPr>
          <a:xfrm>
            <a:off x="4519879" y="18013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المميزات</a:t>
            </a:r>
            <a:endParaRPr lang="ar-SA" sz="1800" dirty="0"/>
          </a:p>
        </p:txBody>
      </p:sp>
      <p:sp>
        <p:nvSpPr>
          <p:cNvPr id="23" name="fx4|en"/>
          <p:cNvSpPr txBox="1"/>
          <p:nvPr/>
        </p:nvSpPr>
        <p:spPr>
          <a:xfrm>
            <a:off x="4519879" y="2194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chemeClr val="bg2"/>
                </a:solidFill>
              </a:rPr>
              <a:t>Features</a:t>
            </a:r>
            <a:endParaRPr lang="en-US" sz="1300" dirty="0"/>
          </a:p>
        </p:txBody>
      </p:sp>
      <p:sp>
        <p:nvSpPr>
          <p:cNvPr id="24" name="fx5|chip"/>
          <p:cNvSpPr/>
          <p:nvPr/>
        </p:nvSpPr>
        <p:spPr>
          <a:xfrm>
            <a:off x="4336999" y="2788920"/>
            <a:ext cx="3520440" cy="914400"/>
          </a:xfrm>
          <a:prstGeom prst="roundRect">
            <a:avLst>
              <a:gd name="adj" fmla="val 16000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25" name="fx5|num"/>
          <p:cNvSpPr txBox="1"/>
          <p:nvPr/>
        </p:nvSpPr>
        <p:spPr>
          <a:xfrm>
            <a:off x="6988759" y="2944368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06</a:t>
            </a:r>
            <a:endParaRPr lang="en-US" sz="1600" dirty="0"/>
          </a:p>
        </p:txBody>
      </p:sp>
      <p:sp>
        <p:nvSpPr>
          <p:cNvPr id="26" name="fx5|ar"/>
          <p:cNvSpPr txBox="1"/>
          <p:nvPr/>
        </p:nvSpPr>
        <p:spPr>
          <a:xfrm>
            <a:off x="4519879" y="28986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الأدوات والتقنيات</a:t>
            </a:r>
            <a:endParaRPr lang="ar-SA" sz="1800" dirty="0"/>
          </a:p>
        </p:txBody>
      </p:sp>
      <p:sp>
        <p:nvSpPr>
          <p:cNvPr id="27" name="fx5|en"/>
          <p:cNvSpPr txBox="1"/>
          <p:nvPr/>
        </p:nvSpPr>
        <p:spPr>
          <a:xfrm>
            <a:off x="4519879" y="3291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chemeClr val="bg2"/>
                </a:solidFill>
              </a:rPr>
              <a:t>Tools</a:t>
            </a:r>
            <a:endParaRPr lang="en-US" sz="1300" dirty="0"/>
          </a:p>
        </p:txBody>
      </p:sp>
      <p:sp>
        <p:nvSpPr>
          <p:cNvPr id="28" name="fx6|chip"/>
          <p:cNvSpPr/>
          <p:nvPr/>
        </p:nvSpPr>
        <p:spPr>
          <a:xfrm>
            <a:off x="4336999" y="3886200"/>
            <a:ext cx="3520440" cy="914400"/>
          </a:xfrm>
          <a:prstGeom prst="roundRect">
            <a:avLst>
              <a:gd name="adj" fmla="val 16000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29" name="fx6|num"/>
          <p:cNvSpPr txBox="1"/>
          <p:nvPr/>
        </p:nvSpPr>
        <p:spPr>
          <a:xfrm>
            <a:off x="6988759" y="4041648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07</a:t>
            </a:r>
            <a:endParaRPr lang="en-US" sz="1600" dirty="0"/>
          </a:p>
        </p:txBody>
      </p:sp>
      <p:sp>
        <p:nvSpPr>
          <p:cNvPr id="30" name="fx6|ar"/>
          <p:cNvSpPr txBox="1"/>
          <p:nvPr/>
        </p:nvSpPr>
        <p:spPr>
          <a:xfrm>
            <a:off x="4519879" y="39959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منهجية التطوير</a:t>
            </a:r>
            <a:endParaRPr lang="ar-SA" sz="1800" dirty="0"/>
          </a:p>
        </p:txBody>
      </p:sp>
      <p:sp>
        <p:nvSpPr>
          <p:cNvPr id="31" name="fx6|en"/>
          <p:cNvSpPr txBox="1"/>
          <p:nvPr/>
        </p:nvSpPr>
        <p:spPr>
          <a:xfrm>
            <a:off x="4519879" y="4389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chemeClr val="bg2"/>
                </a:solidFill>
              </a:rPr>
              <a:t>Methodology</a:t>
            </a:r>
            <a:endParaRPr lang="en-US" sz="1300" dirty="0"/>
          </a:p>
        </p:txBody>
      </p:sp>
      <p:sp>
        <p:nvSpPr>
          <p:cNvPr id="32" name="fx7|chip"/>
          <p:cNvSpPr/>
          <p:nvPr/>
        </p:nvSpPr>
        <p:spPr>
          <a:xfrm>
            <a:off x="4336999" y="4983480"/>
            <a:ext cx="3520440" cy="914400"/>
          </a:xfrm>
          <a:prstGeom prst="roundRect">
            <a:avLst>
              <a:gd name="adj" fmla="val 16000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33" name="fx7|num"/>
          <p:cNvSpPr txBox="1"/>
          <p:nvPr/>
        </p:nvSpPr>
        <p:spPr>
          <a:xfrm>
            <a:off x="6988759" y="5138928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08</a:t>
            </a:r>
            <a:endParaRPr lang="en-US" sz="1600" dirty="0"/>
          </a:p>
        </p:txBody>
      </p:sp>
      <p:sp>
        <p:nvSpPr>
          <p:cNvPr id="34" name="fx7|ar"/>
          <p:cNvSpPr txBox="1"/>
          <p:nvPr/>
        </p:nvSpPr>
        <p:spPr>
          <a:xfrm>
            <a:off x="4519879" y="50932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تصميم النظام</a:t>
            </a:r>
            <a:endParaRPr lang="ar-SA" sz="1800" dirty="0"/>
          </a:p>
        </p:txBody>
      </p:sp>
      <p:sp>
        <p:nvSpPr>
          <p:cNvPr id="35" name="fx7|en"/>
          <p:cNvSpPr txBox="1"/>
          <p:nvPr/>
        </p:nvSpPr>
        <p:spPr>
          <a:xfrm>
            <a:off x="4519879" y="5486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chemeClr val="bg2"/>
                </a:solidFill>
              </a:rPr>
              <a:t>System Design</a:t>
            </a:r>
            <a:endParaRPr lang="en-US" sz="1300" dirty="0"/>
          </a:p>
        </p:txBody>
      </p:sp>
      <p:sp>
        <p:nvSpPr>
          <p:cNvPr id="36" name="fx8|chip"/>
          <p:cNvSpPr/>
          <p:nvPr/>
        </p:nvSpPr>
        <p:spPr>
          <a:xfrm>
            <a:off x="551383" y="1691640"/>
            <a:ext cx="3520440" cy="914400"/>
          </a:xfrm>
          <a:prstGeom prst="roundRect">
            <a:avLst>
              <a:gd name="adj" fmla="val 16000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37" name="fx8|num"/>
          <p:cNvSpPr txBox="1"/>
          <p:nvPr/>
        </p:nvSpPr>
        <p:spPr>
          <a:xfrm>
            <a:off x="3203143" y="184708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09</a:t>
            </a:r>
            <a:endParaRPr lang="en-US" sz="1600" dirty="0"/>
          </a:p>
        </p:txBody>
      </p:sp>
      <p:sp>
        <p:nvSpPr>
          <p:cNvPr id="38" name="fx8|ar"/>
          <p:cNvSpPr txBox="1"/>
          <p:nvPr/>
        </p:nvSpPr>
        <p:spPr>
          <a:xfrm>
            <a:off x="734263" y="18013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واجهات التطبيق</a:t>
            </a:r>
            <a:endParaRPr lang="ar-SA" sz="1800" dirty="0"/>
          </a:p>
        </p:txBody>
      </p:sp>
      <p:sp>
        <p:nvSpPr>
          <p:cNvPr id="39" name="fx8|en"/>
          <p:cNvSpPr txBox="1"/>
          <p:nvPr/>
        </p:nvSpPr>
        <p:spPr>
          <a:xfrm>
            <a:off x="734263" y="2194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chemeClr val="bg2"/>
                </a:solidFill>
              </a:rPr>
              <a:t>Screens</a:t>
            </a:r>
            <a:endParaRPr lang="en-US" sz="1300" dirty="0"/>
          </a:p>
        </p:txBody>
      </p:sp>
      <p:sp>
        <p:nvSpPr>
          <p:cNvPr id="40" name="fx9|chip"/>
          <p:cNvSpPr/>
          <p:nvPr/>
        </p:nvSpPr>
        <p:spPr>
          <a:xfrm>
            <a:off x="551383" y="2788920"/>
            <a:ext cx="3520440" cy="914400"/>
          </a:xfrm>
          <a:prstGeom prst="roundRect">
            <a:avLst>
              <a:gd name="adj" fmla="val 16000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41" name="fx9|num"/>
          <p:cNvSpPr txBox="1"/>
          <p:nvPr/>
        </p:nvSpPr>
        <p:spPr>
          <a:xfrm>
            <a:off x="3203143" y="294436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10</a:t>
            </a:r>
            <a:endParaRPr lang="en-US" sz="1600" dirty="0"/>
          </a:p>
        </p:txBody>
      </p:sp>
      <p:sp>
        <p:nvSpPr>
          <p:cNvPr id="42" name="fx9|ar"/>
          <p:cNvSpPr txBox="1"/>
          <p:nvPr/>
        </p:nvSpPr>
        <p:spPr>
          <a:xfrm>
            <a:off x="734263" y="28986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العرض التجريبي</a:t>
            </a:r>
            <a:endParaRPr lang="ar-SA" sz="1800" dirty="0"/>
          </a:p>
        </p:txBody>
      </p:sp>
      <p:sp>
        <p:nvSpPr>
          <p:cNvPr id="43" name="fx9|en"/>
          <p:cNvSpPr txBox="1"/>
          <p:nvPr/>
        </p:nvSpPr>
        <p:spPr>
          <a:xfrm>
            <a:off x="734263" y="3291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chemeClr val="bg2"/>
                </a:solidFill>
              </a:rPr>
              <a:t>Live Demo</a:t>
            </a:r>
            <a:endParaRPr lang="en-US" sz="1300" dirty="0"/>
          </a:p>
        </p:txBody>
      </p:sp>
      <p:sp>
        <p:nvSpPr>
          <p:cNvPr id="44" name="fx10|chip"/>
          <p:cNvSpPr/>
          <p:nvPr/>
        </p:nvSpPr>
        <p:spPr>
          <a:xfrm>
            <a:off x="551383" y="3886200"/>
            <a:ext cx="3520440" cy="914400"/>
          </a:xfrm>
          <a:prstGeom prst="roundRect">
            <a:avLst>
              <a:gd name="adj" fmla="val 16000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45" name="fx10|num"/>
          <p:cNvSpPr txBox="1"/>
          <p:nvPr/>
        </p:nvSpPr>
        <p:spPr>
          <a:xfrm>
            <a:off x="3203143" y="404164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11</a:t>
            </a:r>
            <a:endParaRPr lang="en-US" sz="1600" dirty="0"/>
          </a:p>
        </p:txBody>
      </p:sp>
      <p:sp>
        <p:nvSpPr>
          <p:cNvPr id="46" name="fx10|ar"/>
          <p:cNvSpPr txBox="1"/>
          <p:nvPr/>
        </p:nvSpPr>
        <p:spPr>
          <a:xfrm>
            <a:off x="734263" y="39959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الاختبار والتحديات</a:t>
            </a:r>
            <a:endParaRPr lang="ar-SA" sz="1800" dirty="0"/>
          </a:p>
        </p:txBody>
      </p:sp>
      <p:sp>
        <p:nvSpPr>
          <p:cNvPr id="47" name="fx10|en"/>
          <p:cNvSpPr txBox="1"/>
          <p:nvPr/>
        </p:nvSpPr>
        <p:spPr>
          <a:xfrm>
            <a:off x="734263" y="4389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chemeClr val="bg2"/>
                </a:solidFill>
              </a:rPr>
              <a:t>Testing</a:t>
            </a:r>
            <a:endParaRPr lang="en-US" sz="1300" dirty="0"/>
          </a:p>
        </p:txBody>
      </p:sp>
      <p:sp>
        <p:nvSpPr>
          <p:cNvPr id="48" name="fx11|chip"/>
          <p:cNvSpPr/>
          <p:nvPr/>
        </p:nvSpPr>
        <p:spPr>
          <a:xfrm>
            <a:off x="551383" y="4983480"/>
            <a:ext cx="3520440" cy="914400"/>
          </a:xfrm>
          <a:prstGeom prst="roundRect">
            <a:avLst>
              <a:gd name="adj" fmla="val 16000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49" name="fx11|num"/>
          <p:cNvSpPr txBox="1"/>
          <p:nvPr/>
        </p:nvSpPr>
        <p:spPr>
          <a:xfrm>
            <a:off x="3203143" y="513892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12</a:t>
            </a:r>
            <a:endParaRPr lang="en-US" sz="1600" dirty="0"/>
          </a:p>
        </p:txBody>
      </p:sp>
      <p:sp>
        <p:nvSpPr>
          <p:cNvPr id="50" name="fx11|ar"/>
          <p:cNvSpPr txBox="1"/>
          <p:nvPr/>
        </p:nvSpPr>
        <p:spPr>
          <a:xfrm>
            <a:off x="734263" y="50932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الخاتمة</a:t>
            </a:r>
            <a:endParaRPr lang="ar-SA" sz="1800" dirty="0"/>
          </a:p>
        </p:txBody>
      </p:sp>
      <p:sp>
        <p:nvSpPr>
          <p:cNvPr id="51" name="fx11|en"/>
          <p:cNvSpPr txBox="1"/>
          <p:nvPr/>
        </p:nvSpPr>
        <p:spPr>
          <a:xfrm>
            <a:off x="734263" y="5486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chemeClr val="bg2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17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6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6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4" dur="6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8" dur="6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2" dur="6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6" dur="6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0" dur="6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218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4" dur="6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8" dur="6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2" dur="6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6" dur="6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0" dur="6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262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4" dur="6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262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8" dur="6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262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2" dur="6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262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6" dur="6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فكرة المشروع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Project Overview</a:t>
            </a:r>
            <a:endParaRPr lang="en-US" sz="1600" dirty="0"/>
          </a:p>
        </p:txBody>
      </p:sp>
      <p:pic>
        <p:nvPicPr>
          <p:cNvPr id="4" name="pedestal" descr="img/pedestal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74920"/>
            <a:ext cx="3840480" cy="1344168"/>
          </a:xfrm>
          <a:prstGeom prst="rect">
            <a:avLst/>
          </a:prstGeom>
        </p:spPr>
      </p:pic>
      <p:sp>
        <p:nvSpPr>
          <p:cNvPr id="5" name="Phone body"/>
          <p:cNvSpPr/>
          <p:nvPr/>
        </p:nvSpPr>
        <p:spPr>
          <a:xfrm>
            <a:off x="1417320" y="1463040"/>
            <a:ext cx="2011680" cy="4160520"/>
          </a:xfrm>
          <a:prstGeom prst="roundRect">
            <a:avLst>
              <a:gd name="adj" fmla="val 12727"/>
            </a:avLst>
          </a:prstGeom>
          <a:solidFill>
            <a:srgbClr val="0B0F1A"/>
          </a:solidFill>
          <a:ln w="25400">
            <a:solidFill>
              <a:srgbClr val="5B6B8C"/>
            </a:solidFill>
            <a:prstDash val="solid"/>
          </a:ln>
          <a:effectLst>
            <a:outerShdw sx="100000" sy="100000" kx="0" ky="0" algn="bl" rotWithShape="0" blurRad="330200" dist="50800" dir="16200000">
              <a:srgbClr val="22D3EE">
                <a:alpha val="60000"/>
              </a:srgbClr>
            </a:outerShdw>
          </a:effectLst>
        </p:spPr>
      </p:sp>
      <p:pic>
        <p:nvPicPr>
          <p:cNvPr id="6" name="Phone screen" descr="لقطة شاشة — بدّلها بلقطة من تطبيقكم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554480"/>
            <a:ext cx="1828800" cy="3977640"/>
          </a:xfrm>
          <a:prstGeom prst="rect">
            <a:avLst/>
          </a:prstGeom>
        </p:spPr>
      </p:pic>
      <p:sp>
        <p:nvSpPr>
          <p:cNvPr id="7" name="fx0|name"/>
          <p:cNvSpPr txBox="1"/>
          <p:nvPr/>
        </p:nvSpPr>
        <p:spPr>
          <a:xfrm>
            <a:off x="4572000" y="16002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chemeClr val="accent2"/>
                </a:solidFill>
              </a:rPr>
              <a:t>تطبيق إدارة الاختبارات الإلكترونية</a:t>
            </a:r>
            <a:endParaRPr lang="ar-SA" sz="2600" dirty="0"/>
          </a:p>
        </p:txBody>
      </p:sp>
      <p:sp>
        <p:nvSpPr>
          <p:cNvPr id="8" name="fx1|ar"/>
          <p:cNvSpPr txBox="1"/>
          <p:nvPr/>
        </p:nvSpPr>
        <p:spPr>
          <a:xfrm>
            <a:off x="4572000" y="2240280"/>
            <a:ext cx="7040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spcAft>
                <a:spcPts val="400"/>
              </a:spcAft>
              <a:buNone/>
            </a:pPr>
            <a:r>
              <a:rPr lang="ar-SA" altLang="en-US" sz="1800" dirty="0">
                <a:solidFill>
                  <a:schemeClr val="bg1"/>
                </a:solidFill>
              </a:rPr>
              <a:t>تطبيق جوال مبني بتقنية Flutter يربط بين المدير والمعلم والطالب في منصة واحدة؛ يُنشئ المعلم الاختبارات، ويؤديها الطالب من هاتفه، ويُصحَّح الاختبار آلياً وتظهر النتيجة فوراً.</a:t>
            </a:r>
            <a:endParaRPr lang="ar-SA" sz="1800" dirty="0"/>
          </a:p>
        </p:txBody>
      </p:sp>
      <p:sp>
        <p:nvSpPr>
          <p:cNvPr id="9" name="fx2|en"/>
          <p:cNvSpPr txBox="1"/>
          <p:nvPr/>
        </p:nvSpPr>
        <p:spPr>
          <a:xfrm>
            <a:off x="4572000" y="361188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i="1" dirty="0">
                <a:solidFill>
                  <a:schemeClr val="bg2"/>
                </a:solidFill>
              </a:rPr>
              <a:t>A Flutter mobile app that connects admins, teachers and students: teachers create exams, students take them on their phones, and answers are graded automatically with instant results.</a:t>
            </a:r>
            <a:endParaRPr lang="en-US" sz="1400" dirty="0"/>
          </a:p>
        </p:txBody>
      </p:sp>
      <p:sp>
        <p:nvSpPr>
          <p:cNvPr id="10" name="fx3|stat"/>
          <p:cNvSpPr/>
          <p:nvPr/>
        </p:nvSpPr>
        <p:spPr>
          <a:xfrm>
            <a:off x="9372600" y="4800600"/>
            <a:ext cx="2240280" cy="1325880"/>
          </a:xfrm>
          <a:prstGeom prst="roundRect">
            <a:avLst>
              <a:gd name="adj" fmla="val 11034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fx3|big"/>
          <p:cNvSpPr txBox="1"/>
          <p:nvPr/>
        </p:nvSpPr>
        <p:spPr>
          <a:xfrm>
            <a:off x="9372600" y="487375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chemeClr val="accent1"/>
                </a:solidFill>
              </a:rPr>
              <a:t>3</a:t>
            </a:r>
            <a:endParaRPr lang="ar-SA" sz="2600" dirty="0"/>
          </a:p>
        </p:txBody>
      </p:sp>
      <p:sp>
        <p:nvSpPr>
          <p:cNvPr id="12" name="fx3|ar"/>
          <p:cNvSpPr txBox="1"/>
          <p:nvPr/>
        </p:nvSpPr>
        <p:spPr>
          <a:xfrm>
            <a:off x="9372600" y="54223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صلاحيات مستخدمين</a:t>
            </a:r>
            <a:endParaRPr lang="ar-SA" sz="1400" dirty="0"/>
          </a:p>
        </p:txBody>
      </p:sp>
      <p:sp>
        <p:nvSpPr>
          <p:cNvPr id="13" name="fx3|en"/>
          <p:cNvSpPr txBox="1"/>
          <p:nvPr/>
        </p:nvSpPr>
        <p:spPr>
          <a:xfrm>
            <a:off x="9372600" y="5760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bg2"/>
                </a:solidFill>
              </a:rPr>
              <a:t>User roles</a:t>
            </a:r>
            <a:endParaRPr lang="en-US" sz="1100" dirty="0"/>
          </a:p>
        </p:txBody>
      </p:sp>
      <p:sp>
        <p:nvSpPr>
          <p:cNvPr id="14" name="fx4|stat"/>
          <p:cNvSpPr/>
          <p:nvPr/>
        </p:nvSpPr>
        <p:spPr>
          <a:xfrm>
            <a:off x="6995160" y="4800600"/>
            <a:ext cx="2240280" cy="1325880"/>
          </a:xfrm>
          <a:prstGeom prst="roundRect">
            <a:avLst>
              <a:gd name="adj" fmla="val 11034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5" name="fx4|big"/>
          <p:cNvSpPr txBox="1"/>
          <p:nvPr/>
        </p:nvSpPr>
        <p:spPr>
          <a:xfrm>
            <a:off x="6995160" y="487375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chemeClr val="accent1"/>
                </a:solidFill>
              </a:rPr>
              <a:t>Flutter</a:t>
            </a:r>
            <a:endParaRPr lang="ar-SA" sz="2600" dirty="0"/>
          </a:p>
        </p:txBody>
      </p:sp>
      <p:sp>
        <p:nvSpPr>
          <p:cNvPr id="16" name="fx4|ar"/>
          <p:cNvSpPr txBox="1"/>
          <p:nvPr/>
        </p:nvSpPr>
        <p:spPr>
          <a:xfrm>
            <a:off x="6995160" y="54223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تطبيق جوال</a:t>
            </a:r>
            <a:endParaRPr lang="ar-SA" sz="1400" dirty="0"/>
          </a:p>
        </p:txBody>
      </p:sp>
      <p:sp>
        <p:nvSpPr>
          <p:cNvPr id="17" name="fx4|en"/>
          <p:cNvSpPr txBox="1"/>
          <p:nvPr/>
        </p:nvSpPr>
        <p:spPr>
          <a:xfrm>
            <a:off x="6995160" y="5760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bg2"/>
                </a:solidFill>
              </a:rPr>
              <a:t>Mobile app</a:t>
            </a:r>
            <a:endParaRPr lang="en-US" sz="1100" dirty="0"/>
          </a:p>
        </p:txBody>
      </p:sp>
      <p:sp>
        <p:nvSpPr>
          <p:cNvPr id="18" name="fx5|stat"/>
          <p:cNvSpPr/>
          <p:nvPr/>
        </p:nvSpPr>
        <p:spPr>
          <a:xfrm>
            <a:off x="4617720" y="4800600"/>
            <a:ext cx="2240280" cy="1325880"/>
          </a:xfrm>
          <a:prstGeom prst="roundRect">
            <a:avLst>
              <a:gd name="adj" fmla="val 11034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9" name="fx5|big"/>
          <p:cNvSpPr txBox="1"/>
          <p:nvPr/>
        </p:nvSpPr>
        <p:spPr>
          <a:xfrm>
            <a:off x="4617720" y="487375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chemeClr val="accent1"/>
                </a:solidFill>
              </a:rPr>
              <a:t>آلي</a:t>
            </a:r>
            <a:endParaRPr lang="ar-SA" sz="2600" dirty="0"/>
          </a:p>
        </p:txBody>
      </p:sp>
      <p:sp>
        <p:nvSpPr>
          <p:cNvPr id="20" name="fx5|ar"/>
          <p:cNvSpPr txBox="1"/>
          <p:nvPr/>
        </p:nvSpPr>
        <p:spPr>
          <a:xfrm>
            <a:off x="4617720" y="54223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تصحيح فوري</a:t>
            </a:r>
            <a:endParaRPr lang="ar-SA" sz="1400" dirty="0"/>
          </a:p>
        </p:txBody>
      </p:sp>
      <p:sp>
        <p:nvSpPr>
          <p:cNvPr id="21" name="fx5|en"/>
          <p:cNvSpPr txBox="1"/>
          <p:nvPr/>
        </p:nvSpPr>
        <p:spPr>
          <a:xfrm>
            <a:off x="4617720" y="5760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100" dirty="0">
                <a:solidFill>
                  <a:schemeClr val="bg2"/>
                </a:solidFill>
              </a:rPr>
              <a:t>Auto-grading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مشكلة البحث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Problem Statement</a:t>
            </a:r>
            <a:endParaRPr lang="en-US" sz="1600" dirty="0"/>
          </a:p>
        </p:txBody>
      </p:sp>
      <p:sp>
        <p:nvSpPr>
          <p:cNvPr id="4" name="fx0|card"/>
          <p:cNvSpPr/>
          <p:nvPr/>
        </p:nvSpPr>
        <p:spPr>
          <a:xfrm>
            <a:off x="6248095" y="1691640"/>
            <a:ext cx="5394960" cy="2011680"/>
          </a:xfrm>
          <a:prstGeom prst="roundRect">
            <a:avLst>
              <a:gd name="adj" fmla="val 727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fx0|ic bg"/>
          <p:cNvSpPr/>
          <p:nvPr/>
        </p:nvSpPr>
        <p:spPr>
          <a:xfrm>
            <a:off x="10500055" y="1965960"/>
            <a:ext cx="868680" cy="86868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5"/>
            </a:solidFill>
            <a:prstDash val="solid"/>
          </a:ln>
        </p:spPr>
      </p:sp>
      <p:pic>
        <p:nvPicPr>
          <p:cNvPr id="6" name="fx0|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7225" y="2183130"/>
            <a:ext cx="434340" cy="434340"/>
          </a:xfrm>
          <a:prstGeom prst="rect">
            <a:avLst/>
          </a:prstGeom>
        </p:spPr>
      </p:pic>
      <p:sp>
        <p:nvSpPr>
          <p:cNvPr id="7" name="fx0|ar"/>
          <p:cNvSpPr txBox="1"/>
          <p:nvPr/>
        </p:nvSpPr>
        <p:spPr>
          <a:xfrm>
            <a:off x="6522415" y="19659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وقت وجهد كبير</a:t>
            </a:r>
            <a:endParaRPr lang="ar-SA" sz="2000" dirty="0"/>
          </a:p>
        </p:txBody>
      </p:sp>
      <p:sp>
        <p:nvSpPr>
          <p:cNvPr id="8" name="fx0|en"/>
          <p:cNvSpPr txBox="1"/>
          <p:nvPr/>
        </p:nvSpPr>
        <p:spPr>
          <a:xfrm>
            <a:off x="6522415" y="24231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chemeClr val="accent5"/>
                </a:solidFill>
              </a:rPr>
              <a:t>Time-consuming</a:t>
            </a:r>
            <a:endParaRPr lang="en-US" sz="1300" dirty="0"/>
          </a:p>
        </p:txBody>
      </p:sp>
      <p:sp>
        <p:nvSpPr>
          <p:cNvPr id="9" name="fx0|body"/>
          <p:cNvSpPr txBox="1"/>
          <p:nvPr/>
        </p:nvSpPr>
        <p:spPr>
          <a:xfrm>
            <a:off x="6522415" y="2926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bg2"/>
                </a:solidFill>
              </a:rPr>
              <a:t>إعداد الاختبارات الورقية وطباعتها وتوزيعها يستهلك وقت المعلم.</a:t>
            </a:r>
            <a:endParaRPr lang="ar-SA" sz="1500" dirty="0"/>
          </a:p>
        </p:txBody>
      </p:sp>
      <p:sp>
        <p:nvSpPr>
          <p:cNvPr id="10" name="fx1|card"/>
          <p:cNvSpPr/>
          <p:nvPr/>
        </p:nvSpPr>
        <p:spPr>
          <a:xfrm>
            <a:off x="551383" y="1691640"/>
            <a:ext cx="5394960" cy="2011680"/>
          </a:xfrm>
          <a:prstGeom prst="roundRect">
            <a:avLst>
              <a:gd name="adj" fmla="val 727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fx1|ic bg"/>
          <p:cNvSpPr/>
          <p:nvPr/>
        </p:nvSpPr>
        <p:spPr>
          <a:xfrm>
            <a:off x="4803343" y="1965960"/>
            <a:ext cx="868680" cy="86868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5"/>
            </a:solidFill>
            <a:prstDash val="solid"/>
          </a:ln>
        </p:spPr>
      </p:sp>
      <p:pic>
        <p:nvPicPr>
          <p:cNvPr id="12" name="fx1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513" y="2183130"/>
            <a:ext cx="434340" cy="434340"/>
          </a:xfrm>
          <a:prstGeom prst="rect">
            <a:avLst/>
          </a:prstGeom>
        </p:spPr>
      </p:pic>
      <p:sp>
        <p:nvSpPr>
          <p:cNvPr id="13" name="fx1|ar"/>
          <p:cNvSpPr txBox="1"/>
          <p:nvPr/>
        </p:nvSpPr>
        <p:spPr>
          <a:xfrm>
            <a:off x="825703" y="19659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أخطاء التصحيح اليدوي</a:t>
            </a:r>
            <a:endParaRPr lang="ar-SA" sz="2000" dirty="0"/>
          </a:p>
        </p:txBody>
      </p:sp>
      <p:sp>
        <p:nvSpPr>
          <p:cNvPr id="14" name="fx1|en"/>
          <p:cNvSpPr txBox="1"/>
          <p:nvPr/>
        </p:nvSpPr>
        <p:spPr>
          <a:xfrm>
            <a:off x="825703" y="24231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chemeClr val="accent5"/>
                </a:solidFill>
              </a:rPr>
              <a:t>Manual grading errors</a:t>
            </a:r>
            <a:endParaRPr lang="en-US" sz="1300" dirty="0"/>
          </a:p>
        </p:txBody>
      </p:sp>
      <p:sp>
        <p:nvSpPr>
          <p:cNvPr id="15" name="fx1|body"/>
          <p:cNvSpPr txBox="1"/>
          <p:nvPr/>
        </p:nvSpPr>
        <p:spPr>
          <a:xfrm>
            <a:off x="825703" y="2926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bg2"/>
                </a:solidFill>
              </a:rPr>
              <a:t>التصحيح ورصد الدرجات يدوياً عرضة للأخطاء والسهو.</a:t>
            </a:r>
            <a:endParaRPr lang="ar-SA" sz="1500" dirty="0"/>
          </a:p>
        </p:txBody>
      </p:sp>
      <p:sp>
        <p:nvSpPr>
          <p:cNvPr id="16" name="fx2|card"/>
          <p:cNvSpPr/>
          <p:nvPr/>
        </p:nvSpPr>
        <p:spPr>
          <a:xfrm>
            <a:off x="6248095" y="3977640"/>
            <a:ext cx="5394960" cy="2011680"/>
          </a:xfrm>
          <a:prstGeom prst="roundRect">
            <a:avLst>
              <a:gd name="adj" fmla="val 727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fx2|ic bg"/>
          <p:cNvSpPr/>
          <p:nvPr/>
        </p:nvSpPr>
        <p:spPr>
          <a:xfrm>
            <a:off x="10500055" y="4251960"/>
            <a:ext cx="868680" cy="86868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5"/>
            </a:solidFill>
            <a:prstDash val="solid"/>
          </a:ln>
        </p:spPr>
      </p:sp>
      <p:pic>
        <p:nvPicPr>
          <p:cNvPr id="18" name="fx2|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7225" y="4469130"/>
            <a:ext cx="434340" cy="434340"/>
          </a:xfrm>
          <a:prstGeom prst="rect">
            <a:avLst/>
          </a:prstGeom>
        </p:spPr>
      </p:pic>
      <p:sp>
        <p:nvSpPr>
          <p:cNvPr id="19" name="fx2|ar"/>
          <p:cNvSpPr txBox="1"/>
          <p:nvPr/>
        </p:nvSpPr>
        <p:spPr>
          <a:xfrm>
            <a:off x="6522415" y="42519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تأخر النتائج</a:t>
            </a:r>
            <a:endParaRPr lang="ar-SA" sz="2000" dirty="0"/>
          </a:p>
        </p:txBody>
      </p:sp>
      <p:sp>
        <p:nvSpPr>
          <p:cNvPr id="20" name="fx2|en"/>
          <p:cNvSpPr txBox="1"/>
          <p:nvPr/>
        </p:nvSpPr>
        <p:spPr>
          <a:xfrm>
            <a:off x="6522415" y="47091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chemeClr val="accent5"/>
                </a:solidFill>
              </a:rPr>
              <a:t>Delayed results</a:t>
            </a:r>
            <a:endParaRPr lang="en-US" sz="1300" dirty="0"/>
          </a:p>
        </p:txBody>
      </p:sp>
      <p:sp>
        <p:nvSpPr>
          <p:cNvPr id="21" name="fx2|body"/>
          <p:cNvSpPr txBox="1"/>
          <p:nvPr/>
        </p:nvSpPr>
        <p:spPr>
          <a:xfrm>
            <a:off x="6522415" y="5212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bg2"/>
                </a:solidFill>
              </a:rPr>
              <a:t>ينتظر الطالب أياماً لمعرفة نتيجته ومستواه.</a:t>
            </a:r>
            <a:endParaRPr lang="ar-SA" sz="1500" dirty="0"/>
          </a:p>
        </p:txBody>
      </p:sp>
      <p:sp>
        <p:nvSpPr>
          <p:cNvPr id="22" name="fx3|card"/>
          <p:cNvSpPr/>
          <p:nvPr/>
        </p:nvSpPr>
        <p:spPr>
          <a:xfrm>
            <a:off x="551383" y="3977640"/>
            <a:ext cx="5394960" cy="2011680"/>
          </a:xfrm>
          <a:prstGeom prst="roundRect">
            <a:avLst>
              <a:gd name="adj" fmla="val 727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23" name="fx3|ic bg"/>
          <p:cNvSpPr/>
          <p:nvPr/>
        </p:nvSpPr>
        <p:spPr>
          <a:xfrm>
            <a:off x="4803343" y="4251960"/>
            <a:ext cx="868680" cy="86868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5"/>
            </a:solidFill>
            <a:prstDash val="solid"/>
          </a:ln>
        </p:spPr>
      </p:sp>
      <p:pic>
        <p:nvPicPr>
          <p:cNvPr id="24" name="fx3|ic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513" y="4469130"/>
            <a:ext cx="434340" cy="434340"/>
          </a:xfrm>
          <a:prstGeom prst="rect">
            <a:avLst/>
          </a:prstGeom>
        </p:spPr>
      </p:pic>
      <p:sp>
        <p:nvSpPr>
          <p:cNvPr id="25" name="fx3|ar"/>
          <p:cNvSpPr txBox="1"/>
          <p:nvPr/>
        </p:nvSpPr>
        <p:spPr>
          <a:xfrm>
            <a:off x="825703" y="42519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صعوبة المتابعة والتحليل</a:t>
            </a:r>
            <a:endParaRPr lang="ar-SA" sz="2000" dirty="0"/>
          </a:p>
        </p:txBody>
      </p:sp>
      <p:sp>
        <p:nvSpPr>
          <p:cNvPr id="26" name="fx3|en"/>
          <p:cNvSpPr txBox="1"/>
          <p:nvPr/>
        </p:nvSpPr>
        <p:spPr>
          <a:xfrm>
            <a:off x="825703" y="47091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chemeClr val="accent5"/>
                </a:solidFill>
              </a:rPr>
              <a:t>Hard to track performance</a:t>
            </a:r>
            <a:endParaRPr lang="en-US" sz="1300" dirty="0"/>
          </a:p>
        </p:txBody>
      </p:sp>
      <p:sp>
        <p:nvSpPr>
          <p:cNvPr id="27" name="fx3|body"/>
          <p:cNvSpPr txBox="1"/>
          <p:nvPr/>
        </p:nvSpPr>
        <p:spPr>
          <a:xfrm>
            <a:off x="825703" y="5212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chemeClr val="bg2"/>
                </a:solidFill>
              </a:rPr>
              <a:t>لا توجد بيانات منظمة لتحليل أداء الطلاب واتخاذ القرار.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أهداف المشروع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Project Objectives</a:t>
            </a:r>
            <a:endParaRPr lang="en-US" sz="1600" dirty="0"/>
          </a:p>
        </p:txBody>
      </p:sp>
      <p:pic>
        <p:nvPicPr>
          <p:cNvPr id="4" name="Targe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40280"/>
            <a:ext cx="2651760" cy="2651760"/>
          </a:xfrm>
          <a:prstGeom prst="rect">
            <a:avLst/>
          </a:prstGeom>
        </p:spPr>
      </p:pic>
      <p:sp>
        <p:nvSpPr>
          <p:cNvPr id="5" name="Target halo"/>
          <p:cNvSpPr/>
          <p:nvPr/>
        </p:nvSpPr>
        <p:spPr>
          <a:xfrm>
            <a:off x="548640" y="1920240"/>
            <a:ext cx="3291840" cy="3291840"/>
          </a:xfrm>
          <a:prstGeom prst="ellipse">
            <a:avLst/>
          </a:prstGeom>
          <a:solidFill>
            <a:schemeClr val="accent2">
              <a:alpha val="8000"/>
            </a:schemeClr>
          </a:solidFill>
          <a:ln w="19050">
            <a:solidFill>
              <a:schemeClr val="accent2">
                <a:alpha val="40000"/>
              </a:schemeClr>
            </a:solidFill>
            <a:prstDash val="solid"/>
          </a:ln>
        </p:spPr>
      </p:sp>
      <p:sp>
        <p:nvSpPr>
          <p:cNvPr id="6" name="fx0|row"/>
          <p:cNvSpPr/>
          <p:nvPr/>
        </p:nvSpPr>
        <p:spPr>
          <a:xfrm>
            <a:off x="4343400" y="1600200"/>
            <a:ext cx="7296912" cy="804672"/>
          </a:xfrm>
          <a:prstGeom prst="roundRect">
            <a:avLst>
              <a:gd name="adj" fmla="val 18182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7" name="fx0|num"/>
          <p:cNvSpPr txBox="1"/>
          <p:nvPr/>
        </p:nvSpPr>
        <p:spPr>
          <a:xfrm>
            <a:off x="10927080" y="1746504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fx0|ar"/>
          <p:cNvSpPr txBox="1"/>
          <p:nvPr/>
        </p:nvSpPr>
        <p:spPr>
          <a:xfrm>
            <a:off x="4572000" y="1673352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أتمتة إنشاء الاختبارات وإدارتها إلكترونياً</a:t>
            </a:r>
            <a:endParaRPr lang="ar-SA" sz="1800" dirty="0"/>
          </a:p>
        </p:txBody>
      </p:sp>
      <p:sp>
        <p:nvSpPr>
          <p:cNvPr id="9" name="fx0|en"/>
          <p:cNvSpPr txBox="1"/>
          <p:nvPr/>
        </p:nvSpPr>
        <p:spPr>
          <a:xfrm>
            <a:off x="4572000" y="205740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Automate exam creation and management</a:t>
            </a:r>
            <a:endParaRPr lang="en-US" sz="1200" dirty="0"/>
          </a:p>
        </p:txBody>
      </p:sp>
      <p:sp>
        <p:nvSpPr>
          <p:cNvPr id="10" name="fx1|row"/>
          <p:cNvSpPr/>
          <p:nvPr/>
        </p:nvSpPr>
        <p:spPr>
          <a:xfrm>
            <a:off x="4343400" y="2542032"/>
            <a:ext cx="7296912" cy="804672"/>
          </a:xfrm>
          <a:prstGeom prst="roundRect">
            <a:avLst>
              <a:gd name="adj" fmla="val 18182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fx1|num"/>
          <p:cNvSpPr txBox="1"/>
          <p:nvPr/>
        </p:nvSpPr>
        <p:spPr>
          <a:xfrm>
            <a:off x="10927080" y="2688336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fx1|ar"/>
          <p:cNvSpPr txBox="1"/>
          <p:nvPr/>
        </p:nvSpPr>
        <p:spPr>
          <a:xfrm>
            <a:off x="4572000" y="2615184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تصحيح آلي فوري ودقيق للإجابات</a:t>
            </a:r>
            <a:endParaRPr lang="ar-SA" sz="1800" dirty="0"/>
          </a:p>
        </p:txBody>
      </p:sp>
      <p:sp>
        <p:nvSpPr>
          <p:cNvPr id="13" name="fx1|en"/>
          <p:cNvSpPr txBox="1"/>
          <p:nvPr/>
        </p:nvSpPr>
        <p:spPr>
          <a:xfrm>
            <a:off x="4572000" y="2999232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Instant, accurate automatic grading</a:t>
            </a:r>
            <a:endParaRPr lang="en-US" sz="1200" dirty="0"/>
          </a:p>
        </p:txBody>
      </p:sp>
      <p:sp>
        <p:nvSpPr>
          <p:cNvPr id="14" name="fx2|row"/>
          <p:cNvSpPr/>
          <p:nvPr/>
        </p:nvSpPr>
        <p:spPr>
          <a:xfrm>
            <a:off x="4343400" y="3483864"/>
            <a:ext cx="7296912" cy="804672"/>
          </a:xfrm>
          <a:prstGeom prst="roundRect">
            <a:avLst>
              <a:gd name="adj" fmla="val 18182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5" name="fx2|num"/>
          <p:cNvSpPr txBox="1"/>
          <p:nvPr/>
        </p:nvSpPr>
        <p:spPr>
          <a:xfrm>
            <a:off x="10927080" y="3630168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fx2|ar"/>
          <p:cNvSpPr txBox="1"/>
          <p:nvPr/>
        </p:nvSpPr>
        <p:spPr>
          <a:xfrm>
            <a:off x="4572000" y="3557016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عرض النتائج والتقارير للطالب والمعلم لحظياً</a:t>
            </a:r>
            <a:endParaRPr lang="ar-SA" sz="1800" dirty="0"/>
          </a:p>
        </p:txBody>
      </p:sp>
      <p:sp>
        <p:nvSpPr>
          <p:cNvPr id="17" name="fx2|en"/>
          <p:cNvSpPr txBox="1"/>
          <p:nvPr/>
        </p:nvSpPr>
        <p:spPr>
          <a:xfrm>
            <a:off x="4572000" y="3941064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Real-time results and reports</a:t>
            </a:r>
            <a:endParaRPr lang="en-US" sz="1200" dirty="0"/>
          </a:p>
        </p:txBody>
      </p:sp>
      <p:sp>
        <p:nvSpPr>
          <p:cNvPr id="18" name="fx3|row"/>
          <p:cNvSpPr/>
          <p:nvPr/>
        </p:nvSpPr>
        <p:spPr>
          <a:xfrm>
            <a:off x="4343400" y="4425696"/>
            <a:ext cx="7296912" cy="804672"/>
          </a:xfrm>
          <a:prstGeom prst="roundRect">
            <a:avLst>
              <a:gd name="adj" fmla="val 18182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9" name="fx3|num"/>
          <p:cNvSpPr txBox="1"/>
          <p:nvPr/>
        </p:nvSpPr>
        <p:spPr>
          <a:xfrm>
            <a:off x="10927080" y="457200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fx3|ar"/>
          <p:cNvSpPr txBox="1"/>
          <p:nvPr/>
        </p:nvSpPr>
        <p:spPr>
          <a:xfrm>
            <a:off x="4572000" y="4498848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واجهة خاصة لكل مستخدم بحسب صلاحياته</a:t>
            </a:r>
            <a:endParaRPr lang="ar-SA" sz="1800" dirty="0"/>
          </a:p>
        </p:txBody>
      </p:sp>
      <p:sp>
        <p:nvSpPr>
          <p:cNvPr id="21" name="fx3|en"/>
          <p:cNvSpPr txBox="1"/>
          <p:nvPr/>
        </p:nvSpPr>
        <p:spPr>
          <a:xfrm>
            <a:off x="4572000" y="4882896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Role-based interfaces for each user</a:t>
            </a:r>
            <a:endParaRPr lang="en-US" sz="1200" dirty="0"/>
          </a:p>
        </p:txBody>
      </p:sp>
      <p:sp>
        <p:nvSpPr>
          <p:cNvPr id="22" name="fx4|row"/>
          <p:cNvSpPr/>
          <p:nvPr/>
        </p:nvSpPr>
        <p:spPr>
          <a:xfrm>
            <a:off x="4343400" y="5367528"/>
            <a:ext cx="7296912" cy="804672"/>
          </a:xfrm>
          <a:prstGeom prst="roundRect">
            <a:avLst>
              <a:gd name="adj" fmla="val 18182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23" name="fx4|num"/>
          <p:cNvSpPr txBox="1"/>
          <p:nvPr/>
        </p:nvSpPr>
        <p:spPr>
          <a:xfrm>
            <a:off x="10927080" y="5513832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5</a:t>
            </a:r>
            <a:endParaRPr lang="en-US" sz="1800" dirty="0"/>
          </a:p>
        </p:txBody>
      </p:sp>
      <p:sp>
        <p:nvSpPr>
          <p:cNvPr id="24" name="fx4|ar"/>
          <p:cNvSpPr txBox="1"/>
          <p:nvPr/>
        </p:nvSpPr>
        <p:spPr>
          <a:xfrm>
            <a:off x="4572000" y="5440680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تقليل استهلاك الورق والتكاليف</a:t>
            </a:r>
            <a:endParaRPr lang="ar-SA" sz="1800" dirty="0"/>
          </a:p>
        </p:txBody>
      </p:sp>
      <p:sp>
        <p:nvSpPr>
          <p:cNvPr id="25" name="fx4|en"/>
          <p:cNvSpPr txBox="1"/>
          <p:nvPr/>
        </p:nvSpPr>
        <p:spPr>
          <a:xfrm>
            <a:off x="4572000" y="5824728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Reduce paper usage and costs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مستخدمو النظام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System Users &amp; Roles</a:t>
            </a:r>
            <a:endParaRPr lang="en-US" sz="1600" dirty="0"/>
          </a:p>
        </p:txBody>
      </p:sp>
      <p:sp>
        <p:nvSpPr>
          <p:cNvPr id="4" name="fx0|card"/>
          <p:cNvSpPr/>
          <p:nvPr/>
        </p:nvSpPr>
        <p:spPr>
          <a:xfrm>
            <a:off x="8122615" y="1645920"/>
            <a:ext cx="3520440" cy="4526280"/>
          </a:xfrm>
          <a:prstGeom prst="roundRect">
            <a:avLst>
              <a:gd name="adj" fmla="val 4156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fx0|ic bg"/>
          <p:cNvSpPr/>
          <p:nvPr/>
        </p:nvSpPr>
        <p:spPr>
          <a:xfrm>
            <a:off x="9242755" y="1965960"/>
            <a:ext cx="1280160" cy="128016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6" name="fx0|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2795" y="2286000"/>
            <a:ext cx="640080" cy="640080"/>
          </a:xfrm>
          <a:prstGeom prst="rect">
            <a:avLst/>
          </a:prstGeom>
        </p:spPr>
      </p:pic>
      <p:sp>
        <p:nvSpPr>
          <p:cNvPr id="7" name="fx0|ar"/>
          <p:cNvSpPr txBox="1"/>
          <p:nvPr/>
        </p:nvSpPr>
        <p:spPr>
          <a:xfrm>
            <a:off x="8122615" y="33832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المدير</a:t>
            </a:r>
            <a:endParaRPr lang="ar-SA" sz="2400" dirty="0"/>
          </a:p>
        </p:txBody>
      </p:sp>
      <p:sp>
        <p:nvSpPr>
          <p:cNvPr id="8" name="fx0|en"/>
          <p:cNvSpPr txBox="1"/>
          <p:nvPr/>
        </p:nvSpPr>
        <p:spPr>
          <a:xfrm>
            <a:off x="8122615" y="38587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chemeClr val="accent2"/>
                </a:solidFill>
              </a:rPr>
              <a:t>Admin</a:t>
            </a:r>
            <a:endParaRPr lang="en-US" sz="1400" dirty="0"/>
          </a:p>
        </p:txBody>
      </p:sp>
      <p:sp>
        <p:nvSpPr>
          <p:cNvPr id="9" name="fx0|list"/>
          <p:cNvSpPr txBox="1"/>
          <p:nvPr/>
        </p:nvSpPr>
        <p:spPr>
          <a:xfrm>
            <a:off x="8396935" y="43434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ar-SA" altLang="en-US" sz="1500" dirty="0">
                <a:solidFill>
                  <a:schemeClr val="bg2"/>
                </a:solidFill>
              </a:rPr>
              <a:t>إدارة المستخدمين والصلاحيات</a:t>
            </a:r>
            <a:endParaRPr lang="ar-SA" sz="15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ar-SA" altLang="en-US" sz="1500" dirty="0">
                <a:solidFill>
                  <a:schemeClr val="bg2"/>
                </a:solidFill>
              </a:rPr>
              <a:t>إدارة المواد الدراسية</a:t>
            </a:r>
            <a:endParaRPr lang="ar-SA" sz="15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ar-SA" altLang="en-US" sz="1500" dirty="0">
                <a:solidFill>
                  <a:schemeClr val="bg2"/>
                </a:solidFill>
              </a:rPr>
              <a:t>متابعة عمل النظام</a:t>
            </a:r>
            <a:endParaRPr lang="ar-SA" sz="1500" dirty="0"/>
          </a:p>
        </p:txBody>
      </p:sp>
      <p:sp>
        <p:nvSpPr>
          <p:cNvPr id="10" name="fx1|card"/>
          <p:cNvSpPr/>
          <p:nvPr/>
        </p:nvSpPr>
        <p:spPr>
          <a:xfrm>
            <a:off x="4336999" y="1645920"/>
            <a:ext cx="3520440" cy="4526280"/>
          </a:xfrm>
          <a:prstGeom prst="roundRect">
            <a:avLst>
              <a:gd name="adj" fmla="val 4156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fx1|ic bg"/>
          <p:cNvSpPr/>
          <p:nvPr/>
        </p:nvSpPr>
        <p:spPr>
          <a:xfrm>
            <a:off x="5457139" y="1965960"/>
            <a:ext cx="1280160" cy="128016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2" name="fx1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7179" y="2286000"/>
            <a:ext cx="640080" cy="640080"/>
          </a:xfrm>
          <a:prstGeom prst="rect">
            <a:avLst/>
          </a:prstGeom>
        </p:spPr>
      </p:pic>
      <p:sp>
        <p:nvSpPr>
          <p:cNvPr id="13" name="fx1|ar"/>
          <p:cNvSpPr txBox="1"/>
          <p:nvPr/>
        </p:nvSpPr>
        <p:spPr>
          <a:xfrm>
            <a:off x="4336999" y="33832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المعلم</a:t>
            </a:r>
            <a:endParaRPr lang="ar-SA" sz="2400" dirty="0"/>
          </a:p>
        </p:txBody>
      </p:sp>
      <p:sp>
        <p:nvSpPr>
          <p:cNvPr id="14" name="fx1|en"/>
          <p:cNvSpPr txBox="1"/>
          <p:nvPr/>
        </p:nvSpPr>
        <p:spPr>
          <a:xfrm>
            <a:off x="4336999" y="38587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chemeClr val="accent1"/>
                </a:solidFill>
              </a:rPr>
              <a:t>Teacher</a:t>
            </a:r>
            <a:endParaRPr lang="en-US" sz="1400" dirty="0"/>
          </a:p>
        </p:txBody>
      </p:sp>
      <p:sp>
        <p:nvSpPr>
          <p:cNvPr id="15" name="fx1|list"/>
          <p:cNvSpPr txBox="1"/>
          <p:nvPr/>
        </p:nvSpPr>
        <p:spPr>
          <a:xfrm>
            <a:off x="4611319" y="43434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ar-SA" altLang="en-US" sz="1500" dirty="0">
                <a:solidFill>
                  <a:schemeClr val="bg2"/>
                </a:solidFill>
              </a:rPr>
              <a:t>إنشاء الاختبارات والأسئلة</a:t>
            </a:r>
            <a:endParaRPr lang="ar-SA" sz="15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ar-SA" altLang="en-US" sz="1500" dirty="0">
                <a:solidFill>
                  <a:schemeClr val="bg2"/>
                </a:solidFill>
              </a:rPr>
              <a:t>تحديد مدة الاختبار</a:t>
            </a:r>
            <a:endParaRPr lang="ar-SA" sz="15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ar-SA" altLang="en-US" sz="1500" dirty="0">
                <a:solidFill>
                  <a:schemeClr val="bg2"/>
                </a:solidFill>
              </a:rPr>
              <a:t>متابعة نتائج الطلاب</a:t>
            </a:r>
            <a:endParaRPr lang="ar-SA" sz="1500" dirty="0"/>
          </a:p>
        </p:txBody>
      </p:sp>
      <p:sp>
        <p:nvSpPr>
          <p:cNvPr id="16" name="fx2|card"/>
          <p:cNvSpPr/>
          <p:nvPr/>
        </p:nvSpPr>
        <p:spPr>
          <a:xfrm>
            <a:off x="551383" y="1645920"/>
            <a:ext cx="3520440" cy="4526280"/>
          </a:xfrm>
          <a:prstGeom prst="roundRect">
            <a:avLst>
              <a:gd name="adj" fmla="val 4156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fx2|ic bg"/>
          <p:cNvSpPr/>
          <p:nvPr/>
        </p:nvSpPr>
        <p:spPr>
          <a:xfrm>
            <a:off x="1671523" y="1965960"/>
            <a:ext cx="1280160" cy="128016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4"/>
            </a:solidFill>
            <a:prstDash val="solid"/>
          </a:ln>
        </p:spPr>
      </p:sp>
      <p:pic>
        <p:nvPicPr>
          <p:cNvPr id="18" name="fx2|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63" y="2286000"/>
            <a:ext cx="640080" cy="640080"/>
          </a:xfrm>
          <a:prstGeom prst="rect">
            <a:avLst/>
          </a:prstGeom>
        </p:spPr>
      </p:pic>
      <p:sp>
        <p:nvSpPr>
          <p:cNvPr id="19" name="fx2|ar"/>
          <p:cNvSpPr txBox="1"/>
          <p:nvPr/>
        </p:nvSpPr>
        <p:spPr>
          <a:xfrm>
            <a:off x="551383" y="33832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الطالب</a:t>
            </a:r>
            <a:endParaRPr lang="ar-SA" sz="2400" dirty="0"/>
          </a:p>
        </p:txBody>
      </p:sp>
      <p:sp>
        <p:nvSpPr>
          <p:cNvPr id="20" name="fx2|en"/>
          <p:cNvSpPr txBox="1"/>
          <p:nvPr/>
        </p:nvSpPr>
        <p:spPr>
          <a:xfrm>
            <a:off x="551383" y="38587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400" b="1" dirty="0">
                <a:solidFill>
                  <a:schemeClr val="accent4"/>
                </a:solidFill>
              </a:rPr>
              <a:t>Student</a:t>
            </a:r>
            <a:endParaRPr lang="en-US" sz="1400" dirty="0"/>
          </a:p>
        </p:txBody>
      </p:sp>
      <p:sp>
        <p:nvSpPr>
          <p:cNvPr id="21" name="fx2|list"/>
          <p:cNvSpPr txBox="1"/>
          <p:nvPr/>
        </p:nvSpPr>
        <p:spPr>
          <a:xfrm>
            <a:off x="825703" y="434340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ar-SA" altLang="en-US" sz="1500" dirty="0">
                <a:solidFill>
                  <a:schemeClr val="bg2"/>
                </a:solidFill>
              </a:rPr>
              <a:t>الدخول إلى الاختبارات المتاحة</a:t>
            </a:r>
            <a:endParaRPr lang="ar-SA" sz="15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ar-SA" altLang="en-US" sz="1500" dirty="0">
                <a:solidFill>
                  <a:schemeClr val="bg2"/>
                </a:solidFill>
              </a:rPr>
              <a:t>أداء الاختبار من الهاتف</a:t>
            </a:r>
            <a:endParaRPr lang="ar-SA" sz="15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ar-SA" altLang="en-US" sz="1500" dirty="0">
                <a:solidFill>
                  <a:schemeClr val="bg2"/>
                </a:solidFill>
              </a:rPr>
              <a:t>معرفة النتيجة فوراً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مميزات التطبيق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Key Features</a:t>
            </a:r>
            <a:endParaRPr lang="en-US" sz="1600" dirty="0"/>
          </a:p>
        </p:txBody>
      </p:sp>
      <p:sp>
        <p:nvSpPr>
          <p:cNvPr id="4" name="fx0|card"/>
          <p:cNvSpPr/>
          <p:nvPr/>
        </p:nvSpPr>
        <p:spPr>
          <a:xfrm>
            <a:off x="8122615" y="1691640"/>
            <a:ext cx="3520440" cy="2011680"/>
          </a:xfrm>
          <a:prstGeom prst="roundRect">
            <a:avLst>
              <a:gd name="adj" fmla="val 727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fx0|ic bg"/>
          <p:cNvSpPr/>
          <p:nvPr/>
        </p:nvSpPr>
        <p:spPr>
          <a:xfrm>
            <a:off x="9425635" y="1965960"/>
            <a:ext cx="914400" cy="914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6" name="fx0|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4235" y="2194560"/>
            <a:ext cx="457200" cy="457200"/>
          </a:xfrm>
          <a:prstGeom prst="rect">
            <a:avLst/>
          </a:prstGeom>
        </p:spPr>
      </p:pic>
      <p:sp>
        <p:nvSpPr>
          <p:cNvPr id="7" name="fx0|ar"/>
          <p:cNvSpPr txBox="1"/>
          <p:nvPr/>
        </p:nvSpPr>
        <p:spPr>
          <a:xfrm>
            <a:off x="8259775" y="295351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تسجيل دخول آمن</a:t>
            </a:r>
            <a:endParaRPr lang="ar-SA" sz="1800" dirty="0"/>
          </a:p>
        </p:txBody>
      </p:sp>
      <p:sp>
        <p:nvSpPr>
          <p:cNvPr id="8" name="fx0|en"/>
          <p:cNvSpPr txBox="1"/>
          <p:nvPr/>
        </p:nvSpPr>
        <p:spPr>
          <a:xfrm>
            <a:off x="8259775" y="3337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Secure role-based login</a:t>
            </a:r>
            <a:endParaRPr lang="en-US" sz="1200" dirty="0"/>
          </a:p>
        </p:txBody>
      </p:sp>
      <p:sp>
        <p:nvSpPr>
          <p:cNvPr id="9" name="fx1|card"/>
          <p:cNvSpPr/>
          <p:nvPr/>
        </p:nvSpPr>
        <p:spPr>
          <a:xfrm>
            <a:off x="4336999" y="1691640"/>
            <a:ext cx="3520440" cy="2011680"/>
          </a:xfrm>
          <a:prstGeom prst="roundRect">
            <a:avLst>
              <a:gd name="adj" fmla="val 727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fx1|ic bg"/>
          <p:cNvSpPr/>
          <p:nvPr/>
        </p:nvSpPr>
        <p:spPr>
          <a:xfrm>
            <a:off x="5640019" y="1965960"/>
            <a:ext cx="914400" cy="914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1" name="fx1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619" y="2194560"/>
            <a:ext cx="457200" cy="457200"/>
          </a:xfrm>
          <a:prstGeom prst="rect">
            <a:avLst/>
          </a:prstGeom>
        </p:spPr>
      </p:pic>
      <p:sp>
        <p:nvSpPr>
          <p:cNvPr id="12" name="fx1|ar"/>
          <p:cNvSpPr txBox="1"/>
          <p:nvPr/>
        </p:nvSpPr>
        <p:spPr>
          <a:xfrm>
            <a:off x="4474159" y="295351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إنشاء الاختبارات وبنك الأسئلة</a:t>
            </a:r>
            <a:endParaRPr lang="ar-SA" sz="1800" dirty="0"/>
          </a:p>
        </p:txBody>
      </p:sp>
      <p:sp>
        <p:nvSpPr>
          <p:cNvPr id="13" name="fx1|en"/>
          <p:cNvSpPr txBox="1"/>
          <p:nvPr/>
        </p:nvSpPr>
        <p:spPr>
          <a:xfrm>
            <a:off x="4474159" y="3337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Exam builder &amp; question bank</a:t>
            </a:r>
            <a:endParaRPr lang="en-US" sz="1200" dirty="0"/>
          </a:p>
        </p:txBody>
      </p:sp>
      <p:sp>
        <p:nvSpPr>
          <p:cNvPr id="14" name="fx2|card"/>
          <p:cNvSpPr/>
          <p:nvPr/>
        </p:nvSpPr>
        <p:spPr>
          <a:xfrm>
            <a:off x="551383" y="1691640"/>
            <a:ext cx="3520440" cy="2011680"/>
          </a:xfrm>
          <a:prstGeom prst="roundRect">
            <a:avLst>
              <a:gd name="adj" fmla="val 727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5" name="fx2|ic bg"/>
          <p:cNvSpPr/>
          <p:nvPr/>
        </p:nvSpPr>
        <p:spPr>
          <a:xfrm>
            <a:off x="1854403" y="1965960"/>
            <a:ext cx="914400" cy="914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6" name="fx2|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003" y="2194560"/>
            <a:ext cx="457200" cy="457200"/>
          </a:xfrm>
          <a:prstGeom prst="rect">
            <a:avLst/>
          </a:prstGeom>
        </p:spPr>
      </p:pic>
      <p:sp>
        <p:nvSpPr>
          <p:cNvPr id="17" name="fx2|ar"/>
          <p:cNvSpPr txBox="1"/>
          <p:nvPr/>
        </p:nvSpPr>
        <p:spPr>
          <a:xfrm>
            <a:off x="688543" y="295351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مؤقت زمني للاختبار</a:t>
            </a:r>
            <a:endParaRPr lang="ar-SA" sz="1800" dirty="0"/>
          </a:p>
        </p:txBody>
      </p:sp>
      <p:sp>
        <p:nvSpPr>
          <p:cNvPr id="18" name="fx2|en"/>
          <p:cNvSpPr txBox="1"/>
          <p:nvPr/>
        </p:nvSpPr>
        <p:spPr>
          <a:xfrm>
            <a:off x="688543" y="3337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Timed exams</a:t>
            </a:r>
            <a:endParaRPr lang="en-US" sz="1200" dirty="0"/>
          </a:p>
        </p:txBody>
      </p:sp>
      <p:sp>
        <p:nvSpPr>
          <p:cNvPr id="19" name="fx3|card"/>
          <p:cNvSpPr/>
          <p:nvPr/>
        </p:nvSpPr>
        <p:spPr>
          <a:xfrm>
            <a:off x="8122615" y="3977640"/>
            <a:ext cx="3520440" cy="2011680"/>
          </a:xfrm>
          <a:prstGeom prst="roundRect">
            <a:avLst>
              <a:gd name="adj" fmla="val 727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20" name="fx3|ic bg"/>
          <p:cNvSpPr/>
          <p:nvPr/>
        </p:nvSpPr>
        <p:spPr>
          <a:xfrm>
            <a:off x="9425635" y="4251960"/>
            <a:ext cx="914400" cy="914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1" name="fx3|ic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4235" y="4480560"/>
            <a:ext cx="457200" cy="457200"/>
          </a:xfrm>
          <a:prstGeom prst="rect">
            <a:avLst/>
          </a:prstGeom>
        </p:spPr>
      </p:pic>
      <p:sp>
        <p:nvSpPr>
          <p:cNvPr id="22" name="fx3|ar"/>
          <p:cNvSpPr txBox="1"/>
          <p:nvPr/>
        </p:nvSpPr>
        <p:spPr>
          <a:xfrm>
            <a:off x="8259775" y="523951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تصحيح آلي فوري</a:t>
            </a:r>
            <a:endParaRPr lang="ar-SA" sz="1800" dirty="0"/>
          </a:p>
        </p:txBody>
      </p:sp>
      <p:sp>
        <p:nvSpPr>
          <p:cNvPr id="23" name="fx3|en"/>
          <p:cNvSpPr txBox="1"/>
          <p:nvPr/>
        </p:nvSpPr>
        <p:spPr>
          <a:xfrm>
            <a:off x="8259775" y="5623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Instant auto-grading</a:t>
            </a:r>
            <a:endParaRPr lang="en-US" sz="1200" dirty="0"/>
          </a:p>
        </p:txBody>
      </p:sp>
      <p:sp>
        <p:nvSpPr>
          <p:cNvPr id="24" name="fx4|card"/>
          <p:cNvSpPr/>
          <p:nvPr/>
        </p:nvSpPr>
        <p:spPr>
          <a:xfrm>
            <a:off x="4336999" y="3977640"/>
            <a:ext cx="3520440" cy="2011680"/>
          </a:xfrm>
          <a:prstGeom prst="roundRect">
            <a:avLst>
              <a:gd name="adj" fmla="val 727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25" name="fx4|ic bg"/>
          <p:cNvSpPr/>
          <p:nvPr/>
        </p:nvSpPr>
        <p:spPr>
          <a:xfrm>
            <a:off x="5640019" y="4251960"/>
            <a:ext cx="914400" cy="914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6" name="fx4|ic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8619" y="4480560"/>
            <a:ext cx="457200" cy="457200"/>
          </a:xfrm>
          <a:prstGeom prst="rect">
            <a:avLst/>
          </a:prstGeom>
        </p:spPr>
      </p:pic>
      <p:sp>
        <p:nvSpPr>
          <p:cNvPr id="27" name="fx4|ar"/>
          <p:cNvSpPr txBox="1"/>
          <p:nvPr/>
        </p:nvSpPr>
        <p:spPr>
          <a:xfrm>
            <a:off x="4474159" y="523951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النتائج والتقارير</a:t>
            </a:r>
            <a:endParaRPr lang="ar-SA" sz="1800" dirty="0"/>
          </a:p>
        </p:txBody>
      </p:sp>
      <p:sp>
        <p:nvSpPr>
          <p:cNvPr id="28" name="fx4|en"/>
          <p:cNvSpPr txBox="1"/>
          <p:nvPr/>
        </p:nvSpPr>
        <p:spPr>
          <a:xfrm>
            <a:off x="4474159" y="5623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Results &amp; reports</a:t>
            </a:r>
            <a:endParaRPr lang="en-US" sz="1200" dirty="0"/>
          </a:p>
        </p:txBody>
      </p:sp>
      <p:sp>
        <p:nvSpPr>
          <p:cNvPr id="29" name="fx5|card"/>
          <p:cNvSpPr/>
          <p:nvPr/>
        </p:nvSpPr>
        <p:spPr>
          <a:xfrm>
            <a:off x="551383" y="3977640"/>
            <a:ext cx="3520440" cy="2011680"/>
          </a:xfrm>
          <a:prstGeom prst="roundRect">
            <a:avLst>
              <a:gd name="adj" fmla="val 727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30" name="fx5|ic bg"/>
          <p:cNvSpPr/>
          <p:nvPr/>
        </p:nvSpPr>
        <p:spPr>
          <a:xfrm>
            <a:off x="1854403" y="4251960"/>
            <a:ext cx="914400" cy="914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31" name="fx5|ic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3003" y="4480560"/>
            <a:ext cx="457200" cy="457200"/>
          </a:xfrm>
          <a:prstGeom prst="rect">
            <a:avLst/>
          </a:prstGeom>
        </p:spPr>
      </p:pic>
      <p:sp>
        <p:nvSpPr>
          <p:cNvPr id="32" name="fx5|ar"/>
          <p:cNvSpPr txBox="1"/>
          <p:nvPr/>
        </p:nvSpPr>
        <p:spPr>
          <a:xfrm>
            <a:off x="688543" y="523951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واجهة عربية سهلة</a:t>
            </a:r>
            <a:endParaRPr lang="ar-SA" sz="1800" dirty="0"/>
          </a:p>
        </p:txBody>
      </p:sp>
      <p:sp>
        <p:nvSpPr>
          <p:cNvPr id="33" name="fx5|en"/>
          <p:cNvSpPr txBox="1"/>
          <p:nvPr/>
        </p:nvSpPr>
        <p:spPr>
          <a:xfrm>
            <a:off x="688543" y="5623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Arabic, easy-to-use UI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الأدوات والتقنيات المستخدمة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Tools &amp; Technologies</a:t>
            </a:r>
            <a:endParaRPr lang="en-US" sz="1600" dirty="0"/>
          </a:p>
        </p:txBody>
      </p:sp>
      <p:sp>
        <p:nvSpPr>
          <p:cNvPr id="4" name="fx0|card"/>
          <p:cNvSpPr/>
          <p:nvPr/>
        </p:nvSpPr>
        <p:spPr>
          <a:xfrm>
            <a:off x="8122615" y="1691640"/>
            <a:ext cx="3520440" cy="2011680"/>
          </a:xfrm>
          <a:prstGeom prst="roundRect">
            <a:avLst>
              <a:gd name="adj" fmla="val 727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fx0|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495" y="2148840"/>
            <a:ext cx="777240" cy="777240"/>
          </a:xfrm>
          <a:prstGeom prst="rect">
            <a:avLst/>
          </a:prstGeom>
        </p:spPr>
      </p:pic>
      <p:sp>
        <p:nvSpPr>
          <p:cNvPr id="6" name="fx0|en"/>
          <p:cNvSpPr txBox="1"/>
          <p:nvPr/>
        </p:nvSpPr>
        <p:spPr>
          <a:xfrm>
            <a:off x="8305495" y="2148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800" b="1" dirty="0">
                <a:solidFill>
                  <a:schemeClr val="bg1"/>
                </a:solidFill>
              </a:rPr>
              <a:t>Flutter</a:t>
            </a:r>
            <a:endParaRPr lang="en-US" sz="1800" dirty="0"/>
          </a:p>
        </p:txBody>
      </p:sp>
      <p:sp>
        <p:nvSpPr>
          <p:cNvPr id="7" name="fx0|ar"/>
          <p:cNvSpPr txBox="1"/>
          <p:nvPr/>
        </p:nvSpPr>
        <p:spPr>
          <a:xfrm>
            <a:off x="8305495" y="26517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إطار بناء واجهات التطبيق</a:t>
            </a:r>
            <a:endParaRPr lang="ar-SA" sz="1400" dirty="0"/>
          </a:p>
        </p:txBody>
      </p:sp>
      <p:sp>
        <p:nvSpPr>
          <p:cNvPr id="8" name="fx1|card"/>
          <p:cNvSpPr/>
          <p:nvPr/>
        </p:nvSpPr>
        <p:spPr>
          <a:xfrm>
            <a:off x="4336999" y="1691640"/>
            <a:ext cx="3520440" cy="2011680"/>
          </a:xfrm>
          <a:prstGeom prst="roundRect">
            <a:avLst>
              <a:gd name="adj" fmla="val 727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9" name="fx1|log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879" y="2148840"/>
            <a:ext cx="777240" cy="777240"/>
          </a:xfrm>
          <a:prstGeom prst="rect">
            <a:avLst/>
          </a:prstGeom>
        </p:spPr>
      </p:pic>
      <p:sp>
        <p:nvSpPr>
          <p:cNvPr id="10" name="fx1|en"/>
          <p:cNvSpPr txBox="1"/>
          <p:nvPr/>
        </p:nvSpPr>
        <p:spPr>
          <a:xfrm>
            <a:off x="4519879" y="2148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800" b="1" dirty="0">
                <a:solidFill>
                  <a:schemeClr val="bg1"/>
                </a:solidFill>
              </a:rPr>
              <a:t>Dart</a:t>
            </a:r>
            <a:endParaRPr lang="en-US" sz="1800" dirty="0"/>
          </a:p>
        </p:txBody>
      </p:sp>
      <p:sp>
        <p:nvSpPr>
          <p:cNvPr id="11" name="fx1|ar"/>
          <p:cNvSpPr txBox="1"/>
          <p:nvPr/>
        </p:nvSpPr>
        <p:spPr>
          <a:xfrm>
            <a:off x="4519879" y="26517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لغة البرمجة</a:t>
            </a:r>
            <a:endParaRPr lang="ar-SA" sz="1400" dirty="0"/>
          </a:p>
        </p:txBody>
      </p:sp>
      <p:sp>
        <p:nvSpPr>
          <p:cNvPr id="12" name="fx2|card"/>
          <p:cNvSpPr/>
          <p:nvPr/>
        </p:nvSpPr>
        <p:spPr>
          <a:xfrm>
            <a:off x="551383" y="1691640"/>
            <a:ext cx="3520440" cy="2011680"/>
          </a:xfrm>
          <a:prstGeom prst="roundRect">
            <a:avLst>
              <a:gd name="adj" fmla="val 727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13" name="fx2|log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263" y="2148840"/>
            <a:ext cx="777240" cy="777240"/>
          </a:xfrm>
          <a:prstGeom prst="rect">
            <a:avLst/>
          </a:prstGeom>
        </p:spPr>
      </p:pic>
      <p:sp>
        <p:nvSpPr>
          <p:cNvPr id="14" name="fx2|en"/>
          <p:cNvSpPr txBox="1"/>
          <p:nvPr/>
        </p:nvSpPr>
        <p:spPr>
          <a:xfrm>
            <a:off x="734263" y="2148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800" b="1" dirty="0">
                <a:solidFill>
                  <a:schemeClr val="bg1"/>
                </a:solidFill>
              </a:rPr>
              <a:t>SQLite</a:t>
            </a:r>
            <a:endParaRPr lang="en-US" sz="1800" dirty="0"/>
          </a:p>
        </p:txBody>
      </p:sp>
      <p:sp>
        <p:nvSpPr>
          <p:cNvPr id="15" name="fx2|ar"/>
          <p:cNvSpPr txBox="1"/>
          <p:nvPr/>
        </p:nvSpPr>
        <p:spPr>
          <a:xfrm>
            <a:off x="734263" y="26517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قاعدة البيانات</a:t>
            </a:r>
            <a:endParaRPr lang="ar-SA" sz="1400" dirty="0"/>
          </a:p>
        </p:txBody>
      </p:sp>
      <p:sp>
        <p:nvSpPr>
          <p:cNvPr id="16" name="fx3|card"/>
          <p:cNvSpPr/>
          <p:nvPr/>
        </p:nvSpPr>
        <p:spPr>
          <a:xfrm>
            <a:off x="8122615" y="3977640"/>
            <a:ext cx="3520440" cy="2011680"/>
          </a:xfrm>
          <a:prstGeom prst="roundRect">
            <a:avLst>
              <a:gd name="adj" fmla="val 727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17" name="fx3|log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495" y="4434840"/>
            <a:ext cx="777240" cy="777240"/>
          </a:xfrm>
          <a:prstGeom prst="rect">
            <a:avLst/>
          </a:prstGeom>
        </p:spPr>
      </p:pic>
      <p:sp>
        <p:nvSpPr>
          <p:cNvPr id="18" name="fx3|en"/>
          <p:cNvSpPr txBox="1"/>
          <p:nvPr/>
        </p:nvSpPr>
        <p:spPr>
          <a:xfrm>
            <a:off x="8305495" y="4434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800" b="1" dirty="0">
                <a:solidFill>
                  <a:schemeClr val="bg1"/>
                </a:solidFill>
              </a:rPr>
              <a:t>Android Studio</a:t>
            </a:r>
            <a:endParaRPr lang="en-US" sz="1800" dirty="0"/>
          </a:p>
        </p:txBody>
      </p:sp>
      <p:sp>
        <p:nvSpPr>
          <p:cNvPr id="19" name="fx3|ar"/>
          <p:cNvSpPr txBox="1"/>
          <p:nvPr/>
        </p:nvSpPr>
        <p:spPr>
          <a:xfrm>
            <a:off x="8305495" y="49377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بيئة التطوير والتشغيل</a:t>
            </a:r>
            <a:endParaRPr lang="ar-SA" sz="1400" dirty="0"/>
          </a:p>
        </p:txBody>
      </p:sp>
      <p:sp>
        <p:nvSpPr>
          <p:cNvPr id="20" name="fx4|card"/>
          <p:cNvSpPr/>
          <p:nvPr/>
        </p:nvSpPr>
        <p:spPr>
          <a:xfrm>
            <a:off x="4336999" y="3977640"/>
            <a:ext cx="3520440" cy="2011680"/>
          </a:xfrm>
          <a:prstGeom prst="roundRect">
            <a:avLst>
              <a:gd name="adj" fmla="val 727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21" name="fx4|log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5879" y="4434840"/>
            <a:ext cx="777240" cy="777240"/>
          </a:xfrm>
          <a:prstGeom prst="rect">
            <a:avLst/>
          </a:prstGeom>
        </p:spPr>
      </p:pic>
      <p:sp>
        <p:nvSpPr>
          <p:cNvPr id="22" name="fx4|en"/>
          <p:cNvSpPr txBox="1"/>
          <p:nvPr/>
        </p:nvSpPr>
        <p:spPr>
          <a:xfrm>
            <a:off x="4519879" y="4434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800" b="1" dirty="0">
                <a:solidFill>
                  <a:schemeClr val="bg1"/>
                </a:solidFill>
              </a:rPr>
              <a:t>Figma</a:t>
            </a:r>
            <a:endParaRPr lang="en-US" sz="1800" dirty="0"/>
          </a:p>
        </p:txBody>
      </p:sp>
      <p:sp>
        <p:nvSpPr>
          <p:cNvPr id="23" name="fx4|ar"/>
          <p:cNvSpPr txBox="1"/>
          <p:nvPr/>
        </p:nvSpPr>
        <p:spPr>
          <a:xfrm>
            <a:off x="4519879" y="49377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تصميم الواجهات</a:t>
            </a:r>
            <a:endParaRPr lang="ar-SA" sz="1400" dirty="0"/>
          </a:p>
        </p:txBody>
      </p:sp>
      <p:sp>
        <p:nvSpPr>
          <p:cNvPr id="24" name="fx5|card"/>
          <p:cNvSpPr/>
          <p:nvPr/>
        </p:nvSpPr>
        <p:spPr>
          <a:xfrm>
            <a:off x="551383" y="3977640"/>
            <a:ext cx="3520440" cy="2011680"/>
          </a:xfrm>
          <a:prstGeom prst="roundRect">
            <a:avLst>
              <a:gd name="adj" fmla="val 727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25" name="fx5|log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0263" y="4434840"/>
            <a:ext cx="777240" cy="777240"/>
          </a:xfrm>
          <a:prstGeom prst="rect">
            <a:avLst/>
          </a:prstGeom>
        </p:spPr>
      </p:pic>
      <p:sp>
        <p:nvSpPr>
          <p:cNvPr id="26" name="fx5|en"/>
          <p:cNvSpPr txBox="1"/>
          <p:nvPr/>
        </p:nvSpPr>
        <p:spPr>
          <a:xfrm>
            <a:off x="734263" y="4434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800" b="1" dirty="0">
                <a:solidFill>
                  <a:schemeClr val="bg1"/>
                </a:solidFill>
              </a:rPr>
              <a:t>Git &amp; GitHub</a:t>
            </a:r>
            <a:endParaRPr lang="en-US" sz="1800" dirty="0"/>
          </a:p>
        </p:txBody>
      </p:sp>
      <p:sp>
        <p:nvSpPr>
          <p:cNvPr id="27" name="fx5|ar"/>
          <p:cNvSpPr txBox="1"/>
          <p:nvPr/>
        </p:nvSpPr>
        <p:spPr>
          <a:xfrm>
            <a:off x="734263" y="49377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إدارة الإصدارات والعمل الجماعي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  <p:bldP spid="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منهجية التطوير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Development Methodology — Agile (Iterative)</a:t>
            </a:r>
            <a:endParaRPr lang="en-US" sz="1600" dirty="0"/>
          </a:p>
        </p:txBody>
      </p:sp>
      <p:sp>
        <p:nvSpPr>
          <p:cNvPr id="4" name="fx0|card"/>
          <p:cNvSpPr/>
          <p:nvPr/>
        </p:nvSpPr>
        <p:spPr>
          <a:xfrm>
            <a:off x="9631375" y="1965960"/>
            <a:ext cx="2011680" cy="3383280"/>
          </a:xfrm>
          <a:prstGeom prst="roundRect">
            <a:avLst>
              <a:gd name="adj" fmla="val 727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fx0|ic bg"/>
          <p:cNvSpPr/>
          <p:nvPr/>
        </p:nvSpPr>
        <p:spPr>
          <a:xfrm>
            <a:off x="10180015" y="2240280"/>
            <a:ext cx="914400" cy="914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6" name="fx0|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8615" y="2468880"/>
            <a:ext cx="457200" cy="457200"/>
          </a:xfrm>
          <a:prstGeom prst="rect">
            <a:avLst/>
          </a:prstGeom>
        </p:spPr>
      </p:pic>
      <p:sp>
        <p:nvSpPr>
          <p:cNvPr id="7" name="fx0|num"/>
          <p:cNvSpPr txBox="1"/>
          <p:nvPr/>
        </p:nvSpPr>
        <p:spPr>
          <a:xfrm>
            <a:off x="9741103" y="20756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fx0|ar"/>
          <p:cNvSpPr txBox="1"/>
          <p:nvPr/>
        </p:nvSpPr>
        <p:spPr>
          <a:xfrm>
            <a:off x="9722815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التحليل</a:t>
            </a:r>
            <a:endParaRPr lang="ar-SA" sz="2000" dirty="0"/>
          </a:p>
        </p:txBody>
      </p:sp>
      <p:sp>
        <p:nvSpPr>
          <p:cNvPr id="9" name="fx0|en"/>
          <p:cNvSpPr txBox="1"/>
          <p:nvPr/>
        </p:nvSpPr>
        <p:spPr>
          <a:xfrm>
            <a:off x="9722815" y="3703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accent1"/>
                </a:solidFill>
              </a:rPr>
              <a:t>Analysis</a:t>
            </a:r>
            <a:endParaRPr lang="en-US" sz="1200" dirty="0"/>
          </a:p>
        </p:txBody>
      </p:sp>
      <p:sp>
        <p:nvSpPr>
          <p:cNvPr id="10" name="fx0|body"/>
          <p:cNvSpPr txBox="1"/>
          <p:nvPr/>
        </p:nvSpPr>
        <p:spPr>
          <a:xfrm>
            <a:off x="9768535" y="411480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جمع المتطلبات وتحديد المستخدمين</a:t>
            </a:r>
            <a:endParaRPr lang="ar-SA" sz="1400" dirty="0"/>
          </a:p>
        </p:txBody>
      </p:sp>
      <p:sp>
        <p:nvSpPr>
          <p:cNvPr id="11" name="fx0|arrow"/>
          <p:cNvSpPr/>
          <p:nvPr/>
        </p:nvSpPr>
        <p:spPr>
          <a:xfrm>
            <a:off x="9402775" y="3447288"/>
            <a:ext cx="201168" cy="274320"/>
          </a:xfrm>
          <a:prstGeom prst="lef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fx1|card"/>
          <p:cNvSpPr/>
          <p:nvPr/>
        </p:nvSpPr>
        <p:spPr>
          <a:xfrm>
            <a:off x="7363663" y="1965960"/>
            <a:ext cx="2011680" cy="3383280"/>
          </a:xfrm>
          <a:prstGeom prst="roundRect">
            <a:avLst>
              <a:gd name="adj" fmla="val 727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fx1|ic bg"/>
          <p:cNvSpPr/>
          <p:nvPr/>
        </p:nvSpPr>
        <p:spPr>
          <a:xfrm>
            <a:off x="7912303" y="2240280"/>
            <a:ext cx="914400" cy="914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4" name="fx1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0903" y="2468880"/>
            <a:ext cx="457200" cy="457200"/>
          </a:xfrm>
          <a:prstGeom prst="rect">
            <a:avLst/>
          </a:prstGeom>
        </p:spPr>
      </p:pic>
      <p:sp>
        <p:nvSpPr>
          <p:cNvPr id="15" name="fx1|num"/>
          <p:cNvSpPr txBox="1"/>
          <p:nvPr/>
        </p:nvSpPr>
        <p:spPr>
          <a:xfrm>
            <a:off x="7473391" y="20756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fx1|ar"/>
          <p:cNvSpPr txBox="1"/>
          <p:nvPr/>
        </p:nvSpPr>
        <p:spPr>
          <a:xfrm>
            <a:off x="7455103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التصميم</a:t>
            </a:r>
            <a:endParaRPr lang="ar-SA" sz="2000" dirty="0"/>
          </a:p>
        </p:txBody>
      </p:sp>
      <p:sp>
        <p:nvSpPr>
          <p:cNvPr id="17" name="fx1|en"/>
          <p:cNvSpPr txBox="1"/>
          <p:nvPr/>
        </p:nvSpPr>
        <p:spPr>
          <a:xfrm>
            <a:off x="7455103" y="3703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accent1"/>
                </a:solidFill>
              </a:rPr>
              <a:t>Design</a:t>
            </a:r>
            <a:endParaRPr lang="en-US" sz="1200" dirty="0"/>
          </a:p>
        </p:txBody>
      </p:sp>
      <p:sp>
        <p:nvSpPr>
          <p:cNvPr id="18" name="fx1|body"/>
          <p:cNvSpPr txBox="1"/>
          <p:nvPr/>
        </p:nvSpPr>
        <p:spPr>
          <a:xfrm>
            <a:off x="7500823" y="411480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تصميم الواجهات وقاعدة البيانات</a:t>
            </a:r>
            <a:endParaRPr lang="ar-SA" sz="1400" dirty="0"/>
          </a:p>
        </p:txBody>
      </p:sp>
      <p:sp>
        <p:nvSpPr>
          <p:cNvPr id="19" name="fx1|arrow"/>
          <p:cNvSpPr/>
          <p:nvPr/>
        </p:nvSpPr>
        <p:spPr>
          <a:xfrm>
            <a:off x="7135063" y="3447288"/>
            <a:ext cx="201168" cy="274320"/>
          </a:xfrm>
          <a:prstGeom prst="lef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fx2|card"/>
          <p:cNvSpPr/>
          <p:nvPr/>
        </p:nvSpPr>
        <p:spPr>
          <a:xfrm>
            <a:off x="5095951" y="1965960"/>
            <a:ext cx="2011680" cy="3383280"/>
          </a:xfrm>
          <a:prstGeom prst="roundRect">
            <a:avLst>
              <a:gd name="adj" fmla="val 727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21" name="fx2|ic bg"/>
          <p:cNvSpPr/>
          <p:nvPr/>
        </p:nvSpPr>
        <p:spPr>
          <a:xfrm>
            <a:off x="5644591" y="2240280"/>
            <a:ext cx="914400" cy="914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2" name="fx2|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191" y="2468880"/>
            <a:ext cx="457200" cy="457200"/>
          </a:xfrm>
          <a:prstGeom prst="rect">
            <a:avLst/>
          </a:prstGeom>
        </p:spPr>
      </p:pic>
      <p:sp>
        <p:nvSpPr>
          <p:cNvPr id="23" name="fx2|num"/>
          <p:cNvSpPr txBox="1"/>
          <p:nvPr/>
        </p:nvSpPr>
        <p:spPr>
          <a:xfrm>
            <a:off x="5205679" y="20756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fx2|ar"/>
          <p:cNvSpPr txBox="1"/>
          <p:nvPr/>
        </p:nvSpPr>
        <p:spPr>
          <a:xfrm>
            <a:off x="5187391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التطوير</a:t>
            </a:r>
            <a:endParaRPr lang="ar-SA" sz="2000" dirty="0"/>
          </a:p>
        </p:txBody>
      </p:sp>
      <p:sp>
        <p:nvSpPr>
          <p:cNvPr id="25" name="fx2|en"/>
          <p:cNvSpPr txBox="1"/>
          <p:nvPr/>
        </p:nvSpPr>
        <p:spPr>
          <a:xfrm>
            <a:off x="5187391" y="3703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accent1"/>
                </a:solidFill>
              </a:rPr>
              <a:t>Development</a:t>
            </a:r>
            <a:endParaRPr lang="en-US" sz="1200" dirty="0"/>
          </a:p>
        </p:txBody>
      </p:sp>
      <p:sp>
        <p:nvSpPr>
          <p:cNvPr id="26" name="fx2|body"/>
          <p:cNvSpPr txBox="1"/>
          <p:nvPr/>
        </p:nvSpPr>
        <p:spPr>
          <a:xfrm>
            <a:off x="5233111" y="411480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برمجة التطبيق على مراحل</a:t>
            </a:r>
            <a:endParaRPr lang="ar-SA" sz="1400" dirty="0"/>
          </a:p>
        </p:txBody>
      </p:sp>
      <p:sp>
        <p:nvSpPr>
          <p:cNvPr id="27" name="fx2|arrow"/>
          <p:cNvSpPr/>
          <p:nvPr/>
        </p:nvSpPr>
        <p:spPr>
          <a:xfrm>
            <a:off x="4867351" y="3447288"/>
            <a:ext cx="201168" cy="274320"/>
          </a:xfrm>
          <a:prstGeom prst="lef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fx3|card"/>
          <p:cNvSpPr/>
          <p:nvPr/>
        </p:nvSpPr>
        <p:spPr>
          <a:xfrm>
            <a:off x="2828239" y="1965960"/>
            <a:ext cx="2011680" cy="3383280"/>
          </a:xfrm>
          <a:prstGeom prst="roundRect">
            <a:avLst>
              <a:gd name="adj" fmla="val 727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29" name="fx3|ic bg"/>
          <p:cNvSpPr/>
          <p:nvPr/>
        </p:nvSpPr>
        <p:spPr>
          <a:xfrm>
            <a:off x="3376879" y="2240280"/>
            <a:ext cx="914400" cy="914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30" name="fx3|ic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479" y="2468880"/>
            <a:ext cx="457200" cy="457200"/>
          </a:xfrm>
          <a:prstGeom prst="rect">
            <a:avLst/>
          </a:prstGeom>
        </p:spPr>
      </p:pic>
      <p:sp>
        <p:nvSpPr>
          <p:cNvPr id="31" name="fx3|num"/>
          <p:cNvSpPr txBox="1"/>
          <p:nvPr/>
        </p:nvSpPr>
        <p:spPr>
          <a:xfrm>
            <a:off x="2937967" y="20756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fx3|ar"/>
          <p:cNvSpPr txBox="1"/>
          <p:nvPr/>
        </p:nvSpPr>
        <p:spPr>
          <a:xfrm>
            <a:off x="2919679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الاختبار</a:t>
            </a:r>
            <a:endParaRPr lang="ar-SA" sz="2000" dirty="0"/>
          </a:p>
        </p:txBody>
      </p:sp>
      <p:sp>
        <p:nvSpPr>
          <p:cNvPr id="33" name="fx3|en"/>
          <p:cNvSpPr txBox="1"/>
          <p:nvPr/>
        </p:nvSpPr>
        <p:spPr>
          <a:xfrm>
            <a:off x="2919679" y="3703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accent1"/>
                </a:solidFill>
              </a:rPr>
              <a:t>Testing</a:t>
            </a:r>
            <a:endParaRPr lang="en-US" sz="1200" dirty="0"/>
          </a:p>
        </p:txBody>
      </p:sp>
      <p:sp>
        <p:nvSpPr>
          <p:cNvPr id="34" name="fx3|body"/>
          <p:cNvSpPr txBox="1"/>
          <p:nvPr/>
        </p:nvSpPr>
        <p:spPr>
          <a:xfrm>
            <a:off x="2965399" y="411480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اختبار كل مرحلة وإصلاح الأخطاء</a:t>
            </a:r>
            <a:endParaRPr lang="ar-SA" sz="1400" dirty="0"/>
          </a:p>
        </p:txBody>
      </p:sp>
      <p:sp>
        <p:nvSpPr>
          <p:cNvPr id="35" name="fx3|arrow"/>
          <p:cNvSpPr/>
          <p:nvPr/>
        </p:nvSpPr>
        <p:spPr>
          <a:xfrm>
            <a:off x="2599639" y="3447288"/>
            <a:ext cx="201168" cy="274320"/>
          </a:xfrm>
          <a:prstGeom prst="lef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fx4|card"/>
          <p:cNvSpPr/>
          <p:nvPr/>
        </p:nvSpPr>
        <p:spPr>
          <a:xfrm>
            <a:off x="560527" y="1965960"/>
            <a:ext cx="2011680" cy="3383280"/>
          </a:xfrm>
          <a:prstGeom prst="roundRect">
            <a:avLst>
              <a:gd name="adj" fmla="val 727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37" name="fx4|ic bg"/>
          <p:cNvSpPr/>
          <p:nvPr/>
        </p:nvSpPr>
        <p:spPr>
          <a:xfrm>
            <a:off x="1109167" y="2240280"/>
            <a:ext cx="914400" cy="914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38" name="fx4|ic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7767" y="2468880"/>
            <a:ext cx="457200" cy="457200"/>
          </a:xfrm>
          <a:prstGeom prst="rect">
            <a:avLst/>
          </a:prstGeom>
        </p:spPr>
      </p:pic>
      <p:sp>
        <p:nvSpPr>
          <p:cNvPr id="39" name="fx4|num"/>
          <p:cNvSpPr txBox="1"/>
          <p:nvPr/>
        </p:nvSpPr>
        <p:spPr>
          <a:xfrm>
            <a:off x="670255" y="2075688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5</a:t>
            </a:r>
            <a:endParaRPr lang="en-US" sz="1300" dirty="0"/>
          </a:p>
        </p:txBody>
      </p:sp>
      <p:sp>
        <p:nvSpPr>
          <p:cNvPr id="40" name="fx4|ar"/>
          <p:cNvSpPr txBox="1"/>
          <p:nvPr/>
        </p:nvSpPr>
        <p:spPr>
          <a:xfrm>
            <a:off x="651967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التسليم</a:t>
            </a:r>
            <a:endParaRPr lang="ar-SA" sz="2000" dirty="0"/>
          </a:p>
        </p:txBody>
      </p:sp>
      <p:sp>
        <p:nvSpPr>
          <p:cNvPr id="41" name="fx4|en"/>
          <p:cNvSpPr txBox="1"/>
          <p:nvPr/>
        </p:nvSpPr>
        <p:spPr>
          <a:xfrm>
            <a:off x="651967" y="3703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accent1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42" name="fx4|body"/>
          <p:cNvSpPr txBox="1"/>
          <p:nvPr/>
        </p:nvSpPr>
        <p:spPr>
          <a:xfrm>
            <a:off x="697687" y="411480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إطلاق النسخة النهائية</a:t>
            </a:r>
            <a:endParaRPr lang="ar-SA" sz="1400" dirty="0"/>
          </a:p>
        </p:txBody>
      </p:sp>
      <p:sp>
        <p:nvSpPr>
          <p:cNvPr id="43" name="fx5|loop"/>
          <p:cNvSpPr txBox="1"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500" dirty="0">
                <a:solidFill>
                  <a:schemeClr val="accent2"/>
                </a:solidFill>
              </a:rPr>
              <a:t>تتكرر الدورة في كل مرحلة حتى اكتمال النظام</a:t>
            </a:r>
            <a:endParaRPr lang="ar-SA" sz="1500" dirty="0"/>
          </a:p>
          <a:p>
            <a:pPr algn="ctr" indent="0" marL="0">
              <a:buNone/>
            </a:pPr>
            <a:r>
              <a:rPr lang="ar-SA" altLang="en-US" sz="1200" dirty="0">
                <a:solidFill>
                  <a:schemeClr val="bg2"/>
                </a:solidFill>
              </a:rPr>
              <a:t>Repeated each iteration until the system is complete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6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0" dur="6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4" dur="6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8" dur="6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2" dur="6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6" dur="6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0" dur="6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4" dur="6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معمارية النظام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System Architecture — 3 Layers</a:t>
            </a:r>
            <a:endParaRPr lang="en-US" sz="1600" dirty="0"/>
          </a:p>
        </p:txBody>
      </p:sp>
      <p:pic>
        <p:nvPicPr>
          <p:cNvPr id="4" name="3D layers" descr="img/iso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4343400" cy="4864608"/>
          </a:xfrm>
          <a:prstGeom prst="rect">
            <a:avLst/>
          </a:prstGeom>
        </p:spPr>
      </p:pic>
      <p:sp>
        <p:nvSpPr>
          <p:cNvPr id="5" name="fx0|card"/>
          <p:cNvSpPr/>
          <p:nvPr/>
        </p:nvSpPr>
        <p:spPr>
          <a:xfrm>
            <a:off x="5669280" y="1691640"/>
            <a:ext cx="5971032" cy="1325880"/>
          </a:xfrm>
          <a:prstGeom prst="roundRect">
            <a:avLst>
              <a:gd name="adj" fmla="val 11034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fx0|ic bg"/>
          <p:cNvSpPr/>
          <p:nvPr/>
        </p:nvSpPr>
        <p:spPr>
          <a:xfrm>
            <a:off x="10588752" y="1938528"/>
            <a:ext cx="822960" cy="82296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7" name="fx0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4492" y="2144268"/>
            <a:ext cx="411480" cy="411480"/>
          </a:xfrm>
          <a:prstGeom prst="rect">
            <a:avLst/>
          </a:prstGeom>
        </p:spPr>
      </p:pic>
      <p:sp>
        <p:nvSpPr>
          <p:cNvPr id="8" name="fx0|title"/>
          <p:cNvSpPr txBox="1"/>
          <p:nvPr/>
        </p:nvSpPr>
        <p:spPr>
          <a:xfrm>
            <a:off x="589788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900" b="1" dirty="0">
                <a:solidFill>
                  <a:schemeClr val="bg1"/>
                </a:solidFill>
              </a:rPr>
              <a:t>طبقة العرض</a:t>
            </a:r>
            <a:pPr algn="r" indent="0" marL="0">
              <a:buNone/>
            </a:pPr>
            <a:r>
              <a:rPr lang="ar-SA" altLang="en-US" sz="1300" dirty="0">
                <a:solidFill>
                  <a:schemeClr val="accent1"/>
                </a:solidFill>
              </a:rPr>
              <a:t>   Presentation Layer</a:t>
            </a:r>
            <a:endParaRPr lang="ar-SA" sz="1900" dirty="0"/>
          </a:p>
        </p:txBody>
      </p:sp>
      <p:sp>
        <p:nvSpPr>
          <p:cNvPr id="9" name="fx0|body"/>
          <p:cNvSpPr txBox="1"/>
          <p:nvPr/>
        </p:nvSpPr>
        <p:spPr>
          <a:xfrm>
            <a:off x="5897880" y="22860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واجهات Flutter: تسجيل الدخول، لوحات التحكم، شاشة الاختبار</a:t>
            </a:r>
            <a:endParaRPr lang="ar-SA" sz="1400" dirty="0"/>
          </a:p>
        </p:txBody>
      </p:sp>
      <p:sp>
        <p:nvSpPr>
          <p:cNvPr id="10" name="fx1|card"/>
          <p:cNvSpPr/>
          <p:nvPr/>
        </p:nvSpPr>
        <p:spPr>
          <a:xfrm>
            <a:off x="5669280" y="3200400"/>
            <a:ext cx="5971032" cy="1325880"/>
          </a:xfrm>
          <a:prstGeom prst="roundRect">
            <a:avLst>
              <a:gd name="adj" fmla="val 11034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3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fx1|ic bg"/>
          <p:cNvSpPr/>
          <p:nvPr/>
        </p:nvSpPr>
        <p:spPr>
          <a:xfrm>
            <a:off x="10588752" y="3447288"/>
            <a:ext cx="822960" cy="82296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12" name="fx1|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4492" y="3653028"/>
            <a:ext cx="411480" cy="411480"/>
          </a:xfrm>
          <a:prstGeom prst="rect">
            <a:avLst/>
          </a:prstGeom>
        </p:spPr>
      </p:pic>
      <p:sp>
        <p:nvSpPr>
          <p:cNvPr id="13" name="fx1|title"/>
          <p:cNvSpPr txBox="1"/>
          <p:nvPr/>
        </p:nvSpPr>
        <p:spPr>
          <a:xfrm>
            <a:off x="5897880" y="3337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900" b="1" dirty="0">
                <a:solidFill>
                  <a:schemeClr val="bg1"/>
                </a:solidFill>
              </a:rPr>
              <a:t>طبقة منطق العمل</a:t>
            </a:r>
            <a:pPr algn="r" indent="0" marL="0">
              <a:buNone/>
            </a:pPr>
            <a:r>
              <a:rPr lang="ar-SA" altLang="en-US" sz="1300" dirty="0">
                <a:solidFill>
                  <a:schemeClr val="accent3"/>
                </a:solidFill>
              </a:rPr>
              <a:t>   Business Logic Layer</a:t>
            </a:r>
            <a:endParaRPr lang="ar-SA" sz="1900" dirty="0"/>
          </a:p>
        </p:txBody>
      </p:sp>
      <p:sp>
        <p:nvSpPr>
          <p:cNvPr id="14" name="fx1|body"/>
          <p:cNvSpPr txBox="1"/>
          <p:nvPr/>
        </p:nvSpPr>
        <p:spPr>
          <a:xfrm>
            <a:off x="5897880" y="37947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قواعد التطبيق بلغة Dart: إنشاء الاختبار، التصحيح، حساب النتائج</a:t>
            </a:r>
            <a:endParaRPr lang="ar-SA" sz="1400" dirty="0"/>
          </a:p>
        </p:txBody>
      </p:sp>
      <p:sp>
        <p:nvSpPr>
          <p:cNvPr id="15" name="fx2|card"/>
          <p:cNvSpPr/>
          <p:nvPr/>
        </p:nvSpPr>
        <p:spPr>
          <a:xfrm>
            <a:off x="5669280" y="4709160"/>
            <a:ext cx="5971032" cy="1325880"/>
          </a:xfrm>
          <a:prstGeom prst="roundRect">
            <a:avLst>
              <a:gd name="adj" fmla="val 11034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6" name="fx2|ic bg"/>
          <p:cNvSpPr/>
          <p:nvPr/>
        </p:nvSpPr>
        <p:spPr>
          <a:xfrm>
            <a:off x="10588752" y="4956048"/>
            <a:ext cx="822960" cy="82296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7" name="fx2|ic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4492" y="5161788"/>
            <a:ext cx="411480" cy="411480"/>
          </a:xfrm>
          <a:prstGeom prst="rect">
            <a:avLst/>
          </a:prstGeom>
        </p:spPr>
      </p:pic>
      <p:sp>
        <p:nvSpPr>
          <p:cNvPr id="18" name="fx2|title"/>
          <p:cNvSpPr txBox="1"/>
          <p:nvPr/>
        </p:nvSpPr>
        <p:spPr>
          <a:xfrm>
            <a:off x="5897880" y="4846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900" b="1" dirty="0">
                <a:solidFill>
                  <a:schemeClr val="bg1"/>
                </a:solidFill>
              </a:rPr>
              <a:t>طبقة البيانات</a:t>
            </a:r>
            <a:pPr algn="r" indent="0" marL="0">
              <a:buNone/>
            </a:pPr>
            <a:r>
              <a:rPr lang="ar-SA" altLang="en-US" sz="1300" dirty="0">
                <a:solidFill>
                  <a:schemeClr val="accent2"/>
                </a:solidFill>
              </a:rPr>
              <a:t>   Data Layer</a:t>
            </a:r>
            <a:endParaRPr lang="ar-SA" sz="1900" dirty="0"/>
          </a:p>
        </p:txBody>
      </p:sp>
      <p:sp>
        <p:nvSpPr>
          <p:cNvPr id="19" name="fx2|body"/>
          <p:cNvSpPr txBox="1"/>
          <p:nvPr/>
        </p:nvSpPr>
        <p:spPr>
          <a:xfrm>
            <a:off x="5897880" y="53035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قاعدة بيانات SQLite عبر DB Helper لتخزين المستخدمين والاختبارات والنتائج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مخطط حالات الاستخدام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Use Case Diagram</a:t>
            </a:r>
            <a:endParaRPr lang="en-US" sz="1600" dirty="0"/>
          </a:p>
        </p:txBody>
      </p:sp>
      <p:sp>
        <p:nvSpPr>
          <p:cNvPr id="4" name="System boundary"/>
          <p:cNvSpPr/>
          <p:nvPr/>
        </p:nvSpPr>
        <p:spPr>
          <a:xfrm>
            <a:off x="2788920" y="1554480"/>
            <a:ext cx="6629400" cy="4800600"/>
          </a:xfrm>
          <a:prstGeom prst="roundRect">
            <a:avLst>
              <a:gd name="adj" fmla="val 3810"/>
            </a:avLst>
          </a:prstGeom>
          <a:solidFill>
            <a:schemeClr val="tx2">
              <a:alpha val="55000"/>
            </a:schemeClr>
          </a:solidFill>
          <a:ln w="15875">
            <a:solidFill>
              <a:schemeClr val="accent1">
                <a:alpha val="60000"/>
              </a:schemeClr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2971800" y="1627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200" dirty="0">
                <a:solidFill>
                  <a:schemeClr val="accent1"/>
                </a:solidFill>
              </a:rPr>
              <a:t>النظام  •  System</a:t>
            </a:r>
            <a:endParaRPr lang="ar-SA" sz="1200" dirty="0"/>
          </a:p>
        </p:txBody>
      </p:sp>
      <p:sp>
        <p:nvSpPr>
          <p:cNvPr id="6" name="fx3|link admin-login"/>
          <p:cNvSpPr/>
          <p:nvPr/>
        </p:nvSpPr>
        <p:spPr>
          <a:xfrm flipV="1">
            <a:off x="6057900" y="2377440"/>
            <a:ext cx="4777740" cy="1353312"/>
          </a:xfrm>
          <a:prstGeom prst="line">
            <a:avLst/>
          </a:prstGeom>
          <a:noFill/>
          <a:ln w="15875">
            <a:solidFill>
              <a:schemeClr val="accent2">
                <a:alpha val="70000"/>
              </a:schemeClr>
            </a:solidFill>
            <a:prstDash val="solid"/>
          </a:ln>
        </p:spPr>
      </p:sp>
      <p:sp>
        <p:nvSpPr>
          <p:cNvPr id="7" name="fx3|link admin-users"/>
          <p:cNvSpPr/>
          <p:nvPr/>
        </p:nvSpPr>
        <p:spPr>
          <a:xfrm>
            <a:off x="7840980" y="2313432"/>
            <a:ext cx="2994660" cy="64008"/>
          </a:xfrm>
          <a:prstGeom prst="line">
            <a:avLst/>
          </a:prstGeom>
          <a:noFill/>
          <a:ln w="15875">
            <a:solidFill>
              <a:schemeClr val="accent2">
                <a:alpha val="70000"/>
              </a:schemeClr>
            </a:solidFill>
            <a:prstDash val="solid"/>
          </a:ln>
        </p:spPr>
      </p:sp>
      <p:sp>
        <p:nvSpPr>
          <p:cNvPr id="8" name="fx3|link admin-subjects"/>
          <p:cNvSpPr/>
          <p:nvPr/>
        </p:nvSpPr>
        <p:spPr>
          <a:xfrm flipV="1">
            <a:off x="7840980" y="2377440"/>
            <a:ext cx="2994660" cy="667512"/>
          </a:xfrm>
          <a:prstGeom prst="line">
            <a:avLst/>
          </a:prstGeom>
          <a:noFill/>
          <a:ln w="15875">
            <a:solidFill>
              <a:schemeClr val="accent2">
                <a:alpha val="70000"/>
              </a:schemeClr>
            </a:solidFill>
            <a:prstDash val="solid"/>
          </a:ln>
        </p:spPr>
      </p:sp>
      <p:sp>
        <p:nvSpPr>
          <p:cNvPr id="9" name="fx3|link teacher-login"/>
          <p:cNvSpPr/>
          <p:nvPr/>
        </p:nvSpPr>
        <p:spPr>
          <a:xfrm>
            <a:off x="6057900" y="3730752"/>
            <a:ext cx="4777740" cy="978408"/>
          </a:xfrm>
          <a:prstGeom prst="line">
            <a:avLst/>
          </a:prstGeom>
          <a:noFill/>
          <a:ln w="15875">
            <a:solidFill>
              <a:schemeClr val="accent1">
                <a:alpha val="70000"/>
              </a:schemeClr>
            </a:solidFill>
            <a:prstDash val="solid"/>
          </a:ln>
        </p:spPr>
      </p:sp>
      <p:sp>
        <p:nvSpPr>
          <p:cNvPr id="10" name="fx3|link teacher-create"/>
          <p:cNvSpPr/>
          <p:nvPr/>
        </p:nvSpPr>
        <p:spPr>
          <a:xfrm>
            <a:off x="7840980" y="4416552"/>
            <a:ext cx="2994660" cy="292608"/>
          </a:xfrm>
          <a:prstGeom prst="line">
            <a:avLst/>
          </a:prstGeom>
          <a:noFill/>
          <a:ln w="15875">
            <a:solidFill>
              <a:schemeClr val="accent1">
                <a:alpha val="70000"/>
              </a:schemeClr>
            </a:solidFill>
            <a:prstDash val="solid"/>
          </a:ln>
        </p:spPr>
      </p:sp>
      <p:sp>
        <p:nvSpPr>
          <p:cNvPr id="11" name="fx3|link teacher-bank"/>
          <p:cNvSpPr/>
          <p:nvPr/>
        </p:nvSpPr>
        <p:spPr>
          <a:xfrm flipV="1">
            <a:off x="7840980" y="4709160"/>
            <a:ext cx="2994660" cy="438912"/>
          </a:xfrm>
          <a:prstGeom prst="line">
            <a:avLst/>
          </a:prstGeom>
          <a:noFill/>
          <a:ln w="15875">
            <a:solidFill>
              <a:schemeClr val="accent1">
                <a:alpha val="70000"/>
              </a:schemeClr>
            </a:solidFill>
            <a:prstDash val="solid"/>
          </a:ln>
        </p:spPr>
      </p:sp>
      <p:sp>
        <p:nvSpPr>
          <p:cNvPr id="12" name="fx3|link teacher-results"/>
          <p:cNvSpPr/>
          <p:nvPr/>
        </p:nvSpPr>
        <p:spPr>
          <a:xfrm flipV="1">
            <a:off x="4366260" y="4709160"/>
            <a:ext cx="6469380" cy="850392"/>
          </a:xfrm>
          <a:prstGeom prst="line">
            <a:avLst/>
          </a:prstGeom>
          <a:noFill/>
          <a:ln w="15875">
            <a:solidFill>
              <a:schemeClr val="accent1">
                <a:alpha val="70000"/>
              </a:schemeClr>
            </a:solidFill>
            <a:prstDash val="solid"/>
          </a:ln>
        </p:spPr>
      </p:sp>
      <p:sp>
        <p:nvSpPr>
          <p:cNvPr id="13" name="fx3|link student-login"/>
          <p:cNvSpPr/>
          <p:nvPr/>
        </p:nvSpPr>
        <p:spPr>
          <a:xfrm flipV="1">
            <a:off x="1417320" y="3730752"/>
            <a:ext cx="4640580" cy="18288"/>
          </a:xfrm>
          <a:prstGeom prst="line">
            <a:avLst/>
          </a:prstGeom>
          <a:noFill/>
          <a:ln w="15875">
            <a:solidFill>
              <a:schemeClr val="accent4">
                <a:alpha val="70000"/>
              </a:schemeClr>
            </a:solidFill>
            <a:prstDash val="solid"/>
          </a:ln>
        </p:spPr>
      </p:sp>
      <p:sp>
        <p:nvSpPr>
          <p:cNvPr id="14" name="fx3|link student-take"/>
          <p:cNvSpPr/>
          <p:nvPr/>
        </p:nvSpPr>
        <p:spPr>
          <a:xfrm flipV="1">
            <a:off x="1417320" y="2633472"/>
            <a:ext cx="2948940" cy="1115568"/>
          </a:xfrm>
          <a:prstGeom prst="line">
            <a:avLst/>
          </a:prstGeom>
          <a:noFill/>
          <a:ln w="15875">
            <a:solidFill>
              <a:schemeClr val="accent4">
                <a:alpha val="70000"/>
              </a:schemeClr>
            </a:solidFill>
            <a:prstDash val="solid"/>
          </a:ln>
        </p:spPr>
      </p:sp>
      <p:sp>
        <p:nvSpPr>
          <p:cNvPr id="15" name="fx3|link student-results"/>
          <p:cNvSpPr/>
          <p:nvPr/>
        </p:nvSpPr>
        <p:spPr>
          <a:xfrm>
            <a:off x="1417320" y="3749040"/>
            <a:ext cx="2948940" cy="1810512"/>
          </a:xfrm>
          <a:prstGeom prst="line">
            <a:avLst/>
          </a:prstGeom>
          <a:noFill/>
          <a:ln w="15875">
            <a:solidFill>
              <a:schemeClr val="accent4">
                <a:alpha val="70000"/>
              </a:schemeClr>
            </a:solidFill>
            <a:prstDash val="solid"/>
          </a:ln>
        </p:spPr>
      </p:sp>
      <p:sp>
        <p:nvSpPr>
          <p:cNvPr id="16" name="fx4|uc login"/>
          <p:cNvSpPr/>
          <p:nvPr/>
        </p:nvSpPr>
        <p:spPr>
          <a:xfrm>
            <a:off x="4754880" y="3429000"/>
            <a:ext cx="2606040" cy="603504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fx4|uc login text"/>
          <p:cNvSpPr txBox="1"/>
          <p:nvPr/>
        </p:nvSpPr>
        <p:spPr>
          <a:xfrm>
            <a:off x="4754880" y="342900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تسجيل الدخول</a:t>
            </a:r>
            <a:endParaRPr lang="ar-SA" sz="1400" dirty="0"/>
          </a:p>
          <a:p>
            <a:pPr algn="ctr" indent="0" marL="0">
              <a:buNone/>
            </a:pPr>
            <a:r>
              <a:rPr lang="ar-SA" altLang="en-US" sz="1000" dirty="0">
                <a:solidFill>
                  <a:schemeClr val="bg2"/>
                </a:solidFill>
              </a:rPr>
              <a:t>Login</a:t>
            </a:r>
            <a:endParaRPr lang="ar-SA" sz="1400" dirty="0"/>
          </a:p>
        </p:txBody>
      </p:sp>
      <p:sp>
        <p:nvSpPr>
          <p:cNvPr id="18" name="fx4|uc users"/>
          <p:cNvSpPr/>
          <p:nvPr/>
        </p:nvSpPr>
        <p:spPr>
          <a:xfrm>
            <a:off x="6537960" y="2011680"/>
            <a:ext cx="2606040" cy="603504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9" name="fx4|uc users text"/>
          <p:cNvSpPr txBox="1"/>
          <p:nvPr/>
        </p:nvSpPr>
        <p:spPr>
          <a:xfrm>
            <a:off x="6537960" y="201168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إدارة المستخدمين</a:t>
            </a:r>
            <a:endParaRPr lang="ar-SA" sz="1400" dirty="0"/>
          </a:p>
          <a:p>
            <a:pPr algn="ctr" indent="0" marL="0">
              <a:buNone/>
            </a:pPr>
            <a:r>
              <a:rPr lang="ar-SA" altLang="en-US" sz="1000" dirty="0">
                <a:solidFill>
                  <a:schemeClr val="bg2"/>
                </a:solidFill>
              </a:rPr>
              <a:t>Manage Users</a:t>
            </a:r>
            <a:endParaRPr lang="ar-SA" sz="1400" dirty="0"/>
          </a:p>
        </p:txBody>
      </p:sp>
      <p:sp>
        <p:nvSpPr>
          <p:cNvPr id="20" name="fx4|uc subjects"/>
          <p:cNvSpPr/>
          <p:nvPr/>
        </p:nvSpPr>
        <p:spPr>
          <a:xfrm>
            <a:off x="6537960" y="2743200"/>
            <a:ext cx="2606040" cy="603504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1" name="fx4|uc subjects text"/>
          <p:cNvSpPr txBox="1"/>
          <p:nvPr/>
        </p:nvSpPr>
        <p:spPr>
          <a:xfrm>
            <a:off x="6537960" y="274320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إدارة المواد</a:t>
            </a:r>
            <a:endParaRPr lang="ar-SA" sz="1400" dirty="0"/>
          </a:p>
          <a:p>
            <a:pPr algn="ctr" indent="0" marL="0">
              <a:buNone/>
            </a:pPr>
            <a:r>
              <a:rPr lang="ar-SA" altLang="en-US" sz="1000" dirty="0">
                <a:solidFill>
                  <a:schemeClr val="bg2"/>
                </a:solidFill>
              </a:rPr>
              <a:t>Manage Subjects</a:t>
            </a:r>
            <a:endParaRPr lang="ar-SA" sz="1400" dirty="0"/>
          </a:p>
        </p:txBody>
      </p:sp>
      <p:sp>
        <p:nvSpPr>
          <p:cNvPr id="22" name="fx4|uc create"/>
          <p:cNvSpPr/>
          <p:nvPr/>
        </p:nvSpPr>
        <p:spPr>
          <a:xfrm>
            <a:off x="6537960" y="4114800"/>
            <a:ext cx="2606040" cy="603504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3" name="fx4|uc create text"/>
          <p:cNvSpPr txBox="1"/>
          <p:nvPr/>
        </p:nvSpPr>
        <p:spPr>
          <a:xfrm>
            <a:off x="6537960" y="411480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إنشاء الاختبارات</a:t>
            </a:r>
            <a:endParaRPr lang="ar-SA" sz="1400" dirty="0"/>
          </a:p>
          <a:p>
            <a:pPr algn="ctr" indent="0" marL="0">
              <a:buNone/>
            </a:pPr>
            <a:r>
              <a:rPr lang="ar-SA" altLang="en-US" sz="1000" dirty="0">
                <a:solidFill>
                  <a:schemeClr val="bg2"/>
                </a:solidFill>
              </a:rPr>
              <a:t>Create Exams</a:t>
            </a:r>
            <a:endParaRPr lang="ar-SA" sz="1400" dirty="0"/>
          </a:p>
        </p:txBody>
      </p:sp>
      <p:sp>
        <p:nvSpPr>
          <p:cNvPr id="24" name="fx4|uc bank"/>
          <p:cNvSpPr/>
          <p:nvPr/>
        </p:nvSpPr>
        <p:spPr>
          <a:xfrm>
            <a:off x="6537960" y="4846320"/>
            <a:ext cx="2606040" cy="603504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5" name="fx4|uc bank text"/>
          <p:cNvSpPr txBox="1"/>
          <p:nvPr/>
        </p:nvSpPr>
        <p:spPr>
          <a:xfrm>
            <a:off x="6537960" y="484632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بنك الأسئلة</a:t>
            </a:r>
            <a:endParaRPr lang="ar-SA" sz="1400" dirty="0"/>
          </a:p>
          <a:p>
            <a:pPr algn="ctr" indent="0" marL="0">
              <a:buNone/>
            </a:pPr>
            <a:r>
              <a:rPr lang="ar-SA" altLang="en-US" sz="1000" dirty="0">
                <a:solidFill>
                  <a:schemeClr val="bg2"/>
                </a:solidFill>
              </a:rPr>
              <a:t>Question Bank</a:t>
            </a:r>
            <a:endParaRPr lang="ar-SA" sz="1400" dirty="0"/>
          </a:p>
        </p:txBody>
      </p:sp>
      <p:sp>
        <p:nvSpPr>
          <p:cNvPr id="26" name="fx4|uc take"/>
          <p:cNvSpPr/>
          <p:nvPr/>
        </p:nvSpPr>
        <p:spPr>
          <a:xfrm>
            <a:off x="3063240" y="2331720"/>
            <a:ext cx="2606040" cy="603504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7" name="fx4|uc take text"/>
          <p:cNvSpPr txBox="1"/>
          <p:nvPr/>
        </p:nvSpPr>
        <p:spPr>
          <a:xfrm>
            <a:off x="3063240" y="233172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أداء الاختبار</a:t>
            </a:r>
            <a:endParaRPr lang="ar-SA" sz="1400" dirty="0"/>
          </a:p>
          <a:p>
            <a:pPr algn="ctr" indent="0" marL="0">
              <a:buNone/>
            </a:pPr>
            <a:r>
              <a:rPr lang="ar-SA" altLang="en-US" sz="1000" dirty="0">
                <a:solidFill>
                  <a:schemeClr val="bg2"/>
                </a:solidFill>
              </a:rPr>
              <a:t>Take Exam</a:t>
            </a:r>
            <a:endParaRPr lang="ar-SA" sz="1400" dirty="0"/>
          </a:p>
        </p:txBody>
      </p:sp>
      <p:sp>
        <p:nvSpPr>
          <p:cNvPr id="28" name="fx4|uc results"/>
          <p:cNvSpPr/>
          <p:nvPr/>
        </p:nvSpPr>
        <p:spPr>
          <a:xfrm>
            <a:off x="3063240" y="5257800"/>
            <a:ext cx="2606040" cy="603504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9" name="fx4|uc results text"/>
          <p:cNvSpPr txBox="1"/>
          <p:nvPr/>
        </p:nvSpPr>
        <p:spPr>
          <a:xfrm>
            <a:off x="3063240" y="5257800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1400" b="1" dirty="0">
                <a:solidFill>
                  <a:schemeClr val="bg1"/>
                </a:solidFill>
              </a:rPr>
              <a:t>عرض النتائج</a:t>
            </a:r>
            <a:endParaRPr lang="ar-SA" sz="1400" dirty="0"/>
          </a:p>
          <a:p>
            <a:pPr algn="ctr" indent="0" marL="0">
              <a:buNone/>
            </a:pPr>
            <a:r>
              <a:rPr lang="ar-SA" altLang="en-US" sz="1000" dirty="0">
                <a:solidFill>
                  <a:schemeClr val="bg2"/>
                </a:solidFill>
              </a:rPr>
              <a:t>View Results</a:t>
            </a:r>
            <a:endParaRPr lang="ar-SA" sz="1400" dirty="0"/>
          </a:p>
        </p:txBody>
      </p:sp>
      <p:sp>
        <p:nvSpPr>
          <p:cNvPr id="30" name="fx0|actor admin"/>
          <p:cNvSpPr/>
          <p:nvPr/>
        </p:nvSpPr>
        <p:spPr>
          <a:xfrm>
            <a:off x="10378440" y="1920240"/>
            <a:ext cx="914400" cy="914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2"/>
            </a:solidFill>
            <a:prstDash val="solid"/>
          </a:ln>
        </p:spPr>
      </p:sp>
      <p:pic>
        <p:nvPicPr>
          <p:cNvPr id="31" name="fx0|actor admi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28" y="2121408"/>
            <a:ext cx="420624" cy="420624"/>
          </a:xfrm>
          <a:prstGeom prst="rect">
            <a:avLst/>
          </a:prstGeom>
        </p:spPr>
      </p:pic>
      <p:sp>
        <p:nvSpPr>
          <p:cNvPr id="32" name="fx0|actor admin label"/>
          <p:cNvSpPr txBox="1"/>
          <p:nvPr/>
        </p:nvSpPr>
        <p:spPr>
          <a:xfrm>
            <a:off x="10012680" y="28803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المدير</a:t>
            </a:r>
            <a:endParaRPr lang="ar-SA" sz="1500" dirty="0"/>
          </a:p>
          <a:p>
            <a:pPr algn="ctr" indent="0" marL="0">
              <a:buNone/>
            </a:pPr>
            <a:r>
              <a:rPr lang="ar-SA" altLang="en-US" sz="1100" dirty="0">
                <a:solidFill>
                  <a:schemeClr val="accent2"/>
                </a:solidFill>
              </a:rPr>
              <a:t>Admin</a:t>
            </a:r>
            <a:endParaRPr lang="ar-SA" sz="1500" dirty="0"/>
          </a:p>
        </p:txBody>
      </p:sp>
      <p:sp>
        <p:nvSpPr>
          <p:cNvPr id="33" name="fx1|actor teacher"/>
          <p:cNvSpPr/>
          <p:nvPr/>
        </p:nvSpPr>
        <p:spPr>
          <a:xfrm>
            <a:off x="10378440" y="4251960"/>
            <a:ext cx="914400" cy="914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34" name="fx1|actor teacher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4453128"/>
            <a:ext cx="420624" cy="420624"/>
          </a:xfrm>
          <a:prstGeom prst="rect">
            <a:avLst/>
          </a:prstGeom>
        </p:spPr>
      </p:pic>
      <p:sp>
        <p:nvSpPr>
          <p:cNvPr id="35" name="fx1|actor teacher label"/>
          <p:cNvSpPr txBox="1"/>
          <p:nvPr/>
        </p:nvSpPr>
        <p:spPr>
          <a:xfrm>
            <a:off x="10012680" y="5212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المعلم</a:t>
            </a:r>
            <a:endParaRPr lang="ar-SA" sz="1500" dirty="0"/>
          </a:p>
          <a:p>
            <a:pPr algn="ctr" indent="0" marL="0">
              <a:buNone/>
            </a:pPr>
            <a:r>
              <a:rPr lang="ar-SA" altLang="en-US" sz="1100" dirty="0">
                <a:solidFill>
                  <a:schemeClr val="accent1"/>
                </a:solidFill>
              </a:rPr>
              <a:t>Teacher</a:t>
            </a:r>
            <a:endParaRPr lang="ar-SA" sz="1500" dirty="0"/>
          </a:p>
        </p:txBody>
      </p:sp>
      <p:sp>
        <p:nvSpPr>
          <p:cNvPr id="36" name="fx2|actor student"/>
          <p:cNvSpPr/>
          <p:nvPr/>
        </p:nvSpPr>
        <p:spPr>
          <a:xfrm>
            <a:off x="960120" y="3291840"/>
            <a:ext cx="914400" cy="914400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4"/>
            </a:solidFill>
            <a:prstDash val="solid"/>
          </a:ln>
        </p:spPr>
      </p:sp>
      <p:pic>
        <p:nvPicPr>
          <p:cNvPr id="37" name="fx2|actor studen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3493008"/>
            <a:ext cx="420624" cy="420624"/>
          </a:xfrm>
          <a:prstGeom prst="rect">
            <a:avLst/>
          </a:prstGeom>
        </p:spPr>
      </p:pic>
      <p:sp>
        <p:nvSpPr>
          <p:cNvPr id="38" name="fx2|actor student label"/>
          <p:cNvSpPr txBox="1"/>
          <p:nvPr/>
        </p:nvSpPr>
        <p:spPr>
          <a:xfrm>
            <a:off x="594360" y="4251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الطالب</a:t>
            </a:r>
            <a:endParaRPr lang="ar-SA" sz="1500" dirty="0"/>
          </a:p>
          <a:p>
            <a:pPr algn="ctr" indent="0" marL="0">
              <a:buNone/>
            </a:pPr>
            <a:r>
              <a:rPr lang="ar-SA" altLang="en-US" sz="1100" dirty="0">
                <a:solidFill>
                  <a:schemeClr val="accent4"/>
                </a:solidFill>
              </a:rPr>
              <a:t>Student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6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6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6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5" grpId="0" animBg="1"/>
      <p:bldP spid="36" grpId="0" animBg="1"/>
      <p:bldP spid="3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مخطط قاعدة البيانات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Entity Relationship Diagram (ERD)</a:t>
            </a:r>
            <a:endParaRPr lang="en-US" sz="1600" dirty="0"/>
          </a:p>
        </p:txBody>
      </p:sp>
      <p:sp>
        <p:nvSpPr>
          <p:cNvPr id="4" name="fx5|rel users-subjects"/>
          <p:cNvSpPr/>
          <p:nvPr/>
        </p:nvSpPr>
        <p:spPr>
          <a:xfrm>
            <a:off x="7397496" y="2423160"/>
            <a:ext cx="1636776" cy="914"/>
          </a:xfrm>
          <a:prstGeom prst="line">
            <a:avLst/>
          </a:prstGeom>
          <a:noFill/>
          <a:ln w="15875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5" name="fx5|rel users-subjects 1"/>
          <p:cNvSpPr txBox="1"/>
          <p:nvPr/>
        </p:nvSpPr>
        <p:spPr>
          <a:xfrm>
            <a:off x="8714232" y="2093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fx5|rel users-subjects N"/>
          <p:cNvSpPr txBox="1"/>
          <p:nvPr/>
        </p:nvSpPr>
        <p:spPr>
          <a:xfrm>
            <a:off x="7443216" y="2093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accent2"/>
                </a:solidFill>
              </a:rPr>
              <a:t>N</a:t>
            </a:r>
            <a:endParaRPr lang="en-US" sz="1200" dirty="0"/>
          </a:p>
        </p:txBody>
      </p:sp>
      <p:sp>
        <p:nvSpPr>
          <p:cNvPr id="7" name="fx5|rel subjects-tests"/>
          <p:cNvSpPr/>
          <p:nvPr/>
        </p:nvSpPr>
        <p:spPr>
          <a:xfrm>
            <a:off x="6094476" y="2990088"/>
            <a:ext cx="914" cy="1078992"/>
          </a:xfrm>
          <a:prstGeom prst="line">
            <a:avLst/>
          </a:prstGeom>
          <a:noFill/>
          <a:ln w="15875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8" name="fx5|rel subjects-tests 1"/>
          <p:cNvSpPr txBox="1"/>
          <p:nvPr/>
        </p:nvSpPr>
        <p:spPr>
          <a:xfrm>
            <a:off x="6167628" y="3008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fx5|rel subjects-tests N"/>
          <p:cNvSpPr txBox="1"/>
          <p:nvPr/>
        </p:nvSpPr>
        <p:spPr>
          <a:xfrm>
            <a:off x="5747004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200" b="1" dirty="0">
                <a:solidFill>
                  <a:schemeClr val="accent2"/>
                </a:solidFill>
              </a:rPr>
              <a:t>N</a:t>
            </a:r>
            <a:endParaRPr lang="en-US" sz="1200" dirty="0"/>
          </a:p>
        </p:txBody>
      </p:sp>
      <p:sp>
        <p:nvSpPr>
          <p:cNvPr id="10" name="fx5|rel tests-questions"/>
          <p:cNvSpPr/>
          <p:nvPr/>
        </p:nvSpPr>
        <p:spPr>
          <a:xfrm>
            <a:off x="3154680" y="4892040"/>
            <a:ext cx="1636776" cy="914"/>
          </a:xfrm>
          <a:prstGeom prst="line">
            <a:avLst/>
          </a:prstGeom>
          <a:noFill/>
          <a:ln w="15875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11" name="fx5|rel tests-questions 1"/>
          <p:cNvSpPr txBox="1"/>
          <p:nvPr/>
        </p:nvSpPr>
        <p:spPr>
          <a:xfrm>
            <a:off x="4471416" y="4562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fx5|rel tests-questions N"/>
          <p:cNvSpPr txBox="1"/>
          <p:nvPr/>
        </p:nvSpPr>
        <p:spPr>
          <a:xfrm>
            <a:off x="3200400" y="4562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accent2"/>
                </a:solidFill>
              </a:rPr>
              <a:t>N</a:t>
            </a:r>
            <a:endParaRPr lang="en-US" sz="1200" dirty="0"/>
          </a:p>
        </p:txBody>
      </p:sp>
      <p:sp>
        <p:nvSpPr>
          <p:cNvPr id="13" name="fx5|rel users-results"/>
          <p:cNvSpPr/>
          <p:nvPr/>
        </p:nvSpPr>
        <p:spPr>
          <a:xfrm>
            <a:off x="10337292" y="3538728"/>
            <a:ext cx="914" cy="530352"/>
          </a:xfrm>
          <a:prstGeom prst="line">
            <a:avLst/>
          </a:prstGeom>
          <a:noFill/>
          <a:ln w="15875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14" name="fx5|rel users-results 1"/>
          <p:cNvSpPr txBox="1"/>
          <p:nvPr/>
        </p:nvSpPr>
        <p:spPr>
          <a:xfrm>
            <a:off x="10410444" y="3557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fx5|rel users-results N"/>
          <p:cNvSpPr txBox="1"/>
          <p:nvPr/>
        </p:nvSpPr>
        <p:spPr>
          <a:xfrm>
            <a:off x="9989820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200" b="1" dirty="0">
                <a:solidFill>
                  <a:schemeClr val="accent2"/>
                </a:solidFill>
              </a:rPr>
              <a:t>N</a:t>
            </a:r>
            <a:endParaRPr lang="en-US" sz="1200" dirty="0"/>
          </a:p>
        </p:txBody>
      </p:sp>
      <p:sp>
        <p:nvSpPr>
          <p:cNvPr id="16" name="fx5|rel results-tests"/>
          <p:cNvSpPr/>
          <p:nvPr/>
        </p:nvSpPr>
        <p:spPr>
          <a:xfrm>
            <a:off x="7397496" y="4892040"/>
            <a:ext cx="1636776" cy="914"/>
          </a:xfrm>
          <a:prstGeom prst="line">
            <a:avLst/>
          </a:prstGeom>
          <a:noFill/>
          <a:ln w="15875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17" name="fx5|rel results-tests 1"/>
          <p:cNvSpPr txBox="1"/>
          <p:nvPr/>
        </p:nvSpPr>
        <p:spPr>
          <a:xfrm>
            <a:off x="8714232" y="4562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18" name="fx5|rel results-tests N"/>
          <p:cNvSpPr txBox="1"/>
          <p:nvPr/>
        </p:nvSpPr>
        <p:spPr>
          <a:xfrm>
            <a:off x="7443216" y="4562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chemeClr val="accent2"/>
                </a:solidFill>
              </a:rPr>
              <a:t>N</a:t>
            </a:r>
            <a:endParaRPr lang="en-US" sz="1200" dirty="0"/>
          </a:p>
        </p:txBody>
      </p:sp>
      <p:sp>
        <p:nvSpPr>
          <p:cNvPr id="19" name="fx0|ent users"/>
          <p:cNvSpPr/>
          <p:nvPr/>
        </p:nvSpPr>
        <p:spPr>
          <a:xfrm>
            <a:off x="9034272" y="1600200"/>
            <a:ext cx="2606040" cy="1938528"/>
          </a:xfrm>
          <a:prstGeom prst="roundRect">
            <a:avLst>
              <a:gd name="adj" fmla="val 4717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20" name="fx0|ent users head"/>
          <p:cNvSpPr txBox="1"/>
          <p:nvPr/>
        </p:nvSpPr>
        <p:spPr>
          <a:xfrm>
            <a:off x="9034272" y="1600200"/>
            <a:ext cx="2606040" cy="438912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Users</a:t>
            </a:r>
            <a:pPr algn="ctr" indent="0" marL="0">
              <a:buNone/>
            </a:pPr>
            <a:r>
              <a:rPr lang="en-US" altLang="en-US" sz="1200" dirty="0">
                <a:solidFill>
                  <a:schemeClr val="tx1"/>
                </a:solidFill>
              </a:rPr>
              <a:t>  المستخدمون</a:t>
            </a:r>
            <a:endParaRPr lang="en-US" sz="1500" dirty="0"/>
          </a:p>
        </p:txBody>
      </p:sp>
      <p:sp>
        <p:nvSpPr>
          <p:cNvPr id="21" name="fx0|ent users fields"/>
          <p:cNvSpPr txBox="1"/>
          <p:nvPr/>
        </p:nvSpPr>
        <p:spPr>
          <a:xfrm>
            <a:off x="9217152" y="21031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alt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alt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alt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alt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alt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1200" dirty="0"/>
          </a:p>
        </p:txBody>
      </p:sp>
      <p:sp>
        <p:nvSpPr>
          <p:cNvPr id="22" name="fx1|ent subjects"/>
          <p:cNvSpPr/>
          <p:nvPr/>
        </p:nvSpPr>
        <p:spPr>
          <a:xfrm>
            <a:off x="4791456" y="1600200"/>
            <a:ext cx="2606040" cy="1389888"/>
          </a:xfrm>
          <a:prstGeom prst="roundRect">
            <a:avLst>
              <a:gd name="adj" fmla="val 6579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23" name="fx1|ent subjects head"/>
          <p:cNvSpPr txBox="1"/>
          <p:nvPr/>
        </p:nvSpPr>
        <p:spPr>
          <a:xfrm>
            <a:off x="4791456" y="1600200"/>
            <a:ext cx="2606040" cy="438912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Subjects</a:t>
            </a:r>
            <a:pPr algn="ctr" indent="0" marL="0">
              <a:buNone/>
            </a:pPr>
            <a:r>
              <a:rPr lang="en-US" altLang="en-US" sz="1200" dirty="0">
                <a:solidFill>
                  <a:schemeClr val="tx1"/>
                </a:solidFill>
              </a:rPr>
              <a:t>  المواد</a:t>
            </a:r>
            <a:endParaRPr lang="en-US" sz="1500" dirty="0"/>
          </a:p>
        </p:txBody>
      </p:sp>
      <p:sp>
        <p:nvSpPr>
          <p:cNvPr id="24" name="fx1|ent subjects fields"/>
          <p:cNvSpPr txBox="1"/>
          <p:nvPr/>
        </p:nvSpPr>
        <p:spPr>
          <a:xfrm>
            <a:off x="4974336" y="2103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alt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alt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alt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teacher_id  FK</a:t>
            </a:r>
            <a:endParaRPr lang="en-US" sz="1200" dirty="0"/>
          </a:p>
        </p:txBody>
      </p:sp>
      <p:sp>
        <p:nvSpPr>
          <p:cNvPr id="25" name="fx2|ent results"/>
          <p:cNvSpPr/>
          <p:nvPr/>
        </p:nvSpPr>
        <p:spPr>
          <a:xfrm>
            <a:off x="9034272" y="4069080"/>
            <a:ext cx="2606040" cy="1938528"/>
          </a:xfrm>
          <a:prstGeom prst="roundRect">
            <a:avLst>
              <a:gd name="adj" fmla="val 4717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26" name="fx2|ent results head"/>
          <p:cNvSpPr txBox="1"/>
          <p:nvPr/>
        </p:nvSpPr>
        <p:spPr>
          <a:xfrm>
            <a:off x="9034272" y="4069080"/>
            <a:ext cx="2606040" cy="438912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Results</a:t>
            </a:r>
            <a:pPr algn="ctr" indent="0" marL="0">
              <a:buNone/>
            </a:pPr>
            <a:r>
              <a:rPr lang="en-US" altLang="en-US" sz="1200" dirty="0">
                <a:solidFill>
                  <a:schemeClr val="tx1"/>
                </a:solidFill>
              </a:rPr>
              <a:t>  النتائج</a:t>
            </a:r>
            <a:endParaRPr lang="en-US" sz="1500" dirty="0"/>
          </a:p>
        </p:txBody>
      </p:sp>
      <p:sp>
        <p:nvSpPr>
          <p:cNvPr id="27" name="fx2|ent results fields"/>
          <p:cNvSpPr txBox="1"/>
          <p:nvPr/>
        </p:nvSpPr>
        <p:spPr>
          <a:xfrm>
            <a:off x="9217152" y="45720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alt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alt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  FK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alt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test_id  FK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alt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alt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200" dirty="0"/>
          </a:p>
        </p:txBody>
      </p:sp>
      <p:sp>
        <p:nvSpPr>
          <p:cNvPr id="28" name="fx3|ent tests"/>
          <p:cNvSpPr/>
          <p:nvPr/>
        </p:nvSpPr>
        <p:spPr>
          <a:xfrm>
            <a:off x="4791456" y="4069080"/>
            <a:ext cx="2606040" cy="1664208"/>
          </a:xfrm>
          <a:prstGeom prst="roundRect">
            <a:avLst>
              <a:gd name="adj" fmla="val 5495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29" name="fx3|ent tests head"/>
          <p:cNvSpPr txBox="1"/>
          <p:nvPr/>
        </p:nvSpPr>
        <p:spPr>
          <a:xfrm>
            <a:off x="4791456" y="4069080"/>
            <a:ext cx="2606040" cy="438912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Tests</a:t>
            </a:r>
            <a:pPr algn="ctr" indent="0" marL="0">
              <a:buNone/>
            </a:pPr>
            <a:r>
              <a:rPr lang="en-US" altLang="en-US" sz="1200" dirty="0">
                <a:solidFill>
                  <a:schemeClr val="tx1"/>
                </a:solidFill>
              </a:rPr>
              <a:t>  الاختبارات</a:t>
            </a:r>
            <a:endParaRPr lang="en-US" sz="1500" dirty="0"/>
          </a:p>
        </p:txBody>
      </p:sp>
      <p:sp>
        <p:nvSpPr>
          <p:cNvPr id="30" name="fx3|ent tests fields"/>
          <p:cNvSpPr txBox="1"/>
          <p:nvPr/>
        </p:nvSpPr>
        <p:spPr>
          <a:xfrm>
            <a:off x="4974336" y="45720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alt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alt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subject_id  FK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alt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alt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</a:t>
            </a:r>
            <a:endParaRPr lang="en-US" sz="1200" dirty="0"/>
          </a:p>
        </p:txBody>
      </p:sp>
      <p:sp>
        <p:nvSpPr>
          <p:cNvPr id="31" name="fx4|ent questions"/>
          <p:cNvSpPr/>
          <p:nvPr/>
        </p:nvSpPr>
        <p:spPr>
          <a:xfrm>
            <a:off x="548640" y="4069080"/>
            <a:ext cx="2606040" cy="1938528"/>
          </a:xfrm>
          <a:prstGeom prst="roundRect">
            <a:avLst>
              <a:gd name="adj" fmla="val 4717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sp>
      <p:sp>
        <p:nvSpPr>
          <p:cNvPr id="32" name="fx4|ent questions head"/>
          <p:cNvSpPr txBox="1"/>
          <p:nvPr/>
        </p:nvSpPr>
        <p:spPr>
          <a:xfrm>
            <a:off x="548640" y="4069080"/>
            <a:ext cx="2606040" cy="438912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500" b="1" dirty="0">
                <a:solidFill>
                  <a:schemeClr val="tx1"/>
                </a:solidFill>
              </a:rPr>
              <a:t>Questions</a:t>
            </a:r>
            <a:pPr algn="ctr" indent="0" marL="0">
              <a:buNone/>
            </a:pPr>
            <a:r>
              <a:rPr lang="en-US" altLang="en-US" sz="1200" dirty="0">
                <a:solidFill>
                  <a:schemeClr val="tx1"/>
                </a:solidFill>
              </a:rPr>
              <a:t>  الأسئلة</a:t>
            </a:r>
            <a:endParaRPr lang="en-US" sz="1500" dirty="0"/>
          </a:p>
        </p:txBody>
      </p:sp>
      <p:sp>
        <p:nvSpPr>
          <p:cNvPr id="33" name="fx4|ent questions fields"/>
          <p:cNvSpPr txBox="1"/>
          <p:nvPr/>
        </p:nvSpPr>
        <p:spPr>
          <a:xfrm>
            <a:off x="731520" y="457200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alt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PK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alt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test_id  FK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alt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alt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</a:t>
            </a:r>
            <a:endParaRPr lang="en-US" sz="12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alt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</a:t>
            </a:r>
            <a:endParaRPr lang="en-US" sz="1200" dirty="0"/>
          </a:p>
        </p:txBody>
      </p:sp>
      <p:sp>
        <p:nvSpPr>
          <p:cNvPr id="34" name="fx6|note"/>
          <p:cNvSpPr/>
          <p:nvPr/>
        </p:nvSpPr>
        <p:spPr>
          <a:xfrm>
            <a:off x="548640" y="1600200"/>
            <a:ext cx="2606040" cy="2011680"/>
          </a:xfrm>
          <a:prstGeom prst="roundRect">
            <a:avLst>
              <a:gd name="adj" fmla="val 727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35" name="fx6|not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1783080"/>
            <a:ext cx="731520" cy="731520"/>
          </a:xfrm>
          <a:prstGeom prst="rect">
            <a:avLst/>
          </a:prstGeom>
        </p:spPr>
      </p:pic>
      <p:sp>
        <p:nvSpPr>
          <p:cNvPr id="36" name="fx6|note text"/>
          <p:cNvSpPr txBox="1"/>
          <p:nvPr/>
        </p:nvSpPr>
        <p:spPr>
          <a:xfrm>
            <a:off x="685800" y="26060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قاعدة بيانات SQLite محلية تُدار عبر DB Helper</a:t>
            </a:r>
            <a:endParaRPr lang="ar-S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8" dur="6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2" dur="6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6" dur="6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واجهات التطبيق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App Screens</a:t>
            </a:r>
            <a:endParaRPr lang="en-US" sz="1600" dirty="0"/>
          </a:p>
        </p:txBody>
      </p:sp>
      <p:pic>
        <p:nvPicPr>
          <p:cNvPr id="4" name="fx0|pedestal" descr="img/pedestal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4572000"/>
            <a:ext cx="3200400" cy="1115568"/>
          </a:xfrm>
          <a:prstGeom prst="rect">
            <a:avLst/>
          </a:prstGeom>
        </p:spPr>
      </p:pic>
      <p:sp>
        <p:nvSpPr>
          <p:cNvPr id="5" name="fx0|phone"/>
          <p:cNvSpPr/>
          <p:nvPr/>
        </p:nvSpPr>
        <p:spPr>
          <a:xfrm>
            <a:off x="8343900" y="1508760"/>
            <a:ext cx="1783080" cy="3749040"/>
          </a:xfrm>
          <a:prstGeom prst="roundRect">
            <a:avLst>
              <a:gd name="adj" fmla="val 12821"/>
            </a:avLst>
          </a:prstGeom>
          <a:solidFill>
            <a:srgbClr val="0B0F1A"/>
          </a:solidFill>
          <a:ln w="25400">
            <a:solidFill>
              <a:srgbClr val="5B6B8C"/>
            </a:solidFill>
            <a:prstDash val="solid"/>
          </a:ln>
          <a:effectLst>
            <a:outerShdw sx="100000" sy="100000" kx="0" ky="0" algn="bl" rotWithShape="0" blurRad="279400" dist="50800" dir="16200000">
              <a:srgbClr val="22D3EE">
                <a:alpha val="55000"/>
              </a:srgbClr>
            </a:outerShdw>
          </a:effectLst>
        </p:spPr>
      </p:sp>
      <p:pic>
        <p:nvPicPr>
          <p:cNvPr id="6" name="fx0|screen" descr="لقطة شاشة — بدّلها بلقطة من تطبيقكم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196" y="1591056"/>
            <a:ext cx="1618488" cy="3584448"/>
          </a:xfrm>
          <a:prstGeom prst="rect">
            <a:avLst/>
          </a:prstGeom>
        </p:spPr>
      </p:pic>
      <p:sp>
        <p:nvSpPr>
          <p:cNvPr id="7" name="fx0|ar"/>
          <p:cNvSpPr txBox="1"/>
          <p:nvPr/>
        </p:nvSpPr>
        <p:spPr>
          <a:xfrm>
            <a:off x="7772400" y="56235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تسجيل الدخول</a:t>
            </a:r>
            <a:endParaRPr lang="ar-SA" sz="1800" dirty="0"/>
          </a:p>
        </p:txBody>
      </p:sp>
      <p:sp>
        <p:nvSpPr>
          <p:cNvPr id="8" name="fx0|en"/>
          <p:cNvSpPr txBox="1"/>
          <p:nvPr/>
        </p:nvSpPr>
        <p:spPr>
          <a:xfrm>
            <a:off x="7772400" y="5989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accent1"/>
                </a:solidFill>
              </a:rPr>
              <a:t>Login</a:t>
            </a:r>
            <a:endParaRPr lang="en-US" sz="1200" dirty="0"/>
          </a:p>
        </p:txBody>
      </p:sp>
      <p:pic>
        <p:nvPicPr>
          <p:cNvPr id="9" name="fx1|pedestal" descr="img/pedestal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105" y="4572000"/>
            <a:ext cx="3200400" cy="1115568"/>
          </a:xfrm>
          <a:prstGeom prst="rect">
            <a:avLst/>
          </a:prstGeom>
        </p:spPr>
      </p:pic>
      <p:sp>
        <p:nvSpPr>
          <p:cNvPr id="10" name="fx1|phone"/>
          <p:cNvSpPr/>
          <p:nvPr/>
        </p:nvSpPr>
        <p:spPr>
          <a:xfrm>
            <a:off x="5204765" y="1508760"/>
            <a:ext cx="1783080" cy="3749040"/>
          </a:xfrm>
          <a:prstGeom prst="roundRect">
            <a:avLst>
              <a:gd name="adj" fmla="val 12821"/>
            </a:avLst>
          </a:prstGeom>
          <a:solidFill>
            <a:srgbClr val="0B0F1A"/>
          </a:solidFill>
          <a:ln w="25400">
            <a:solidFill>
              <a:srgbClr val="5B6B8C"/>
            </a:solidFill>
            <a:prstDash val="solid"/>
          </a:ln>
          <a:effectLst>
            <a:outerShdw sx="100000" sy="100000" kx="0" ky="0" algn="bl" rotWithShape="0" blurRad="279400" dist="50800" dir="16200000">
              <a:srgbClr val="22D3EE">
                <a:alpha val="55000"/>
              </a:srgbClr>
            </a:outerShdw>
          </a:effectLst>
        </p:spPr>
      </p:sp>
      <p:pic>
        <p:nvPicPr>
          <p:cNvPr id="11" name="fx1|screen" descr="لقطة شاشة — بدّلها بلقطة من تطبيقكم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061" y="1591056"/>
            <a:ext cx="1618488" cy="3584448"/>
          </a:xfrm>
          <a:prstGeom prst="rect">
            <a:avLst/>
          </a:prstGeom>
        </p:spPr>
      </p:pic>
      <p:sp>
        <p:nvSpPr>
          <p:cNvPr id="12" name="fx1|ar"/>
          <p:cNvSpPr txBox="1"/>
          <p:nvPr/>
        </p:nvSpPr>
        <p:spPr>
          <a:xfrm>
            <a:off x="4633265" y="56235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لوحة المعلم</a:t>
            </a:r>
            <a:endParaRPr lang="ar-SA" sz="1800" dirty="0"/>
          </a:p>
        </p:txBody>
      </p:sp>
      <p:sp>
        <p:nvSpPr>
          <p:cNvPr id="13" name="fx1|en"/>
          <p:cNvSpPr txBox="1"/>
          <p:nvPr/>
        </p:nvSpPr>
        <p:spPr>
          <a:xfrm>
            <a:off x="4633265" y="5989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accent1"/>
                </a:solidFill>
              </a:rPr>
              <a:t>Teacher Dashboard</a:t>
            </a:r>
            <a:endParaRPr lang="en-US" sz="1200" dirty="0"/>
          </a:p>
        </p:txBody>
      </p:sp>
      <p:pic>
        <p:nvPicPr>
          <p:cNvPr id="14" name="fx2|pedestal" descr="img/pedestal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312" y="4572000"/>
            <a:ext cx="3200400" cy="1115568"/>
          </a:xfrm>
          <a:prstGeom prst="rect">
            <a:avLst/>
          </a:prstGeom>
        </p:spPr>
      </p:pic>
      <p:sp>
        <p:nvSpPr>
          <p:cNvPr id="15" name="fx2|phone"/>
          <p:cNvSpPr/>
          <p:nvPr/>
        </p:nvSpPr>
        <p:spPr>
          <a:xfrm>
            <a:off x="2061972" y="1508760"/>
            <a:ext cx="1783080" cy="3749040"/>
          </a:xfrm>
          <a:prstGeom prst="roundRect">
            <a:avLst>
              <a:gd name="adj" fmla="val 12821"/>
            </a:avLst>
          </a:prstGeom>
          <a:solidFill>
            <a:srgbClr val="0B0F1A"/>
          </a:solidFill>
          <a:ln w="25400">
            <a:solidFill>
              <a:srgbClr val="5B6B8C"/>
            </a:solidFill>
            <a:prstDash val="solid"/>
          </a:ln>
          <a:effectLst>
            <a:outerShdw sx="100000" sy="100000" kx="0" ky="0" algn="bl" rotWithShape="0" blurRad="279400" dist="50800" dir="16200000">
              <a:srgbClr val="22D3EE">
                <a:alpha val="55000"/>
              </a:srgbClr>
            </a:outerShdw>
          </a:effectLst>
        </p:spPr>
      </p:sp>
      <p:pic>
        <p:nvPicPr>
          <p:cNvPr id="16" name="fx2|screen" descr="لقطة شاشة — بدّلها بلقطة من تطبيقكم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4268" y="1591056"/>
            <a:ext cx="1618488" cy="3584448"/>
          </a:xfrm>
          <a:prstGeom prst="rect">
            <a:avLst/>
          </a:prstGeom>
        </p:spPr>
      </p:pic>
      <p:sp>
        <p:nvSpPr>
          <p:cNvPr id="17" name="fx2|ar"/>
          <p:cNvSpPr txBox="1"/>
          <p:nvPr/>
        </p:nvSpPr>
        <p:spPr>
          <a:xfrm>
            <a:off x="1490472" y="56235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شاشة الاختبار</a:t>
            </a:r>
            <a:endParaRPr lang="ar-SA" sz="1800" dirty="0"/>
          </a:p>
        </p:txBody>
      </p:sp>
      <p:sp>
        <p:nvSpPr>
          <p:cNvPr id="18" name="fx2|en"/>
          <p:cNvSpPr txBox="1"/>
          <p:nvPr/>
        </p:nvSpPr>
        <p:spPr>
          <a:xfrm>
            <a:off x="1490472" y="59893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accent1"/>
                </a:solidFill>
              </a:rPr>
              <a:t>Taking an Exam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2" grpId="0" animBg="1"/>
      <p:bldP spid="13" grpId="0" animBg="1"/>
      <p:bldP spid="15" grpId="0" animBg="1"/>
      <p:bldP spid="17" grpId="0" animBg="1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العرض التجريبي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Live Demo</a:t>
            </a:r>
            <a:endParaRPr lang="en-US" sz="1600" dirty="0"/>
          </a:p>
        </p:txBody>
      </p:sp>
      <p:sp>
        <p:nvSpPr>
          <p:cNvPr id="4" name="Video frame"/>
          <p:cNvSpPr/>
          <p:nvPr/>
        </p:nvSpPr>
        <p:spPr>
          <a:xfrm>
            <a:off x="548640" y="1600200"/>
            <a:ext cx="6949440" cy="4526280"/>
          </a:xfrm>
          <a:prstGeom prst="roundRect">
            <a:avLst>
              <a:gd name="adj" fmla="val 4040"/>
            </a:avLst>
          </a:prstGeom>
          <a:solidFill>
            <a:schemeClr val="tx1">
              <a:alpha val="90000"/>
            </a:schemeClr>
          </a:solidFill>
          <a:ln w="254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304800" dist="50800" dir="16200000">
              <a:srgbClr val="22D3EE">
                <a:alpha val="50000"/>
              </a:srgbClr>
            </a:outerShdw>
          </a:effectLst>
        </p:spPr>
      </p:sp>
      <p:sp>
        <p:nvSpPr>
          <p:cNvPr id="5" name="Play button"/>
          <p:cNvSpPr/>
          <p:nvPr/>
        </p:nvSpPr>
        <p:spPr>
          <a:xfrm>
            <a:off x="3429000" y="3246120"/>
            <a:ext cx="1188720" cy="11887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6" name="Pla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3048" y="3584448"/>
            <a:ext cx="502920" cy="502920"/>
          </a:xfrm>
          <a:prstGeom prst="rect">
            <a:avLst/>
          </a:prstGeom>
        </p:spPr>
      </p:pic>
      <p:sp>
        <p:nvSpPr>
          <p:cNvPr id="7" name="Video hint"/>
          <p:cNvSpPr txBox="1"/>
          <p:nvPr/>
        </p:nvSpPr>
        <p:spPr>
          <a:xfrm>
            <a:off x="914400" y="466344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أدرج فيديو العرض هنا: إدراج ← فيديو</a:t>
            </a:r>
            <a:endParaRPr lang="ar-SA" sz="1400" dirty="0"/>
          </a:p>
          <a:p>
            <a:pPr rtl="1" algn="ctr" indent="0" marL="0">
              <a:buNone/>
            </a:pPr>
            <a:r>
              <a:rPr lang="ar-SA" altLang="en-US" sz="1400" dirty="0">
                <a:solidFill>
                  <a:schemeClr val="bg2"/>
                </a:solidFill>
              </a:rPr>
              <a:t>Insert demo video: Insert ▸ Video</a:t>
            </a:r>
            <a:endParaRPr lang="ar-SA" sz="1400" dirty="0"/>
          </a:p>
        </p:txBody>
      </p:sp>
      <p:sp>
        <p:nvSpPr>
          <p:cNvPr id="8" name="fx0|step"/>
          <p:cNvSpPr/>
          <p:nvPr/>
        </p:nvSpPr>
        <p:spPr>
          <a:xfrm>
            <a:off x="7818120" y="1600200"/>
            <a:ext cx="3822192" cy="1005840"/>
          </a:xfrm>
          <a:prstGeom prst="roundRect">
            <a:avLst>
              <a:gd name="adj" fmla="val 14545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fx0|num"/>
          <p:cNvSpPr txBox="1"/>
          <p:nvPr/>
        </p:nvSpPr>
        <p:spPr>
          <a:xfrm>
            <a:off x="10954512" y="1847088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fx0|ar"/>
          <p:cNvSpPr txBox="1"/>
          <p:nvPr/>
        </p:nvSpPr>
        <p:spPr>
          <a:xfrm>
            <a:off x="8001000" y="175564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تسجيل الدخول كمعلم</a:t>
            </a:r>
            <a:endParaRPr lang="ar-SA" sz="1600" dirty="0"/>
          </a:p>
        </p:txBody>
      </p:sp>
      <p:sp>
        <p:nvSpPr>
          <p:cNvPr id="11" name="fx0|en"/>
          <p:cNvSpPr txBox="1"/>
          <p:nvPr/>
        </p:nvSpPr>
        <p:spPr>
          <a:xfrm>
            <a:off x="8001000" y="214884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Log in as a teacher</a:t>
            </a:r>
            <a:endParaRPr lang="en-US" sz="1200" dirty="0"/>
          </a:p>
        </p:txBody>
      </p:sp>
      <p:sp>
        <p:nvSpPr>
          <p:cNvPr id="12" name="fx1|step"/>
          <p:cNvSpPr/>
          <p:nvPr/>
        </p:nvSpPr>
        <p:spPr>
          <a:xfrm>
            <a:off x="7818120" y="2761488"/>
            <a:ext cx="3822192" cy="1005840"/>
          </a:xfrm>
          <a:prstGeom prst="roundRect">
            <a:avLst>
              <a:gd name="adj" fmla="val 14545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fx1|num"/>
          <p:cNvSpPr txBox="1"/>
          <p:nvPr/>
        </p:nvSpPr>
        <p:spPr>
          <a:xfrm>
            <a:off x="10954512" y="3008376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fx1|ar"/>
          <p:cNvSpPr txBox="1"/>
          <p:nvPr/>
        </p:nvSpPr>
        <p:spPr>
          <a:xfrm>
            <a:off x="8001000" y="291693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إنشاء اختبار جديد وأسئلته</a:t>
            </a:r>
            <a:endParaRPr lang="ar-SA" sz="1600" dirty="0"/>
          </a:p>
        </p:txBody>
      </p:sp>
      <p:sp>
        <p:nvSpPr>
          <p:cNvPr id="15" name="fx1|en"/>
          <p:cNvSpPr txBox="1"/>
          <p:nvPr/>
        </p:nvSpPr>
        <p:spPr>
          <a:xfrm>
            <a:off x="8001000" y="331012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Create an exam</a:t>
            </a:r>
            <a:endParaRPr lang="en-US" sz="1200" dirty="0"/>
          </a:p>
        </p:txBody>
      </p:sp>
      <p:sp>
        <p:nvSpPr>
          <p:cNvPr id="16" name="fx2|step"/>
          <p:cNvSpPr/>
          <p:nvPr/>
        </p:nvSpPr>
        <p:spPr>
          <a:xfrm>
            <a:off x="7818120" y="3922776"/>
            <a:ext cx="3822192" cy="1005840"/>
          </a:xfrm>
          <a:prstGeom prst="roundRect">
            <a:avLst>
              <a:gd name="adj" fmla="val 14545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fx2|num"/>
          <p:cNvSpPr txBox="1"/>
          <p:nvPr/>
        </p:nvSpPr>
        <p:spPr>
          <a:xfrm>
            <a:off x="10954512" y="4169664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fx2|ar"/>
          <p:cNvSpPr txBox="1"/>
          <p:nvPr/>
        </p:nvSpPr>
        <p:spPr>
          <a:xfrm>
            <a:off x="8001000" y="407822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الدخول كطالب وأداء الاختبار</a:t>
            </a:r>
            <a:endParaRPr lang="ar-SA" sz="1600" dirty="0"/>
          </a:p>
        </p:txBody>
      </p:sp>
      <p:sp>
        <p:nvSpPr>
          <p:cNvPr id="19" name="fx2|en"/>
          <p:cNvSpPr txBox="1"/>
          <p:nvPr/>
        </p:nvSpPr>
        <p:spPr>
          <a:xfrm>
            <a:off x="8001000" y="447141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Take it as a student</a:t>
            </a:r>
            <a:endParaRPr lang="en-US" sz="1200" dirty="0"/>
          </a:p>
        </p:txBody>
      </p:sp>
      <p:sp>
        <p:nvSpPr>
          <p:cNvPr id="20" name="fx3|step"/>
          <p:cNvSpPr/>
          <p:nvPr/>
        </p:nvSpPr>
        <p:spPr>
          <a:xfrm>
            <a:off x="7818120" y="5084064"/>
            <a:ext cx="3822192" cy="1005840"/>
          </a:xfrm>
          <a:prstGeom prst="roundRect">
            <a:avLst>
              <a:gd name="adj" fmla="val 14545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21" name="fx3|num"/>
          <p:cNvSpPr txBox="1"/>
          <p:nvPr/>
        </p:nvSpPr>
        <p:spPr>
          <a:xfrm>
            <a:off x="10954512" y="5330952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fx3|ar"/>
          <p:cNvSpPr txBox="1"/>
          <p:nvPr/>
        </p:nvSpPr>
        <p:spPr>
          <a:xfrm>
            <a:off x="8001000" y="523951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ظهور النتيجة فوراً</a:t>
            </a:r>
            <a:endParaRPr lang="ar-SA" sz="1600" dirty="0"/>
          </a:p>
        </p:txBody>
      </p:sp>
      <p:sp>
        <p:nvSpPr>
          <p:cNvPr id="23" name="fx3|en"/>
          <p:cNvSpPr txBox="1"/>
          <p:nvPr/>
        </p:nvSpPr>
        <p:spPr>
          <a:xfrm>
            <a:off x="8001000" y="563270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See the instant result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اختبار النظام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System Testing</a:t>
            </a:r>
            <a:endParaRPr lang="en-US" sz="1600" dirty="0"/>
          </a:p>
        </p:txBody>
      </p:sp>
      <p:sp>
        <p:nvSpPr>
          <p:cNvPr id="4" name="fx0|card"/>
          <p:cNvSpPr/>
          <p:nvPr/>
        </p:nvSpPr>
        <p:spPr>
          <a:xfrm>
            <a:off x="8122615" y="1645920"/>
            <a:ext cx="3520440" cy="2514600"/>
          </a:xfrm>
          <a:prstGeom prst="roundRect">
            <a:avLst>
              <a:gd name="adj" fmla="val 5818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fx0|ic bg"/>
          <p:cNvSpPr/>
          <p:nvPr/>
        </p:nvSpPr>
        <p:spPr>
          <a:xfrm>
            <a:off x="9498787" y="1828800"/>
            <a:ext cx="768096" cy="768096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6" name="fx0|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0811" y="2020824"/>
            <a:ext cx="384048" cy="384048"/>
          </a:xfrm>
          <a:prstGeom prst="rect">
            <a:avLst/>
          </a:prstGeom>
        </p:spPr>
      </p:pic>
      <p:sp>
        <p:nvSpPr>
          <p:cNvPr id="7" name="fx0|ar"/>
          <p:cNvSpPr txBox="1"/>
          <p:nvPr/>
        </p:nvSpPr>
        <p:spPr>
          <a:xfrm>
            <a:off x="8259775" y="26517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chemeClr val="bg1"/>
                </a:solidFill>
              </a:rPr>
              <a:t>اختبار الوحدات</a:t>
            </a:r>
            <a:endParaRPr lang="ar-SA" sz="1900" dirty="0"/>
          </a:p>
        </p:txBody>
      </p:sp>
      <p:sp>
        <p:nvSpPr>
          <p:cNvPr id="8" name="fx0|en"/>
          <p:cNvSpPr txBox="1"/>
          <p:nvPr/>
        </p:nvSpPr>
        <p:spPr>
          <a:xfrm>
            <a:off x="8259775" y="30175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accent1"/>
                </a:solidFill>
              </a:rPr>
              <a:t>Unit Testing</a:t>
            </a:r>
            <a:endParaRPr lang="en-US" sz="1200" dirty="0"/>
          </a:p>
        </p:txBody>
      </p:sp>
      <p:sp>
        <p:nvSpPr>
          <p:cNvPr id="9" name="fx0|body"/>
          <p:cNvSpPr txBox="1"/>
          <p:nvPr/>
        </p:nvSpPr>
        <p:spPr>
          <a:xfrm>
            <a:off x="8305495" y="33832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chemeClr val="bg2"/>
                </a:solidFill>
              </a:rPr>
              <a:t>اختبار كل شاشة ووظيفة بشكل منفصل</a:t>
            </a:r>
            <a:endParaRPr lang="ar-SA" sz="1500" dirty="0"/>
          </a:p>
        </p:txBody>
      </p:sp>
      <p:sp>
        <p:nvSpPr>
          <p:cNvPr id="10" name="fx1|card"/>
          <p:cNvSpPr/>
          <p:nvPr/>
        </p:nvSpPr>
        <p:spPr>
          <a:xfrm>
            <a:off x="4336999" y="1645920"/>
            <a:ext cx="3520440" cy="2514600"/>
          </a:xfrm>
          <a:prstGeom prst="roundRect">
            <a:avLst>
              <a:gd name="adj" fmla="val 5818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fx1|ic bg"/>
          <p:cNvSpPr/>
          <p:nvPr/>
        </p:nvSpPr>
        <p:spPr>
          <a:xfrm>
            <a:off x="5713171" y="1828800"/>
            <a:ext cx="768096" cy="768096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2" name="fx1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195" y="2020824"/>
            <a:ext cx="384048" cy="384048"/>
          </a:xfrm>
          <a:prstGeom prst="rect">
            <a:avLst/>
          </a:prstGeom>
        </p:spPr>
      </p:pic>
      <p:sp>
        <p:nvSpPr>
          <p:cNvPr id="13" name="fx1|ar"/>
          <p:cNvSpPr txBox="1"/>
          <p:nvPr/>
        </p:nvSpPr>
        <p:spPr>
          <a:xfrm>
            <a:off x="4474159" y="26517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chemeClr val="bg1"/>
                </a:solidFill>
              </a:rPr>
              <a:t>اختبار التكامل</a:t>
            </a:r>
            <a:endParaRPr lang="ar-SA" sz="1900" dirty="0"/>
          </a:p>
        </p:txBody>
      </p:sp>
      <p:sp>
        <p:nvSpPr>
          <p:cNvPr id="14" name="fx1|en"/>
          <p:cNvSpPr txBox="1"/>
          <p:nvPr/>
        </p:nvSpPr>
        <p:spPr>
          <a:xfrm>
            <a:off x="4474159" y="30175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accent1"/>
                </a:solidFill>
              </a:rPr>
              <a:t>Integration Testing</a:t>
            </a:r>
            <a:endParaRPr lang="en-US" sz="1200" dirty="0"/>
          </a:p>
        </p:txBody>
      </p:sp>
      <p:sp>
        <p:nvSpPr>
          <p:cNvPr id="15" name="fx1|body"/>
          <p:cNvSpPr txBox="1"/>
          <p:nvPr/>
        </p:nvSpPr>
        <p:spPr>
          <a:xfrm>
            <a:off x="4519879" y="33832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chemeClr val="bg2"/>
                </a:solidFill>
              </a:rPr>
              <a:t>التأكد من ترابط الواجهات مع قاعدة البيانات</a:t>
            </a:r>
            <a:endParaRPr lang="ar-SA" sz="1500" dirty="0"/>
          </a:p>
        </p:txBody>
      </p:sp>
      <p:sp>
        <p:nvSpPr>
          <p:cNvPr id="16" name="fx2|card"/>
          <p:cNvSpPr/>
          <p:nvPr/>
        </p:nvSpPr>
        <p:spPr>
          <a:xfrm>
            <a:off x="551383" y="1645920"/>
            <a:ext cx="3520440" cy="2514600"/>
          </a:xfrm>
          <a:prstGeom prst="roundRect">
            <a:avLst>
              <a:gd name="adj" fmla="val 5818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fx2|ic bg"/>
          <p:cNvSpPr/>
          <p:nvPr/>
        </p:nvSpPr>
        <p:spPr>
          <a:xfrm>
            <a:off x="1927555" y="1828800"/>
            <a:ext cx="768096" cy="768096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8" name="fx2|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9579" y="2020824"/>
            <a:ext cx="384048" cy="384048"/>
          </a:xfrm>
          <a:prstGeom prst="rect">
            <a:avLst/>
          </a:prstGeom>
        </p:spPr>
      </p:pic>
      <p:sp>
        <p:nvSpPr>
          <p:cNvPr id="19" name="fx2|ar"/>
          <p:cNvSpPr txBox="1"/>
          <p:nvPr/>
        </p:nvSpPr>
        <p:spPr>
          <a:xfrm>
            <a:off x="688543" y="26517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chemeClr val="bg1"/>
                </a:solidFill>
              </a:rPr>
              <a:t>اختبار القبول</a:t>
            </a:r>
            <a:endParaRPr lang="ar-SA" sz="1900" dirty="0"/>
          </a:p>
        </p:txBody>
      </p:sp>
      <p:sp>
        <p:nvSpPr>
          <p:cNvPr id="20" name="fx2|en"/>
          <p:cNvSpPr txBox="1"/>
          <p:nvPr/>
        </p:nvSpPr>
        <p:spPr>
          <a:xfrm>
            <a:off x="688543" y="30175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accent1"/>
                </a:solidFill>
              </a:rPr>
              <a:t>User Acceptance Testing</a:t>
            </a:r>
            <a:endParaRPr lang="en-US" sz="1200" dirty="0"/>
          </a:p>
        </p:txBody>
      </p:sp>
      <p:sp>
        <p:nvSpPr>
          <p:cNvPr id="21" name="fx2|body"/>
          <p:cNvSpPr txBox="1"/>
          <p:nvPr/>
        </p:nvSpPr>
        <p:spPr>
          <a:xfrm>
            <a:off x="734263" y="33832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chemeClr val="bg2"/>
                </a:solidFill>
              </a:rPr>
              <a:t>تجربة التطبيق من قِبل معلمين وطلاب</a:t>
            </a:r>
            <a:endParaRPr lang="ar-SA" sz="1500" dirty="0"/>
          </a:p>
        </p:txBody>
      </p:sp>
      <p:sp>
        <p:nvSpPr>
          <p:cNvPr id="22" name="fx3|results"/>
          <p:cNvSpPr/>
          <p:nvPr/>
        </p:nvSpPr>
        <p:spPr>
          <a:xfrm>
            <a:off x="548640" y="4434840"/>
            <a:ext cx="11091672" cy="1691640"/>
          </a:xfrm>
          <a:prstGeom prst="roundRect">
            <a:avLst>
              <a:gd name="adj" fmla="val 8649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23" name="fx4|results text"/>
          <p:cNvSpPr txBox="1"/>
          <p:nvPr/>
        </p:nvSpPr>
        <p:spPr>
          <a:xfrm>
            <a:off x="822960" y="4617720"/>
            <a:ext cx="10561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700" b="1" dirty="0">
                <a:solidFill>
                  <a:schemeClr val="accent4"/>
                </a:solidFill>
              </a:rPr>
              <a:t>النتائج:  </a:t>
            </a:r>
            <a:pPr algn="r" indent="0" marL="0">
              <a:buNone/>
            </a:pPr>
            <a:r>
              <a:rPr lang="ar-SA" altLang="en-US" sz="1700" dirty="0">
                <a:solidFill>
                  <a:schemeClr val="bg1"/>
                </a:solidFill>
              </a:rPr>
              <a:t>جميع الوظائف الأساسية تعمل بنجاح — تسجيل الدخول، إنشاء الاختبار، أداء الاختبار، التصحيح الآلي وعرض النتائج.</a:t>
            </a:r>
            <a:endParaRPr lang="ar-SA" sz="1700" dirty="0"/>
          </a:p>
          <a:p>
            <a:pPr algn="r" indent="0" marL="0">
              <a:buNone/>
            </a:pPr>
            <a:r>
              <a:rPr lang="ar-SA" altLang="en-US" sz="1300" i="1" dirty="0">
                <a:solidFill>
                  <a:schemeClr val="bg2"/>
                </a:solidFill>
              </a:rPr>
              <a:t>Results: all core features passed — login, exam creation, exam taking, auto-grading and results.</a:t>
            </a:r>
            <a:endParaRPr lang="ar-S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التحديات والحلول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Challenges &amp; Solutions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46520" y="1554480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accent5"/>
                </a:solidFill>
              </a:rPr>
              <a:t>التحدي  •  Challenge</a:t>
            </a:r>
            <a:endParaRPr lang="ar-SA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accent4"/>
                </a:solidFill>
              </a:rPr>
              <a:t>الحل  •  Solution</a:t>
            </a:r>
            <a:endParaRPr lang="ar-SA" sz="1500" dirty="0"/>
          </a:p>
        </p:txBody>
      </p:sp>
      <p:sp>
        <p:nvSpPr>
          <p:cNvPr id="6" name="fx0|challenge"/>
          <p:cNvSpPr/>
          <p:nvPr/>
        </p:nvSpPr>
        <p:spPr>
          <a:xfrm>
            <a:off x="6446520" y="2057400"/>
            <a:ext cx="5193792" cy="1097280"/>
          </a:xfrm>
          <a:prstGeom prst="roundRect">
            <a:avLst>
              <a:gd name="adj" fmla="val 1333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7" name="fx0|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2" y="2377440"/>
            <a:ext cx="457200" cy="457200"/>
          </a:xfrm>
          <a:prstGeom prst="rect">
            <a:avLst/>
          </a:prstGeom>
        </p:spPr>
      </p:pic>
      <p:sp>
        <p:nvSpPr>
          <p:cNvPr id="8" name="fx0|c text"/>
          <p:cNvSpPr txBox="1"/>
          <p:nvPr/>
        </p:nvSpPr>
        <p:spPr>
          <a:xfrm>
            <a:off x="6675120" y="22402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إدارة ثلاث صلاحيات مختلفة</a:t>
            </a:r>
            <a:endParaRPr lang="ar-SA" sz="1700" dirty="0"/>
          </a:p>
        </p:txBody>
      </p:sp>
      <p:sp>
        <p:nvSpPr>
          <p:cNvPr id="9" name="fx1|arrow"/>
          <p:cNvSpPr/>
          <p:nvPr/>
        </p:nvSpPr>
        <p:spPr>
          <a:xfrm>
            <a:off x="5806440" y="2423160"/>
            <a:ext cx="566928" cy="365760"/>
          </a:xfrm>
          <a:prstGeom prst="lef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fx1|solution"/>
          <p:cNvSpPr/>
          <p:nvPr/>
        </p:nvSpPr>
        <p:spPr>
          <a:xfrm>
            <a:off x="548640" y="2057400"/>
            <a:ext cx="5193792" cy="1097280"/>
          </a:xfrm>
          <a:prstGeom prst="roundRect">
            <a:avLst>
              <a:gd name="adj" fmla="val 1333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11" name="fx1|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2377440"/>
            <a:ext cx="457200" cy="457200"/>
          </a:xfrm>
          <a:prstGeom prst="rect">
            <a:avLst/>
          </a:prstGeom>
        </p:spPr>
      </p:pic>
      <p:sp>
        <p:nvSpPr>
          <p:cNvPr id="12" name="fx1|s text"/>
          <p:cNvSpPr txBox="1"/>
          <p:nvPr/>
        </p:nvSpPr>
        <p:spPr>
          <a:xfrm>
            <a:off x="777240" y="22402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bg1"/>
                </a:solidFill>
              </a:rPr>
              <a:t>فصل الواجهات ولوحة تحكم مستقلة لكل دور</a:t>
            </a:r>
            <a:endParaRPr lang="ar-SA" sz="1600" dirty="0"/>
          </a:p>
        </p:txBody>
      </p:sp>
      <p:sp>
        <p:nvSpPr>
          <p:cNvPr id="13" name="fx2|challenge"/>
          <p:cNvSpPr/>
          <p:nvPr/>
        </p:nvSpPr>
        <p:spPr>
          <a:xfrm>
            <a:off x="6446520" y="3429000"/>
            <a:ext cx="5193792" cy="1097280"/>
          </a:xfrm>
          <a:prstGeom prst="roundRect">
            <a:avLst>
              <a:gd name="adj" fmla="val 1333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14" name="fx2|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2" y="3749040"/>
            <a:ext cx="457200" cy="457200"/>
          </a:xfrm>
          <a:prstGeom prst="rect">
            <a:avLst/>
          </a:prstGeom>
        </p:spPr>
      </p:pic>
      <p:sp>
        <p:nvSpPr>
          <p:cNvPr id="15" name="fx2|c text"/>
          <p:cNvSpPr txBox="1"/>
          <p:nvPr/>
        </p:nvSpPr>
        <p:spPr>
          <a:xfrm>
            <a:off x="6675120" y="36118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ربط الاختبارات بالأسئلة والنتائج</a:t>
            </a:r>
            <a:endParaRPr lang="ar-SA" sz="1700" dirty="0"/>
          </a:p>
        </p:txBody>
      </p:sp>
      <p:sp>
        <p:nvSpPr>
          <p:cNvPr id="16" name="fx3|arrow"/>
          <p:cNvSpPr/>
          <p:nvPr/>
        </p:nvSpPr>
        <p:spPr>
          <a:xfrm>
            <a:off x="5806440" y="3794760"/>
            <a:ext cx="566928" cy="365760"/>
          </a:xfrm>
          <a:prstGeom prst="lef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fx3|solution"/>
          <p:cNvSpPr/>
          <p:nvPr/>
        </p:nvSpPr>
        <p:spPr>
          <a:xfrm>
            <a:off x="548640" y="3429000"/>
            <a:ext cx="5193792" cy="1097280"/>
          </a:xfrm>
          <a:prstGeom prst="roundRect">
            <a:avLst>
              <a:gd name="adj" fmla="val 1333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18" name="fx3|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749040"/>
            <a:ext cx="457200" cy="457200"/>
          </a:xfrm>
          <a:prstGeom prst="rect">
            <a:avLst/>
          </a:prstGeom>
        </p:spPr>
      </p:pic>
      <p:sp>
        <p:nvSpPr>
          <p:cNvPr id="19" name="fx3|s text"/>
          <p:cNvSpPr txBox="1"/>
          <p:nvPr/>
        </p:nvSpPr>
        <p:spPr>
          <a:xfrm>
            <a:off x="777240" y="36118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bg1"/>
                </a:solidFill>
              </a:rPr>
              <a:t>تصميم قاعدة بيانات علائقية مع DB Helper</a:t>
            </a:r>
            <a:endParaRPr lang="ar-SA" sz="1600" dirty="0"/>
          </a:p>
        </p:txBody>
      </p:sp>
      <p:sp>
        <p:nvSpPr>
          <p:cNvPr id="20" name="fx4|challenge"/>
          <p:cNvSpPr/>
          <p:nvPr/>
        </p:nvSpPr>
        <p:spPr>
          <a:xfrm>
            <a:off x="6446520" y="4800600"/>
            <a:ext cx="5193792" cy="1097280"/>
          </a:xfrm>
          <a:prstGeom prst="roundRect">
            <a:avLst>
              <a:gd name="adj" fmla="val 1333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5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21" name="fx4|c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3072" y="5120640"/>
            <a:ext cx="457200" cy="457200"/>
          </a:xfrm>
          <a:prstGeom prst="rect">
            <a:avLst/>
          </a:prstGeom>
        </p:spPr>
      </p:pic>
      <p:sp>
        <p:nvSpPr>
          <p:cNvPr id="22" name="fx4|c text"/>
          <p:cNvSpPr txBox="1"/>
          <p:nvPr/>
        </p:nvSpPr>
        <p:spPr>
          <a:xfrm>
            <a:off x="6675120" y="49834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دعم اللغة العربية واتجاه RTL</a:t>
            </a:r>
            <a:endParaRPr lang="ar-SA" sz="1700" dirty="0"/>
          </a:p>
        </p:txBody>
      </p:sp>
      <p:sp>
        <p:nvSpPr>
          <p:cNvPr id="23" name="fx5|arrow"/>
          <p:cNvSpPr/>
          <p:nvPr/>
        </p:nvSpPr>
        <p:spPr>
          <a:xfrm>
            <a:off x="5806440" y="5166360"/>
            <a:ext cx="566928" cy="365760"/>
          </a:xfrm>
          <a:prstGeom prst="lef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fx5|solution"/>
          <p:cNvSpPr/>
          <p:nvPr/>
        </p:nvSpPr>
        <p:spPr>
          <a:xfrm>
            <a:off x="548640" y="4800600"/>
            <a:ext cx="5193792" cy="1097280"/>
          </a:xfrm>
          <a:prstGeom prst="roundRect">
            <a:avLst>
              <a:gd name="adj" fmla="val 1333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4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pic>
        <p:nvPicPr>
          <p:cNvPr id="25" name="fx5|s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5120640"/>
            <a:ext cx="457200" cy="457200"/>
          </a:xfrm>
          <a:prstGeom prst="rect">
            <a:avLst/>
          </a:prstGeom>
        </p:spPr>
      </p:pic>
      <p:sp>
        <p:nvSpPr>
          <p:cNvPr id="26" name="fx5|s text"/>
          <p:cNvSpPr txBox="1"/>
          <p:nvPr/>
        </p:nvSpPr>
        <p:spPr>
          <a:xfrm>
            <a:off x="777240" y="49834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bg1"/>
                </a:solidFill>
              </a:rPr>
              <a:t>استخدام Directionality و RTL في Flutter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الأعمال المستقبلية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Future Work</a:t>
            </a:r>
            <a:endParaRPr lang="en-US" sz="1600" dirty="0"/>
          </a:p>
        </p:txBody>
      </p:sp>
      <p:sp>
        <p:nvSpPr>
          <p:cNvPr id="4" name="fx0|card"/>
          <p:cNvSpPr/>
          <p:nvPr/>
        </p:nvSpPr>
        <p:spPr>
          <a:xfrm>
            <a:off x="8122615" y="1691640"/>
            <a:ext cx="3520440" cy="2011680"/>
          </a:xfrm>
          <a:prstGeom prst="roundRect">
            <a:avLst>
              <a:gd name="adj" fmla="val 727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fx0|ic bg"/>
          <p:cNvSpPr/>
          <p:nvPr/>
        </p:nvSpPr>
        <p:spPr>
          <a:xfrm>
            <a:off x="9425635" y="1965960"/>
            <a:ext cx="914400" cy="914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6" name="fx0|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4235" y="2194560"/>
            <a:ext cx="457200" cy="457200"/>
          </a:xfrm>
          <a:prstGeom prst="rect">
            <a:avLst/>
          </a:prstGeom>
        </p:spPr>
      </p:pic>
      <p:sp>
        <p:nvSpPr>
          <p:cNvPr id="7" name="fx0|ar"/>
          <p:cNvSpPr txBox="1"/>
          <p:nvPr/>
        </p:nvSpPr>
        <p:spPr>
          <a:xfrm>
            <a:off x="8259775" y="295351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مزامنة سحابية</a:t>
            </a:r>
            <a:endParaRPr lang="ar-SA" sz="1700" dirty="0"/>
          </a:p>
        </p:txBody>
      </p:sp>
      <p:sp>
        <p:nvSpPr>
          <p:cNvPr id="8" name="fx0|en"/>
          <p:cNvSpPr txBox="1"/>
          <p:nvPr/>
        </p:nvSpPr>
        <p:spPr>
          <a:xfrm>
            <a:off x="8259775" y="3337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Cloud sync (Firebase)</a:t>
            </a:r>
            <a:endParaRPr lang="en-US" sz="1200" dirty="0"/>
          </a:p>
        </p:txBody>
      </p:sp>
      <p:sp>
        <p:nvSpPr>
          <p:cNvPr id="9" name="fx1|card"/>
          <p:cNvSpPr/>
          <p:nvPr/>
        </p:nvSpPr>
        <p:spPr>
          <a:xfrm>
            <a:off x="4336999" y="1691640"/>
            <a:ext cx="3520440" cy="2011680"/>
          </a:xfrm>
          <a:prstGeom prst="roundRect">
            <a:avLst>
              <a:gd name="adj" fmla="val 727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fx1|ic bg"/>
          <p:cNvSpPr/>
          <p:nvPr/>
        </p:nvSpPr>
        <p:spPr>
          <a:xfrm>
            <a:off x="5640019" y="1965960"/>
            <a:ext cx="914400" cy="914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1" name="fx1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619" y="2194560"/>
            <a:ext cx="457200" cy="457200"/>
          </a:xfrm>
          <a:prstGeom prst="rect">
            <a:avLst/>
          </a:prstGeom>
        </p:spPr>
      </p:pic>
      <p:sp>
        <p:nvSpPr>
          <p:cNvPr id="12" name="fx1|ar"/>
          <p:cNvSpPr txBox="1"/>
          <p:nvPr/>
        </p:nvSpPr>
        <p:spPr>
          <a:xfrm>
            <a:off x="4474159" y="295351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نسخة ويب</a:t>
            </a:r>
            <a:endParaRPr lang="ar-SA" sz="1700" dirty="0"/>
          </a:p>
        </p:txBody>
      </p:sp>
      <p:sp>
        <p:nvSpPr>
          <p:cNvPr id="13" name="fx1|en"/>
          <p:cNvSpPr txBox="1"/>
          <p:nvPr/>
        </p:nvSpPr>
        <p:spPr>
          <a:xfrm>
            <a:off x="4474159" y="3337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Web version</a:t>
            </a:r>
            <a:endParaRPr lang="en-US" sz="1200" dirty="0"/>
          </a:p>
        </p:txBody>
      </p:sp>
      <p:sp>
        <p:nvSpPr>
          <p:cNvPr id="14" name="fx2|card"/>
          <p:cNvSpPr/>
          <p:nvPr/>
        </p:nvSpPr>
        <p:spPr>
          <a:xfrm>
            <a:off x="551383" y="1691640"/>
            <a:ext cx="3520440" cy="2011680"/>
          </a:xfrm>
          <a:prstGeom prst="roundRect">
            <a:avLst>
              <a:gd name="adj" fmla="val 727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5" name="fx2|ic bg"/>
          <p:cNvSpPr/>
          <p:nvPr/>
        </p:nvSpPr>
        <p:spPr>
          <a:xfrm>
            <a:off x="1854403" y="1965960"/>
            <a:ext cx="914400" cy="914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6" name="fx2|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003" y="2194560"/>
            <a:ext cx="457200" cy="457200"/>
          </a:xfrm>
          <a:prstGeom prst="rect">
            <a:avLst/>
          </a:prstGeom>
        </p:spPr>
      </p:pic>
      <p:sp>
        <p:nvSpPr>
          <p:cNvPr id="17" name="fx2|ar"/>
          <p:cNvSpPr txBox="1"/>
          <p:nvPr/>
        </p:nvSpPr>
        <p:spPr>
          <a:xfrm>
            <a:off x="688543" y="295351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أسئلة بالذكاء الاصطناعي</a:t>
            </a:r>
            <a:endParaRPr lang="ar-SA" sz="1700" dirty="0"/>
          </a:p>
        </p:txBody>
      </p:sp>
      <p:sp>
        <p:nvSpPr>
          <p:cNvPr id="18" name="fx2|en"/>
          <p:cNvSpPr txBox="1"/>
          <p:nvPr/>
        </p:nvSpPr>
        <p:spPr>
          <a:xfrm>
            <a:off x="688543" y="3337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AI question generation</a:t>
            </a:r>
            <a:endParaRPr lang="en-US" sz="1200" dirty="0"/>
          </a:p>
        </p:txBody>
      </p:sp>
      <p:sp>
        <p:nvSpPr>
          <p:cNvPr id="19" name="fx3|card"/>
          <p:cNvSpPr/>
          <p:nvPr/>
        </p:nvSpPr>
        <p:spPr>
          <a:xfrm>
            <a:off x="8122615" y="3977640"/>
            <a:ext cx="3520440" cy="2011680"/>
          </a:xfrm>
          <a:prstGeom prst="roundRect">
            <a:avLst>
              <a:gd name="adj" fmla="val 727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20" name="fx3|ic bg"/>
          <p:cNvSpPr/>
          <p:nvPr/>
        </p:nvSpPr>
        <p:spPr>
          <a:xfrm>
            <a:off x="9425635" y="4251960"/>
            <a:ext cx="914400" cy="914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21" name="fx3|ic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4235" y="4480560"/>
            <a:ext cx="457200" cy="457200"/>
          </a:xfrm>
          <a:prstGeom prst="rect">
            <a:avLst/>
          </a:prstGeom>
        </p:spPr>
      </p:pic>
      <p:sp>
        <p:nvSpPr>
          <p:cNvPr id="22" name="fx3|ar"/>
          <p:cNvSpPr txBox="1"/>
          <p:nvPr/>
        </p:nvSpPr>
        <p:spPr>
          <a:xfrm>
            <a:off x="8259775" y="523951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أنظمة منع الغش</a:t>
            </a:r>
            <a:endParaRPr lang="ar-SA" sz="1700" dirty="0"/>
          </a:p>
        </p:txBody>
      </p:sp>
      <p:sp>
        <p:nvSpPr>
          <p:cNvPr id="23" name="fx3|en"/>
          <p:cNvSpPr txBox="1"/>
          <p:nvPr/>
        </p:nvSpPr>
        <p:spPr>
          <a:xfrm>
            <a:off x="8259775" y="5623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Anti-cheating</a:t>
            </a:r>
            <a:endParaRPr lang="en-US" sz="1200" dirty="0"/>
          </a:p>
        </p:txBody>
      </p:sp>
      <p:sp>
        <p:nvSpPr>
          <p:cNvPr id="24" name="fx4|card"/>
          <p:cNvSpPr/>
          <p:nvPr/>
        </p:nvSpPr>
        <p:spPr>
          <a:xfrm>
            <a:off x="4336999" y="3977640"/>
            <a:ext cx="3520440" cy="2011680"/>
          </a:xfrm>
          <a:prstGeom prst="roundRect">
            <a:avLst>
              <a:gd name="adj" fmla="val 727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25" name="fx4|ic bg"/>
          <p:cNvSpPr/>
          <p:nvPr/>
        </p:nvSpPr>
        <p:spPr>
          <a:xfrm>
            <a:off x="5640019" y="4251960"/>
            <a:ext cx="914400" cy="914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26" name="fx4|ic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8619" y="4480560"/>
            <a:ext cx="457200" cy="457200"/>
          </a:xfrm>
          <a:prstGeom prst="rect">
            <a:avLst/>
          </a:prstGeom>
        </p:spPr>
      </p:pic>
      <p:sp>
        <p:nvSpPr>
          <p:cNvPr id="27" name="fx4|ar"/>
          <p:cNvSpPr txBox="1"/>
          <p:nvPr/>
        </p:nvSpPr>
        <p:spPr>
          <a:xfrm>
            <a:off x="4474159" y="523951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إشعارات فورية</a:t>
            </a:r>
            <a:endParaRPr lang="ar-SA" sz="1700" dirty="0"/>
          </a:p>
        </p:txBody>
      </p:sp>
      <p:sp>
        <p:nvSpPr>
          <p:cNvPr id="28" name="fx4|en"/>
          <p:cNvSpPr txBox="1"/>
          <p:nvPr/>
        </p:nvSpPr>
        <p:spPr>
          <a:xfrm>
            <a:off x="4474159" y="5623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Push notifications</a:t>
            </a:r>
            <a:endParaRPr lang="en-US" sz="1200" dirty="0"/>
          </a:p>
        </p:txBody>
      </p:sp>
      <p:sp>
        <p:nvSpPr>
          <p:cNvPr id="29" name="fx5|card"/>
          <p:cNvSpPr/>
          <p:nvPr/>
        </p:nvSpPr>
        <p:spPr>
          <a:xfrm>
            <a:off x="551383" y="3977640"/>
            <a:ext cx="3520440" cy="2011680"/>
          </a:xfrm>
          <a:prstGeom prst="roundRect">
            <a:avLst>
              <a:gd name="adj" fmla="val 7273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30" name="fx5|ic bg"/>
          <p:cNvSpPr/>
          <p:nvPr/>
        </p:nvSpPr>
        <p:spPr>
          <a:xfrm>
            <a:off x="1854403" y="4251960"/>
            <a:ext cx="914400" cy="91440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31" name="fx5|ic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3003" y="4480560"/>
            <a:ext cx="457200" cy="457200"/>
          </a:xfrm>
          <a:prstGeom prst="rect">
            <a:avLst/>
          </a:prstGeom>
        </p:spPr>
      </p:pic>
      <p:sp>
        <p:nvSpPr>
          <p:cNvPr id="32" name="fx5|ar"/>
          <p:cNvSpPr txBox="1"/>
          <p:nvPr/>
        </p:nvSpPr>
        <p:spPr>
          <a:xfrm>
            <a:off x="688543" y="523951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تحليلات متقدمة للأداء</a:t>
            </a:r>
            <a:endParaRPr lang="ar-SA" sz="1700" dirty="0"/>
          </a:p>
        </p:txBody>
      </p:sp>
      <p:sp>
        <p:nvSpPr>
          <p:cNvPr id="33" name="fx5|en"/>
          <p:cNvSpPr txBox="1"/>
          <p:nvPr/>
        </p:nvSpPr>
        <p:spPr>
          <a:xfrm>
            <a:off x="688543" y="56235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Advanced analytics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6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6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6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الخاتمة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875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Conclusion</a:t>
            </a:r>
            <a:endParaRPr lang="en-US" sz="1600" dirty="0"/>
          </a:p>
        </p:txBody>
      </p:sp>
      <p:sp>
        <p:nvSpPr>
          <p:cNvPr id="4" name="fx0|statement"/>
          <p:cNvSpPr/>
          <p:nvPr/>
        </p:nvSpPr>
        <p:spPr>
          <a:xfrm>
            <a:off x="548640" y="1600200"/>
            <a:ext cx="11091672" cy="1737360"/>
          </a:xfrm>
          <a:prstGeom prst="roundRect">
            <a:avLst>
              <a:gd name="adj" fmla="val 8421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2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fx1|statement text"/>
          <p:cNvSpPr txBox="1"/>
          <p:nvPr/>
        </p:nvSpPr>
        <p:spPr>
          <a:xfrm>
            <a:off x="868680" y="1737360"/>
            <a:ext cx="10469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قدّمنا تطبيقاً عملياً يحوّل الاختبارات من الورق إلى الهاتف، ويوفّر الوقت والجهد على المعلم، ويمنح الطالب نتيجته فوراً.</a:t>
            </a:r>
            <a:endParaRPr lang="ar-SA" sz="2000" dirty="0"/>
          </a:p>
          <a:p>
            <a:pPr algn="r" indent="0" marL="0">
              <a:buNone/>
            </a:pPr>
            <a:r>
              <a:rPr lang="ar-SA" altLang="en-US" sz="1400" i="1" dirty="0">
                <a:solidFill>
                  <a:schemeClr val="bg2"/>
                </a:solidFill>
              </a:rPr>
              <a:t>We delivered a practical app that moves exams from paper to phones, saving teachers time and giving students instant results.</a:t>
            </a:r>
            <a:endParaRPr lang="ar-SA" sz="2000" dirty="0"/>
          </a:p>
        </p:txBody>
      </p:sp>
      <p:sp>
        <p:nvSpPr>
          <p:cNvPr id="6" name="fx2|card"/>
          <p:cNvSpPr/>
          <p:nvPr/>
        </p:nvSpPr>
        <p:spPr>
          <a:xfrm>
            <a:off x="8122615" y="3657600"/>
            <a:ext cx="3520440" cy="2377440"/>
          </a:xfrm>
          <a:prstGeom prst="roundRect">
            <a:avLst>
              <a:gd name="adj" fmla="val 6154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7" name="fx2|ic bg"/>
          <p:cNvSpPr/>
          <p:nvPr/>
        </p:nvSpPr>
        <p:spPr>
          <a:xfrm>
            <a:off x="9379915" y="3977640"/>
            <a:ext cx="1005840" cy="10058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8" name="fx2|ic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1375" y="4229100"/>
            <a:ext cx="502920" cy="502920"/>
          </a:xfrm>
          <a:prstGeom prst="rect">
            <a:avLst/>
          </a:prstGeom>
        </p:spPr>
      </p:pic>
      <p:sp>
        <p:nvSpPr>
          <p:cNvPr id="9" name="fx2|ar"/>
          <p:cNvSpPr txBox="1"/>
          <p:nvPr/>
        </p:nvSpPr>
        <p:spPr>
          <a:xfrm>
            <a:off x="8122615" y="5120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توفير الوقت</a:t>
            </a:r>
            <a:endParaRPr lang="ar-SA" sz="2000" dirty="0"/>
          </a:p>
        </p:txBody>
      </p:sp>
      <p:sp>
        <p:nvSpPr>
          <p:cNvPr id="10" name="fx2|en"/>
          <p:cNvSpPr txBox="1"/>
          <p:nvPr/>
        </p:nvSpPr>
        <p:spPr>
          <a:xfrm>
            <a:off x="8122615" y="55595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chemeClr val="accent1"/>
                </a:solidFill>
              </a:rPr>
              <a:t>Saves time</a:t>
            </a:r>
            <a:endParaRPr lang="en-US" sz="1300" dirty="0"/>
          </a:p>
        </p:txBody>
      </p:sp>
      <p:sp>
        <p:nvSpPr>
          <p:cNvPr id="11" name="fx3|card"/>
          <p:cNvSpPr/>
          <p:nvPr/>
        </p:nvSpPr>
        <p:spPr>
          <a:xfrm>
            <a:off x="4336999" y="3657600"/>
            <a:ext cx="3520440" cy="2377440"/>
          </a:xfrm>
          <a:prstGeom prst="roundRect">
            <a:avLst>
              <a:gd name="adj" fmla="val 6154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fx3|ic bg"/>
          <p:cNvSpPr/>
          <p:nvPr/>
        </p:nvSpPr>
        <p:spPr>
          <a:xfrm>
            <a:off x="5594299" y="3977640"/>
            <a:ext cx="1005840" cy="10058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3" name="fx3|ic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759" y="4229100"/>
            <a:ext cx="502920" cy="502920"/>
          </a:xfrm>
          <a:prstGeom prst="rect">
            <a:avLst/>
          </a:prstGeom>
        </p:spPr>
      </p:pic>
      <p:sp>
        <p:nvSpPr>
          <p:cNvPr id="14" name="fx3|ar"/>
          <p:cNvSpPr txBox="1"/>
          <p:nvPr/>
        </p:nvSpPr>
        <p:spPr>
          <a:xfrm>
            <a:off x="4336999" y="5120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دقة التصحيح</a:t>
            </a:r>
            <a:endParaRPr lang="ar-SA" sz="2000" dirty="0"/>
          </a:p>
        </p:txBody>
      </p:sp>
      <p:sp>
        <p:nvSpPr>
          <p:cNvPr id="15" name="fx3|en"/>
          <p:cNvSpPr txBox="1"/>
          <p:nvPr/>
        </p:nvSpPr>
        <p:spPr>
          <a:xfrm>
            <a:off x="4336999" y="55595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chemeClr val="accent1"/>
                </a:solidFill>
              </a:rPr>
              <a:t>Accurate grading</a:t>
            </a:r>
            <a:endParaRPr lang="en-US" sz="1300" dirty="0"/>
          </a:p>
        </p:txBody>
      </p:sp>
      <p:sp>
        <p:nvSpPr>
          <p:cNvPr id="16" name="fx4|card"/>
          <p:cNvSpPr/>
          <p:nvPr/>
        </p:nvSpPr>
        <p:spPr>
          <a:xfrm>
            <a:off x="551383" y="3657600"/>
            <a:ext cx="3520440" cy="2377440"/>
          </a:xfrm>
          <a:prstGeom prst="roundRect">
            <a:avLst>
              <a:gd name="adj" fmla="val 6154"/>
            </a:avLst>
          </a:prstGeom>
          <a:solidFill>
            <a:schemeClr val="tx2">
              <a:alpha val="82000"/>
            </a:schemeClr>
          </a:solidFill>
          <a:ln w="12700">
            <a:solidFill>
              <a:schemeClr val="accent1">
                <a:alpha val="45000"/>
              </a:schemeClr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fx4|ic bg"/>
          <p:cNvSpPr/>
          <p:nvPr/>
        </p:nvSpPr>
        <p:spPr>
          <a:xfrm>
            <a:off x="1808683" y="3977640"/>
            <a:ext cx="1005840" cy="1005840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8" name="fx4|ic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143" y="4229100"/>
            <a:ext cx="502920" cy="502920"/>
          </a:xfrm>
          <a:prstGeom prst="rect">
            <a:avLst/>
          </a:prstGeom>
        </p:spPr>
      </p:pic>
      <p:sp>
        <p:nvSpPr>
          <p:cNvPr id="19" name="fx4|ar"/>
          <p:cNvSpPr txBox="1"/>
          <p:nvPr/>
        </p:nvSpPr>
        <p:spPr>
          <a:xfrm>
            <a:off x="551383" y="5120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متابعة أفضل</a:t>
            </a:r>
            <a:endParaRPr lang="ar-SA" sz="2000" dirty="0"/>
          </a:p>
        </p:txBody>
      </p:sp>
      <p:sp>
        <p:nvSpPr>
          <p:cNvPr id="20" name="fx4|en"/>
          <p:cNvSpPr txBox="1"/>
          <p:nvPr/>
        </p:nvSpPr>
        <p:spPr>
          <a:xfrm>
            <a:off x="551383" y="555955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chemeClr val="accent1"/>
                </a:solidFill>
              </a:rPr>
              <a:t>Better tracking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rojtitle"/>
          <p:cNvSpPr txBox="1"/>
          <p:nvPr/>
        </p:nvSpPr>
        <p:spPr>
          <a:xfrm>
            <a:off x="5120640" y="1097280"/>
            <a:ext cx="6537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600" b="1" dirty="0">
                <a:solidFill>
                  <a:schemeClr val="bg1"/>
                </a:solidFill>
              </a:rPr>
              <a:t>شكراً لحسن استماعكم</a:t>
            </a:r>
            <a:endParaRPr lang="ar-SA" sz="4600" dirty="0"/>
          </a:p>
        </p:txBody>
      </p:sp>
      <p:sp>
        <p:nvSpPr>
          <p:cNvPr id="3" name="!!projen"/>
          <p:cNvSpPr txBox="1"/>
          <p:nvPr/>
        </p:nvSpPr>
        <p:spPr>
          <a:xfrm>
            <a:off x="5120640" y="2743200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3200" b="1" dirty="0">
                <a:solidFill>
                  <a:schemeClr val="accent2"/>
                </a:solidFill>
              </a:rPr>
              <a:t>Thank You</a:t>
            </a:r>
            <a:endParaRPr lang="en-US" sz="3200" dirty="0"/>
          </a:p>
        </p:txBody>
      </p:sp>
      <p:sp>
        <p:nvSpPr>
          <p:cNvPr id="4" name="fx0|q"/>
          <p:cNvSpPr txBox="1"/>
          <p:nvPr/>
        </p:nvSpPr>
        <p:spPr>
          <a:xfrm>
            <a:off x="5120640" y="3474720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dirty="0">
                <a:solidFill>
                  <a:schemeClr val="accent1"/>
                </a:solidFill>
              </a:rPr>
              <a:t>نسعد بأسئلتكم وملاحظاتكم  •  Questions?</a:t>
            </a:r>
            <a:endParaRPr lang="ar-SA" sz="2000" dirty="0"/>
          </a:p>
        </p:txBody>
      </p:sp>
      <p:sp>
        <p:nvSpPr>
          <p:cNvPr id="5" name="fx1|ring"/>
          <p:cNvSpPr/>
          <p:nvPr/>
        </p:nvSpPr>
        <p:spPr>
          <a:xfrm>
            <a:off x="10844784" y="4718304"/>
            <a:ext cx="850392" cy="850392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6" name="fx1|photo" descr="عيسى شاي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4754880"/>
            <a:ext cx="777240" cy="777240"/>
          </a:xfrm>
          <a:prstGeom prst="ellipse">
            <a:avLst/>
          </a:prstGeom>
        </p:spPr>
      </p:pic>
      <p:sp>
        <p:nvSpPr>
          <p:cNvPr id="7" name="fx1|name"/>
          <p:cNvSpPr txBox="1"/>
          <p:nvPr/>
        </p:nvSpPr>
        <p:spPr>
          <a:xfrm>
            <a:off x="10808208" y="5605272"/>
            <a:ext cx="92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عيسى شايع</a:t>
            </a:r>
            <a:endParaRPr lang="ar-SA" sz="1000" dirty="0"/>
          </a:p>
        </p:txBody>
      </p:sp>
      <p:sp>
        <p:nvSpPr>
          <p:cNvPr id="8" name="fx2|ring"/>
          <p:cNvSpPr/>
          <p:nvPr/>
        </p:nvSpPr>
        <p:spPr>
          <a:xfrm>
            <a:off x="9912096" y="4718304"/>
            <a:ext cx="850392" cy="850392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9" name="fx2|photo" descr="محمد قريع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4754880"/>
            <a:ext cx="777240" cy="777240"/>
          </a:xfrm>
          <a:prstGeom prst="ellipse">
            <a:avLst/>
          </a:prstGeom>
        </p:spPr>
      </p:pic>
      <p:sp>
        <p:nvSpPr>
          <p:cNvPr id="10" name="fx2|name"/>
          <p:cNvSpPr txBox="1"/>
          <p:nvPr/>
        </p:nvSpPr>
        <p:spPr>
          <a:xfrm>
            <a:off x="9875520" y="5605272"/>
            <a:ext cx="92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محمد قريع</a:t>
            </a:r>
            <a:endParaRPr lang="ar-SA" sz="1000" dirty="0"/>
          </a:p>
        </p:txBody>
      </p:sp>
      <p:sp>
        <p:nvSpPr>
          <p:cNvPr id="11" name="fx3|ring"/>
          <p:cNvSpPr/>
          <p:nvPr/>
        </p:nvSpPr>
        <p:spPr>
          <a:xfrm>
            <a:off x="8979408" y="4718304"/>
            <a:ext cx="850392" cy="850392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12" name="fx3|photo" descr="مازن عبد المعز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984" y="4754880"/>
            <a:ext cx="777240" cy="777240"/>
          </a:xfrm>
          <a:prstGeom prst="ellipse">
            <a:avLst/>
          </a:prstGeom>
        </p:spPr>
      </p:pic>
      <p:sp>
        <p:nvSpPr>
          <p:cNvPr id="13" name="fx3|name"/>
          <p:cNvSpPr txBox="1"/>
          <p:nvPr/>
        </p:nvSpPr>
        <p:spPr>
          <a:xfrm>
            <a:off x="8942832" y="5605272"/>
            <a:ext cx="92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مازن عبد المعز</a:t>
            </a:r>
            <a:endParaRPr lang="ar-SA" sz="1000" dirty="0"/>
          </a:p>
        </p:txBody>
      </p:sp>
      <p:sp>
        <p:nvSpPr>
          <p:cNvPr id="14" name="fx4|ring"/>
          <p:cNvSpPr/>
          <p:nvPr/>
        </p:nvSpPr>
        <p:spPr>
          <a:xfrm>
            <a:off x="8046720" y="4718304"/>
            <a:ext cx="850392" cy="850392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15" name="fx4|photo" descr="برهان الزمر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96" y="4754880"/>
            <a:ext cx="777240" cy="777240"/>
          </a:xfrm>
          <a:prstGeom prst="ellipse">
            <a:avLst/>
          </a:prstGeom>
        </p:spPr>
      </p:pic>
      <p:sp>
        <p:nvSpPr>
          <p:cNvPr id="16" name="fx4|name"/>
          <p:cNvSpPr txBox="1"/>
          <p:nvPr/>
        </p:nvSpPr>
        <p:spPr>
          <a:xfrm>
            <a:off x="8010144" y="5605272"/>
            <a:ext cx="92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برهان الزمر</a:t>
            </a:r>
            <a:endParaRPr lang="ar-SA" sz="1000" dirty="0"/>
          </a:p>
        </p:txBody>
      </p:sp>
      <p:sp>
        <p:nvSpPr>
          <p:cNvPr id="17" name="fx5|ring"/>
          <p:cNvSpPr/>
          <p:nvPr/>
        </p:nvSpPr>
        <p:spPr>
          <a:xfrm>
            <a:off x="7114032" y="4718304"/>
            <a:ext cx="850392" cy="850392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18" name="fx5|photo" descr="محمد عادل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8" y="4754880"/>
            <a:ext cx="777240" cy="777240"/>
          </a:xfrm>
          <a:prstGeom prst="ellipse">
            <a:avLst/>
          </a:prstGeom>
        </p:spPr>
      </p:pic>
      <p:sp>
        <p:nvSpPr>
          <p:cNvPr id="19" name="fx5|name"/>
          <p:cNvSpPr txBox="1"/>
          <p:nvPr/>
        </p:nvSpPr>
        <p:spPr>
          <a:xfrm>
            <a:off x="7077456" y="5605272"/>
            <a:ext cx="92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محمد عادل</a:t>
            </a:r>
            <a:endParaRPr lang="ar-SA" sz="1000" dirty="0"/>
          </a:p>
        </p:txBody>
      </p:sp>
      <p:sp>
        <p:nvSpPr>
          <p:cNvPr id="20" name="fx6|ring"/>
          <p:cNvSpPr/>
          <p:nvPr/>
        </p:nvSpPr>
        <p:spPr>
          <a:xfrm>
            <a:off x="6181344" y="4718304"/>
            <a:ext cx="850392" cy="850392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2"/>
            </a:solidFill>
            <a:prstDash val="solid"/>
          </a:ln>
        </p:spPr>
      </p:sp>
      <p:pic>
        <p:nvPicPr>
          <p:cNvPr id="21" name="fx6|photo" descr="د. مطيع الجعفري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4754880"/>
            <a:ext cx="777240" cy="777240"/>
          </a:xfrm>
          <a:prstGeom prst="ellipse">
            <a:avLst/>
          </a:prstGeom>
        </p:spPr>
      </p:pic>
      <p:sp>
        <p:nvSpPr>
          <p:cNvPr id="22" name="fx6|name"/>
          <p:cNvSpPr txBox="1"/>
          <p:nvPr/>
        </p:nvSpPr>
        <p:spPr>
          <a:xfrm>
            <a:off x="6144768" y="5605272"/>
            <a:ext cx="92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ctr" indent="0" marL="0">
              <a:buNone/>
            </a:pPr>
            <a:r>
              <a:rPr lang="ar-SA" altLang="en-US" sz="1000" b="1" dirty="0">
                <a:solidFill>
                  <a:schemeClr val="bg1"/>
                </a:solidFill>
              </a:rPr>
              <a:t>مطيع الجعفري</a:t>
            </a:r>
            <a:endParaRPr lang="ar-SA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5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  <p:bldP spid="22" grpId="0" animBg="1"/>
    </p:bldLst>
  </p:timing>
</p:sld>
</file>

<file path=ppt/theme/theme1.xml><?xml version="1.0" encoding="utf-8"?>
<a:theme xmlns:a="http://schemas.openxmlformats.org/drawingml/2006/main" name="Stadium Tech">
  <a:themeElements>
    <a:clrScheme name="Stadium Tech">
      <a:dk1>
        <a:srgbClr val="0A1628"/>
      </a:dk1>
      <a:lt1>
        <a:srgbClr val="FFFFFF"/>
      </a:lt1>
      <a:dk2>
        <a:srgbClr val="13233F"/>
      </a:dk2>
      <a:lt2>
        <a:srgbClr val="B8C7E0"/>
      </a:lt2>
      <a:accent1>
        <a:srgbClr val="22D3EE"/>
      </a:accent1>
      <a:accent2>
        <a:srgbClr val="E2BA52"/>
      </a:accent2>
      <a:accent3>
        <a:srgbClr val="6366F1"/>
      </a:accent3>
      <a:accent4>
        <a:srgbClr val="10B981"/>
      </a:accent4>
      <a:accent5>
        <a:srgbClr val="F43F5E"/>
      </a:accent5>
      <a:accent6>
        <a:srgbClr val="A7F3D0"/>
      </a:accent6>
      <a:hlink>
        <a:srgbClr val="22D3EE"/>
      </a:hlink>
      <a:folHlink>
        <a:srgbClr val="E2BA52"/>
      </a:folHlink>
    </a:clrScheme>
    <a:fontScheme name="Stadium Tec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تطبيق إدارة الاختبارات الإلكترونية — E-Exam Management App</dc:title>
  <dc:subject>PptxGenJS Presentation</dc:subject>
  <dc:creator>PptxGenJS</dc:creator>
  <cp:lastModifiedBy>PptxGenJS</cp:lastModifiedBy>
  <cp:revision>1</cp:revision>
  <dcterms:created xsi:type="dcterms:W3CDTF">2026-10-16T23:46:19Z</dcterms:created>
  <dcterms:modified xsi:type="dcterms:W3CDTF">2026-10-16T23:46:19Z</dcterms:modified>
</cp:coreProperties>
</file>